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73" r:id="rId4"/>
    <p:sldId id="259" r:id="rId5"/>
    <p:sldId id="274" r:id="rId6"/>
    <p:sldId id="266" r:id="rId7"/>
    <p:sldId id="275" r:id="rId8"/>
    <p:sldId id="267" r:id="rId9"/>
    <p:sldId id="282" r:id="rId10"/>
    <p:sldId id="276" r:id="rId11"/>
    <p:sldId id="277" r:id="rId12"/>
    <p:sldId id="278" r:id="rId13"/>
    <p:sldId id="279" r:id="rId14"/>
    <p:sldId id="283" r:id="rId15"/>
    <p:sldId id="284" r:id="rId16"/>
    <p:sldId id="285" r:id="rId17"/>
    <p:sldId id="258" r:id="rId18"/>
    <p:sldId id="263" r:id="rId19"/>
    <p:sldId id="260" r:id="rId20"/>
    <p:sldId id="287" r:id="rId21"/>
    <p:sldId id="288" r:id="rId22"/>
    <p:sldId id="286" r:id="rId23"/>
  </p:sldIdLst>
  <p:sldSz cx="9144000" cy="6858000" type="screen4x3"/>
  <p:notesSz cx="6669088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entury Gothic" panose="020B0502020202020204" pitchFamily="34" charset="0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entury Gothic" panose="020B0502020202020204" pitchFamily="34" charset="0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entury Gothic" panose="020B0502020202020204" pitchFamily="34" charset="0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entury Gothic" panose="020B0502020202020204" pitchFamily="34" charset="0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entury Gothic" panose="020B0502020202020204" pitchFamily="34" charset="0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entury Gothic" panose="020B0502020202020204" pitchFamily="34" charset="0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entury Gothic" panose="020B0502020202020204" pitchFamily="34" charset="0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entury Gothic" panose="020B0502020202020204" pitchFamily="34" charset="0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entury Gothic" panose="020B0502020202020204" pitchFamily="34" charset="0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090" autoAdjust="0"/>
    <p:restoredTop sz="94682" autoAdjust="0"/>
  </p:normalViewPr>
  <p:slideViewPr>
    <p:cSldViewPr>
      <p:cViewPr varScale="1">
        <p:scale>
          <a:sx n="125" d="100"/>
          <a:sy n="125" d="100"/>
        </p:scale>
        <p:origin x="81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66" tIns="47183" rIns="94366" bIns="47183" numCol="1" anchor="t" anchorCtr="0" compatLnSpc="1">
            <a:prstTxWarp prst="textNoShape">
              <a:avLst/>
            </a:prstTxWarp>
          </a:bodyPr>
          <a:lstStyle>
            <a:lvl1pPr defTabSz="942975" eaLnBrk="1" latinLnBrk="0" hangingPunct="1">
              <a:defRPr kumimoji="0" sz="1200" baseline="-250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ko-KR" altLang="en-US"/>
              <a:t>CAP 4800/CAP 5805: Computer Simulation Concepts</a:t>
            </a:r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66" tIns="47183" rIns="94366" bIns="47183" numCol="1" anchor="t" anchorCtr="0" compatLnSpc="1">
            <a:prstTxWarp prst="textNoShape">
              <a:avLst/>
            </a:prstTxWarp>
          </a:bodyPr>
          <a:lstStyle>
            <a:lvl1pPr algn="r" defTabSz="942975" eaLnBrk="1" latinLnBrk="0" hangingPunct="1">
              <a:defRPr kumimoji="0" sz="1200" baseline="-250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88925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66" tIns="47183" rIns="94366" bIns="47183" numCol="1" anchor="b" anchorCtr="0" compatLnSpc="1">
            <a:prstTxWarp prst="textNoShape">
              <a:avLst/>
            </a:prstTxWarp>
          </a:bodyPr>
          <a:lstStyle>
            <a:lvl1pPr defTabSz="942975" eaLnBrk="1" latinLnBrk="0" hangingPunct="1">
              <a:defRPr kumimoji="0" sz="1200" baseline="-250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ko-KR" altLang="en-US"/>
              <a:t>Unviersity of Florida</a:t>
            </a:r>
            <a:endParaRPr lang="en-US" altLang="ko-KR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31338"/>
            <a:ext cx="288925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66" tIns="47183" rIns="94366" bIns="47183" numCol="1" anchor="b" anchorCtr="0" compatLnSpc="1">
            <a:prstTxWarp prst="textNoShape">
              <a:avLst/>
            </a:prstTxWarp>
          </a:bodyPr>
          <a:lstStyle>
            <a:lvl1pPr algn="r" defTabSz="942975" eaLnBrk="1" latinLnBrk="0" hangingPunct="1">
              <a:defRPr kumimoji="0" sz="1200" baseline="-250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28445A7-7783-4DB1-BE5D-097920E4E8C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55956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0" hangingPunct="1">
              <a:defRPr kumimoji="0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ko-KR" altLang="en-US"/>
              <a:t>CAP 4800/CAP 5805: Computer Simulation Concepts</a:t>
            </a:r>
            <a:endParaRPr lang="en-US" altLang="ko-KR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0" hangingPunct="1">
              <a:defRPr kumimoji="0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4075" y="744538"/>
            <a:ext cx="4960938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6463"/>
            <a:ext cx="5335588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0" hangingPunct="1">
              <a:defRPr kumimoji="0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ko-KR" altLang="en-US"/>
              <a:t>Unviersity of Florida</a:t>
            </a:r>
            <a:endParaRPr lang="en-US" altLang="ko-KR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0" hangingPunct="1">
              <a:defRPr kumimoji="0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A1A1C9D-BE30-4589-A945-B8FF00E7EE6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45112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ko-KR" altLang="en-US">
                <a:latin typeface="Times New Roman" panose="02020603050405020304" pitchFamily="18" charset="0"/>
              </a:rPr>
              <a:t>CAP 4800/CAP 5805: Computer Simulation Concepts</a:t>
            </a:r>
            <a:endParaRPr kumimoji="0" lang="en-US" altLang="ko-KR">
              <a:latin typeface="Times New Roman" panose="02020603050405020304" pitchFamily="18" charset="0"/>
            </a:endParaRP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ko-KR" altLang="en-US">
                <a:latin typeface="Times New Roman" panose="02020603050405020304" pitchFamily="18" charset="0"/>
              </a:rPr>
              <a:t>Unviersity of Florida</a:t>
            </a:r>
            <a:endParaRPr kumimoji="0" lang="en-US" altLang="ko-KR">
              <a:latin typeface="Times New Roman" panose="02020603050405020304" pitchFamily="18" charset="0"/>
            </a:endParaRP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fld id="{07F29C0F-BDA6-41D7-9323-47BC0C5CD548}" type="slidenum">
              <a:rPr kumimoji="0" lang="ko-KR" altLang="en-US">
                <a:latin typeface="Times New Roman" panose="02020603050405020304" pitchFamily="18" charset="0"/>
              </a:rPr>
              <a:pPr latinLnBrk="0"/>
              <a:t>1</a:t>
            </a:fld>
            <a:endParaRPr kumimoji="0" lang="en-US" altLang="ko-KR">
              <a:latin typeface="Times New Roman" panose="02020603050405020304" pitchFamily="18" charset="0"/>
            </a:endParaRPr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509897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ko-KR" altLang="en-US">
                <a:latin typeface="Times New Roman" panose="02020603050405020304" pitchFamily="18" charset="0"/>
              </a:rPr>
              <a:t>CAP 4800/CAP 5805: Computer Simulation Concepts</a:t>
            </a:r>
            <a:endParaRPr kumimoji="0" lang="en-US" altLang="ko-KR">
              <a:latin typeface="Times New Roman" panose="02020603050405020304" pitchFamily="18" charset="0"/>
            </a:endParaRP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ko-KR" altLang="en-US">
                <a:latin typeface="Times New Roman" panose="02020603050405020304" pitchFamily="18" charset="0"/>
              </a:rPr>
              <a:t>Unviersity of Florida</a:t>
            </a:r>
            <a:endParaRPr kumimoji="0" lang="en-US" altLang="ko-KR">
              <a:latin typeface="Times New Roman" panose="02020603050405020304" pitchFamily="18" charset="0"/>
            </a:endParaRP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fld id="{4D561433-686A-4180-B1E6-1158596E2FC8}" type="slidenum">
              <a:rPr kumimoji="0" lang="ko-KR" altLang="en-US">
                <a:latin typeface="Times New Roman" panose="02020603050405020304" pitchFamily="18" charset="0"/>
              </a:rPr>
              <a:pPr latinLnBrk="0"/>
              <a:t>4</a:t>
            </a:fld>
            <a:endParaRPr kumimoji="0" lang="en-US" altLang="ko-KR">
              <a:latin typeface="Times New Roman" panose="02020603050405020304" pitchFamily="18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644037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ko-KR" altLang="en-US">
                <a:latin typeface="Times New Roman" panose="02020603050405020304" pitchFamily="18" charset="0"/>
              </a:rPr>
              <a:t>CAP 4800/CAP 5805: Computer Simulation Concepts</a:t>
            </a:r>
            <a:endParaRPr kumimoji="0" lang="en-US" altLang="ko-KR">
              <a:latin typeface="Times New Roman" panose="02020603050405020304" pitchFamily="18" charset="0"/>
            </a:endParaRP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ko-KR" altLang="en-US">
                <a:latin typeface="Times New Roman" panose="02020603050405020304" pitchFamily="18" charset="0"/>
              </a:rPr>
              <a:t>Unviersity of Florida</a:t>
            </a:r>
            <a:endParaRPr kumimoji="0" lang="en-US" altLang="ko-KR">
              <a:latin typeface="Times New Roman" panose="02020603050405020304" pitchFamily="18" charset="0"/>
            </a:endParaRPr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fld id="{10279632-A57C-42B0-BB73-6149DE1B43A4}" type="slidenum">
              <a:rPr kumimoji="0" lang="ko-KR" altLang="en-US">
                <a:latin typeface="Times New Roman" panose="02020603050405020304" pitchFamily="18" charset="0"/>
              </a:rPr>
              <a:pPr latinLnBrk="0"/>
              <a:t>14</a:t>
            </a:fld>
            <a:endParaRPr kumimoji="0" lang="en-US" altLang="ko-KR">
              <a:latin typeface="Times New Roman" panose="02020603050405020304" pitchFamily="18" charset="0"/>
            </a:endParaRPr>
          </a:p>
        </p:txBody>
      </p:sp>
      <p:sp>
        <p:nvSpPr>
          <p:cNvPr id="215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ln/>
        </p:spPr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4714875"/>
            <a:ext cx="4891088" cy="4468813"/>
          </a:xfrm>
          <a:noFill/>
        </p:spPr>
        <p:txBody>
          <a:bodyPr/>
          <a:lstStyle/>
          <a:p>
            <a:pPr eaLnBrk="1" hangingPunct="1"/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1605986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ko-KR" altLang="en-US">
                <a:latin typeface="Times New Roman" panose="02020603050405020304" pitchFamily="18" charset="0"/>
              </a:rPr>
              <a:t>CAP 4800/CAP 5805: Computer Simulation Concepts</a:t>
            </a:r>
            <a:endParaRPr kumimoji="0" lang="en-US" altLang="ko-KR">
              <a:latin typeface="Times New Roman" panose="02020603050405020304" pitchFamily="18" charset="0"/>
            </a:endParaRP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ko-KR" altLang="en-US">
                <a:latin typeface="Times New Roman" panose="02020603050405020304" pitchFamily="18" charset="0"/>
              </a:rPr>
              <a:t>Unviersity of Florida</a:t>
            </a:r>
            <a:endParaRPr kumimoji="0" lang="en-US" altLang="ko-KR">
              <a:latin typeface="Times New Roman" panose="02020603050405020304" pitchFamily="18" charset="0"/>
            </a:endParaRP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fld id="{51D811E5-1663-4BD8-BFD2-07E4AFEFB6F9}" type="slidenum">
              <a:rPr kumimoji="0" lang="ko-KR" altLang="en-US">
                <a:latin typeface="Times New Roman" panose="02020603050405020304" pitchFamily="18" charset="0"/>
              </a:rPr>
              <a:pPr latinLnBrk="0"/>
              <a:t>16</a:t>
            </a:fld>
            <a:endParaRPr kumimoji="0" lang="en-US" altLang="ko-KR">
              <a:latin typeface="Times New Roman" panose="02020603050405020304" pitchFamily="18" charset="0"/>
            </a:endParaRPr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4714875"/>
            <a:ext cx="4891088" cy="4468813"/>
          </a:xfrm>
          <a:noFill/>
        </p:spPr>
        <p:txBody>
          <a:bodyPr/>
          <a:lstStyle/>
          <a:p>
            <a:pPr eaLnBrk="1" hangingPunct="1"/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4170075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latinLnBrk="0" hangingPunct="1"/>
              <a:endParaRPr kumimoji="0" lang="ko-KR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latinLnBrk="0" hangingPunct="1"/>
                <a:endParaRPr kumimoji="0" lang="ko-KR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latinLnBrk="0" hangingPunct="1"/>
                <a:endParaRPr kumimoji="0" lang="ko-KR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latinLnBrk="0" hangingPunct="1"/>
                <a:endParaRPr kumimoji="0" lang="ko-KR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latinLnBrk="0" hangingPunct="1"/>
                <a:endParaRPr kumimoji="0" lang="ko-KR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latinLnBrk="0" hangingPunct="1"/>
                <a:endParaRPr kumimoji="0" lang="ko-KR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latinLnBrk="0" hangingPunct="1"/>
                <a:endParaRPr kumimoji="0" lang="ko-KR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latinLnBrk="0" hangingPunct="1"/>
                <a:endParaRPr kumimoji="0" lang="ko-KR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latinLnBrk="0" hangingPunct="1"/>
                <a:endParaRPr kumimoji="0" lang="ko-KR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latinLnBrk="0" hangingPunct="1"/>
                <a:endParaRPr kumimoji="0" lang="ko-KR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latinLnBrk="0" hangingPunct="1"/>
                <a:endParaRPr kumimoji="0" lang="ko-KR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326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ko-KR" noProof="0" smtClean="0"/>
              <a:t>Click to edit Master title style</a:t>
            </a:r>
          </a:p>
        </p:txBody>
      </p:sp>
      <p:sp>
        <p:nvSpPr>
          <p:cNvPr id="5326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en-US" altLang="ko-KR" noProof="0" smtClean="0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D5B2587-6DF5-4393-A7D1-392B67EC96F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746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Upravte štýly predlohy textu</a:t>
            </a:r>
            <a:endParaRPr lang="sk-SK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 smtClean="0"/>
              <a:t>Upravte štýl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B181A-4E00-4D03-86D0-A102441E276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375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 smtClean="0"/>
              <a:t>Upravte štýly predlohy textu</a:t>
            </a:r>
            <a:endParaRPr lang="sk-SK"/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sk-SK" smtClean="0"/>
              <a:t>Upravte štýl predlohy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89CA11-A5FD-4F0F-A42F-B3A3EE1FDA5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38147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Upravte štýly predlohy textu</a:t>
            </a:r>
            <a:endParaRPr lang="sk-SK"/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sk-SK" smtClean="0"/>
              <a:t>Upravte štýl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sk-SK" smtClean="0"/>
              <a:t>Upravte štýl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30CE50-98D0-4868-92C4-39EF3EB7152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1572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sk-SK" smtClean="0"/>
              <a:t>Upravte štýly predlohy textu</a:t>
            </a:r>
            <a:endParaRPr lang="sk-SK"/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 smtClean="0"/>
              <a:t>Upravte štýl predlohy textu.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sk-SK" smtClean="0"/>
              <a:t>Upravte štýl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5" name="Zástupný symbol textu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 smtClean="0"/>
              <a:t>Upravte štýl predlohy textu.</a:t>
            </a:r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sk-SK" smtClean="0"/>
              <a:t>Upravte štýl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6FBB0A-A297-472C-AC94-2AF0BFA0CBD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9902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Upravte štýly predlohy textu</a:t>
            </a:r>
            <a:endParaRPr lang="sk-SK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BE0C09-2650-432B-9456-9DC49E6202C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160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79D4BE-AF7A-44BE-B204-8E602F76E24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011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 smtClean="0"/>
              <a:t>Upravte štýly predlohy textu</a:t>
            </a:r>
            <a:endParaRPr lang="sk-SK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 smtClean="0"/>
              <a:t>Upravte štýl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 smtClean="0"/>
              <a:t>Upravte štýl predlohy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828E5-9DF8-4C5F-AB62-19F2E91748C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0411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 smtClean="0"/>
              <a:t>Upravte štýly predlohy textu</a:t>
            </a:r>
            <a:endParaRPr lang="sk-SK"/>
          </a:p>
        </p:txBody>
      </p:sp>
      <p:sp>
        <p:nvSpPr>
          <p:cNvPr id="3" name="Zástupný symbol obrázka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sk-SK" noProof="0" smtClean="0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 smtClean="0"/>
              <a:t>Upravte štýl predlohy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88BA3B-DFD9-4B6B-93C1-235C084F461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4199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Upravte štýly predlohy textu</a:t>
            </a:r>
            <a:endParaRPr lang="sk-SK"/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 smtClean="0"/>
              <a:t>Upravte štýl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449CF-6E38-4729-AB77-C7A068EDE0B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2758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sk-SK" smtClean="0"/>
              <a:t>Upravte štýly predlohy textu</a:t>
            </a:r>
            <a:endParaRPr lang="sk-SK"/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sk-SK" smtClean="0"/>
              <a:t>Upravte štýl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DBA65-3068-4FC4-91DA-4F559CDADC2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2578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Nadpis, obrázok ClipArt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sk-SK" smtClean="0"/>
              <a:t>Upravte štýly predlohy textu</a:t>
            </a:r>
            <a:endParaRPr lang="sk-SK"/>
          </a:p>
        </p:txBody>
      </p:sp>
      <p:sp>
        <p:nvSpPr>
          <p:cNvPr id="3" name="Zástupný symbol online obrázka 2"/>
          <p:cNvSpPr>
            <a:spLocks noGrp="1"/>
          </p:cNvSpPr>
          <p:nvPr>
            <p:ph type="clipArt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endParaRPr lang="sk-SK" noProof="0" smtClean="0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sk-SK" smtClean="0"/>
              <a:t>Upravte štýl predlohy textu.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sk-SK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D3A18C-34A2-41D9-A457-EBD61868503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7893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200" smtClean="0"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+mn-lt"/>
              </a:defRPr>
            </a:lvl1pPr>
          </a:lstStyle>
          <a:p>
            <a:pPr>
              <a:defRPr/>
            </a:pPr>
            <a:fld id="{28E0E5AC-D5D0-4E0F-AA69-DEC4C0EFBCE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latinLnBrk="0" hangingPunct="1"/>
              <a:endParaRPr kumimoji="0"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latinLnBrk="0" hangingPunct="1"/>
              <a:endParaRPr kumimoji="0" lang="ko-KR" altLang="en-US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latinLnBrk="0" hangingPunct="1"/>
              <a:endParaRPr kumimoji="0" lang="ko-KR" altLang="en-US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latinLnBrk="0" hangingPunct="1"/>
              <a:endParaRPr kumimoji="0" lang="ko-KR" altLang="en-US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latinLnBrk="0" hangingPunct="1"/>
              <a:endParaRPr kumimoji="0" lang="ko-KR" altLang="en-US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latinLnBrk="0" hangingPunct="1"/>
              <a:endParaRPr kumimoji="0"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latinLnBrk="0" hangingPunct="1"/>
              <a:endParaRPr kumimoji="0" lang="ko-KR" altLang="en-US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latinLnBrk="0" hangingPunct="1"/>
              <a:endParaRPr kumimoji="0" lang="ko-KR" altLang="en-US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5224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200" smtClean="0"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anose="020B0600000101010101" pitchFamily="34" charset="-127"/>
          <a:ea typeface="굴림" panose="020B0600000101010101" pitchFamily="34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anose="020B0600000101010101" pitchFamily="34" charset="-127"/>
          <a:ea typeface="굴림" panose="020B0600000101010101" pitchFamily="34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anose="020B0600000101010101" pitchFamily="34" charset="-127"/>
          <a:ea typeface="굴림" panose="020B0600000101010101" pitchFamily="34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anose="020B0600000101010101" pitchFamily="34" charset="-127"/>
          <a:ea typeface="굴림" panose="020B0600000101010101" pitchFamily="34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anose="020B0600000101010101" pitchFamily="34" charset="-127"/>
          <a:ea typeface="굴림" panose="020B0600000101010101" pitchFamily="34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anose="020B0600000101010101" pitchFamily="34" charset="-127"/>
          <a:ea typeface="굴림" panose="020B0600000101010101" pitchFamily="34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anose="020B0600000101010101" pitchFamily="34" charset="-127"/>
          <a:ea typeface="굴림" panose="020B0600000101010101" pitchFamily="34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panose="020B0600000101010101" pitchFamily="34" charset="-127"/>
          <a:ea typeface="굴림" panose="020B0600000101010101" pitchFamily="34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nformatik.uni-hamburg.de/TGI/PetriNets/application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audio" Target="../media/audio2.wav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nformatik.uni-hamburg.de/TGI/PetriNets/application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90BA30-07E8-459F-83C3-1684531CB2CB}" type="slidenum">
              <a:rPr lang="ko-KR" altLang="en-US"/>
              <a:pPr>
                <a:defRPr/>
              </a:pPr>
              <a:t>1</a:t>
            </a:fld>
            <a:endParaRPr lang="en-US" altLang="ko-KR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71800" y="2062163"/>
            <a:ext cx="6019800" cy="1719262"/>
          </a:xfrm>
        </p:spPr>
        <p:txBody>
          <a:bodyPr/>
          <a:lstStyle/>
          <a:p>
            <a:pPr eaLnBrk="1" hangingPunct="1"/>
            <a:r>
              <a:rPr lang="en-US" altLang="ko-KR" smtClean="0">
                <a:latin typeface="Century Gothic" panose="020B0502020202020204" pitchFamily="34" charset="0"/>
              </a:rPr>
              <a:t>Petri Nets I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r" eaLnBrk="1" hangingPunct="1"/>
            <a:r>
              <a:rPr lang="en-US" altLang="ko-KR" smtClean="0">
                <a:latin typeface="Century Gothic" panose="020B0502020202020204" pitchFamily="34" charset="0"/>
              </a:rPr>
              <a:t>Friday, October 21, 2005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čísla snímky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A4D2D6B-6440-4F46-898B-5B1FAC54E27D}" type="slidenum">
              <a:rPr lang="ko-KR" altLang="en-US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>
                <a:latin typeface="Century Gothic" panose="020B0502020202020204" pitchFamily="34" charset="0"/>
              </a:rPr>
              <a:t>Definition of Petri Net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800" b="1" smtClean="0">
                <a:latin typeface="Century Gothic" panose="020B0502020202020204" pitchFamily="34" charset="0"/>
              </a:rPr>
              <a:t>C = ( P, T, I, O)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smtClean="0">
                <a:latin typeface="Century Gothic" panose="020B0502020202020204" pitchFamily="34" charset="0"/>
              </a:rPr>
              <a:t>Places</a:t>
            </a:r>
            <a:br>
              <a:rPr lang="en-US" altLang="ko-KR" sz="2000" smtClean="0">
                <a:latin typeface="Century Gothic" panose="020B0502020202020204" pitchFamily="34" charset="0"/>
              </a:rPr>
            </a:br>
            <a:r>
              <a:rPr lang="en-US" altLang="ko-KR" sz="2000" smtClean="0">
                <a:latin typeface="Century Gothic" panose="020B0502020202020204" pitchFamily="34" charset="0"/>
              </a:rPr>
              <a:t>P = { p</a:t>
            </a:r>
            <a:r>
              <a:rPr lang="en-US" altLang="ko-KR" sz="2000" baseline="-25000" smtClean="0">
                <a:latin typeface="Century Gothic" panose="020B0502020202020204" pitchFamily="34" charset="0"/>
              </a:rPr>
              <a:t>1</a:t>
            </a:r>
            <a:r>
              <a:rPr lang="en-US" altLang="ko-KR" sz="2000" smtClean="0">
                <a:latin typeface="Century Gothic" panose="020B0502020202020204" pitchFamily="34" charset="0"/>
              </a:rPr>
              <a:t>, p</a:t>
            </a:r>
            <a:r>
              <a:rPr lang="en-US" altLang="ko-KR" sz="2000" baseline="-25000" smtClean="0">
                <a:latin typeface="Century Gothic" panose="020B0502020202020204" pitchFamily="34" charset="0"/>
              </a:rPr>
              <a:t>2</a:t>
            </a:r>
            <a:r>
              <a:rPr lang="en-US" altLang="ko-KR" sz="2000" smtClean="0">
                <a:latin typeface="Century Gothic" panose="020B0502020202020204" pitchFamily="34" charset="0"/>
              </a:rPr>
              <a:t>, p</a:t>
            </a:r>
            <a:r>
              <a:rPr lang="en-US" altLang="ko-KR" sz="2000" baseline="-25000" smtClean="0">
                <a:latin typeface="Century Gothic" panose="020B0502020202020204" pitchFamily="34" charset="0"/>
              </a:rPr>
              <a:t>3</a:t>
            </a:r>
            <a:r>
              <a:rPr lang="en-US" altLang="ko-KR" sz="2000" smtClean="0">
                <a:latin typeface="Century Gothic" panose="020B0502020202020204" pitchFamily="34" charset="0"/>
              </a:rPr>
              <a:t>, …, p</a:t>
            </a:r>
            <a:r>
              <a:rPr lang="en-US" altLang="ko-KR" sz="2000" baseline="-25000" smtClean="0">
                <a:latin typeface="Century Gothic" panose="020B0502020202020204" pitchFamily="34" charset="0"/>
              </a:rPr>
              <a:t>n</a:t>
            </a:r>
            <a:r>
              <a:rPr lang="en-US" altLang="ko-KR" sz="2000" smtClean="0">
                <a:latin typeface="Century Gothic" panose="020B0502020202020204" pitchFamily="34" charset="0"/>
              </a:rPr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smtClean="0">
                <a:latin typeface="Century Gothic" panose="020B0502020202020204" pitchFamily="34" charset="0"/>
              </a:rPr>
              <a:t>Transitions</a:t>
            </a:r>
            <a:br>
              <a:rPr lang="en-US" altLang="ko-KR" sz="2000" smtClean="0">
                <a:latin typeface="Century Gothic" panose="020B0502020202020204" pitchFamily="34" charset="0"/>
              </a:rPr>
            </a:br>
            <a:r>
              <a:rPr lang="en-US" altLang="ko-KR" sz="2000" smtClean="0">
                <a:latin typeface="Century Gothic" panose="020B0502020202020204" pitchFamily="34" charset="0"/>
              </a:rPr>
              <a:t>T = { t</a:t>
            </a:r>
            <a:r>
              <a:rPr lang="en-US" altLang="ko-KR" sz="2000" baseline="-25000" smtClean="0">
                <a:latin typeface="Century Gothic" panose="020B0502020202020204" pitchFamily="34" charset="0"/>
              </a:rPr>
              <a:t>1</a:t>
            </a:r>
            <a:r>
              <a:rPr lang="en-US" altLang="ko-KR" sz="2000" smtClean="0">
                <a:latin typeface="Century Gothic" panose="020B0502020202020204" pitchFamily="34" charset="0"/>
              </a:rPr>
              <a:t>, t</a:t>
            </a:r>
            <a:r>
              <a:rPr lang="en-US" altLang="ko-KR" sz="2000" baseline="-25000" smtClean="0">
                <a:latin typeface="Century Gothic" panose="020B0502020202020204" pitchFamily="34" charset="0"/>
              </a:rPr>
              <a:t>2</a:t>
            </a:r>
            <a:r>
              <a:rPr lang="en-US" altLang="ko-KR" sz="2000" smtClean="0">
                <a:latin typeface="Century Gothic" panose="020B0502020202020204" pitchFamily="34" charset="0"/>
              </a:rPr>
              <a:t>, t</a:t>
            </a:r>
            <a:r>
              <a:rPr lang="en-US" altLang="ko-KR" sz="2000" baseline="-25000" smtClean="0">
                <a:latin typeface="Century Gothic" panose="020B0502020202020204" pitchFamily="34" charset="0"/>
              </a:rPr>
              <a:t>3</a:t>
            </a:r>
            <a:r>
              <a:rPr lang="en-US" altLang="ko-KR" sz="2000" smtClean="0">
                <a:latin typeface="Century Gothic" panose="020B0502020202020204" pitchFamily="34" charset="0"/>
              </a:rPr>
              <a:t>, …, t</a:t>
            </a:r>
            <a:r>
              <a:rPr lang="en-US" altLang="ko-KR" sz="2000" baseline="-25000" smtClean="0">
                <a:latin typeface="Century Gothic" panose="020B0502020202020204" pitchFamily="34" charset="0"/>
              </a:rPr>
              <a:t>n</a:t>
            </a:r>
            <a:r>
              <a:rPr lang="en-US" altLang="ko-KR" sz="2000" smtClean="0">
                <a:latin typeface="Century Gothic" panose="020B0502020202020204" pitchFamily="34" charset="0"/>
              </a:rPr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smtClean="0">
                <a:latin typeface="Century Gothic" panose="020B0502020202020204" pitchFamily="34" charset="0"/>
              </a:rPr>
              <a:t>Input </a:t>
            </a:r>
            <a:br>
              <a:rPr lang="en-US" altLang="ko-KR" sz="2000" smtClean="0">
                <a:latin typeface="Century Gothic" panose="020B0502020202020204" pitchFamily="34" charset="0"/>
              </a:rPr>
            </a:br>
            <a:r>
              <a:rPr lang="en-US" altLang="ko-KR" sz="2000" smtClean="0">
                <a:latin typeface="Century Gothic" panose="020B0502020202020204" pitchFamily="34" charset="0"/>
              </a:rPr>
              <a:t>I : T </a:t>
            </a:r>
            <a:r>
              <a:rPr lang="en-US" altLang="ko-KR" sz="2000" smtClean="0">
                <a:latin typeface="Century Gothic" panose="020B0502020202020204" pitchFamily="34" charset="0"/>
                <a:sym typeface="Wingdings" panose="05000000000000000000" pitchFamily="2" charset="2"/>
              </a:rPr>
              <a:t> P</a:t>
            </a:r>
            <a:r>
              <a:rPr lang="en-US" altLang="ko-KR" sz="2000" baseline="30000" smtClean="0">
                <a:latin typeface="Century Gothic" panose="020B0502020202020204" pitchFamily="34" charset="0"/>
                <a:sym typeface="Wingdings" panose="05000000000000000000" pitchFamily="2" charset="2"/>
              </a:rPr>
              <a:t>r</a:t>
            </a:r>
            <a:r>
              <a:rPr lang="en-US" altLang="ko-KR" sz="2000" smtClean="0">
                <a:latin typeface="Century Gothic" panose="020B0502020202020204" pitchFamily="34" charset="0"/>
                <a:sym typeface="Wingdings" panose="05000000000000000000" pitchFamily="2" charset="2"/>
              </a:rPr>
              <a:t> (r = number of places)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smtClean="0">
                <a:latin typeface="Century Gothic" panose="020B0502020202020204" pitchFamily="34" charset="0"/>
                <a:sym typeface="Wingdings" panose="05000000000000000000" pitchFamily="2" charset="2"/>
              </a:rPr>
              <a:t>Output</a:t>
            </a:r>
            <a:br>
              <a:rPr lang="en-US" altLang="ko-KR" sz="2000" smtClean="0">
                <a:latin typeface="Century Gothic" panose="020B0502020202020204" pitchFamily="34" charset="0"/>
                <a:sym typeface="Wingdings" panose="05000000000000000000" pitchFamily="2" charset="2"/>
              </a:rPr>
            </a:br>
            <a:r>
              <a:rPr lang="en-US" altLang="ko-KR" sz="2000" smtClean="0">
                <a:latin typeface="Century Gothic" panose="020B0502020202020204" pitchFamily="34" charset="0"/>
              </a:rPr>
              <a:t>O : T </a:t>
            </a:r>
            <a:r>
              <a:rPr lang="en-US" altLang="ko-KR" sz="2000" smtClean="0">
                <a:latin typeface="Century Gothic" panose="020B0502020202020204" pitchFamily="34" charset="0"/>
                <a:sym typeface="Wingdings" panose="05000000000000000000" pitchFamily="2" charset="2"/>
              </a:rPr>
              <a:t> P</a:t>
            </a:r>
            <a:r>
              <a:rPr lang="en-US" altLang="ko-KR" sz="2000" baseline="30000" smtClean="0">
                <a:latin typeface="Century Gothic" panose="020B0502020202020204" pitchFamily="34" charset="0"/>
                <a:sym typeface="Wingdings" panose="05000000000000000000" pitchFamily="2" charset="2"/>
              </a:rPr>
              <a:t>q</a:t>
            </a:r>
            <a:r>
              <a:rPr lang="en-US" altLang="ko-KR" sz="2000" smtClean="0">
                <a:latin typeface="Century Gothic" panose="020B0502020202020204" pitchFamily="34" charset="0"/>
                <a:sym typeface="Wingdings" panose="05000000000000000000" pitchFamily="2" charset="2"/>
              </a:rPr>
              <a:t> (q = number of places)</a:t>
            </a:r>
            <a:br>
              <a:rPr lang="en-US" altLang="ko-KR" sz="2000" smtClean="0">
                <a:latin typeface="Century Gothic" panose="020B0502020202020204" pitchFamily="34" charset="0"/>
                <a:sym typeface="Wingdings" panose="05000000000000000000" pitchFamily="2" charset="2"/>
              </a:rPr>
            </a:br>
            <a:r>
              <a:rPr lang="en-US" altLang="ko-KR" sz="2000" smtClean="0">
                <a:latin typeface="Century Gothic" panose="020B0502020202020204" pitchFamily="34" charset="0"/>
                <a:sym typeface="Wingdings" panose="05000000000000000000" pitchFamily="2" charset="2"/>
              </a:rPr>
              <a:t/>
            </a:r>
            <a:br>
              <a:rPr lang="en-US" altLang="ko-KR" sz="2000" smtClean="0">
                <a:latin typeface="Century Gothic" panose="020B0502020202020204" pitchFamily="34" charset="0"/>
                <a:sym typeface="Wingdings" panose="05000000000000000000" pitchFamily="2" charset="2"/>
              </a:rPr>
            </a:br>
            <a:endParaRPr lang="en-US" altLang="ko-KR" sz="2000" smtClean="0">
              <a:latin typeface="Century Gothic" panose="020B0502020202020204" pitchFamily="34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2400" smtClean="0">
                <a:latin typeface="Century Gothic" panose="020B0502020202020204" pitchFamily="34" charset="0"/>
                <a:sym typeface="Wingdings" panose="05000000000000000000" pitchFamily="2" charset="2"/>
              </a:rPr>
              <a:t>marking µ : assignment of tokens to the places of Petri net µ = µ</a:t>
            </a:r>
            <a:r>
              <a:rPr lang="en-US" altLang="ko-KR" sz="2400" baseline="-25000" smtClean="0">
                <a:latin typeface="Century Gothic" panose="020B0502020202020204" pitchFamily="34" charset="0"/>
                <a:sym typeface="Wingdings" panose="05000000000000000000" pitchFamily="2" charset="2"/>
              </a:rPr>
              <a:t>1</a:t>
            </a:r>
            <a:r>
              <a:rPr lang="en-US" altLang="ko-KR" sz="2400" smtClean="0">
                <a:latin typeface="Century Gothic" panose="020B0502020202020204" pitchFamily="34" charset="0"/>
                <a:sym typeface="Wingdings" panose="05000000000000000000" pitchFamily="2" charset="2"/>
              </a:rPr>
              <a:t>, µ</a:t>
            </a:r>
            <a:r>
              <a:rPr lang="en-US" altLang="ko-KR" sz="2400" baseline="-25000" smtClean="0">
                <a:latin typeface="Century Gothic" panose="020B0502020202020204" pitchFamily="34" charset="0"/>
                <a:sym typeface="Wingdings" panose="05000000000000000000" pitchFamily="2" charset="2"/>
              </a:rPr>
              <a:t>2</a:t>
            </a:r>
            <a:r>
              <a:rPr lang="en-US" altLang="ko-KR" sz="2400" smtClean="0">
                <a:latin typeface="Century Gothic" panose="020B0502020202020204" pitchFamily="34" charset="0"/>
                <a:sym typeface="Wingdings" panose="05000000000000000000" pitchFamily="2" charset="2"/>
              </a:rPr>
              <a:t>, µ</a:t>
            </a:r>
            <a:r>
              <a:rPr lang="en-US" altLang="ko-KR" sz="2400" baseline="-25000" smtClean="0">
                <a:latin typeface="Century Gothic" panose="020B0502020202020204" pitchFamily="34" charset="0"/>
                <a:sym typeface="Wingdings" panose="05000000000000000000" pitchFamily="2" charset="2"/>
              </a:rPr>
              <a:t>3</a:t>
            </a:r>
            <a:r>
              <a:rPr lang="en-US" altLang="ko-KR" sz="2400" smtClean="0">
                <a:latin typeface="Century Gothic" panose="020B0502020202020204" pitchFamily="34" charset="0"/>
                <a:sym typeface="Wingdings" panose="05000000000000000000" pitchFamily="2" charset="2"/>
              </a:rPr>
              <a:t>, … µ</a:t>
            </a:r>
            <a:r>
              <a:rPr lang="en-US" altLang="ko-KR" sz="2400" baseline="-25000" smtClean="0">
                <a:latin typeface="Century Gothic" panose="020B0502020202020204" pitchFamily="34" charset="0"/>
                <a:sym typeface="Wingdings" panose="05000000000000000000" pitchFamily="2" charset="2"/>
              </a:rPr>
              <a:t>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čísla snímky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935B4D-E805-4FB2-8593-BD232EEE4F26}" type="slidenum">
              <a:rPr lang="ko-KR" altLang="en-US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>
                <a:latin typeface="Century Gothic" panose="020B0502020202020204" pitchFamily="34" charset="0"/>
              </a:rPr>
              <a:t>Applications of Petri Net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400" smtClean="0">
                <a:latin typeface="Century Gothic" panose="020B0502020202020204" pitchFamily="34" charset="0"/>
                <a:sym typeface="Wingdings" panose="05000000000000000000" pitchFamily="2" charset="2"/>
              </a:rPr>
              <a:t>Petri net is primarily used for studying the dynamic concurrent behavior of network-based systems where there is a discrete flow.</a:t>
            </a:r>
            <a:br>
              <a:rPr lang="en-US" altLang="ko-KR" sz="2400" smtClean="0">
                <a:latin typeface="Century Gothic" panose="020B0502020202020204" pitchFamily="34" charset="0"/>
                <a:sym typeface="Wingdings" panose="05000000000000000000" pitchFamily="2" charset="2"/>
              </a:rPr>
            </a:br>
            <a:r>
              <a:rPr lang="en-US" altLang="ko-KR" sz="2400" smtClean="0">
                <a:latin typeface="Century Gothic" panose="020B0502020202020204" pitchFamily="34" charset="0"/>
                <a:sym typeface="Wingdings" panose="05000000000000000000" pitchFamily="2" charset="2"/>
              </a:rPr>
              <a:t/>
            </a:r>
            <a:br>
              <a:rPr lang="en-US" altLang="ko-KR" sz="2400" smtClean="0">
                <a:latin typeface="Century Gothic" panose="020B0502020202020204" pitchFamily="34" charset="0"/>
                <a:sym typeface="Wingdings" panose="05000000000000000000" pitchFamily="2" charset="2"/>
              </a:rPr>
            </a:br>
            <a:endParaRPr lang="en-US" altLang="ko-KR" sz="2400" smtClean="0">
              <a:latin typeface="Century Gothic" panose="020B0502020202020204" pitchFamily="34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2400" smtClean="0">
                <a:latin typeface="Century Gothic" panose="020B0502020202020204" pitchFamily="34" charset="0"/>
                <a:sym typeface="Wingdings" panose="05000000000000000000" pitchFamily="2" charset="2"/>
              </a:rPr>
              <a:t>Petri Nets are applied in practice by industry, academia, and other places.  -</a:t>
            </a:r>
            <a:r>
              <a:rPr lang="en-US" altLang="ko-KR" sz="2400" smtClean="0">
                <a:latin typeface="Century Gothic" panose="020B0502020202020204" pitchFamily="34" charset="0"/>
                <a:sym typeface="Wingdings" panose="05000000000000000000" pitchFamily="2" charset="2"/>
                <a:hlinkClick r:id="rId2"/>
              </a:rPr>
              <a:t>reference</a:t>
            </a:r>
            <a:endParaRPr lang="en-US" altLang="ko-KR" sz="2400" smtClean="0">
              <a:latin typeface="Century Gothic" panose="020B0502020202020204" pitchFamily="34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ástupný symbol čísla snímky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86FEA6-C777-452A-833C-81DBFC99709C}" type="slidenum">
              <a:rPr lang="ko-KR" altLang="en-US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609600"/>
            <a:ext cx="7772400" cy="5791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2800" u="sng" smtClean="0">
                <a:latin typeface="Century Gothic" panose="020B0502020202020204" pitchFamily="34" charset="0"/>
              </a:rPr>
              <a:t>Basics of Petri Nets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 smtClean="0">
                <a:latin typeface="Century Gothic" panose="020B0502020202020204" pitchFamily="34" charset="0"/>
              </a:rPr>
              <a:t>Petri net consist two types of nodes: </a:t>
            </a:r>
            <a:r>
              <a:rPr lang="en-US" altLang="ko-KR" sz="2800" i="1" smtClean="0">
                <a:latin typeface="Century Gothic" panose="020B0502020202020204" pitchFamily="34" charset="0"/>
              </a:rPr>
              <a:t>places</a:t>
            </a:r>
            <a:r>
              <a:rPr lang="en-US" altLang="ko-KR" sz="2800" smtClean="0">
                <a:latin typeface="Century Gothic" panose="020B0502020202020204" pitchFamily="34" charset="0"/>
              </a:rPr>
              <a:t> and </a:t>
            </a:r>
            <a:r>
              <a:rPr lang="en-US" altLang="ko-KR" sz="2800" i="1" smtClean="0">
                <a:latin typeface="Century Gothic" panose="020B0502020202020204" pitchFamily="34" charset="0"/>
              </a:rPr>
              <a:t>transitions</a:t>
            </a:r>
            <a:r>
              <a:rPr lang="en-US" altLang="ko-KR" sz="2800" smtClean="0">
                <a:latin typeface="Century Gothic" panose="020B0502020202020204" pitchFamily="34" charset="0"/>
              </a:rPr>
              <a:t>. And arc exists only from a place to a transition or from a transition to a place.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 smtClean="0">
                <a:latin typeface="Century Gothic" panose="020B0502020202020204" pitchFamily="34" charset="0"/>
              </a:rPr>
              <a:t>A place may have zero or more </a:t>
            </a:r>
            <a:r>
              <a:rPr lang="en-US" altLang="ko-KR" sz="2800" i="1" smtClean="0">
                <a:latin typeface="Century Gothic" panose="020B0502020202020204" pitchFamily="34" charset="0"/>
              </a:rPr>
              <a:t>tokens</a:t>
            </a:r>
            <a:r>
              <a:rPr lang="en-US" altLang="ko-KR" sz="2800" smtClean="0">
                <a:latin typeface="Century Gothic" panose="020B0502020202020204" pitchFamily="34" charset="0"/>
              </a:rPr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 smtClean="0">
                <a:latin typeface="Century Gothic" panose="020B0502020202020204" pitchFamily="34" charset="0"/>
              </a:rPr>
              <a:t>Graphically, places, transitions, arcs, and tokens are represented respectively by: circles, bars, arrows, and dots.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2800" smtClean="0">
                <a:latin typeface="Century Gothic" panose="020B0502020202020204" pitchFamily="34" charset="0"/>
              </a:rPr>
              <a:t/>
            </a:r>
            <a:br>
              <a:rPr lang="en-US" altLang="ko-KR" sz="2800" smtClean="0">
                <a:latin typeface="Century Gothic" panose="020B0502020202020204" pitchFamily="34" charset="0"/>
              </a:rPr>
            </a:br>
            <a:endParaRPr lang="en-US" altLang="ko-KR" sz="2800" smtClean="0">
              <a:latin typeface="Century Gothic" panose="020B0502020202020204" pitchFamily="34" charset="0"/>
            </a:endParaRPr>
          </a:p>
        </p:txBody>
      </p:sp>
      <p:sp>
        <p:nvSpPr>
          <p:cNvPr id="9220" name="Oval 10"/>
          <p:cNvSpPr>
            <a:spLocks noChangeArrowheads="1"/>
          </p:cNvSpPr>
          <p:nvPr/>
        </p:nvSpPr>
        <p:spPr bwMode="auto">
          <a:xfrm>
            <a:off x="3429000" y="4724400"/>
            <a:ext cx="762000" cy="7620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 baseline="-25000">
                <a:latin typeface="Times New Roman" panose="02020603050405020304" pitchFamily="18" charset="0"/>
              </a:rPr>
              <a:t>                     </a:t>
            </a:r>
            <a:r>
              <a:rPr kumimoji="0" lang="en-US" altLang="ko-KR" sz="2400">
                <a:latin typeface="Times New Roman" panose="02020603050405020304" pitchFamily="18" charset="0"/>
              </a:rPr>
              <a:t>p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2 </a:t>
            </a:r>
          </a:p>
        </p:txBody>
      </p:sp>
      <p:sp>
        <p:nvSpPr>
          <p:cNvPr id="9221" name="Oval 11"/>
          <p:cNvSpPr>
            <a:spLocks noChangeArrowheads="1"/>
          </p:cNvSpPr>
          <p:nvPr/>
        </p:nvSpPr>
        <p:spPr bwMode="auto">
          <a:xfrm>
            <a:off x="1752600" y="4724400"/>
            <a:ext cx="762000" cy="7620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r>
              <a:rPr kumimoji="0" lang="ko-KR" altLang="en-US" sz="2400" baseline="-25000">
                <a:latin typeface="Times New Roman" panose="02020603050405020304" pitchFamily="18" charset="0"/>
              </a:rPr>
              <a:t/>
            </a:r>
            <a:br>
              <a:rPr kumimoji="0" lang="ko-KR" altLang="en-US" sz="2400" baseline="-25000">
                <a:latin typeface="Times New Roman" panose="02020603050405020304" pitchFamily="18" charset="0"/>
              </a:rPr>
            </a:br>
            <a:r>
              <a:rPr kumimoji="0" lang="ko-KR" altLang="en-US" sz="2400" baseline="-25000">
                <a:latin typeface="Times New Roman" panose="02020603050405020304" pitchFamily="18" charset="0"/>
              </a:rPr>
              <a:t/>
            </a:r>
            <a:br>
              <a:rPr kumimoji="0" lang="ko-KR" altLang="en-US" sz="2400" baseline="-25000">
                <a:latin typeface="Times New Roman" panose="02020603050405020304" pitchFamily="18" charset="0"/>
              </a:rPr>
            </a:br>
            <a:r>
              <a:rPr kumimoji="0" lang="ko-KR" altLang="en-US" sz="2400" baseline="-25000">
                <a:latin typeface="Times New Roman" panose="02020603050405020304" pitchFamily="18" charset="0"/>
              </a:rPr>
              <a:t/>
            </a:r>
            <a:br>
              <a:rPr kumimoji="0" lang="ko-KR" altLang="en-US" sz="2400" baseline="-25000">
                <a:latin typeface="Times New Roman" panose="02020603050405020304" pitchFamily="18" charset="0"/>
              </a:rPr>
            </a:br>
            <a:r>
              <a:rPr kumimoji="0" lang="ko-KR" altLang="en-US" sz="2400" baseline="-25000">
                <a:latin typeface="Times New Roman" panose="02020603050405020304" pitchFamily="18" charset="0"/>
              </a:rPr>
              <a:t> 	</a:t>
            </a:r>
            <a:r>
              <a:rPr kumimoji="0" lang="en-US" altLang="ko-KR" sz="2400">
                <a:latin typeface="Times New Roman" panose="02020603050405020304" pitchFamily="18" charset="0"/>
              </a:rPr>
              <a:t>p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9222" name="Rectangle 12"/>
          <p:cNvSpPr>
            <a:spLocks noChangeArrowheads="1"/>
          </p:cNvSpPr>
          <p:nvPr/>
        </p:nvSpPr>
        <p:spPr bwMode="auto">
          <a:xfrm>
            <a:off x="2895600" y="4724400"/>
            <a:ext cx="152400" cy="762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 baseline="-25000">
                <a:latin typeface="Times New Roman" panose="02020603050405020304" pitchFamily="18" charset="0"/>
              </a:rPr>
              <a:t>   </a:t>
            </a: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>
                <a:latin typeface="Times New Roman" panose="02020603050405020304" pitchFamily="18" charset="0"/>
              </a:rPr>
              <a:t>      </a:t>
            </a:r>
            <a:r>
              <a:rPr kumimoji="0" lang="en-US" altLang="ko-KR" sz="2400">
                <a:latin typeface="Times New Roman" panose="02020603050405020304" pitchFamily="18" charset="0"/>
              </a:rPr>
              <a:t>t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1</a:t>
            </a:r>
          </a:p>
          <a:p>
            <a:pPr algn="ctr" eaLnBrk="1" latinLnBrk="0" hangingPunct="1"/>
            <a:r>
              <a:rPr kumimoji="0" lang="en-US" altLang="ko-KR" sz="2400" baseline="-25000">
                <a:latin typeface="Times New Roman" panose="02020603050405020304" pitchFamily="18" charset="0"/>
              </a:rPr>
              <a:t>   </a:t>
            </a:r>
          </a:p>
        </p:txBody>
      </p:sp>
      <p:sp>
        <p:nvSpPr>
          <p:cNvPr id="9223" name="Line 13"/>
          <p:cNvSpPr>
            <a:spLocks noChangeShapeType="1"/>
          </p:cNvSpPr>
          <p:nvPr/>
        </p:nvSpPr>
        <p:spPr bwMode="auto">
          <a:xfrm>
            <a:off x="2514600" y="5105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9224" name="Line 14"/>
          <p:cNvSpPr>
            <a:spLocks noChangeShapeType="1"/>
          </p:cNvSpPr>
          <p:nvPr/>
        </p:nvSpPr>
        <p:spPr bwMode="auto">
          <a:xfrm>
            <a:off x="3048000" y="5105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9225" name="Oval 15"/>
          <p:cNvSpPr>
            <a:spLocks noChangeArrowheads="1"/>
          </p:cNvSpPr>
          <p:nvPr/>
        </p:nvSpPr>
        <p:spPr bwMode="auto">
          <a:xfrm>
            <a:off x="1981200" y="495300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ástupný symbol čísla snímky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2228315-210B-4569-B3B8-74235CC9BE27}" type="slidenum">
              <a:rPr lang="ko-KR" altLang="en-US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609600"/>
            <a:ext cx="7772400" cy="5791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2800" u="sng" smtClean="0">
                <a:latin typeface="Century Gothic" panose="020B0502020202020204" pitchFamily="34" charset="0"/>
              </a:rPr>
              <a:t>Basics of Petri Nets </a:t>
            </a:r>
            <a:r>
              <a:rPr lang="en-US" altLang="ko-KR" sz="2000" smtClean="0">
                <a:latin typeface="Century Gothic" panose="020B0502020202020204" pitchFamily="34" charset="0"/>
              </a:rPr>
              <a:t>-continued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 smtClean="0">
                <a:latin typeface="Century Gothic" panose="020B0502020202020204" pitchFamily="34" charset="0"/>
              </a:rPr>
              <a:t>Below is an example Petri net with two places and one transaction.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 smtClean="0">
                <a:latin typeface="Century Gothic" panose="020B0502020202020204" pitchFamily="34" charset="0"/>
              </a:rPr>
              <a:t>Transition node is ready to </a:t>
            </a:r>
            <a:r>
              <a:rPr lang="en-US" altLang="ko-KR" sz="2800" b="1" i="1" smtClean="0">
                <a:latin typeface="Century Gothic" panose="020B0502020202020204" pitchFamily="34" charset="0"/>
              </a:rPr>
              <a:t>fire</a:t>
            </a:r>
            <a:r>
              <a:rPr lang="en-US" altLang="ko-KR" sz="2800" smtClean="0">
                <a:latin typeface="Century Gothic" panose="020B0502020202020204" pitchFamily="34" charset="0"/>
              </a:rPr>
              <a:t> if and only if there is at least one token at each of its input places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2800" smtClean="0">
                <a:latin typeface="Century Gothic" panose="020B0502020202020204" pitchFamily="34" charset="0"/>
              </a:rPr>
              <a:t/>
            </a:r>
            <a:br>
              <a:rPr lang="en-US" altLang="ko-KR" sz="2800" smtClean="0">
                <a:latin typeface="Century Gothic" panose="020B0502020202020204" pitchFamily="34" charset="0"/>
              </a:rPr>
            </a:br>
            <a:endParaRPr lang="en-US" altLang="ko-KR" sz="2800" smtClean="0">
              <a:latin typeface="Century Gothic" panose="020B0502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2800" smtClean="0">
              <a:latin typeface="Century Gothic" panose="020B0502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2800" smtClean="0">
              <a:latin typeface="Century Gothic" panose="020B0502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2400" smtClean="0">
                <a:latin typeface="Century Gothic" panose="020B0502020202020204" pitchFamily="34" charset="0"/>
              </a:rPr>
              <a:t>state transition of form (1, 0) </a:t>
            </a:r>
            <a:r>
              <a:rPr lang="en-US" altLang="ko-KR" sz="2400" smtClean="0">
                <a:latin typeface="Century Gothic" panose="020B0502020202020204" pitchFamily="34" charset="0"/>
                <a:sym typeface="Wingdings" panose="05000000000000000000" pitchFamily="2" charset="2"/>
              </a:rPr>
              <a:t> (0, 1)</a:t>
            </a:r>
            <a:endParaRPr lang="en-US" altLang="ko-KR" sz="2400" smtClean="0">
              <a:latin typeface="Century Gothic" panose="020B0502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2400" smtClean="0">
                <a:latin typeface="Century Gothic" panose="020B0502020202020204" pitchFamily="34" charset="0"/>
              </a:rPr>
              <a:t>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1</a:t>
            </a:r>
            <a:r>
              <a:rPr lang="en-US" altLang="ko-KR" sz="2400" smtClean="0">
                <a:latin typeface="Century Gothic" panose="020B0502020202020204" pitchFamily="34" charset="0"/>
              </a:rPr>
              <a:t> : input place		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2</a:t>
            </a:r>
            <a:r>
              <a:rPr lang="en-US" altLang="ko-KR" sz="2400" smtClean="0">
                <a:latin typeface="Century Gothic" panose="020B0502020202020204" pitchFamily="34" charset="0"/>
              </a:rPr>
              <a:t>: output place</a:t>
            </a:r>
          </a:p>
        </p:txBody>
      </p:sp>
      <p:sp>
        <p:nvSpPr>
          <p:cNvPr id="11268" name="Oval 3"/>
          <p:cNvSpPr>
            <a:spLocks noChangeArrowheads="1"/>
          </p:cNvSpPr>
          <p:nvPr/>
        </p:nvSpPr>
        <p:spPr bwMode="auto">
          <a:xfrm>
            <a:off x="3352800" y="3733800"/>
            <a:ext cx="762000" cy="7620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 baseline="-25000">
                <a:latin typeface="Times New Roman" panose="02020603050405020304" pitchFamily="18" charset="0"/>
              </a:rPr>
              <a:t>                     </a:t>
            </a:r>
            <a:r>
              <a:rPr kumimoji="0" lang="en-US" altLang="ko-KR" sz="2400">
                <a:latin typeface="Times New Roman" panose="02020603050405020304" pitchFamily="18" charset="0"/>
              </a:rPr>
              <a:t>p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2 </a:t>
            </a:r>
          </a:p>
        </p:txBody>
      </p:sp>
      <p:sp>
        <p:nvSpPr>
          <p:cNvPr id="11269" name="Oval 4"/>
          <p:cNvSpPr>
            <a:spLocks noChangeArrowheads="1"/>
          </p:cNvSpPr>
          <p:nvPr/>
        </p:nvSpPr>
        <p:spPr bwMode="auto">
          <a:xfrm>
            <a:off x="1676400" y="3733800"/>
            <a:ext cx="762000" cy="7620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r>
              <a:rPr kumimoji="0" lang="ko-KR" altLang="en-US" sz="2400" baseline="-25000">
                <a:latin typeface="Times New Roman" panose="02020603050405020304" pitchFamily="18" charset="0"/>
              </a:rPr>
              <a:t/>
            </a:r>
            <a:br>
              <a:rPr kumimoji="0" lang="ko-KR" altLang="en-US" sz="2400" baseline="-25000">
                <a:latin typeface="Times New Roman" panose="02020603050405020304" pitchFamily="18" charset="0"/>
              </a:rPr>
            </a:br>
            <a:r>
              <a:rPr kumimoji="0" lang="ko-KR" altLang="en-US" sz="2400" baseline="-25000">
                <a:latin typeface="Times New Roman" panose="02020603050405020304" pitchFamily="18" charset="0"/>
              </a:rPr>
              <a:t/>
            </a:r>
            <a:br>
              <a:rPr kumimoji="0" lang="ko-KR" altLang="en-US" sz="2400" baseline="-25000">
                <a:latin typeface="Times New Roman" panose="02020603050405020304" pitchFamily="18" charset="0"/>
              </a:rPr>
            </a:br>
            <a:r>
              <a:rPr kumimoji="0" lang="ko-KR" altLang="en-US" sz="2400" baseline="-25000">
                <a:latin typeface="Times New Roman" panose="02020603050405020304" pitchFamily="18" charset="0"/>
              </a:rPr>
              <a:t/>
            </a:r>
            <a:br>
              <a:rPr kumimoji="0" lang="ko-KR" altLang="en-US" sz="2400" baseline="-25000">
                <a:latin typeface="Times New Roman" panose="02020603050405020304" pitchFamily="18" charset="0"/>
              </a:rPr>
            </a:br>
            <a:r>
              <a:rPr kumimoji="0" lang="ko-KR" altLang="en-US" sz="2400" baseline="-25000">
                <a:latin typeface="Times New Roman" panose="02020603050405020304" pitchFamily="18" charset="0"/>
              </a:rPr>
              <a:t> 	</a:t>
            </a:r>
            <a:r>
              <a:rPr kumimoji="0" lang="en-US" altLang="ko-KR" sz="2400">
                <a:latin typeface="Times New Roman" panose="02020603050405020304" pitchFamily="18" charset="0"/>
              </a:rPr>
              <a:t>p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2819400" y="3733800"/>
            <a:ext cx="152400" cy="762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 baseline="-25000">
                <a:latin typeface="Times New Roman" panose="02020603050405020304" pitchFamily="18" charset="0"/>
              </a:rPr>
              <a:t>   </a:t>
            </a: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>
                <a:latin typeface="Times New Roman" panose="02020603050405020304" pitchFamily="18" charset="0"/>
              </a:rPr>
              <a:t>      </a:t>
            </a:r>
            <a:r>
              <a:rPr kumimoji="0" lang="en-US" altLang="ko-KR" sz="2400">
                <a:latin typeface="Times New Roman" panose="02020603050405020304" pitchFamily="18" charset="0"/>
              </a:rPr>
              <a:t>t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1</a:t>
            </a:r>
          </a:p>
          <a:p>
            <a:pPr algn="ctr" eaLnBrk="1" latinLnBrk="0" hangingPunct="1"/>
            <a:r>
              <a:rPr kumimoji="0" lang="en-US" altLang="ko-KR" sz="2400" baseline="-25000">
                <a:latin typeface="Times New Roman" panose="02020603050405020304" pitchFamily="18" charset="0"/>
              </a:rPr>
              <a:t>   </a:t>
            </a:r>
          </a:p>
        </p:txBody>
      </p:sp>
      <p:sp>
        <p:nvSpPr>
          <p:cNvPr id="11271" name="Line 6"/>
          <p:cNvSpPr>
            <a:spLocks noChangeShapeType="1"/>
          </p:cNvSpPr>
          <p:nvPr/>
        </p:nvSpPr>
        <p:spPr bwMode="auto">
          <a:xfrm>
            <a:off x="2438400" y="4114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1272" name="Line 7"/>
          <p:cNvSpPr>
            <a:spLocks noChangeShapeType="1"/>
          </p:cNvSpPr>
          <p:nvPr/>
        </p:nvSpPr>
        <p:spPr bwMode="auto">
          <a:xfrm>
            <a:off x="2971800" y="4114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62472" name="Oval 8"/>
          <p:cNvSpPr>
            <a:spLocks noChangeArrowheads="1"/>
          </p:cNvSpPr>
          <p:nvPr/>
        </p:nvSpPr>
        <p:spPr bwMode="auto">
          <a:xfrm>
            <a:off x="1905000" y="396240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79889E-6 L 0.18334 2.79889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24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Zástupný symbol čísla snímky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A0C98C-2266-4EAB-B923-7BC49AE16CFE}" type="slidenum">
              <a:rPr lang="ko-KR" altLang="en-US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609600"/>
            <a:ext cx="4419600" cy="6248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2800" u="sng" smtClean="0">
                <a:latin typeface="Century Gothic" panose="020B0502020202020204" pitchFamily="34" charset="0"/>
              </a:rPr>
              <a:t>Properties of Petri Nets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 smtClean="0">
                <a:latin typeface="Century Gothic" panose="020B0502020202020204" pitchFamily="34" charset="0"/>
              </a:rPr>
              <a:t>Sequential Execution</a:t>
            </a:r>
            <a:br>
              <a:rPr lang="en-US" altLang="ko-KR" sz="2800" smtClean="0">
                <a:latin typeface="Century Gothic" panose="020B0502020202020204" pitchFamily="34" charset="0"/>
              </a:rPr>
            </a:br>
            <a:r>
              <a:rPr lang="en-US" altLang="ko-KR" sz="2400" smtClean="0">
                <a:latin typeface="Century Gothic" panose="020B0502020202020204" pitchFamily="34" charset="0"/>
              </a:rPr>
              <a:t>Transition t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2</a:t>
            </a:r>
            <a:r>
              <a:rPr lang="en-US" altLang="ko-KR" sz="2400" smtClean="0">
                <a:latin typeface="Century Gothic" panose="020B0502020202020204" pitchFamily="34" charset="0"/>
              </a:rPr>
              <a:t> can fire only after the firing of t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1</a:t>
            </a:r>
            <a:r>
              <a:rPr lang="en-US" altLang="ko-KR" sz="2400" smtClean="0">
                <a:latin typeface="Century Gothic" panose="020B0502020202020204" pitchFamily="34" charset="0"/>
              </a:rPr>
              <a:t>. This impose the precedence of constraints "t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2</a:t>
            </a:r>
            <a:r>
              <a:rPr lang="en-US" altLang="ko-KR" sz="2400" smtClean="0">
                <a:latin typeface="Century Gothic" panose="020B0502020202020204" pitchFamily="34" charset="0"/>
              </a:rPr>
              <a:t> after t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1</a:t>
            </a:r>
            <a:r>
              <a:rPr lang="en-US" altLang="ko-KR" sz="2400" smtClean="0">
                <a:latin typeface="Century Gothic" panose="020B0502020202020204" pitchFamily="34" charset="0"/>
              </a:rPr>
              <a:t>."</a:t>
            </a:r>
            <a:r>
              <a:rPr lang="en-US" altLang="ko-KR" sz="2800" smtClean="0">
                <a:latin typeface="Century Gothic" panose="020B0502020202020204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 smtClean="0">
                <a:latin typeface="Century Gothic" panose="020B0502020202020204" pitchFamily="34" charset="0"/>
              </a:rPr>
              <a:t>Synchronization</a:t>
            </a:r>
            <a:br>
              <a:rPr lang="en-US" altLang="ko-KR" sz="2800" smtClean="0">
                <a:latin typeface="Century Gothic" panose="020B0502020202020204" pitchFamily="34" charset="0"/>
              </a:rPr>
            </a:br>
            <a:r>
              <a:rPr lang="en-US" altLang="ko-KR" sz="2400" smtClean="0">
                <a:latin typeface="Century Gothic" panose="020B0502020202020204" pitchFamily="34" charset="0"/>
              </a:rPr>
              <a:t>Transition t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1 </a:t>
            </a:r>
            <a:r>
              <a:rPr lang="en-US" altLang="ko-KR" sz="2400" smtClean="0">
                <a:latin typeface="Century Gothic" panose="020B0502020202020204" pitchFamily="34" charset="0"/>
              </a:rPr>
              <a:t>will be enabled only when a token there are at least one token at each of its input places.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 smtClean="0">
                <a:latin typeface="Century Gothic" panose="020B0502020202020204" pitchFamily="34" charset="0"/>
              </a:rPr>
              <a:t>Merging</a:t>
            </a:r>
            <a:br>
              <a:rPr lang="en-US" altLang="ko-KR" sz="2800" smtClean="0">
                <a:latin typeface="Century Gothic" panose="020B0502020202020204" pitchFamily="34" charset="0"/>
              </a:rPr>
            </a:br>
            <a:r>
              <a:rPr lang="en-US" altLang="ko-KR" sz="2400" smtClean="0">
                <a:latin typeface="Century Gothic" panose="020B0502020202020204" pitchFamily="34" charset="0"/>
              </a:rPr>
              <a:t>Happens when tokens from several places arrive for service at the same transition.</a:t>
            </a:r>
          </a:p>
          <a:p>
            <a:pPr eaLnBrk="1" hangingPunct="1">
              <a:lnSpc>
                <a:spcPct val="90000"/>
              </a:lnSpc>
            </a:pPr>
            <a:endParaRPr lang="en-US" altLang="ko-KR" sz="2800" smtClean="0">
              <a:latin typeface="Century Gothic" panose="020B0502020202020204" pitchFamily="34" charset="0"/>
            </a:endParaRPr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6553200" y="1447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 baseline="-25000">
                <a:latin typeface="Times New Roman" panose="02020603050405020304" pitchFamily="18" charset="0"/>
              </a:rPr>
              <a:t>               </a:t>
            </a:r>
            <a:r>
              <a:rPr kumimoji="0" lang="en-US" altLang="ko-KR" sz="2400">
                <a:latin typeface="Times New Roman" panose="02020603050405020304" pitchFamily="18" charset="0"/>
              </a:rPr>
              <a:t>p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2 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6218238" y="1447800"/>
            <a:ext cx="106362" cy="533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 baseline="-25000">
                <a:latin typeface="Times New Roman" panose="02020603050405020304" pitchFamily="18" charset="0"/>
              </a:rPr>
              <a:t>   </a:t>
            </a: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>
                <a:latin typeface="Times New Roman" panose="02020603050405020304" pitchFamily="18" charset="0"/>
              </a:rPr>
              <a:t>      </a:t>
            </a:r>
            <a:r>
              <a:rPr kumimoji="0" lang="en-US" altLang="ko-KR" sz="2400">
                <a:latin typeface="Times New Roman" panose="02020603050405020304" pitchFamily="18" charset="0"/>
              </a:rPr>
              <a:t>t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1</a:t>
            </a:r>
          </a:p>
          <a:p>
            <a:pPr algn="ctr" eaLnBrk="1" latinLnBrk="0" hangingPunct="1"/>
            <a:r>
              <a:rPr kumimoji="0" lang="en-US" altLang="ko-KR" sz="2400" baseline="-25000">
                <a:latin typeface="Times New Roman" panose="02020603050405020304" pitchFamily="18" charset="0"/>
              </a:rPr>
              <a:t>   </a:t>
            </a:r>
          </a:p>
        </p:txBody>
      </p:sp>
      <p:sp>
        <p:nvSpPr>
          <p:cNvPr id="18438" name="Line 6"/>
          <p:cNvSpPr>
            <a:spLocks noChangeShapeType="1"/>
          </p:cNvSpPr>
          <p:nvPr/>
        </p:nvSpPr>
        <p:spPr bwMode="auto">
          <a:xfrm>
            <a:off x="5943600" y="1676400"/>
            <a:ext cx="2381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6324600" y="1676400"/>
            <a:ext cx="2381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5410200" y="1447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r>
              <a:rPr kumimoji="0" lang="ko-KR" altLang="en-US" sz="2400" baseline="-25000">
                <a:latin typeface="Times New Roman" panose="02020603050405020304" pitchFamily="18" charset="0"/>
              </a:rPr>
              <a:t/>
            </a:r>
            <a:br>
              <a:rPr kumimoji="0" lang="ko-KR" altLang="en-US" sz="2400" baseline="-25000">
                <a:latin typeface="Times New Roman" panose="02020603050405020304" pitchFamily="18" charset="0"/>
              </a:rPr>
            </a:br>
            <a:r>
              <a:rPr kumimoji="0" lang="ko-KR" altLang="en-US" sz="2400" baseline="-25000">
                <a:latin typeface="Times New Roman" panose="02020603050405020304" pitchFamily="18" charset="0"/>
              </a:rPr>
              <a:t/>
            </a:r>
            <a:br>
              <a:rPr kumimoji="0" lang="ko-KR" altLang="en-US" sz="2400" baseline="-25000">
                <a:latin typeface="Times New Roman" panose="02020603050405020304" pitchFamily="18" charset="0"/>
              </a:rPr>
            </a:br>
            <a:r>
              <a:rPr kumimoji="0" lang="ko-KR" altLang="en-US" sz="2400" baseline="-25000">
                <a:latin typeface="Times New Roman" panose="02020603050405020304" pitchFamily="18" charset="0"/>
              </a:rPr>
              <a:t/>
            </a:r>
            <a:br>
              <a:rPr kumimoji="0" lang="ko-KR" altLang="en-US" sz="2400" baseline="-25000">
                <a:latin typeface="Times New Roman" panose="02020603050405020304" pitchFamily="18" charset="0"/>
              </a:rPr>
            </a:br>
            <a:r>
              <a:rPr kumimoji="0" lang="ko-KR" altLang="en-US" sz="2400" baseline="-25000">
                <a:latin typeface="Times New Roman" panose="02020603050405020304" pitchFamily="18" charset="0"/>
              </a:rPr>
              <a:t>            </a:t>
            </a:r>
            <a:r>
              <a:rPr kumimoji="0" lang="en-US" altLang="ko-KR" sz="2400">
                <a:latin typeface="Times New Roman" panose="02020603050405020304" pitchFamily="18" charset="0"/>
              </a:rPr>
              <a:t>p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5562600" y="1616075"/>
            <a:ext cx="212725" cy="21272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8445" name="Oval 13"/>
          <p:cNvSpPr>
            <a:spLocks noChangeArrowheads="1"/>
          </p:cNvSpPr>
          <p:nvPr/>
        </p:nvSpPr>
        <p:spPr bwMode="auto">
          <a:xfrm>
            <a:off x="7696200" y="1447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 baseline="-25000">
                <a:latin typeface="Times New Roman" panose="02020603050405020304" pitchFamily="18" charset="0"/>
              </a:rPr>
              <a:t>               </a:t>
            </a:r>
            <a:r>
              <a:rPr kumimoji="0" lang="en-US" altLang="ko-KR" sz="2400">
                <a:latin typeface="Times New Roman" panose="02020603050405020304" pitchFamily="18" charset="0"/>
              </a:rPr>
              <a:t>p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3 </a:t>
            </a:r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7361238" y="1447800"/>
            <a:ext cx="106362" cy="533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 baseline="-25000">
                <a:latin typeface="Times New Roman" panose="02020603050405020304" pitchFamily="18" charset="0"/>
              </a:rPr>
              <a:t>   </a:t>
            </a: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>
                <a:latin typeface="Times New Roman" panose="02020603050405020304" pitchFamily="18" charset="0"/>
              </a:rPr>
              <a:t>      </a:t>
            </a:r>
            <a:r>
              <a:rPr kumimoji="0" lang="en-US" altLang="ko-KR" sz="2400">
                <a:latin typeface="Times New Roman" panose="02020603050405020304" pitchFamily="18" charset="0"/>
              </a:rPr>
              <a:t>t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2</a:t>
            </a:r>
          </a:p>
          <a:p>
            <a:pPr algn="ctr" eaLnBrk="1" latinLnBrk="0" hangingPunct="1"/>
            <a:r>
              <a:rPr kumimoji="0" lang="en-US" altLang="ko-KR" sz="2400" baseline="-25000">
                <a:latin typeface="Times New Roman" panose="02020603050405020304" pitchFamily="18" charset="0"/>
              </a:rPr>
              <a:t>   </a:t>
            </a:r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7086600" y="1676400"/>
            <a:ext cx="2381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7467600" y="1676400"/>
            <a:ext cx="2381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8576" name="AutoShape 144"/>
          <p:cNvSpPr>
            <a:spLocks noChangeArrowheads="1"/>
          </p:cNvSpPr>
          <p:nvPr/>
        </p:nvSpPr>
        <p:spPr bwMode="auto">
          <a:xfrm>
            <a:off x="5867400" y="4876800"/>
            <a:ext cx="6858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8578" name="Oval 146"/>
          <p:cNvSpPr>
            <a:spLocks noChangeArrowheads="1"/>
          </p:cNvSpPr>
          <p:nvPr/>
        </p:nvSpPr>
        <p:spPr bwMode="auto">
          <a:xfrm>
            <a:off x="6629400" y="38862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18580" name="Line 148"/>
          <p:cNvSpPr>
            <a:spLocks noChangeShapeType="1"/>
          </p:cNvSpPr>
          <p:nvPr/>
        </p:nvSpPr>
        <p:spPr bwMode="auto">
          <a:xfrm>
            <a:off x="5830888" y="37338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grpSp>
        <p:nvGrpSpPr>
          <p:cNvPr id="18581" name="Group 149"/>
          <p:cNvGrpSpPr>
            <a:grpSpLocks/>
          </p:cNvGrpSpPr>
          <p:nvPr/>
        </p:nvGrpSpPr>
        <p:grpSpPr bwMode="auto">
          <a:xfrm>
            <a:off x="5410200" y="3276600"/>
            <a:ext cx="533400" cy="533400"/>
            <a:chOff x="3408" y="720"/>
            <a:chExt cx="336" cy="336"/>
          </a:xfrm>
        </p:grpSpPr>
        <p:sp>
          <p:nvSpPr>
            <p:cNvPr id="12320" name="Oval 150"/>
            <p:cNvSpPr>
              <a:spLocks noChangeArrowheads="1"/>
            </p:cNvSpPr>
            <p:nvPr/>
          </p:nvSpPr>
          <p:spPr bwMode="auto">
            <a:xfrm>
              <a:off x="3408" y="72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en-US" altLang="ko-KR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2321" name="Oval 151"/>
            <p:cNvSpPr>
              <a:spLocks noChangeArrowheads="1"/>
            </p:cNvSpPr>
            <p:nvPr/>
          </p:nvSpPr>
          <p:spPr bwMode="auto">
            <a:xfrm>
              <a:off x="3504" y="826"/>
              <a:ext cx="134" cy="134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</p:grpSp>
      <p:sp>
        <p:nvSpPr>
          <p:cNvPr id="18584" name="Line 152"/>
          <p:cNvSpPr>
            <a:spLocks noChangeShapeType="1"/>
          </p:cNvSpPr>
          <p:nvPr/>
        </p:nvSpPr>
        <p:spPr bwMode="auto">
          <a:xfrm flipV="1">
            <a:off x="5907088" y="42672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grpSp>
        <p:nvGrpSpPr>
          <p:cNvPr id="18585" name="Group 153"/>
          <p:cNvGrpSpPr>
            <a:grpSpLocks/>
          </p:cNvGrpSpPr>
          <p:nvPr/>
        </p:nvGrpSpPr>
        <p:grpSpPr bwMode="auto">
          <a:xfrm>
            <a:off x="5400675" y="4343400"/>
            <a:ext cx="533400" cy="533400"/>
            <a:chOff x="3408" y="720"/>
            <a:chExt cx="336" cy="336"/>
          </a:xfrm>
        </p:grpSpPr>
        <p:sp>
          <p:nvSpPr>
            <p:cNvPr id="12318" name="Oval 154"/>
            <p:cNvSpPr>
              <a:spLocks noChangeArrowheads="1"/>
            </p:cNvSpPr>
            <p:nvPr/>
          </p:nvSpPr>
          <p:spPr bwMode="auto">
            <a:xfrm>
              <a:off x="3408" y="72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en-US" altLang="ko-KR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2319" name="Oval 155"/>
            <p:cNvSpPr>
              <a:spLocks noChangeArrowheads="1"/>
            </p:cNvSpPr>
            <p:nvPr/>
          </p:nvSpPr>
          <p:spPr bwMode="auto">
            <a:xfrm>
              <a:off x="3504" y="826"/>
              <a:ext cx="134" cy="134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</p:grpSp>
      <p:sp>
        <p:nvSpPr>
          <p:cNvPr id="18588" name="Line 156"/>
          <p:cNvSpPr>
            <a:spLocks noChangeShapeType="1"/>
          </p:cNvSpPr>
          <p:nvPr/>
        </p:nvSpPr>
        <p:spPr bwMode="auto">
          <a:xfrm>
            <a:off x="6288088" y="4191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8589" name="Oval 157"/>
          <p:cNvSpPr>
            <a:spLocks noChangeArrowheads="1"/>
          </p:cNvSpPr>
          <p:nvPr/>
        </p:nvSpPr>
        <p:spPr bwMode="auto">
          <a:xfrm>
            <a:off x="6629400" y="57912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18590" name="Rectangle 158"/>
          <p:cNvSpPr>
            <a:spLocks noChangeArrowheads="1"/>
          </p:cNvSpPr>
          <p:nvPr/>
        </p:nvSpPr>
        <p:spPr bwMode="auto">
          <a:xfrm>
            <a:off x="6218238" y="5791200"/>
            <a:ext cx="106362" cy="533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18591" name="Line 159"/>
          <p:cNvSpPr>
            <a:spLocks noChangeShapeType="1"/>
          </p:cNvSpPr>
          <p:nvPr/>
        </p:nvSpPr>
        <p:spPr bwMode="auto">
          <a:xfrm>
            <a:off x="5830888" y="56388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8593" name="Oval 161"/>
          <p:cNvSpPr>
            <a:spLocks noChangeArrowheads="1"/>
          </p:cNvSpPr>
          <p:nvPr/>
        </p:nvSpPr>
        <p:spPr bwMode="auto">
          <a:xfrm>
            <a:off x="5410200" y="51816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18594" name="Oval 162"/>
          <p:cNvSpPr>
            <a:spLocks noChangeArrowheads="1"/>
          </p:cNvSpPr>
          <p:nvPr/>
        </p:nvSpPr>
        <p:spPr bwMode="auto">
          <a:xfrm>
            <a:off x="6797675" y="5943600"/>
            <a:ext cx="212725" cy="21272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8595" name="Line 163"/>
          <p:cNvSpPr>
            <a:spLocks noChangeShapeType="1"/>
          </p:cNvSpPr>
          <p:nvPr/>
        </p:nvSpPr>
        <p:spPr bwMode="auto">
          <a:xfrm flipV="1">
            <a:off x="5907088" y="61722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8597" name="Oval 165"/>
          <p:cNvSpPr>
            <a:spLocks noChangeArrowheads="1"/>
          </p:cNvSpPr>
          <p:nvPr/>
        </p:nvSpPr>
        <p:spPr bwMode="auto">
          <a:xfrm>
            <a:off x="5400675" y="62484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18599" name="Line 167"/>
          <p:cNvSpPr>
            <a:spLocks noChangeShapeType="1"/>
          </p:cNvSpPr>
          <p:nvPr/>
        </p:nvSpPr>
        <p:spPr bwMode="auto">
          <a:xfrm>
            <a:off x="6288088" y="6096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8601" name="Rectangle 169"/>
          <p:cNvSpPr>
            <a:spLocks noChangeArrowheads="1"/>
          </p:cNvSpPr>
          <p:nvPr/>
        </p:nvSpPr>
        <p:spPr bwMode="auto">
          <a:xfrm>
            <a:off x="6211888" y="3886200"/>
            <a:ext cx="106362" cy="533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 baseline="-25000">
                <a:latin typeface="Times New Roman" panose="02020603050405020304" pitchFamily="18" charset="0"/>
              </a:rPr>
              <a:t>   </a:t>
            </a: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ko-KR" altLang="en-US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ko-KR" altLang="en-US" sz="2400">
                <a:latin typeface="Times New Roman" panose="02020603050405020304" pitchFamily="18" charset="0"/>
              </a:rPr>
              <a:t>      </a:t>
            </a:r>
            <a:r>
              <a:rPr kumimoji="0" lang="en-US" altLang="ko-KR" sz="2400">
                <a:latin typeface="Times New Roman" panose="02020603050405020304" pitchFamily="18" charset="0"/>
              </a:rPr>
              <a:t>t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1</a:t>
            </a:r>
          </a:p>
          <a:p>
            <a:pPr algn="ctr" eaLnBrk="1" latinLnBrk="0" hangingPunct="1"/>
            <a:r>
              <a:rPr kumimoji="0" lang="en-US" altLang="ko-KR" sz="2400" baseline="-25000">
                <a:latin typeface="Times New Roman" panose="02020603050405020304" pitchFamily="18" charset="0"/>
              </a:rPr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8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 nodeType="clickPar">
                      <p:stCondLst>
                        <p:cond delay="0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63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 L 0.25 0.0  E" pathEditMode="relative" ptsTypes="">
                                      <p:cBhvr>
                                        <p:cTn id="106" dur="3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436"/>
                  </p:tgtEl>
                </p:cond>
              </p:nextCondLst>
            </p:seq>
          </p:childTnLst>
        </p:cTn>
      </p:par>
    </p:tnLst>
    <p:bldLst>
      <p:bldP spid="18435" grpId="0" animBg="1"/>
      <p:bldP spid="18437" grpId="0" animBg="1"/>
      <p:bldP spid="18438" grpId="0" animBg="1"/>
      <p:bldP spid="18439" grpId="0" animBg="1"/>
      <p:bldP spid="18436" grpId="0" animBg="1"/>
      <p:bldP spid="18440" grpId="0" animBg="1"/>
      <p:bldP spid="18440" grpId="1" animBg="1"/>
      <p:bldP spid="18445" grpId="0" animBg="1"/>
      <p:bldP spid="18446" grpId="0" animBg="1"/>
      <p:bldP spid="18447" grpId="0" animBg="1"/>
      <p:bldP spid="18448" grpId="0" animBg="1"/>
      <p:bldP spid="18576" grpId="0" animBg="1"/>
      <p:bldP spid="18578" grpId="0" animBg="1"/>
      <p:bldP spid="18580" grpId="0" animBg="1"/>
      <p:bldP spid="18584" grpId="0" animBg="1"/>
      <p:bldP spid="18588" grpId="0" animBg="1"/>
      <p:bldP spid="18589" grpId="0" animBg="1"/>
      <p:bldP spid="18590" grpId="0" animBg="1"/>
      <p:bldP spid="18591" grpId="0" animBg="1"/>
      <p:bldP spid="18593" grpId="0" animBg="1"/>
      <p:bldP spid="18594" grpId="0" animBg="1"/>
      <p:bldP spid="18595" grpId="0" animBg="1"/>
      <p:bldP spid="18597" grpId="0" animBg="1"/>
      <p:bldP spid="18599" grpId="0" animBg="1"/>
      <p:bldP spid="1860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ástupný symbol čísla snímky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8313AD6-A624-449F-94B3-8CE582849D11}" type="slidenum">
              <a:rPr lang="ko-KR" altLang="en-US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609600"/>
            <a:ext cx="4648200" cy="6248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tabLst>
                <a:tab pos="5264150" algn="l"/>
              </a:tabLst>
            </a:pPr>
            <a:r>
              <a:rPr lang="en-US" altLang="ko-KR" sz="2800" u="sng" smtClean="0">
                <a:latin typeface="Century Gothic" panose="020B0502020202020204" pitchFamily="34" charset="0"/>
              </a:rPr>
              <a:t>Properties of Petri Nets</a:t>
            </a:r>
            <a:endParaRPr lang="en-US" altLang="ko-KR" sz="2800" smtClean="0">
              <a:latin typeface="Century Gothic" panose="020B0502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  <a:tabLst>
                <a:tab pos="5264150" algn="l"/>
              </a:tabLst>
            </a:pPr>
            <a:endParaRPr lang="en-US" altLang="ko-KR" sz="3600" smtClean="0">
              <a:latin typeface="Century Gothic" panose="020B0502020202020204" pitchFamily="34" charset="0"/>
            </a:endParaRPr>
          </a:p>
          <a:p>
            <a:pPr eaLnBrk="1" hangingPunct="1">
              <a:tabLst>
                <a:tab pos="5264150" algn="l"/>
              </a:tabLst>
            </a:pPr>
            <a:r>
              <a:rPr lang="en-US" altLang="ko-KR" sz="2800" smtClean="0">
                <a:latin typeface="Century Gothic" panose="020B0502020202020204" pitchFamily="34" charset="0"/>
              </a:rPr>
              <a:t>Concurrency</a:t>
            </a:r>
            <a:br>
              <a:rPr lang="en-US" altLang="ko-KR" sz="2800" smtClean="0">
                <a:latin typeface="Century Gothic" panose="020B0502020202020204" pitchFamily="34" charset="0"/>
              </a:rPr>
            </a:br>
            <a:r>
              <a:rPr lang="en-US" altLang="ko-KR" smtClean="0">
                <a:latin typeface="Century Gothic" panose="020B0502020202020204" pitchFamily="34" charset="0"/>
              </a:rPr>
              <a:t> </a:t>
            </a:r>
            <a:r>
              <a:rPr lang="en-US" altLang="ko-KR" sz="2400" smtClean="0">
                <a:latin typeface="Century Gothic" panose="020B0502020202020204" pitchFamily="34" charset="0"/>
              </a:rPr>
              <a:t>t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1</a:t>
            </a:r>
            <a:r>
              <a:rPr lang="en-US" altLang="ko-KR" sz="2400" smtClean="0">
                <a:latin typeface="Century Gothic" panose="020B0502020202020204" pitchFamily="34" charset="0"/>
              </a:rPr>
              <a:t> and t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2</a:t>
            </a:r>
            <a:r>
              <a:rPr lang="en-US" altLang="ko-KR" sz="2400" smtClean="0">
                <a:latin typeface="Century Gothic" panose="020B0502020202020204" pitchFamily="34" charset="0"/>
              </a:rPr>
              <a:t> are concurrent. </a:t>
            </a:r>
            <a:br>
              <a:rPr lang="en-US" altLang="ko-KR" sz="2400" smtClean="0">
                <a:latin typeface="Century Gothic" panose="020B0502020202020204" pitchFamily="34" charset="0"/>
              </a:rPr>
            </a:br>
            <a:r>
              <a:rPr lang="en-US" altLang="ko-KR" sz="2400" smtClean="0">
                <a:latin typeface="Century Gothic" panose="020B0502020202020204" pitchFamily="34" charset="0"/>
              </a:rPr>
              <a:t>- with this property, Petri net is able to model systems of distributed control with multiple processes executing concurrently in time.</a:t>
            </a:r>
          </a:p>
          <a:p>
            <a:pPr eaLnBrk="1" hangingPunct="1">
              <a:tabLst>
                <a:tab pos="5264150" algn="l"/>
              </a:tabLst>
            </a:pPr>
            <a:endParaRPr lang="en-US" altLang="ko-KR" sz="2800" smtClean="0">
              <a:latin typeface="Century Gothic" panose="020B0502020202020204" pitchFamily="34" charset="0"/>
            </a:endParaRPr>
          </a:p>
          <a:p>
            <a:pPr eaLnBrk="1" hangingPunct="1">
              <a:tabLst>
                <a:tab pos="5264150" algn="l"/>
              </a:tabLst>
            </a:pPr>
            <a:endParaRPr lang="en-US" altLang="ko-KR" sz="4000" smtClean="0">
              <a:latin typeface="Century Gothic" panose="020B0502020202020204" pitchFamily="34" charset="0"/>
            </a:endParaRPr>
          </a:p>
          <a:p>
            <a:pPr eaLnBrk="1" hangingPunct="1">
              <a:tabLst>
                <a:tab pos="5264150" algn="l"/>
              </a:tabLst>
            </a:pPr>
            <a:endParaRPr lang="en-US" altLang="ko-KR" sz="4000" smtClean="0">
              <a:latin typeface="Century Gothic" panose="020B0502020202020204" pitchFamily="34" charset="0"/>
            </a:endParaRPr>
          </a:p>
        </p:txBody>
      </p:sp>
      <p:sp>
        <p:nvSpPr>
          <p:cNvPr id="63506" name="Oval 18"/>
          <p:cNvSpPr>
            <a:spLocks noChangeArrowheads="1"/>
          </p:cNvSpPr>
          <p:nvPr/>
        </p:nvSpPr>
        <p:spPr bwMode="auto">
          <a:xfrm>
            <a:off x="5410200" y="26670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63507" name="Rectangle 19"/>
          <p:cNvSpPr>
            <a:spLocks noChangeArrowheads="1"/>
          </p:cNvSpPr>
          <p:nvPr/>
        </p:nvSpPr>
        <p:spPr bwMode="auto">
          <a:xfrm>
            <a:off x="7446963" y="2209800"/>
            <a:ext cx="106362" cy="533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hangingPunct="1"/>
            <a:endParaRPr kumimoji="0" lang="en-US" altLang="ko-KR">
              <a:latin typeface="Times New Roman" panose="02020603050405020304" pitchFamily="18" charset="0"/>
            </a:endParaRPr>
          </a:p>
          <a:p>
            <a:pPr algn="ctr" eaLnBrk="1" hangingPunct="1"/>
            <a:endParaRPr kumimoji="0" lang="en-US" altLang="ko-KR">
              <a:latin typeface="Times New Roman" panose="02020603050405020304" pitchFamily="18" charset="0"/>
            </a:endParaRPr>
          </a:p>
          <a:p>
            <a:pPr algn="ctr" eaLnBrk="1" hangingPunct="1"/>
            <a:endParaRPr kumimoji="0" lang="en-US" altLang="ko-KR">
              <a:latin typeface="Times New Roman" panose="02020603050405020304" pitchFamily="18" charset="0"/>
            </a:endParaRPr>
          </a:p>
          <a:p>
            <a:pPr algn="ctr" eaLnBrk="1" hangingPunct="1"/>
            <a:r>
              <a:rPr kumimoji="0" lang="en-US" altLang="ko-KR">
                <a:latin typeface="Times New Roman" panose="02020603050405020304" pitchFamily="18" charset="0"/>
              </a:rPr>
              <a:t>     t</a:t>
            </a:r>
            <a:r>
              <a:rPr kumimoji="0" lang="en-US" altLang="ko-KR" baseline="-25000">
                <a:latin typeface="Times New Roman" panose="02020603050405020304" pitchFamily="18" charset="0"/>
              </a:rPr>
              <a:t>1</a:t>
            </a:r>
          </a:p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63508" name="Line 20"/>
          <p:cNvSpPr>
            <a:spLocks noChangeShapeType="1"/>
          </p:cNvSpPr>
          <p:nvPr/>
        </p:nvSpPr>
        <p:spPr bwMode="auto">
          <a:xfrm flipV="1">
            <a:off x="6324600" y="2590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63509" name="Oval 21"/>
          <p:cNvSpPr>
            <a:spLocks noChangeArrowheads="1"/>
          </p:cNvSpPr>
          <p:nvPr/>
        </p:nvSpPr>
        <p:spPr bwMode="auto">
          <a:xfrm>
            <a:off x="6629400" y="2209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63510" name="Oval 22"/>
          <p:cNvSpPr>
            <a:spLocks noChangeArrowheads="1"/>
          </p:cNvSpPr>
          <p:nvPr/>
        </p:nvSpPr>
        <p:spPr bwMode="auto">
          <a:xfrm>
            <a:off x="6781800" y="2378075"/>
            <a:ext cx="212725" cy="21272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3511" name="Line 23"/>
          <p:cNvSpPr>
            <a:spLocks noChangeShapeType="1"/>
          </p:cNvSpPr>
          <p:nvPr/>
        </p:nvSpPr>
        <p:spPr bwMode="auto">
          <a:xfrm>
            <a:off x="6324600" y="30480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63512" name="Oval 24"/>
          <p:cNvSpPr>
            <a:spLocks noChangeArrowheads="1"/>
          </p:cNvSpPr>
          <p:nvPr/>
        </p:nvSpPr>
        <p:spPr bwMode="auto">
          <a:xfrm>
            <a:off x="7848600" y="2209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63513" name="Line 25"/>
          <p:cNvSpPr>
            <a:spLocks noChangeShapeType="1"/>
          </p:cNvSpPr>
          <p:nvPr/>
        </p:nvSpPr>
        <p:spPr bwMode="auto">
          <a:xfrm>
            <a:off x="7162800" y="2438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63514" name="Line 26"/>
          <p:cNvSpPr>
            <a:spLocks noChangeShapeType="1"/>
          </p:cNvSpPr>
          <p:nvPr/>
        </p:nvSpPr>
        <p:spPr bwMode="auto">
          <a:xfrm>
            <a:off x="7543800" y="2438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63515" name="Rectangle 27"/>
          <p:cNvSpPr>
            <a:spLocks noChangeArrowheads="1"/>
          </p:cNvSpPr>
          <p:nvPr/>
        </p:nvSpPr>
        <p:spPr bwMode="auto">
          <a:xfrm>
            <a:off x="6248400" y="2667000"/>
            <a:ext cx="106363" cy="533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63516" name="Line 28"/>
          <p:cNvSpPr>
            <a:spLocks noChangeShapeType="1"/>
          </p:cNvSpPr>
          <p:nvPr/>
        </p:nvSpPr>
        <p:spPr bwMode="auto">
          <a:xfrm>
            <a:off x="5943600" y="2971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63517" name="Rectangle 29"/>
          <p:cNvSpPr>
            <a:spLocks noChangeArrowheads="1"/>
          </p:cNvSpPr>
          <p:nvPr/>
        </p:nvSpPr>
        <p:spPr bwMode="auto">
          <a:xfrm>
            <a:off x="7446963" y="2971800"/>
            <a:ext cx="106362" cy="533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kumimoji="0" lang="en-US" altLang="ko-KR">
                <a:latin typeface="Times New Roman" panose="02020603050405020304" pitchFamily="18" charset="0"/>
              </a:rPr>
              <a:t>  </a:t>
            </a:r>
          </a:p>
          <a:p>
            <a:pPr algn="ctr" eaLnBrk="1" hangingPunct="1"/>
            <a:endParaRPr kumimoji="0" lang="en-US" altLang="ko-KR">
              <a:latin typeface="Times New Roman" panose="02020603050405020304" pitchFamily="18" charset="0"/>
            </a:endParaRPr>
          </a:p>
          <a:p>
            <a:pPr algn="ctr" eaLnBrk="1" hangingPunct="1"/>
            <a:r>
              <a:rPr kumimoji="0" lang="en-US" altLang="ko-KR">
                <a:latin typeface="Times New Roman" panose="02020603050405020304" pitchFamily="18" charset="0"/>
              </a:rPr>
              <a:t>     t</a:t>
            </a:r>
            <a:r>
              <a:rPr kumimoji="0" lang="en-US" altLang="ko-KR" baseline="-25000">
                <a:latin typeface="Times New Roman" panose="02020603050405020304" pitchFamily="18" charset="0"/>
              </a:rPr>
              <a:t>2</a:t>
            </a:r>
          </a:p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63518" name="Oval 30"/>
          <p:cNvSpPr>
            <a:spLocks noChangeArrowheads="1"/>
          </p:cNvSpPr>
          <p:nvPr/>
        </p:nvSpPr>
        <p:spPr bwMode="auto">
          <a:xfrm>
            <a:off x="6629400" y="2971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63519" name="Oval 31"/>
          <p:cNvSpPr>
            <a:spLocks noChangeArrowheads="1"/>
          </p:cNvSpPr>
          <p:nvPr/>
        </p:nvSpPr>
        <p:spPr bwMode="auto">
          <a:xfrm>
            <a:off x="6781800" y="3140075"/>
            <a:ext cx="212725" cy="21272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3520" name="Oval 32"/>
          <p:cNvSpPr>
            <a:spLocks noChangeArrowheads="1"/>
          </p:cNvSpPr>
          <p:nvPr/>
        </p:nvSpPr>
        <p:spPr bwMode="auto">
          <a:xfrm>
            <a:off x="7848600" y="2971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63521" name="Line 33"/>
          <p:cNvSpPr>
            <a:spLocks noChangeShapeType="1"/>
          </p:cNvSpPr>
          <p:nvPr/>
        </p:nvSpPr>
        <p:spPr bwMode="auto">
          <a:xfrm>
            <a:off x="7162800" y="3200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63522" name="Line 34"/>
          <p:cNvSpPr>
            <a:spLocks noChangeShapeType="1"/>
          </p:cNvSpPr>
          <p:nvPr/>
        </p:nvSpPr>
        <p:spPr bwMode="auto">
          <a:xfrm>
            <a:off x="7543800" y="3200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3333" name="Text Box 35"/>
          <p:cNvSpPr txBox="1">
            <a:spLocks noChangeArrowheads="1"/>
          </p:cNvSpPr>
          <p:nvPr/>
        </p:nvSpPr>
        <p:spPr bwMode="auto">
          <a:xfrm>
            <a:off x="4648200" y="685800"/>
            <a:ext cx="24384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>
                <a:latin typeface="굴림" panose="020B0600000101010101" pitchFamily="34" charset="-127"/>
              </a:rPr>
              <a:t>-continued</a:t>
            </a:r>
          </a:p>
          <a:p>
            <a:pPr eaLnBrk="1" hangingPunct="1">
              <a:spcBef>
                <a:spcPct val="50000"/>
              </a:spcBef>
            </a:pPr>
            <a:endParaRPr lang="ko-KR" altLang="en-US">
              <a:latin typeface="굴림" panose="020B0600000101010101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3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3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3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3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3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3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3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3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3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 nodeType="clickPar">
                      <p:stCondLst>
                        <p:cond delay="0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7319E-6 L 0.13837 -2.7319E-6 " pathEditMode="relative" rAng="0" ptsTypes="AA">
                                      <p:cBhvr>
                                        <p:cTn id="65" dur="3000" fill="hold"/>
                                        <p:tgtEl>
                                          <p:spTgt spid="635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10" y="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3.26394E-6 L 0.13837 3.26394E-6 " pathEditMode="relative" rAng="0" ptsTypes="AA">
                                      <p:cBhvr>
                                        <p:cTn id="67" dur="3000" fill="hold"/>
                                        <p:tgtEl>
                                          <p:spTgt spid="635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506"/>
                  </p:tgtEl>
                </p:cond>
              </p:nextCondLst>
            </p:seq>
          </p:childTnLst>
        </p:cTn>
      </p:par>
    </p:tnLst>
    <p:bldLst>
      <p:bldP spid="63506" grpId="0" animBg="1"/>
      <p:bldP spid="63507" grpId="0" animBg="1"/>
      <p:bldP spid="63508" grpId="0" animBg="1"/>
      <p:bldP spid="63509" grpId="0" animBg="1"/>
      <p:bldP spid="63510" grpId="0" animBg="1"/>
      <p:bldP spid="63510" grpId="1" animBg="1"/>
      <p:bldP spid="63511" grpId="0" animBg="1"/>
      <p:bldP spid="63512" grpId="0" animBg="1"/>
      <p:bldP spid="63513" grpId="0" animBg="1"/>
      <p:bldP spid="63514" grpId="0" animBg="1"/>
      <p:bldP spid="63515" grpId="0" animBg="1"/>
      <p:bldP spid="63516" grpId="0" animBg="1"/>
      <p:bldP spid="63517" grpId="0" animBg="1"/>
      <p:bldP spid="63518" grpId="0" animBg="1"/>
      <p:bldP spid="63519" grpId="0" animBg="1"/>
      <p:bldP spid="63519" grpId="1" animBg="1"/>
      <p:bldP spid="63520" grpId="0" animBg="1"/>
      <p:bldP spid="63521" grpId="0" animBg="1"/>
      <p:bldP spid="635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Zástupný symbol čísla snímky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026FC1-5704-40E2-BB16-DFD02C2A07CA}" type="slidenum">
              <a:rPr lang="ko-KR" altLang="en-US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609600"/>
            <a:ext cx="4648200" cy="6248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tabLst>
                <a:tab pos="5264150" algn="l"/>
              </a:tabLst>
            </a:pPr>
            <a:r>
              <a:rPr lang="en-US" altLang="ko-KR" sz="2800" u="sng" smtClean="0">
                <a:latin typeface="Century Gothic" panose="020B0502020202020204" pitchFamily="34" charset="0"/>
              </a:rPr>
              <a:t>Properties of Petri Nets</a:t>
            </a:r>
            <a:endParaRPr lang="en-US" altLang="ko-KR" sz="2800" smtClean="0">
              <a:latin typeface="Century Gothic" panose="020B0502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  <a:tabLst>
                <a:tab pos="5264150" algn="l"/>
              </a:tabLst>
            </a:pPr>
            <a:endParaRPr lang="en-US" altLang="ko-KR" sz="2400" smtClean="0">
              <a:latin typeface="Century Gothic" panose="020B0502020202020204" pitchFamily="34" charset="0"/>
            </a:endParaRPr>
          </a:p>
          <a:p>
            <a:pPr eaLnBrk="1" hangingPunct="1">
              <a:tabLst>
                <a:tab pos="5264150" algn="l"/>
              </a:tabLst>
            </a:pPr>
            <a:r>
              <a:rPr lang="en-US" altLang="ko-KR" sz="2800" smtClean="0">
                <a:latin typeface="Century Gothic" panose="020B0502020202020204" pitchFamily="34" charset="0"/>
              </a:rPr>
              <a:t>Conflict</a:t>
            </a:r>
            <a:br>
              <a:rPr lang="en-US" altLang="ko-KR" sz="2800" smtClean="0">
                <a:latin typeface="Century Gothic" panose="020B0502020202020204" pitchFamily="34" charset="0"/>
              </a:rPr>
            </a:br>
            <a:r>
              <a:rPr lang="en-US" altLang="ko-KR" sz="2400" smtClean="0">
                <a:latin typeface="Century Gothic" panose="020B0502020202020204" pitchFamily="34" charset="0"/>
              </a:rPr>
              <a:t>t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1</a:t>
            </a:r>
            <a:r>
              <a:rPr lang="en-US" altLang="ko-KR" sz="2400" smtClean="0">
                <a:latin typeface="Century Gothic" panose="020B0502020202020204" pitchFamily="34" charset="0"/>
              </a:rPr>
              <a:t> and t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2</a:t>
            </a:r>
            <a:r>
              <a:rPr lang="en-US" altLang="ko-KR" sz="2400" smtClean="0">
                <a:latin typeface="Century Gothic" panose="020B0502020202020204" pitchFamily="34" charset="0"/>
              </a:rPr>
              <a:t> are both ready to fire but the firing of any leads to the disabling of the other transitions.</a:t>
            </a:r>
            <a:br>
              <a:rPr lang="en-US" altLang="ko-KR" sz="2400" smtClean="0">
                <a:latin typeface="Century Gothic" panose="020B0502020202020204" pitchFamily="34" charset="0"/>
              </a:rPr>
            </a:br>
            <a:endParaRPr lang="en-US" altLang="ko-KR" sz="2400" smtClean="0">
              <a:latin typeface="Century Gothic" panose="020B0502020202020204" pitchFamily="34" charset="0"/>
            </a:endParaRPr>
          </a:p>
          <a:p>
            <a:pPr eaLnBrk="1" hangingPunct="1">
              <a:tabLst>
                <a:tab pos="5264150" algn="l"/>
              </a:tabLst>
            </a:pPr>
            <a:endParaRPr lang="en-US" altLang="ko-KR" sz="4000" smtClean="0">
              <a:latin typeface="Century Gothic" panose="020B0502020202020204" pitchFamily="34" charset="0"/>
            </a:endParaRPr>
          </a:p>
          <a:p>
            <a:pPr eaLnBrk="1" hangingPunct="1">
              <a:tabLst>
                <a:tab pos="5264150" algn="l"/>
              </a:tabLst>
            </a:pPr>
            <a:endParaRPr lang="en-US" altLang="ko-KR" sz="4000" smtClean="0">
              <a:latin typeface="Century Gothic" panose="020B0502020202020204" pitchFamily="34" charset="0"/>
            </a:endParaRPr>
          </a:p>
        </p:txBody>
      </p:sp>
      <p:sp>
        <p:nvSpPr>
          <p:cNvPr id="21552" name="Oval 48"/>
          <p:cNvSpPr>
            <a:spLocks noChangeArrowheads="1"/>
          </p:cNvSpPr>
          <p:nvPr/>
        </p:nvSpPr>
        <p:spPr bwMode="auto">
          <a:xfrm>
            <a:off x="6629400" y="25146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21553" name="Rectangle 49"/>
          <p:cNvSpPr>
            <a:spLocks noChangeArrowheads="1"/>
          </p:cNvSpPr>
          <p:nvPr/>
        </p:nvSpPr>
        <p:spPr bwMode="auto">
          <a:xfrm>
            <a:off x="6218238" y="1905000"/>
            <a:ext cx="106362" cy="533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en-US" altLang="ko-KR" sz="2400">
                <a:latin typeface="Times New Roman" panose="02020603050405020304" pitchFamily="18" charset="0"/>
              </a:rPr>
              <a:t>   t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1554" name="Line 50"/>
          <p:cNvSpPr>
            <a:spLocks noChangeShapeType="1"/>
          </p:cNvSpPr>
          <p:nvPr/>
        </p:nvSpPr>
        <p:spPr bwMode="auto">
          <a:xfrm>
            <a:off x="5943600" y="19812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21555" name="Line 51"/>
          <p:cNvSpPr>
            <a:spLocks noChangeShapeType="1"/>
          </p:cNvSpPr>
          <p:nvPr/>
        </p:nvSpPr>
        <p:spPr bwMode="auto">
          <a:xfrm>
            <a:off x="6324600" y="2284413"/>
            <a:ext cx="381000" cy="306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21556" name="Oval 52"/>
          <p:cNvSpPr>
            <a:spLocks noChangeArrowheads="1"/>
          </p:cNvSpPr>
          <p:nvPr/>
        </p:nvSpPr>
        <p:spPr bwMode="auto">
          <a:xfrm>
            <a:off x="5410200" y="17526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21557" name="Oval 53"/>
          <p:cNvSpPr>
            <a:spLocks noChangeArrowheads="1"/>
          </p:cNvSpPr>
          <p:nvPr/>
        </p:nvSpPr>
        <p:spPr bwMode="auto">
          <a:xfrm>
            <a:off x="5562600" y="1920875"/>
            <a:ext cx="212725" cy="21272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21558" name="Rectangle 54"/>
          <p:cNvSpPr>
            <a:spLocks noChangeArrowheads="1"/>
          </p:cNvSpPr>
          <p:nvPr/>
        </p:nvSpPr>
        <p:spPr bwMode="auto">
          <a:xfrm>
            <a:off x="6208713" y="2819400"/>
            <a:ext cx="106362" cy="533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hangingPunct="1"/>
            <a:endParaRPr kumimoji="0" lang="en-US" altLang="ko-KR" sz="2400">
              <a:latin typeface="Times New Roman" panose="02020603050405020304" pitchFamily="18" charset="0"/>
            </a:endParaRPr>
          </a:p>
          <a:p>
            <a:pPr algn="ctr" eaLnBrk="1" hangingPunct="1"/>
            <a:endParaRPr kumimoji="0" lang="en-US" altLang="ko-KR" sz="2400">
              <a:latin typeface="Times New Roman" panose="02020603050405020304" pitchFamily="18" charset="0"/>
            </a:endParaRPr>
          </a:p>
          <a:p>
            <a:pPr algn="ctr" eaLnBrk="1" hangingPunct="1"/>
            <a:r>
              <a:rPr kumimoji="0" lang="en-US" altLang="ko-KR" sz="2400">
                <a:latin typeface="Times New Roman" panose="02020603050405020304" pitchFamily="18" charset="0"/>
              </a:rPr>
              <a:t>   t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1559" name="Line 55"/>
          <p:cNvSpPr>
            <a:spLocks noChangeShapeType="1"/>
          </p:cNvSpPr>
          <p:nvPr/>
        </p:nvSpPr>
        <p:spPr bwMode="auto">
          <a:xfrm flipV="1">
            <a:off x="5934075" y="3048000"/>
            <a:ext cx="238125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21560" name="Line 56"/>
          <p:cNvSpPr>
            <a:spLocks noChangeShapeType="1"/>
          </p:cNvSpPr>
          <p:nvPr/>
        </p:nvSpPr>
        <p:spPr bwMode="auto">
          <a:xfrm flipV="1">
            <a:off x="6324600" y="28956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21561" name="Oval 57"/>
          <p:cNvSpPr>
            <a:spLocks noChangeArrowheads="1"/>
          </p:cNvSpPr>
          <p:nvPr/>
        </p:nvSpPr>
        <p:spPr bwMode="auto">
          <a:xfrm>
            <a:off x="5400675" y="2971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21562" name="Oval 58"/>
          <p:cNvSpPr>
            <a:spLocks noChangeArrowheads="1"/>
          </p:cNvSpPr>
          <p:nvPr/>
        </p:nvSpPr>
        <p:spPr bwMode="auto">
          <a:xfrm>
            <a:off x="5553075" y="3140075"/>
            <a:ext cx="212725" cy="21272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21563" name="Line 59"/>
          <p:cNvSpPr>
            <a:spLocks noChangeShapeType="1"/>
          </p:cNvSpPr>
          <p:nvPr/>
        </p:nvSpPr>
        <p:spPr bwMode="auto">
          <a:xfrm flipV="1">
            <a:off x="5943600" y="22860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21564" name="Line 60"/>
          <p:cNvSpPr>
            <a:spLocks noChangeShapeType="1"/>
          </p:cNvSpPr>
          <p:nvPr/>
        </p:nvSpPr>
        <p:spPr bwMode="auto">
          <a:xfrm>
            <a:off x="5934075" y="2665413"/>
            <a:ext cx="238125" cy="230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21565" name="Oval 61"/>
          <p:cNvSpPr>
            <a:spLocks noChangeArrowheads="1"/>
          </p:cNvSpPr>
          <p:nvPr/>
        </p:nvSpPr>
        <p:spPr bwMode="auto">
          <a:xfrm>
            <a:off x="5410200" y="23622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21566" name="Oval 62"/>
          <p:cNvSpPr>
            <a:spLocks noChangeArrowheads="1"/>
          </p:cNvSpPr>
          <p:nvPr/>
        </p:nvSpPr>
        <p:spPr bwMode="auto">
          <a:xfrm>
            <a:off x="5562600" y="2530475"/>
            <a:ext cx="212725" cy="21272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4355" name="Text Box 80"/>
          <p:cNvSpPr txBox="1">
            <a:spLocks noChangeArrowheads="1"/>
          </p:cNvSpPr>
          <p:nvPr/>
        </p:nvSpPr>
        <p:spPr bwMode="auto">
          <a:xfrm>
            <a:off x="4648200" y="685800"/>
            <a:ext cx="24384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>
                <a:latin typeface="굴림" panose="020B0600000101010101" pitchFamily="34" charset="-127"/>
              </a:rPr>
              <a:t>-continued</a:t>
            </a:r>
          </a:p>
          <a:p>
            <a:pPr eaLnBrk="1" hangingPunct="1">
              <a:spcBef>
                <a:spcPct val="50000"/>
              </a:spcBef>
            </a:pPr>
            <a:endParaRPr lang="ko-KR" altLang="en-US">
              <a:latin typeface="굴림" panose="020B0600000101010101" pitchFamily="34" charset="-127"/>
            </a:endParaRPr>
          </a:p>
        </p:txBody>
      </p:sp>
      <p:sp>
        <p:nvSpPr>
          <p:cNvPr id="21585" name="Oval 81"/>
          <p:cNvSpPr>
            <a:spLocks noChangeArrowheads="1"/>
          </p:cNvSpPr>
          <p:nvPr/>
        </p:nvSpPr>
        <p:spPr bwMode="auto">
          <a:xfrm>
            <a:off x="6638925" y="4876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21586" name="Rectangle 82"/>
          <p:cNvSpPr>
            <a:spLocks noChangeArrowheads="1"/>
          </p:cNvSpPr>
          <p:nvPr/>
        </p:nvSpPr>
        <p:spPr bwMode="auto">
          <a:xfrm>
            <a:off x="6227763" y="4267200"/>
            <a:ext cx="106362" cy="533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  <a:p>
            <a:pPr algn="ctr" eaLnBrk="1" latinLnBrk="0" hangingPunct="1"/>
            <a:r>
              <a:rPr kumimoji="0" lang="en-US" altLang="ko-KR" sz="2400">
                <a:latin typeface="Times New Roman" panose="02020603050405020304" pitchFamily="18" charset="0"/>
              </a:rPr>
              <a:t>   t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1587" name="Line 83"/>
          <p:cNvSpPr>
            <a:spLocks noChangeShapeType="1"/>
          </p:cNvSpPr>
          <p:nvPr/>
        </p:nvSpPr>
        <p:spPr bwMode="auto">
          <a:xfrm>
            <a:off x="5953125" y="43434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21588" name="Line 84"/>
          <p:cNvSpPr>
            <a:spLocks noChangeShapeType="1"/>
          </p:cNvSpPr>
          <p:nvPr/>
        </p:nvSpPr>
        <p:spPr bwMode="auto">
          <a:xfrm>
            <a:off x="6334125" y="4646613"/>
            <a:ext cx="381000" cy="306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21589" name="Oval 85"/>
          <p:cNvSpPr>
            <a:spLocks noChangeArrowheads="1"/>
          </p:cNvSpPr>
          <p:nvPr/>
        </p:nvSpPr>
        <p:spPr bwMode="auto">
          <a:xfrm>
            <a:off x="5419725" y="4114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21591" name="Rectangle 87"/>
          <p:cNvSpPr>
            <a:spLocks noChangeArrowheads="1"/>
          </p:cNvSpPr>
          <p:nvPr/>
        </p:nvSpPr>
        <p:spPr bwMode="auto">
          <a:xfrm>
            <a:off x="6218238" y="5181600"/>
            <a:ext cx="106362" cy="533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hangingPunct="1"/>
            <a:endParaRPr kumimoji="0" lang="en-US" altLang="ko-KR" sz="2400">
              <a:latin typeface="Times New Roman" panose="02020603050405020304" pitchFamily="18" charset="0"/>
            </a:endParaRPr>
          </a:p>
          <a:p>
            <a:pPr algn="ctr" eaLnBrk="1" hangingPunct="1"/>
            <a:endParaRPr kumimoji="0" lang="en-US" altLang="ko-KR" sz="2400">
              <a:latin typeface="Times New Roman" panose="02020603050405020304" pitchFamily="18" charset="0"/>
            </a:endParaRPr>
          </a:p>
          <a:p>
            <a:pPr algn="ctr" eaLnBrk="1" hangingPunct="1"/>
            <a:r>
              <a:rPr kumimoji="0" lang="en-US" altLang="ko-KR" sz="2400">
                <a:latin typeface="Times New Roman" panose="02020603050405020304" pitchFamily="18" charset="0"/>
              </a:rPr>
              <a:t>   t</a:t>
            </a:r>
            <a:r>
              <a:rPr kumimoji="0" lang="en-US" altLang="ko-KR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1592" name="Line 88"/>
          <p:cNvSpPr>
            <a:spLocks noChangeShapeType="1"/>
          </p:cNvSpPr>
          <p:nvPr/>
        </p:nvSpPr>
        <p:spPr bwMode="auto">
          <a:xfrm flipV="1">
            <a:off x="5943600" y="5410200"/>
            <a:ext cx="238125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21593" name="Line 89"/>
          <p:cNvSpPr>
            <a:spLocks noChangeShapeType="1"/>
          </p:cNvSpPr>
          <p:nvPr/>
        </p:nvSpPr>
        <p:spPr bwMode="auto">
          <a:xfrm flipV="1">
            <a:off x="6334125" y="52578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21594" name="Oval 90"/>
          <p:cNvSpPr>
            <a:spLocks noChangeArrowheads="1"/>
          </p:cNvSpPr>
          <p:nvPr/>
        </p:nvSpPr>
        <p:spPr bwMode="auto">
          <a:xfrm>
            <a:off x="5410200" y="53340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21596" name="Line 92"/>
          <p:cNvSpPr>
            <a:spLocks noChangeShapeType="1"/>
          </p:cNvSpPr>
          <p:nvPr/>
        </p:nvSpPr>
        <p:spPr bwMode="auto">
          <a:xfrm flipV="1">
            <a:off x="5953125" y="46482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21597" name="Line 93"/>
          <p:cNvSpPr>
            <a:spLocks noChangeShapeType="1"/>
          </p:cNvSpPr>
          <p:nvPr/>
        </p:nvSpPr>
        <p:spPr bwMode="auto">
          <a:xfrm>
            <a:off x="5943600" y="5027613"/>
            <a:ext cx="238125" cy="230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21598" name="Oval 94"/>
          <p:cNvSpPr>
            <a:spLocks noChangeArrowheads="1"/>
          </p:cNvSpPr>
          <p:nvPr/>
        </p:nvSpPr>
        <p:spPr bwMode="auto">
          <a:xfrm>
            <a:off x="5419725" y="47244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endParaRPr kumimoji="0" lang="en-US" altLang="ko-KR" sz="2400" baseline="-25000">
              <a:latin typeface="Times New Roman" panose="02020603050405020304" pitchFamily="18" charset="0"/>
            </a:endParaRPr>
          </a:p>
        </p:txBody>
      </p:sp>
      <p:sp>
        <p:nvSpPr>
          <p:cNvPr id="21599" name="Oval 95"/>
          <p:cNvSpPr>
            <a:spLocks noChangeArrowheads="1"/>
          </p:cNvSpPr>
          <p:nvPr/>
        </p:nvSpPr>
        <p:spPr bwMode="auto">
          <a:xfrm>
            <a:off x="6781800" y="5045075"/>
            <a:ext cx="212725" cy="21272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21600" name="AutoShape 96"/>
          <p:cNvSpPr>
            <a:spLocks noChangeArrowheads="1"/>
          </p:cNvSpPr>
          <p:nvPr/>
        </p:nvSpPr>
        <p:spPr bwMode="auto">
          <a:xfrm>
            <a:off x="5867400" y="3733800"/>
            <a:ext cx="6858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21601" name="Oval 97"/>
          <p:cNvSpPr>
            <a:spLocks noChangeArrowheads="1"/>
          </p:cNvSpPr>
          <p:nvPr/>
        </p:nvSpPr>
        <p:spPr bwMode="auto">
          <a:xfrm>
            <a:off x="5562600" y="5502275"/>
            <a:ext cx="212725" cy="21272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2" grpId="0" animBg="1"/>
      <p:bldP spid="21553" grpId="0" animBg="1"/>
      <p:bldP spid="21554" grpId="0" animBg="1"/>
      <p:bldP spid="21555" grpId="0" animBg="1"/>
      <p:bldP spid="21556" grpId="0" animBg="1"/>
      <p:bldP spid="21557" grpId="0" animBg="1"/>
      <p:bldP spid="21558" grpId="0" animBg="1"/>
      <p:bldP spid="21559" grpId="0" animBg="1"/>
      <p:bldP spid="21560" grpId="0" animBg="1"/>
      <p:bldP spid="21561" grpId="0" animBg="1"/>
      <p:bldP spid="21562" grpId="0" animBg="1"/>
      <p:bldP spid="21563" grpId="0" animBg="1"/>
      <p:bldP spid="21564" grpId="0" animBg="1"/>
      <p:bldP spid="21565" grpId="0" animBg="1"/>
      <p:bldP spid="21566" grpId="0" animBg="1"/>
      <p:bldP spid="21585" grpId="0" animBg="1"/>
      <p:bldP spid="21586" grpId="0" animBg="1"/>
      <p:bldP spid="21587" grpId="0" animBg="1"/>
      <p:bldP spid="21588" grpId="0" animBg="1"/>
      <p:bldP spid="21589" grpId="0" animBg="1"/>
      <p:bldP spid="21591" grpId="0" animBg="1"/>
      <p:bldP spid="21592" grpId="0" animBg="1"/>
      <p:bldP spid="21593" grpId="0" animBg="1"/>
      <p:bldP spid="21594" grpId="0" animBg="1"/>
      <p:bldP spid="21596" grpId="0" animBg="1"/>
      <p:bldP spid="21597" grpId="0" animBg="1"/>
      <p:bldP spid="21598" grpId="0" animBg="1"/>
      <p:bldP spid="21599" grpId="0" animBg="1"/>
      <p:bldP spid="21600" grpId="0" animBg="1"/>
      <p:bldP spid="2160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Zástupný symbol čísla snímky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D3AB80-FF58-45DB-99BF-62B0A4AE0F1E}" type="slidenum">
              <a:rPr lang="ko-KR" altLang="en-US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609600"/>
            <a:ext cx="75438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5264150" algn="l"/>
              </a:tabLst>
            </a:pPr>
            <a:r>
              <a:rPr lang="en-US" altLang="ko-KR" sz="2800" u="sng" smtClean="0">
                <a:latin typeface="Century Gothic" panose="020B0502020202020204" pitchFamily="34" charset="0"/>
              </a:rPr>
              <a:t>Properties of Petri Nets</a:t>
            </a:r>
            <a:endParaRPr lang="en-US" altLang="ko-KR" sz="2800" smtClean="0">
              <a:latin typeface="Century Gothic" panose="020B0502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5264150" algn="l"/>
              </a:tabLst>
            </a:pPr>
            <a:endParaRPr lang="en-US" altLang="ko-KR" sz="2400" smtClean="0">
              <a:latin typeface="Century Gothic" panose="020B0502020202020204" pitchFamily="34" charset="0"/>
            </a:endParaRPr>
          </a:p>
          <a:p>
            <a:pPr eaLnBrk="1" hangingPunct="1">
              <a:lnSpc>
                <a:spcPct val="90000"/>
              </a:lnSpc>
              <a:tabLst>
                <a:tab pos="5264150" algn="l"/>
              </a:tabLst>
            </a:pPr>
            <a:r>
              <a:rPr lang="en-US" altLang="ko-KR" sz="2800" smtClean="0">
                <a:latin typeface="Century Gothic" panose="020B0502020202020204" pitchFamily="34" charset="0"/>
              </a:rPr>
              <a:t>Conflict - </a:t>
            </a:r>
            <a:r>
              <a:rPr lang="en-US" altLang="ko-KR" sz="2000" smtClean="0">
                <a:latin typeface="Century Gothic" panose="020B0502020202020204" pitchFamily="34" charset="0"/>
              </a:rPr>
              <a:t>continued</a:t>
            </a:r>
            <a:r>
              <a:rPr lang="en-US" altLang="ko-KR" smtClean="0">
                <a:latin typeface="Century Gothic" panose="020B0502020202020204" pitchFamily="34" charset="0"/>
              </a:rPr>
              <a:t> </a:t>
            </a:r>
            <a:br>
              <a:rPr lang="en-US" altLang="ko-KR" smtClean="0">
                <a:latin typeface="Century Gothic" panose="020B0502020202020204" pitchFamily="34" charset="0"/>
              </a:rPr>
            </a:br>
            <a:endParaRPr lang="en-US" altLang="ko-KR" sz="2400" baseline="-25000" smtClean="0">
              <a:latin typeface="Century Gothic" panose="020B0502020202020204" pitchFamily="34" charset="0"/>
            </a:endParaRPr>
          </a:p>
          <a:p>
            <a:pPr lvl="1" eaLnBrk="1" hangingPunct="1">
              <a:lnSpc>
                <a:spcPct val="90000"/>
              </a:lnSpc>
              <a:tabLst>
                <a:tab pos="5264150" algn="l"/>
              </a:tabLst>
            </a:pPr>
            <a:r>
              <a:rPr lang="en-US" altLang="ko-KR" sz="2400" smtClean="0">
                <a:latin typeface="Century Gothic" panose="020B0502020202020204" pitchFamily="34" charset="0"/>
              </a:rPr>
              <a:t>the resulting conflict may be resolved in a purely non-deterministic way or in a probabilistic way, by assigning appropriate probabilities to the conflicting transitions.</a:t>
            </a:r>
            <a:br>
              <a:rPr lang="en-US" altLang="ko-KR" sz="2400" smtClean="0">
                <a:latin typeface="Century Gothic" panose="020B0502020202020204" pitchFamily="34" charset="0"/>
              </a:rPr>
            </a:br>
            <a:endParaRPr lang="en-US" altLang="ko-KR" sz="2400" smtClean="0">
              <a:latin typeface="Century Gothic" panose="020B0502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5264150" algn="l"/>
              </a:tabLst>
            </a:pPr>
            <a:r>
              <a:rPr lang="en-US" altLang="ko-KR" sz="2400" smtClean="0">
                <a:latin typeface="Century Gothic" panose="020B0502020202020204" pitchFamily="34" charset="0"/>
              </a:rPr>
              <a:t>there is a choice of either t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1</a:t>
            </a:r>
            <a:r>
              <a:rPr lang="en-US" altLang="ko-KR" sz="2400" smtClean="0">
                <a:latin typeface="Century Gothic" panose="020B0502020202020204" pitchFamily="34" charset="0"/>
              </a:rPr>
              <a:t> and t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2</a:t>
            </a:r>
            <a:r>
              <a:rPr lang="en-US" altLang="ko-KR" sz="2400" smtClean="0">
                <a:latin typeface="Century Gothic" panose="020B0502020202020204" pitchFamily="34" charset="0"/>
              </a:rPr>
              <a:t>, or t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3</a:t>
            </a:r>
            <a:r>
              <a:rPr lang="en-US" altLang="ko-KR" sz="2400" smtClean="0">
                <a:latin typeface="Century Gothic" panose="020B0502020202020204" pitchFamily="34" charset="0"/>
              </a:rPr>
              <a:t> and t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4</a:t>
            </a:r>
            <a:endParaRPr lang="en-US" altLang="ko-KR" sz="2800" smtClean="0">
              <a:latin typeface="Century Gothic" panose="020B0502020202020204" pitchFamily="34" charset="0"/>
            </a:endParaRPr>
          </a:p>
          <a:p>
            <a:pPr eaLnBrk="1" hangingPunct="1">
              <a:lnSpc>
                <a:spcPct val="90000"/>
              </a:lnSpc>
              <a:tabLst>
                <a:tab pos="5264150" algn="l"/>
              </a:tabLst>
            </a:pPr>
            <a:endParaRPr lang="en-US" altLang="ko-KR" sz="4000" smtClean="0">
              <a:latin typeface="Century Gothic" panose="020B0502020202020204" pitchFamily="34" charset="0"/>
            </a:endParaRPr>
          </a:p>
        </p:txBody>
      </p:sp>
      <p:sp>
        <p:nvSpPr>
          <p:cNvPr id="15364" name="Text Box 18"/>
          <p:cNvSpPr txBox="1">
            <a:spLocks noChangeArrowheads="1"/>
          </p:cNvSpPr>
          <p:nvPr/>
        </p:nvSpPr>
        <p:spPr bwMode="auto">
          <a:xfrm>
            <a:off x="4648200" y="685800"/>
            <a:ext cx="24384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ko-KR">
                <a:latin typeface="굴림" panose="020B0600000101010101" pitchFamily="34" charset="-127"/>
              </a:rPr>
              <a:t>-continued</a:t>
            </a:r>
          </a:p>
          <a:p>
            <a:pPr eaLnBrk="1" hangingPunct="1">
              <a:spcBef>
                <a:spcPct val="50000"/>
              </a:spcBef>
            </a:pPr>
            <a:endParaRPr lang="ko-KR" altLang="en-US">
              <a:latin typeface="굴림" panose="020B0600000101010101" pitchFamily="34" charset="-127"/>
            </a:endParaRPr>
          </a:p>
        </p:txBody>
      </p:sp>
      <p:grpSp>
        <p:nvGrpSpPr>
          <p:cNvPr id="73762" name="Group 34"/>
          <p:cNvGrpSpPr>
            <a:grpSpLocks/>
          </p:cNvGrpSpPr>
          <p:nvPr/>
        </p:nvGrpSpPr>
        <p:grpSpPr bwMode="auto">
          <a:xfrm>
            <a:off x="1600200" y="5029200"/>
            <a:ext cx="5791200" cy="1860550"/>
            <a:chOff x="1200" y="2016"/>
            <a:chExt cx="3648" cy="1172"/>
          </a:xfrm>
        </p:grpSpPr>
        <p:sp>
          <p:nvSpPr>
            <p:cNvPr id="15376" name="Oval 35"/>
            <p:cNvSpPr>
              <a:spLocks noChangeArrowheads="1"/>
            </p:cNvSpPr>
            <p:nvPr/>
          </p:nvSpPr>
          <p:spPr bwMode="auto">
            <a:xfrm>
              <a:off x="1200" y="240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5377" name="Rectangle 36"/>
            <p:cNvSpPr>
              <a:spLocks noChangeArrowheads="1"/>
            </p:cNvSpPr>
            <p:nvPr/>
          </p:nvSpPr>
          <p:spPr bwMode="auto">
            <a:xfrm>
              <a:off x="1776" y="2016"/>
              <a:ext cx="14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5378" name="Rectangle 37"/>
            <p:cNvSpPr>
              <a:spLocks noChangeArrowheads="1"/>
            </p:cNvSpPr>
            <p:nvPr/>
          </p:nvSpPr>
          <p:spPr bwMode="auto">
            <a:xfrm>
              <a:off x="1776" y="2784"/>
              <a:ext cx="14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5379" name="Line 38"/>
            <p:cNvSpPr>
              <a:spLocks noChangeShapeType="1"/>
            </p:cNvSpPr>
            <p:nvPr/>
          </p:nvSpPr>
          <p:spPr bwMode="auto">
            <a:xfrm flipV="1">
              <a:off x="1440" y="2160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5380" name="Line 39"/>
            <p:cNvSpPr>
              <a:spLocks noChangeShapeType="1"/>
            </p:cNvSpPr>
            <p:nvPr/>
          </p:nvSpPr>
          <p:spPr bwMode="auto">
            <a:xfrm>
              <a:off x="1440" y="2592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5381" name="Oval 40"/>
            <p:cNvSpPr>
              <a:spLocks noChangeArrowheads="1"/>
            </p:cNvSpPr>
            <p:nvPr/>
          </p:nvSpPr>
          <p:spPr bwMode="auto">
            <a:xfrm>
              <a:off x="2304" y="201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5382" name="Line 41"/>
            <p:cNvSpPr>
              <a:spLocks noChangeShapeType="1"/>
            </p:cNvSpPr>
            <p:nvPr/>
          </p:nvSpPr>
          <p:spPr bwMode="auto">
            <a:xfrm>
              <a:off x="1920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5383" name="Line 42"/>
            <p:cNvSpPr>
              <a:spLocks noChangeShapeType="1"/>
            </p:cNvSpPr>
            <p:nvPr/>
          </p:nvSpPr>
          <p:spPr bwMode="auto">
            <a:xfrm>
              <a:off x="2544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5384" name="Oval 43"/>
            <p:cNvSpPr>
              <a:spLocks noChangeArrowheads="1"/>
            </p:cNvSpPr>
            <p:nvPr/>
          </p:nvSpPr>
          <p:spPr bwMode="auto">
            <a:xfrm>
              <a:off x="2304" y="27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5385" name="Line 44"/>
            <p:cNvSpPr>
              <a:spLocks noChangeShapeType="1"/>
            </p:cNvSpPr>
            <p:nvPr/>
          </p:nvSpPr>
          <p:spPr bwMode="auto">
            <a:xfrm>
              <a:off x="1920" y="288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5386" name="Line 45"/>
            <p:cNvSpPr>
              <a:spLocks noChangeShapeType="1"/>
            </p:cNvSpPr>
            <p:nvPr/>
          </p:nvSpPr>
          <p:spPr bwMode="auto">
            <a:xfrm>
              <a:off x="2544" y="288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5387" name="Rectangle 46"/>
            <p:cNvSpPr>
              <a:spLocks noChangeArrowheads="1"/>
            </p:cNvSpPr>
            <p:nvPr/>
          </p:nvSpPr>
          <p:spPr bwMode="auto">
            <a:xfrm>
              <a:off x="2928" y="2016"/>
              <a:ext cx="14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5388" name="Oval 47"/>
            <p:cNvSpPr>
              <a:spLocks noChangeArrowheads="1"/>
            </p:cNvSpPr>
            <p:nvPr/>
          </p:nvSpPr>
          <p:spPr bwMode="auto">
            <a:xfrm>
              <a:off x="3456" y="201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5389" name="Line 48"/>
            <p:cNvSpPr>
              <a:spLocks noChangeShapeType="1"/>
            </p:cNvSpPr>
            <p:nvPr/>
          </p:nvSpPr>
          <p:spPr bwMode="auto">
            <a:xfrm>
              <a:off x="3072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5390" name="Line 49"/>
            <p:cNvSpPr>
              <a:spLocks noChangeShapeType="1"/>
            </p:cNvSpPr>
            <p:nvPr/>
          </p:nvSpPr>
          <p:spPr bwMode="auto">
            <a:xfrm>
              <a:off x="3696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5391" name="Rectangle 50"/>
            <p:cNvSpPr>
              <a:spLocks noChangeArrowheads="1"/>
            </p:cNvSpPr>
            <p:nvPr/>
          </p:nvSpPr>
          <p:spPr bwMode="auto">
            <a:xfrm>
              <a:off x="2928" y="2784"/>
              <a:ext cx="14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5392" name="Oval 51"/>
            <p:cNvSpPr>
              <a:spLocks noChangeArrowheads="1"/>
            </p:cNvSpPr>
            <p:nvPr/>
          </p:nvSpPr>
          <p:spPr bwMode="auto">
            <a:xfrm>
              <a:off x="3456" y="27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5393" name="Line 52"/>
            <p:cNvSpPr>
              <a:spLocks noChangeShapeType="1"/>
            </p:cNvSpPr>
            <p:nvPr/>
          </p:nvSpPr>
          <p:spPr bwMode="auto">
            <a:xfrm>
              <a:off x="3072" y="288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5394" name="Line 53"/>
            <p:cNvSpPr>
              <a:spLocks noChangeShapeType="1"/>
            </p:cNvSpPr>
            <p:nvPr/>
          </p:nvSpPr>
          <p:spPr bwMode="auto">
            <a:xfrm>
              <a:off x="3696" y="288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5395" name="Line 54"/>
            <p:cNvSpPr>
              <a:spLocks noChangeShapeType="1"/>
            </p:cNvSpPr>
            <p:nvPr/>
          </p:nvSpPr>
          <p:spPr bwMode="auto">
            <a:xfrm>
              <a:off x="4224" y="211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5396" name="Line 55"/>
            <p:cNvSpPr>
              <a:spLocks noChangeShapeType="1"/>
            </p:cNvSpPr>
            <p:nvPr/>
          </p:nvSpPr>
          <p:spPr bwMode="auto">
            <a:xfrm>
              <a:off x="4272" y="288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5397" name="Text Box 56"/>
            <p:cNvSpPr txBox="1">
              <a:spLocks noChangeArrowheads="1"/>
            </p:cNvSpPr>
            <p:nvPr/>
          </p:nvSpPr>
          <p:spPr bwMode="auto">
            <a:xfrm>
              <a:off x="1728" y="2208"/>
              <a:ext cx="1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sz="1600">
                  <a:latin typeface="Times New Roman" panose="02020603050405020304" pitchFamily="18" charset="0"/>
                </a:rPr>
                <a:t>t</a:t>
              </a:r>
              <a:r>
                <a:rPr kumimoji="0" lang="en-US" altLang="ko-KR" sz="16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398" name="Text Box 57"/>
            <p:cNvSpPr txBox="1">
              <a:spLocks noChangeArrowheads="1"/>
            </p:cNvSpPr>
            <p:nvPr/>
          </p:nvSpPr>
          <p:spPr bwMode="auto">
            <a:xfrm>
              <a:off x="2880" y="2208"/>
              <a:ext cx="1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sz="1600">
                  <a:latin typeface="Times New Roman" panose="02020603050405020304" pitchFamily="18" charset="0"/>
                </a:rPr>
                <a:t>t</a:t>
              </a:r>
              <a:r>
                <a:rPr kumimoji="0" lang="en-US" altLang="ko-KR" sz="160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399" name="Text Box 58"/>
            <p:cNvSpPr txBox="1">
              <a:spLocks noChangeArrowheads="1"/>
            </p:cNvSpPr>
            <p:nvPr/>
          </p:nvSpPr>
          <p:spPr bwMode="auto">
            <a:xfrm>
              <a:off x="1728" y="2976"/>
              <a:ext cx="1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sz="1600">
                  <a:latin typeface="Times New Roman" panose="02020603050405020304" pitchFamily="18" charset="0"/>
                </a:rPr>
                <a:t>t</a:t>
              </a:r>
              <a:r>
                <a:rPr kumimoji="0" lang="en-US" altLang="ko-KR" sz="1600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400" name="Text Box 59"/>
            <p:cNvSpPr txBox="1">
              <a:spLocks noChangeArrowheads="1"/>
            </p:cNvSpPr>
            <p:nvPr/>
          </p:nvSpPr>
          <p:spPr bwMode="auto">
            <a:xfrm>
              <a:off x="2880" y="2976"/>
              <a:ext cx="1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sz="1600">
                  <a:latin typeface="Times New Roman" panose="02020603050405020304" pitchFamily="18" charset="0"/>
                </a:rPr>
                <a:t>t</a:t>
              </a:r>
              <a:r>
                <a:rPr kumimoji="0" lang="en-US" altLang="ko-KR" sz="1600" baseline="-25000">
                  <a:latin typeface="Times New Roman" panose="02020603050405020304" pitchFamily="18" charset="0"/>
                </a:rPr>
                <a:t>4</a:t>
              </a:r>
            </a:p>
          </p:txBody>
        </p:sp>
      </p:grpSp>
      <p:sp>
        <p:nvSpPr>
          <p:cNvPr id="73788" name="Oval 60"/>
          <p:cNvSpPr>
            <a:spLocks noChangeArrowheads="1"/>
          </p:cNvSpPr>
          <p:nvPr/>
        </p:nvSpPr>
        <p:spPr bwMode="auto">
          <a:xfrm>
            <a:off x="1676400" y="579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3789" name="Oval 61"/>
          <p:cNvSpPr>
            <a:spLocks noChangeArrowheads="1"/>
          </p:cNvSpPr>
          <p:nvPr/>
        </p:nvSpPr>
        <p:spPr bwMode="auto">
          <a:xfrm>
            <a:off x="3429000" y="6400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3790" name="Oval 62"/>
          <p:cNvSpPr>
            <a:spLocks noChangeArrowheads="1"/>
          </p:cNvSpPr>
          <p:nvPr/>
        </p:nvSpPr>
        <p:spPr bwMode="auto">
          <a:xfrm>
            <a:off x="5334000" y="6400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3791" name="Oval 63"/>
          <p:cNvSpPr>
            <a:spLocks noChangeArrowheads="1"/>
          </p:cNvSpPr>
          <p:nvPr/>
        </p:nvSpPr>
        <p:spPr bwMode="auto">
          <a:xfrm>
            <a:off x="1752600" y="5715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3792" name="Oval 64"/>
          <p:cNvSpPr>
            <a:spLocks noChangeArrowheads="1"/>
          </p:cNvSpPr>
          <p:nvPr/>
        </p:nvSpPr>
        <p:spPr bwMode="auto">
          <a:xfrm>
            <a:off x="3505200" y="5181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3793" name="Oval 65"/>
          <p:cNvSpPr>
            <a:spLocks noChangeArrowheads="1"/>
          </p:cNvSpPr>
          <p:nvPr/>
        </p:nvSpPr>
        <p:spPr bwMode="auto">
          <a:xfrm>
            <a:off x="5257800" y="5181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3794" name="Rectangle 66"/>
          <p:cNvSpPr>
            <a:spLocks noChangeArrowheads="1"/>
          </p:cNvSpPr>
          <p:nvPr/>
        </p:nvSpPr>
        <p:spPr bwMode="auto">
          <a:xfrm>
            <a:off x="2514600" y="6248400"/>
            <a:ext cx="2286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3795" name="Rectangle 67"/>
          <p:cNvSpPr>
            <a:spLocks noChangeArrowheads="1"/>
          </p:cNvSpPr>
          <p:nvPr/>
        </p:nvSpPr>
        <p:spPr bwMode="auto">
          <a:xfrm>
            <a:off x="4343400" y="6248400"/>
            <a:ext cx="2286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3796" name="Rectangle 68"/>
          <p:cNvSpPr>
            <a:spLocks noChangeArrowheads="1"/>
          </p:cNvSpPr>
          <p:nvPr/>
        </p:nvSpPr>
        <p:spPr bwMode="auto">
          <a:xfrm>
            <a:off x="2514600" y="5029200"/>
            <a:ext cx="2286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3797" name="Rectangle 69"/>
          <p:cNvSpPr>
            <a:spLocks noChangeArrowheads="1"/>
          </p:cNvSpPr>
          <p:nvPr/>
        </p:nvSpPr>
        <p:spPr bwMode="auto">
          <a:xfrm>
            <a:off x="4343400" y="5029200"/>
            <a:ext cx="2286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737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737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3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3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737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737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88" grpId="0" animBg="1"/>
      <p:bldP spid="73789" grpId="0" animBg="1"/>
      <p:bldP spid="73790" grpId="0" animBg="1"/>
      <p:bldP spid="73791" grpId="0" animBg="1"/>
      <p:bldP spid="73792" grpId="0" animBg="1"/>
      <p:bldP spid="73793" grpId="0" animBg="1"/>
      <p:bldP spid="73794" grpId="0" animBg="1"/>
      <p:bldP spid="73795" grpId="0" animBg="1"/>
      <p:bldP spid="73796" grpId="0" animBg="1"/>
      <p:bldP spid="7379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Zástupný symbol čísla snímky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220CF96-1C98-41BF-B688-5287C1B37AF6}" type="slidenum">
              <a:rPr lang="ko-KR" altLang="en-US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3200" smtClean="0">
                <a:latin typeface="Century Gothic" panose="020B0502020202020204" pitchFamily="34" charset="0"/>
              </a:rPr>
              <a:t>Example: In a Restaurant (A Petri Net)</a:t>
            </a:r>
          </a:p>
        </p:txBody>
      </p:sp>
      <p:sp>
        <p:nvSpPr>
          <p:cNvPr id="16388" name="Oval 3"/>
          <p:cNvSpPr>
            <a:spLocks noChangeArrowheads="1"/>
          </p:cNvSpPr>
          <p:nvPr/>
        </p:nvSpPr>
        <p:spPr bwMode="auto">
          <a:xfrm>
            <a:off x="2514600" y="1828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3352800" y="3048000"/>
            <a:ext cx="4572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390" name="Oval 5"/>
          <p:cNvSpPr>
            <a:spLocks noChangeArrowheads="1"/>
          </p:cNvSpPr>
          <p:nvPr/>
        </p:nvSpPr>
        <p:spPr bwMode="auto">
          <a:xfrm>
            <a:off x="4419600" y="1828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391" name="Oval 6"/>
          <p:cNvSpPr>
            <a:spLocks noChangeArrowheads="1"/>
          </p:cNvSpPr>
          <p:nvPr/>
        </p:nvSpPr>
        <p:spPr bwMode="auto">
          <a:xfrm>
            <a:off x="6172200" y="1828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392" name="Rectangle 7"/>
          <p:cNvSpPr>
            <a:spLocks noChangeArrowheads="1"/>
          </p:cNvSpPr>
          <p:nvPr/>
        </p:nvSpPr>
        <p:spPr bwMode="auto">
          <a:xfrm>
            <a:off x="5334000" y="3048000"/>
            <a:ext cx="4572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393" name="Line 8"/>
          <p:cNvSpPr>
            <a:spLocks noChangeShapeType="1"/>
          </p:cNvSpPr>
          <p:nvPr/>
        </p:nvSpPr>
        <p:spPr bwMode="auto">
          <a:xfrm>
            <a:off x="2819400" y="22098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394" name="Line 9"/>
          <p:cNvSpPr>
            <a:spLocks noChangeShapeType="1"/>
          </p:cNvSpPr>
          <p:nvPr/>
        </p:nvSpPr>
        <p:spPr bwMode="auto">
          <a:xfrm flipH="1">
            <a:off x="3733800" y="2133600"/>
            <a:ext cx="685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395" name="Line 10"/>
          <p:cNvSpPr>
            <a:spLocks noChangeShapeType="1"/>
          </p:cNvSpPr>
          <p:nvPr/>
        </p:nvSpPr>
        <p:spPr bwMode="auto">
          <a:xfrm>
            <a:off x="4724400" y="2133600"/>
            <a:ext cx="762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396" name="Line 11"/>
          <p:cNvSpPr>
            <a:spLocks noChangeShapeType="1"/>
          </p:cNvSpPr>
          <p:nvPr/>
        </p:nvSpPr>
        <p:spPr bwMode="auto">
          <a:xfrm flipH="1">
            <a:off x="5715000" y="21336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397" name="Line 12"/>
          <p:cNvSpPr>
            <a:spLocks noChangeShapeType="1"/>
          </p:cNvSpPr>
          <p:nvPr/>
        </p:nvSpPr>
        <p:spPr bwMode="auto">
          <a:xfrm flipH="1">
            <a:off x="2819400" y="33528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398" name="Oval 13"/>
          <p:cNvSpPr>
            <a:spLocks noChangeArrowheads="1"/>
          </p:cNvSpPr>
          <p:nvPr/>
        </p:nvSpPr>
        <p:spPr bwMode="auto">
          <a:xfrm>
            <a:off x="2514600" y="4038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399" name="Oval 14"/>
          <p:cNvSpPr>
            <a:spLocks noChangeArrowheads="1"/>
          </p:cNvSpPr>
          <p:nvPr/>
        </p:nvSpPr>
        <p:spPr bwMode="auto">
          <a:xfrm>
            <a:off x="4495800" y="4114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400" name="Oval 15"/>
          <p:cNvSpPr>
            <a:spLocks noChangeArrowheads="1"/>
          </p:cNvSpPr>
          <p:nvPr/>
        </p:nvSpPr>
        <p:spPr bwMode="auto">
          <a:xfrm>
            <a:off x="6400800" y="4114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401" name="Line 16"/>
          <p:cNvSpPr>
            <a:spLocks noChangeShapeType="1"/>
          </p:cNvSpPr>
          <p:nvPr/>
        </p:nvSpPr>
        <p:spPr bwMode="auto">
          <a:xfrm>
            <a:off x="3733800" y="33528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02" name="Line 17"/>
          <p:cNvSpPr>
            <a:spLocks noChangeShapeType="1"/>
          </p:cNvSpPr>
          <p:nvPr/>
        </p:nvSpPr>
        <p:spPr bwMode="auto">
          <a:xfrm flipH="1">
            <a:off x="4800600" y="33528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03" name="Line 18"/>
          <p:cNvSpPr>
            <a:spLocks noChangeShapeType="1"/>
          </p:cNvSpPr>
          <p:nvPr/>
        </p:nvSpPr>
        <p:spPr bwMode="auto">
          <a:xfrm>
            <a:off x="5638800" y="33528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04" name="Rectangle 19"/>
          <p:cNvSpPr>
            <a:spLocks noChangeArrowheads="1"/>
          </p:cNvSpPr>
          <p:nvPr/>
        </p:nvSpPr>
        <p:spPr bwMode="auto">
          <a:xfrm>
            <a:off x="6400800" y="5410200"/>
            <a:ext cx="4572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405" name="Oval 20"/>
          <p:cNvSpPr>
            <a:spLocks noChangeArrowheads="1"/>
          </p:cNvSpPr>
          <p:nvPr/>
        </p:nvSpPr>
        <p:spPr bwMode="auto">
          <a:xfrm>
            <a:off x="7924800" y="5410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406" name="Rectangle 21"/>
          <p:cNvSpPr>
            <a:spLocks noChangeArrowheads="1"/>
          </p:cNvSpPr>
          <p:nvPr/>
        </p:nvSpPr>
        <p:spPr bwMode="auto">
          <a:xfrm>
            <a:off x="4495800" y="5410200"/>
            <a:ext cx="4572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407" name="Line 22"/>
          <p:cNvSpPr>
            <a:spLocks noChangeShapeType="1"/>
          </p:cNvSpPr>
          <p:nvPr/>
        </p:nvSpPr>
        <p:spPr bwMode="auto">
          <a:xfrm>
            <a:off x="6629400" y="44958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08" name="Line 23"/>
          <p:cNvSpPr>
            <a:spLocks noChangeShapeType="1"/>
          </p:cNvSpPr>
          <p:nvPr/>
        </p:nvSpPr>
        <p:spPr bwMode="auto">
          <a:xfrm>
            <a:off x="6858000" y="5562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09" name="Line 24"/>
          <p:cNvSpPr>
            <a:spLocks noChangeShapeType="1"/>
          </p:cNvSpPr>
          <p:nvPr/>
        </p:nvSpPr>
        <p:spPr bwMode="auto">
          <a:xfrm>
            <a:off x="4724400" y="44958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10" name="Line 25"/>
          <p:cNvSpPr>
            <a:spLocks noChangeShapeType="1"/>
          </p:cNvSpPr>
          <p:nvPr/>
        </p:nvSpPr>
        <p:spPr bwMode="auto">
          <a:xfrm flipH="1" flipV="1">
            <a:off x="3962400" y="48006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11" name="Line 26"/>
          <p:cNvSpPr>
            <a:spLocks noChangeShapeType="1"/>
          </p:cNvSpPr>
          <p:nvPr/>
        </p:nvSpPr>
        <p:spPr bwMode="auto">
          <a:xfrm flipV="1">
            <a:off x="3962400" y="2209800"/>
            <a:ext cx="6096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12" name="Rectangle 27"/>
          <p:cNvSpPr>
            <a:spLocks noChangeArrowheads="1"/>
          </p:cNvSpPr>
          <p:nvPr/>
        </p:nvSpPr>
        <p:spPr bwMode="auto">
          <a:xfrm>
            <a:off x="2514600" y="5410200"/>
            <a:ext cx="4572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413" name="Line 28"/>
          <p:cNvSpPr>
            <a:spLocks noChangeShapeType="1"/>
          </p:cNvSpPr>
          <p:nvPr/>
        </p:nvSpPr>
        <p:spPr bwMode="auto">
          <a:xfrm>
            <a:off x="2743200" y="4419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14" name="Oval 29"/>
          <p:cNvSpPr>
            <a:spLocks noChangeArrowheads="1"/>
          </p:cNvSpPr>
          <p:nvPr/>
        </p:nvSpPr>
        <p:spPr bwMode="auto">
          <a:xfrm>
            <a:off x="1371600" y="5410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415" name="Line 30"/>
          <p:cNvSpPr>
            <a:spLocks noChangeShapeType="1"/>
          </p:cNvSpPr>
          <p:nvPr/>
        </p:nvSpPr>
        <p:spPr bwMode="auto">
          <a:xfrm flipH="1">
            <a:off x="17526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16" name="Line 31"/>
          <p:cNvSpPr>
            <a:spLocks noChangeShapeType="1"/>
          </p:cNvSpPr>
          <p:nvPr/>
        </p:nvSpPr>
        <p:spPr bwMode="auto">
          <a:xfrm flipV="1">
            <a:off x="2971800" y="2133600"/>
            <a:ext cx="152400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17" name="Line 32"/>
          <p:cNvSpPr>
            <a:spLocks noChangeShapeType="1"/>
          </p:cNvSpPr>
          <p:nvPr/>
        </p:nvSpPr>
        <p:spPr bwMode="auto">
          <a:xfrm flipH="1" flipV="1">
            <a:off x="4648200" y="2209800"/>
            <a:ext cx="175260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18" name="Text Box 33"/>
          <p:cNvSpPr txBox="1">
            <a:spLocks noChangeArrowheads="1"/>
          </p:cNvSpPr>
          <p:nvPr/>
        </p:nvSpPr>
        <p:spPr bwMode="auto">
          <a:xfrm>
            <a:off x="3641725" y="1562100"/>
            <a:ext cx="869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Waiter</a:t>
            </a:r>
          </a:p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free</a:t>
            </a:r>
          </a:p>
        </p:txBody>
      </p:sp>
      <p:sp>
        <p:nvSpPr>
          <p:cNvPr id="16419" name="Text Box 34"/>
          <p:cNvSpPr txBox="1">
            <a:spLocks noChangeArrowheads="1"/>
          </p:cNvSpPr>
          <p:nvPr/>
        </p:nvSpPr>
        <p:spPr bwMode="auto">
          <a:xfrm>
            <a:off x="1219200" y="1752600"/>
            <a:ext cx="132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Customer 1</a:t>
            </a:r>
          </a:p>
        </p:txBody>
      </p:sp>
      <p:sp>
        <p:nvSpPr>
          <p:cNvPr id="16420" name="Text Box 35"/>
          <p:cNvSpPr txBox="1">
            <a:spLocks noChangeArrowheads="1"/>
          </p:cNvSpPr>
          <p:nvPr/>
        </p:nvSpPr>
        <p:spPr bwMode="auto">
          <a:xfrm>
            <a:off x="6629400" y="1828800"/>
            <a:ext cx="132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Customer 2</a:t>
            </a:r>
          </a:p>
        </p:txBody>
      </p:sp>
      <p:sp>
        <p:nvSpPr>
          <p:cNvPr id="16421" name="Text Box 36"/>
          <p:cNvSpPr txBox="1">
            <a:spLocks noChangeArrowheads="1"/>
          </p:cNvSpPr>
          <p:nvPr/>
        </p:nvSpPr>
        <p:spPr bwMode="auto">
          <a:xfrm>
            <a:off x="2651125" y="2781300"/>
            <a:ext cx="730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Take</a:t>
            </a:r>
          </a:p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order</a:t>
            </a:r>
          </a:p>
        </p:txBody>
      </p:sp>
      <p:sp>
        <p:nvSpPr>
          <p:cNvPr id="16422" name="Text Box 37"/>
          <p:cNvSpPr txBox="1">
            <a:spLocks noChangeArrowheads="1"/>
          </p:cNvSpPr>
          <p:nvPr/>
        </p:nvSpPr>
        <p:spPr bwMode="auto">
          <a:xfrm>
            <a:off x="5927725" y="2705100"/>
            <a:ext cx="730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Take</a:t>
            </a:r>
          </a:p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order</a:t>
            </a:r>
          </a:p>
        </p:txBody>
      </p:sp>
      <p:sp>
        <p:nvSpPr>
          <p:cNvPr id="16423" name="Text Box 38"/>
          <p:cNvSpPr txBox="1">
            <a:spLocks noChangeArrowheads="1"/>
          </p:cNvSpPr>
          <p:nvPr/>
        </p:nvSpPr>
        <p:spPr bwMode="auto">
          <a:xfrm>
            <a:off x="4860925" y="4076700"/>
            <a:ext cx="793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Order</a:t>
            </a:r>
          </a:p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taken</a:t>
            </a:r>
          </a:p>
        </p:txBody>
      </p:sp>
      <p:sp>
        <p:nvSpPr>
          <p:cNvPr id="16424" name="Text Box 39"/>
          <p:cNvSpPr txBox="1">
            <a:spLocks noChangeArrowheads="1"/>
          </p:cNvSpPr>
          <p:nvPr/>
        </p:nvSpPr>
        <p:spPr bwMode="auto">
          <a:xfrm>
            <a:off x="4937125" y="5295900"/>
            <a:ext cx="908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Tell</a:t>
            </a:r>
          </a:p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kitchen</a:t>
            </a:r>
          </a:p>
        </p:txBody>
      </p:sp>
      <p:sp>
        <p:nvSpPr>
          <p:cNvPr id="16425" name="Text Box 40"/>
          <p:cNvSpPr txBox="1">
            <a:spLocks noChangeArrowheads="1"/>
          </p:cNvSpPr>
          <p:nvPr/>
        </p:nvSpPr>
        <p:spPr bwMode="auto">
          <a:xfrm>
            <a:off x="1965325" y="4000500"/>
            <a:ext cx="603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wait</a:t>
            </a:r>
          </a:p>
        </p:txBody>
      </p:sp>
      <p:sp>
        <p:nvSpPr>
          <p:cNvPr id="16426" name="Text Box 41"/>
          <p:cNvSpPr txBox="1">
            <a:spLocks noChangeArrowheads="1"/>
          </p:cNvSpPr>
          <p:nvPr/>
        </p:nvSpPr>
        <p:spPr bwMode="auto">
          <a:xfrm>
            <a:off x="6842125" y="4076700"/>
            <a:ext cx="603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wait</a:t>
            </a:r>
          </a:p>
        </p:txBody>
      </p:sp>
      <p:sp>
        <p:nvSpPr>
          <p:cNvPr id="16427" name="Line 42"/>
          <p:cNvSpPr>
            <a:spLocks noChangeShapeType="1"/>
          </p:cNvSpPr>
          <p:nvPr/>
        </p:nvSpPr>
        <p:spPr bwMode="auto">
          <a:xfrm>
            <a:off x="4800600" y="2057400"/>
            <a:ext cx="3276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28" name="Line 43"/>
          <p:cNvSpPr>
            <a:spLocks noChangeShapeType="1"/>
          </p:cNvSpPr>
          <p:nvPr/>
        </p:nvSpPr>
        <p:spPr bwMode="auto">
          <a:xfrm flipH="1">
            <a:off x="1295400" y="1981200"/>
            <a:ext cx="3124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29" name="Line 44"/>
          <p:cNvSpPr>
            <a:spLocks noChangeShapeType="1"/>
          </p:cNvSpPr>
          <p:nvPr/>
        </p:nvSpPr>
        <p:spPr bwMode="auto">
          <a:xfrm>
            <a:off x="1295400" y="3429000"/>
            <a:ext cx="129540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30" name="Line 45"/>
          <p:cNvSpPr>
            <a:spLocks noChangeShapeType="1"/>
          </p:cNvSpPr>
          <p:nvPr/>
        </p:nvSpPr>
        <p:spPr bwMode="auto">
          <a:xfrm flipH="1">
            <a:off x="6781800" y="3276600"/>
            <a:ext cx="129540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6431" name="Text Box 46"/>
          <p:cNvSpPr txBox="1">
            <a:spLocks noChangeArrowheads="1"/>
          </p:cNvSpPr>
          <p:nvPr/>
        </p:nvSpPr>
        <p:spPr bwMode="auto">
          <a:xfrm>
            <a:off x="2209800" y="57150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Serve food</a:t>
            </a:r>
          </a:p>
        </p:txBody>
      </p:sp>
      <p:sp>
        <p:nvSpPr>
          <p:cNvPr id="16432" name="Text Box 47"/>
          <p:cNvSpPr txBox="1">
            <a:spLocks noChangeArrowheads="1"/>
          </p:cNvSpPr>
          <p:nvPr/>
        </p:nvSpPr>
        <p:spPr bwMode="auto">
          <a:xfrm>
            <a:off x="6096000" y="56388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Serve food</a:t>
            </a:r>
          </a:p>
        </p:txBody>
      </p:sp>
      <p:sp>
        <p:nvSpPr>
          <p:cNvPr id="16433" name="Text Box 48"/>
          <p:cNvSpPr txBox="1">
            <a:spLocks noChangeArrowheads="1"/>
          </p:cNvSpPr>
          <p:nvPr/>
        </p:nvSpPr>
        <p:spPr bwMode="auto">
          <a:xfrm>
            <a:off x="1279525" y="5067300"/>
            <a:ext cx="781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eating</a:t>
            </a:r>
          </a:p>
        </p:txBody>
      </p:sp>
      <p:sp>
        <p:nvSpPr>
          <p:cNvPr id="16434" name="Text Box 49"/>
          <p:cNvSpPr txBox="1">
            <a:spLocks noChangeArrowheads="1"/>
          </p:cNvSpPr>
          <p:nvPr/>
        </p:nvSpPr>
        <p:spPr bwMode="auto">
          <a:xfrm>
            <a:off x="7908925" y="5067300"/>
            <a:ext cx="781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latinLnBrk="0"/>
            <a:r>
              <a:rPr kumimoji="0" lang="en-US" altLang="ko-KR" b="1">
                <a:latin typeface="Times New Roman" panose="02020603050405020304" pitchFamily="18" charset="0"/>
              </a:rPr>
              <a:t>eating</a:t>
            </a:r>
          </a:p>
        </p:txBody>
      </p:sp>
      <p:sp>
        <p:nvSpPr>
          <p:cNvPr id="16435" name="Oval 50"/>
          <p:cNvSpPr>
            <a:spLocks noChangeArrowheads="1"/>
          </p:cNvSpPr>
          <p:nvPr/>
        </p:nvSpPr>
        <p:spPr bwMode="auto">
          <a:xfrm>
            <a:off x="2667000" y="198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436" name="Oval 51"/>
          <p:cNvSpPr>
            <a:spLocks noChangeArrowheads="1"/>
          </p:cNvSpPr>
          <p:nvPr/>
        </p:nvSpPr>
        <p:spPr bwMode="auto">
          <a:xfrm>
            <a:off x="4572000" y="198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16437" name="Oval 52"/>
          <p:cNvSpPr>
            <a:spLocks noChangeArrowheads="1"/>
          </p:cNvSpPr>
          <p:nvPr/>
        </p:nvSpPr>
        <p:spPr bwMode="auto">
          <a:xfrm>
            <a:off x="6324600" y="198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čísla snímky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CD0FC09-E031-474D-904E-F9642AE6B3DB}" type="slidenum">
              <a:rPr lang="ko-KR" altLang="en-US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3200" smtClean="0">
                <a:latin typeface="Century Gothic" panose="020B0502020202020204" pitchFamily="34" charset="0"/>
              </a:rPr>
              <a:t>Example: In a Restaurant </a:t>
            </a:r>
            <a:br>
              <a:rPr lang="en-US" altLang="ko-KR" sz="3200" smtClean="0">
                <a:latin typeface="Century Gothic" panose="020B0502020202020204" pitchFamily="34" charset="0"/>
              </a:rPr>
            </a:br>
            <a:r>
              <a:rPr lang="en-US" altLang="ko-KR" sz="3200" smtClean="0">
                <a:latin typeface="Century Gothic" panose="020B0502020202020204" pitchFamily="34" charset="0"/>
              </a:rPr>
              <a:t>(Two Scenarios)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mtClean="0">
                <a:latin typeface="Century Gothic" panose="020B0502020202020204" pitchFamily="34" charset="0"/>
              </a:rPr>
              <a:t>Scenario 1:</a:t>
            </a:r>
          </a:p>
          <a:p>
            <a:pPr lvl="1" eaLnBrk="1" hangingPunct="1"/>
            <a:r>
              <a:rPr lang="en-US" altLang="ko-KR" smtClean="0">
                <a:latin typeface="Century Gothic" panose="020B0502020202020204" pitchFamily="34" charset="0"/>
              </a:rPr>
              <a:t>Waiter takes order from customer 1; serves customer 1; takes order from customer 2; serves customer 2.</a:t>
            </a:r>
          </a:p>
          <a:p>
            <a:pPr eaLnBrk="1" hangingPunct="1"/>
            <a:r>
              <a:rPr lang="en-US" altLang="ko-KR" smtClean="0">
                <a:latin typeface="Century Gothic" panose="020B0502020202020204" pitchFamily="34" charset="0"/>
              </a:rPr>
              <a:t>Scenario 2:</a:t>
            </a:r>
          </a:p>
          <a:p>
            <a:pPr lvl="1" eaLnBrk="1" hangingPunct="1"/>
            <a:r>
              <a:rPr lang="en-US" altLang="ko-KR" smtClean="0">
                <a:latin typeface="Century Gothic" panose="020B0502020202020204" pitchFamily="34" charset="0"/>
              </a:rPr>
              <a:t>Waiter takes order from customer 1; takes order from customer 2; serves customer 2; serves customer 1.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Zástupný symbol čísla snímky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0CEF1C1-7D2E-4EC0-B091-25F81F13B913}" type="slidenum">
              <a:rPr lang="ko-KR" altLang="en-US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3200" smtClean="0">
                <a:latin typeface="Century Gothic" panose="020B0502020202020204" pitchFamily="34" charset="0"/>
              </a:rPr>
              <a:t>Example: In a Restaurant (Scenario 1)</a:t>
            </a:r>
          </a:p>
        </p:txBody>
      </p:sp>
      <p:grpSp>
        <p:nvGrpSpPr>
          <p:cNvPr id="69635" name="Group 3"/>
          <p:cNvGrpSpPr>
            <a:grpSpLocks/>
          </p:cNvGrpSpPr>
          <p:nvPr/>
        </p:nvGrpSpPr>
        <p:grpSpPr bwMode="auto">
          <a:xfrm>
            <a:off x="1219200" y="1562100"/>
            <a:ext cx="7470775" cy="4519613"/>
            <a:chOff x="768" y="984"/>
            <a:chExt cx="4706" cy="2847"/>
          </a:xfrm>
        </p:grpSpPr>
        <p:sp>
          <p:nvSpPr>
            <p:cNvPr id="18470" name="Oval 4"/>
            <p:cNvSpPr>
              <a:spLocks noChangeArrowheads="1"/>
            </p:cNvSpPr>
            <p:nvPr/>
          </p:nvSpPr>
          <p:spPr bwMode="auto">
            <a:xfrm>
              <a:off x="1584" y="115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71" name="Rectangle 5"/>
            <p:cNvSpPr>
              <a:spLocks noChangeArrowheads="1"/>
            </p:cNvSpPr>
            <p:nvPr/>
          </p:nvSpPr>
          <p:spPr bwMode="auto">
            <a:xfrm>
              <a:off x="2112" y="1920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72" name="Oval 6"/>
            <p:cNvSpPr>
              <a:spLocks noChangeArrowheads="1"/>
            </p:cNvSpPr>
            <p:nvPr/>
          </p:nvSpPr>
          <p:spPr bwMode="auto">
            <a:xfrm>
              <a:off x="2784" y="115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73" name="Oval 7"/>
            <p:cNvSpPr>
              <a:spLocks noChangeArrowheads="1"/>
            </p:cNvSpPr>
            <p:nvPr/>
          </p:nvSpPr>
          <p:spPr bwMode="auto">
            <a:xfrm>
              <a:off x="3888" y="115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74" name="Rectangle 8"/>
            <p:cNvSpPr>
              <a:spLocks noChangeArrowheads="1"/>
            </p:cNvSpPr>
            <p:nvPr/>
          </p:nvSpPr>
          <p:spPr bwMode="auto">
            <a:xfrm>
              <a:off x="3360" y="1920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75" name="Line 9"/>
            <p:cNvSpPr>
              <a:spLocks noChangeShapeType="1"/>
            </p:cNvSpPr>
            <p:nvPr/>
          </p:nvSpPr>
          <p:spPr bwMode="auto">
            <a:xfrm>
              <a:off x="1776" y="1392"/>
              <a:ext cx="4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76" name="Line 10"/>
            <p:cNvSpPr>
              <a:spLocks noChangeShapeType="1"/>
            </p:cNvSpPr>
            <p:nvPr/>
          </p:nvSpPr>
          <p:spPr bwMode="auto">
            <a:xfrm flipH="1">
              <a:off x="2352" y="1344"/>
              <a:ext cx="43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77" name="Line 11"/>
            <p:cNvSpPr>
              <a:spLocks noChangeShapeType="1"/>
            </p:cNvSpPr>
            <p:nvPr/>
          </p:nvSpPr>
          <p:spPr bwMode="auto">
            <a:xfrm>
              <a:off x="2976" y="1344"/>
              <a:ext cx="48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78" name="Line 12"/>
            <p:cNvSpPr>
              <a:spLocks noChangeShapeType="1"/>
            </p:cNvSpPr>
            <p:nvPr/>
          </p:nvSpPr>
          <p:spPr bwMode="auto">
            <a:xfrm flipH="1">
              <a:off x="3600" y="1344"/>
              <a:ext cx="33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79" name="Line 13"/>
            <p:cNvSpPr>
              <a:spLocks noChangeShapeType="1"/>
            </p:cNvSpPr>
            <p:nvPr/>
          </p:nvSpPr>
          <p:spPr bwMode="auto">
            <a:xfrm flipH="1">
              <a:off x="1776" y="2112"/>
              <a:ext cx="43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80" name="Oval 14"/>
            <p:cNvSpPr>
              <a:spLocks noChangeArrowheads="1"/>
            </p:cNvSpPr>
            <p:nvPr/>
          </p:nvSpPr>
          <p:spPr bwMode="auto">
            <a:xfrm>
              <a:off x="1584" y="254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81" name="Oval 15"/>
            <p:cNvSpPr>
              <a:spLocks noChangeArrowheads="1"/>
            </p:cNvSpPr>
            <p:nvPr/>
          </p:nvSpPr>
          <p:spPr bwMode="auto">
            <a:xfrm>
              <a:off x="2832" y="259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82" name="Oval 16"/>
            <p:cNvSpPr>
              <a:spLocks noChangeArrowheads="1"/>
            </p:cNvSpPr>
            <p:nvPr/>
          </p:nvSpPr>
          <p:spPr bwMode="auto">
            <a:xfrm>
              <a:off x="4032" y="259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83" name="Line 17"/>
            <p:cNvSpPr>
              <a:spLocks noChangeShapeType="1"/>
            </p:cNvSpPr>
            <p:nvPr/>
          </p:nvSpPr>
          <p:spPr bwMode="auto">
            <a:xfrm>
              <a:off x="2352" y="2112"/>
              <a:ext cx="52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84" name="Line 18"/>
            <p:cNvSpPr>
              <a:spLocks noChangeShapeType="1"/>
            </p:cNvSpPr>
            <p:nvPr/>
          </p:nvSpPr>
          <p:spPr bwMode="auto">
            <a:xfrm flipH="1">
              <a:off x="3024" y="2112"/>
              <a:ext cx="4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85" name="Line 19"/>
            <p:cNvSpPr>
              <a:spLocks noChangeShapeType="1"/>
            </p:cNvSpPr>
            <p:nvPr/>
          </p:nvSpPr>
          <p:spPr bwMode="auto">
            <a:xfrm>
              <a:off x="3552" y="2112"/>
              <a:ext cx="52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86" name="Rectangle 20"/>
            <p:cNvSpPr>
              <a:spLocks noChangeArrowheads="1"/>
            </p:cNvSpPr>
            <p:nvPr/>
          </p:nvSpPr>
          <p:spPr bwMode="auto">
            <a:xfrm>
              <a:off x="4032" y="3408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87" name="Oval 21"/>
            <p:cNvSpPr>
              <a:spLocks noChangeArrowheads="1"/>
            </p:cNvSpPr>
            <p:nvPr/>
          </p:nvSpPr>
          <p:spPr bwMode="auto">
            <a:xfrm>
              <a:off x="4992" y="340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88" name="Rectangle 22"/>
            <p:cNvSpPr>
              <a:spLocks noChangeArrowheads="1"/>
            </p:cNvSpPr>
            <p:nvPr/>
          </p:nvSpPr>
          <p:spPr bwMode="auto">
            <a:xfrm>
              <a:off x="2832" y="3408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89" name="Line 23"/>
            <p:cNvSpPr>
              <a:spLocks noChangeShapeType="1"/>
            </p:cNvSpPr>
            <p:nvPr/>
          </p:nvSpPr>
          <p:spPr bwMode="auto">
            <a:xfrm>
              <a:off x="4176" y="283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90" name="Line 24"/>
            <p:cNvSpPr>
              <a:spLocks noChangeShapeType="1"/>
            </p:cNvSpPr>
            <p:nvPr/>
          </p:nvSpPr>
          <p:spPr bwMode="auto">
            <a:xfrm>
              <a:off x="4320" y="350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91" name="Line 25"/>
            <p:cNvSpPr>
              <a:spLocks noChangeShapeType="1"/>
            </p:cNvSpPr>
            <p:nvPr/>
          </p:nvSpPr>
          <p:spPr bwMode="auto">
            <a:xfrm>
              <a:off x="2976" y="283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92" name="Line 26"/>
            <p:cNvSpPr>
              <a:spLocks noChangeShapeType="1"/>
            </p:cNvSpPr>
            <p:nvPr/>
          </p:nvSpPr>
          <p:spPr bwMode="auto">
            <a:xfrm flipH="1" flipV="1">
              <a:off x="2496" y="3024"/>
              <a:ext cx="33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93" name="Line 27"/>
            <p:cNvSpPr>
              <a:spLocks noChangeShapeType="1"/>
            </p:cNvSpPr>
            <p:nvPr/>
          </p:nvSpPr>
          <p:spPr bwMode="auto">
            <a:xfrm flipV="1">
              <a:off x="2496" y="1392"/>
              <a:ext cx="384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94" name="Rectangle 28"/>
            <p:cNvSpPr>
              <a:spLocks noChangeArrowheads="1"/>
            </p:cNvSpPr>
            <p:nvPr/>
          </p:nvSpPr>
          <p:spPr bwMode="auto">
            <a:xfrm>
              <a:off x="1584" y="3408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95" name="Line 29"/>
            <p:cNvSpPr>
              <a:spLocks noChangeShapeType="1"/>
            </p:cNvSpPr>
            <p:nvPr/>
          </p:nvSpPr>
          <p:spPr bwMode="auto">
            <a:xfrm>
              <a:off x="1728" y="278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96" name="Oval 30"/>
            <p:cNvSpPr>
              <a:spLocks noChangeArrowheads="1"/>
            </p:cNvSpPr>
            <p:nvPr/>
          </p:nvSpPr>
          <p:spPr bwMode="auto">
            <a:xfrm>
              <a:off x="864" y="340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97" name="Line 31"/>
            <p:cNvSpPr>
              <a:spLocks noChangeShapeType="1"/>
            </p:cNvSpPr>
            <p:nvPr/>
          </p:nvSpPr>
          <p:spPr bwMode="auto">
            <a:xfrm flipH="1">
              <a:off x="1104" y="350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98" name="Line 32"/>
            <p:cNvSpPr>
              <a:spLocks noChangeShapeType="1"/>
            </p:cNvSpPr>
            <p:nvPr/>
          </p:nvSpPr>
          <p:spPr bwMode="auto">
            <a:xfrm flipV="1">
              <a:off x="1872" y="1344"/>
              <a:ext cx="96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499" name="Line 33"/>
            <p:cNvSpPr>
              <a:spLocks noChangeShapeType="1"/>
            </p:cNvSpPr>
            <p:nvPr/>
          </p:nvSpPr>
          <p:spPr bwMode="auto">
            <a:xfrm flipH="1" flipV="1">
              <a:off x="2928" y="1392"/>
              <a:ext cx="1104" cy="2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500" name="Text Box 34"/>
            <p:cNvSpPr txBox="1">
              <a:spLocks noChangeArrowheads="1"/>
            </p:cNvSpPr>
            <p:nvPr/>
          </p:nvSpPr>
          <p:spPr bwMode="auto">
            <a:xfrm>
              <a:off x="2294" y="984"/>
              <a:ext cx="54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Waiter</a:t>
              </a:r>
            </a:p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free</a:t>
              </a:r>
            </a:p>
          </p:txBody>
        </p:sp>
        <p:sp>
          <p:nvSpPr>
            <p:cNvPr id="18501" name="Text Box 35"/>
            <p:cNvSpPr txBox="1">
              <a:spLocks noChangeArrowheads="1"/>
            </p:cNvSpPr>
            <p:nvPr/>
          </p:nvSpPr>
          <p:spPr bwMode="auto">
            <a:xfrm>
              <a:off x="768" y="1104"/>
              <a:ext cx="8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Customer 1</a:t>
              </a:r>
            </a:p>
          </p:txBody>
        </p:sp>
        <p:sp>
          <p:nvSpPr>
            <p:cNvPr id="18502" name="Text Box 36"/>
            <p:cNvSpPr txBox="1">
              <a:spLocks noChangeArrowheads="1"/>
            </p:cNvSpPr>
            <p:nvPr/>
          </p:nvSpPr>
          <p:spPr bwMode="auto">
            <a:xfrm>
              <a:off x="4176" y="1152"/>
              <a:ext cx="8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Customer 2</a:t>
              </a:r>
            </a:p>
          </p:txBody>
        </p:sp>
        <p:sp>
          <p:nvSpPr>
            <p:cNvPr id="18503" name="Text Box 37"/>
            <p:cNvSpPr txBox="1">
              <a:spLocks noChangeArrowheads="1"/>
            </p:cNvSpPr>
            <p:nvPr/>
          </p:nvSpPr>
          <p:spPr bwMode="auto">
            <a:xfrm>
              <a:off x="1670" y="1752"/>
              <a:ext cx="4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Take</a:t>
              </a:r>
            </a:p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order</a:t>
              </a:r>
            </a:p>
          </p:txBody>
        </p:sp>
        <p:sp>
          <p:nvSpPr>
            <p:cNvPr id="18504" name="Text Box 38"/>
            <p:cNvSpPr txBox="1">
              <a:spLocks noChangeArrowheads="1"/>
            </p:cNvSpPr>
            <p:nvPr/>
          </p:nvSpPr>
          <p:spPr bwMode="auto">
            <a:xfrm>
              <a:off x="3734" y="1704"/>
              <a:ext cx="4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Take</a:t>
              </a:r>
            </a:p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order</a:t>
              </a:r>
            </a:p>
          </p:txBody>
        </p:sp>
        <p:sp>
          <p:nvSpPr>
            <p:cNvPr id="18505" name="Text Box 39"/>
            <p:cNvSpPr txBox="1">
              <a:spLocks noChangeArrowheads="1"/>
            </p:cNvSpPr>
            <p:nvPr/>
          </p:nvSpPr>
          <p:spPr bwMode="auto">
            <a:xfrm>
              <a:off x="3062" y="2568"/>
              <a:ext cx="50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Order</a:t>
              </a:r>
            </a:p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taken</a:t>
              </a:r>
            </a:p>
          </p:txBody>
        </p:sp>
        <p:sp>
          <p:nvSpPr>
            <p:cNvPr id="18506" name="Text Box 40"/>
            <p:cNvSpPr txBox="1">
              <a:spLocks noChangeArrowheads="1"/>
            </p:cNvSpPr>
            <p:nvPr/>
          </p:nvSpPr>
          <p:spPr bwMode="auto">
            <a:xfrm>
              <a:off x="3110" y="3336"/>
              <a:ext cx="57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Tell</a:t>
              </a:r>
            </a:p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kitchen</a:t>
              </a:r>
            </a:p>
          </p:txBody>
        </p:sp>
        <p:sp>
          <p:nvSpPr>
            <p:cNvPr id="18507" name="Text Box 41"/>
            <p:cNvSpPr txBox="1">
              <a:spLocks noChangeArrowheads="1"/>
            </p:cNvSpPr>
            <p:nvPr/>
          </p:nvSpPr>
          <p:spPr bwMode="auto">
            <a:xfrm>
              <a:off x="1238" y="2520"/>
              <a:ext cx="3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wait</a:t>
              </a:r>
            </a:p>
          </p:txBody>
        </p:sp>
        <p:sp>
          <p:nvSpPr>
            <p:cNvPr id="18508" name="Text Box 42"/>
            <p:cNvSpPr txBox="1">
              <a:spLocks noChangeArrowheads="1"/>
            </p:cNvSpPr>
            <p:nvPr/>
          </p:nvSpPr>
          <p:spPr bwMode="auto">
            <a:xfrm>
              <a:off x="4310" y="2568"/>
              <a:ext cx="3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wait</a:t>
              </a:r>
            </a:p>
          </p:txBody>
        </p:sp>
        <p:sp>
          <p:nvSpPr>
            <p:cNvPr id="18509" name="Line 43"/>
            <p:cNvSpPr>
              <a:spLocks noChangeShapeType="1"/>
            </p:cNvSpPr>
            <p:nvPr/>
          </p:nvSpPr>
          <p:spPr bwMode="auto">
            <a:xfrm>
              <a:off x="3024" y="1296"/>
              <a:ext cx="206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510" name="Line 44"/>
            <p:cNvSpPr>
              <a:spLocks noChangeShapeType="1"/>
            </p:cNvSpPr>
            <p:nvPr/>
          </p:nvSpPr>
          <p:spPr bwMode="auto">
            <a:xfrm flipH="1">
              <a:off x="816" y="1248"/>
              <a:ext cx="196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511" name="Line 45"/>
            <p:cNvSpPr>
              <a:spLocks noChangeShapeType="1"/>
            </p:cNvSpPr>
            <p:nvPr/>
          </p:nvSpPr>
          <p:spPr bwMode="auto">
            <a:xfrm>
              <a:off x="816" y="2160"/>
              <a:ext cx="816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512" name="Line 46"/>
            <p:cNvSpPr>
              <a:spLocks noChangeShapeType="1"/>
            </p:cNvSpPr>
            <p:nvPr/>
          </p:nvSpPr>
          <p:spPr bwMode="auto">
            <a:xfrm flipH="1">
              <a:off x="4272" y="2064"/>
              <a:ext cx="816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8513" name="Text Box 47"/>
            <p:cNvSpPr txBox="1">
              <a:spLocks noChangeArrowheads="1"/>
            </p:cNvSpPr>
            <p:nvPr/>
          </p:nvSpPr>
          <p:spPr bwMode="auto">
            <a:xfrm>
              <a:off x="1392" y="3600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Serve food</a:t>
              </a:r>
            </a:p>
          </p:txBody>
        </p:sp>
        <p:sp>
          <p:nvSpPr>
            <p:cNvPr id="18514" name="Text Box 48"/>
            <p:cNvSpPr txBox="1">
              <a:spLocks noChangeArrowheads="1"/>
            </p:cNvSpPr>
            <p:nvPr/>
          </p:nvSpPr>
          <p:spPr bwMode="auto">
            <a:xfrm>
              <a:off x="3840" y="3552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Serve food</a:t>
              </a:r>
            </a:p>
          </p:txBody>
        </p:sp>
        <p:sp>
          <p:nvSpPr>
            <p:cNvPr id="18515" name="Text Box 49"/>
            <p:cNvSpPr txBox="1">
              <a:spLocks noChangeArrowheads="1"/>
            </p:cNvSpPr>
            <p:nvPr/>
          </p:nvSpPr>
          <p:spPr bwMode="auto">
            <a:xfrm>
              <a:off x="806" y="3192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eating</a:t>
              </a:r>
            </a:p>
          </p:txBody>
        </p:sp>
        <p:sp>
          <p:nvSpPr>
            <p:cNvPr id="18516" name="Text Box 50"/>
            <p:cNvSpPr txBox="1">
              <a:spLocks noChangeArrowheads="1"/>
            </p:cNvSpPr>
            <p:nvPr/>
          </p:nvSpPr>
          <p:spPr bwMode="auto">
            <a:xfrm>
              <a:off x="4982" y="3192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eating</a:t>
              </a:r>
            </a:p>
          </p:txBody>
        </p:sp>
      </p:grpSp>
      <p:sp>
        <p:nvSpPr>
          <p:cNvPr id="69683" name="Oval 51"/>
          <p:cNvSpPr>
            <a:spLocks noChangeArrowheads="1"/>
          </p:cNvSpPr>
          <p:nvPr/>
        </p:nvSpPr>
        <p:spPr bwMode="auto">
          <a:xfrm>
            <a:off x="2667000" y="198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684" name="Oval 52"/>
          <p:cNvSpPr>
            <a:spLocks noChangeArrowheads="1"/>
          </p:cNvSpPr>
          <p:nvPr/>
        </p:nvSpPr>
        <p:spPr bwMode="auto">
          <a:xfrm>
            <a:off x="4572000" y="1905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685" name="Oval 53"/>
          <p:cNvSpPr>
            <a:spLocks noChangeArrowheads="1"/>
          </p:cNvSpPr>
          <p:nvPr/>
        </p:nvSpPr>
        <p:spPr bwMode="auto">
          <a:xfrm>
            <a:off x="6324600" y="1905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grpSp>
        <p:nvGrpSpPr>
          <p:cNvPr id="69686" name="Group 54"/>
          <p:cNvGrpSpPr>
            <a:grpSpLocks/>
          </p:cNvGrpSpPr>
          <p:nvPr/>
        </p:nvGrpSpPr>
        <p:grpSpPr bwMode="auto">
          <a:xfrm>
            <a:off x="2667000" y="1905000"/>
            <a:ext cx="2057400" cy="228600"/>
            <a:chOff x="1680" y="1200"/>
            <a:chExt cx="1296" cy="144"/>
          </a:xfrm>
        </p:grpSpPr>
        <p:sp>
          <p:nvSpPr>
            <p:cNvPr id="18468" name="Oval 55"/>
            <p:cNvSpPr>
              <a:spLocks noChangeArrowheads="1"/>
            </p:cNvSpPr>
            <p:nvPr/>
          </p:nvSpPr>
          <p:spPr bwMode="auto">
            <a:xfrm>
              <a:off x="1680" y="12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69" name="Oval 56"/>
            <p:cNvSpPr>
              <a:spLocks noChangeArrowheads="1"/>
            </p:cNvSpPr>
            <p:nvPr/>
          </p:nvSpPr>
          <p:spPr bwMode="auto">
            <a:xfrm>
              <a:off x="2880" y="12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</p:grpSp>
      <p:sp>
        <p:nvSpPr>
          <p:cNvPr id="69689" name="Rectangle 57"/>
          <p:cNvSpPr>
            <a:spLocks noChangeArrowheads="1"/>
          </p:cNvSpPr>
          <p:nvPr/>
        </p:nvSpPr>
        <p:spPr bwMode="auto">
          <a:xfrm>
            <a:off x="3352800" y="3048000"/>
            <a:ext cx="4572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690" name="Oval 58"/>
          <p:cNvSpPr>
            <a:spLocks noChangeArrowheads="1"/>
          </p:cNvSpPr>
          <p:nvPr/>
        </p:nvSpPr>
        <p:spPr bwMode="auto">
          <a:xfrm>
            <a:off x="2667000" y="4191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691" name="Oval 59"/>
          <p:cNvSpPr>
            <a:spLocks noChangeArrowheads="1"/>
          </p:cNvSpPr>
          <p:nvPr/>
        </p:nvSpPr>
        <p:spPr bwMode="auto">
          <a:xfrm>
            <a:off x="4648200" y="4191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692" name="Oval 60"/>
          <p:cNvSpPr>
            <a:spLocks noChangeArrowheads="1"/>
          </p:cNvSpPr>
          <p:nvPr/>
        </p:nvSpPr>
        <p:spPr bwMode="auto">
          <a:xfrm>
            <a:off x="4648200" y="41910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693" name="Rectangle 61"/>
          <p:cNvSpPr>
            <a:spLocks noChangeArrowheads="1"/>
          </p:cNvSpPr>
          <p:nvPr/>
        </p:nvSpPr>
        <p:spPr bwMode="auto">
          <a:xfrm>
            <a:off x="4495800" y="5410200"/>
            <a:ext cx="4572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694" name="Oval 62"/>
          <p:cNvSpPr>
            <a:spLocks noChangeArrowheads="1"/>
          </p:cNvSpPr>
          <p:nvPr/>
        </p:nvSpPr>
        <p:spPr bwMode="auto">
          <a:xfrm>
            <a:off x="4572000" y="198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grpSp>
        <p:nvGrpSpPr>
          <p:cNvPr id="69695" name="Group 63"/>
          <p:cNvGrpSpPr>
            <a:grpSpLocks/>
          </p:cNvGrpSpPr>
          <p:nvPr/>
        </p:nvGrpSpPr>
        <p:grpSpPr bwMode="auto">
          <a:xfrm>
            <a:off x="2667000" y="1981200"/>
            <a:ext cx="2057400" cy="2362200"/>
            <a:chOff x="1680" y="1248"/>
            <a:chExt cx="1296" cy="1488"/>
          </a:xfrm>
        </p:grpSpPr>
        <p:sp>
          <p:nvSpPr>
            <p:cNvPr id="18466" name="Oval 64"/>
            <p:cNvSpPr>
              <a:spLocks noChangeArrowheads="1"/>
            </p:cNvSpPr>
            <p:nvPr/>
          </p:nvSpPr>
          <p:spPr bwMode="auto">
            <a:xfrm>
              <a:off x="2880" y="12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67" name="Oval 65"/>
            <p:cNvSpPr>
              <a:spLocks noChangeArrowheads="1"/>
            </p:cNvSpPr>
            <p:nvPr/>
          </p:nvSpPr>
          <p:spPr bwMode="auto">
            <a:xfrm>
              <a:off x="1680" y="264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</p:grpSp>
      <p:sp>
        <p:nvSpPr>
          <p:cNvPr id="69698" name="Rectangle 66"/>
          <p:cNvSpPr>
            <a:spLocks noChangeArrowheads="1"/>
          </p:cNvSpPr>
          <p:nvPr/>
        </p:nvSpPr>
        <p:spPr bwMode="auto">
          <a:xfrm>
            <a:off x="2514600" y="5410200"/>
            <a:ext cx="4572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699" name="Oval 67"/>
          <p:cNvSpPr>
            <a:spLocks noChangeArrowheads="1"/>
          </p:cNvSpPr>
          <p:nvPr/>
        </p:nvSpPr>
        <p:spPr bwMode="auto">
          <a:xfrm>
            <a:off x="1524000" y="5562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700" name="Oval 68"/>
          <p:cNvSpPr>
            <a:spLocks noChangeArrowheads="1"/>
          </p:cNvSpPr>
          <p:nvPr/>
        </p:nvSpPr>
        <p:spPr bwMode="auto">
          <a:xfrm>
            <a:off x="4495800" y="1905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grpSp>
        <p:nvGrpSpPr>
          <p:cNvPr id="69701" name="Group 69"/>
          <p:cNvGrpSpPr>
            <a:grpSpLocks/>
          </p:cNvGrpSpPr>
          <p:nvPr/>
        </p:nvGrpSpPr>
        <p:grpSpPr bwMode="auto">
          <a:xfrm>
            <a:off x="4495800" y="1905000"/>
            <a:ext cx="1981200" cy="152400"/>
            <a:chOff x="2832" y="1200"/>
            <a:chExt cx="1248" cy="96"/>
          </a:xfrm>
        </p:grpSpPr>
        <p:sp>
          <p:nvSpPr>
            <p:cNvPr id="18464" name="Oval 70"/>
            <p:cNvSpPr>
              <a:spLocks noChangeArrowheads="1"/>
            </p:cNvSpPr>
            <p:nvPr/>
          </p:nvSpPr>
          <p:spPr bwMode="auto">
            <a:xfrm>
              <a:off x="2832" y="12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65" name="Oval 71"/>
            <p:cNvSpPr>
              <a:spLocks noChangeArrowheads="1"/>
            </p:cNvSpPr>
            <p:nvPr/>
          </p:nvSpPr>
          <p:spPr bwMode="auto">
            <a:xfrm>
              <a:off x="3984" y="12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</p:grpSp>
      <p:sp>
        <p:nvSpPr>
          <p:cNvPr id="69704" name="Rectangle 72"/>
          <p:cNvSpPr>
            <a:spLocks noChangeArrowheads="1"/>
          </p:cNvSpPr>
          <p:nvPr/>
        </p:nvSpPr>
        <p:spPr bwMode="auto">
          <a:xfrm>
            <a:off x="5334000" y="3048000"/>
            <a:ext cx="4572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705" name="Oval 73"/>
          <p:cNvSpPr>
            <a:spLocks noChangeArrowheads="1"/>
          </p:cNvSpPr>
          <p:nvPr/>
        </p:nvSpPr>
        <p:spPr bwMode="auto">
          <a:xfrm>
            <a:off x="4648200" y="4191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706" name="Oval 74"/>
          <p:cNvSpPr>
            <a:spLocks noChangeArrowheads="1"/>
          </p:cNvSpPr>
          <p:nvPr/>
        </p:nvSpPr>
        <p:spPr bwMode="auto">
          <a:xfrm>
            <a:off x="6553200" y="4191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707" name="Rectangle 75"/>
          <p:cNvSpPr>
            <a:spLocks noChangeArrowheads="1"/>
          </p:cNvSpPr>
          <p:nvPr/>
        </p:nvSpPr>
        <p:spPr bwMode="auto">
          <a:xfrm>
            <a:off x="4495800" y="5410200"/>
            <a:ext cx="4572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708" name="Oval 76"/>
          <p:cNvSpPr>
            <a:spLocks noChangeArrowheads="1"/>
          </p:cNvSpPr>
          <p:nvPr/>
        </p:nvSpPr>
        <p:spPr bwMode="auto">
          <a:xfrm>
            <a:off x="4572000" y="1905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grpSp>
        <p:nvGrpSpPr>
          <p:cNvPr id="69709" name="Group 77"/>
          <p:cNvGrpSpPr>
            <a:grpSpLocks/>
          </p:cNvGrpSpPr>
          <p:nvPr/>
        </p:nvGrpSpPr>
        <p:grpSpPr bwMode="auto">
          <a:xfrm>
            <a:off x="4572000" y="1905000"/>
            <a:ext cx="2133600" cy="2438400"/>
            <a:chOff x="2880" y="1200"/>
            <a:chExt cx="1344" cy="1536"/>
          </a:xfrm>
        </p:grpSpPr>
        <p:sp>
          <p:nvSpPr>
            <p:cNvPr id="18462" name="Oval 78"/>
            <p:cNvSpPr>
              <a:spLocks noChangeArrowheads="1"/>
            </p:cNvSpPr>
            <p:nvPr/>
          </p:nvSpPr>
          <p:spPr bwMode="auto">
            <a:xfrm>
              <a:off x="2880" y="12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8463" name="Oval 79"/>
            <p:cNvSpPr>
              <a:spLocks noChangeArrowheads="1"/>
            </p:cNvSpPr>
            <p:nvPr/>
          </p:nvSpPr>
          <p:spPr bwMode="auto">
            <a:xfrm>
              <a:off x="4128" y="264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</p:grpSp>
      <p:sp>
        <p:nvSpPr>
          <p:cNvPr id="69712" name="Rectangle 80"/>
          <p:cNvSpPr>
            <a:spLocks noChangeArrowheads="1"/>
          </p:cNvSpPr>
          <p:nvPr/>
        </p:nvSpPr>
        <p:spPr bwMode="auto">
          <a:xfrm>
            <a:off x="6400800" y="5410200"/>
            <a:ext cx="4572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713" name="Oval 81"/>
          <p:cNvSpPr>
            <a:spLocks noChangeArrowheads="1"/>
          </p:cNvSpPr>
          <p:nvPr/>
        </p:nvSpPr>
        <p:spPr bwMode="auto">
          <a:xfrm>
            <a:off x="8077200" y="5486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714" name="Oval 82"/>
          <p:cNvSpPr>
            <a:spLocks noChangeArrowheads="1"/>
          </p:cNvSpPr>
          <p:nvPr/>
        </p:nvSpPr>
        <p:spPr bwMode="auto">
          <a:xfrm>
            <a:off x="4648200" y="41910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69715" name="Oval 83"/>
          <p:cNvSpPr>
            <a:spLocks noChangeArrowheads="1"/>
          </p:cNvSpPr>
          <p:nvPr/>
        </p:nvSpPr>
        <p:spPr bwMode="auto">
          <a:xfrm>
            <a:off x="4572000" y="198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83" grpId="0" animBg="1"/>
      <p:bldP spid="69684" grpId="0" animBg="1"/>
      <p:bldP spid="69685" grpId="0" animBg="1"/>
      <p:bldP spid="69689" grpId="0" animBg="1"/>
      <p:bldP spid="69690" grpId="0" animBg="1"/>
      <p:bldP spid="69691" grpId="0" animBg="1"/>
      <p:bldP spid="69692" grpId="0" animBg="1"/>
      <p:bldP spid="69693" grpId="0" animBg="1"/>
      <p:bldP spid="69694" grpId="0" animBg="1"/>
      <p:bldP spid="69698" grpId="0" animBg="1"/>
      <p:bldP spid="69699" grpId="0" animBg="1"/>
      <p:bldP spid="69700" grpId="0" animBg="1"/>
      <p:bldP spid="69704" grpId="0" animBg="1"/>
      <p:bldP spid="69705" grpId="0" animBg="1"/>
      <p:bldP spid="69706" grpId="0" animBg="1"/>
      <p:bldP spid="69707" grpId="0" animBg="1"/>
      <p:bldP spid="69708" grpId="0" animBg="1"/>
      <p:bldP spid="69712" grpId="0" animBg="1"/>
      <p:bldP spid="69713" grpId="0" animBg="1"/>
      <p:bldP spid="69714" grpId="0" animBg="1"/>
      <p:bldP spid="697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Zástupný symbol čísla snímky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73B05AB-45D8-48D9-A26E-EA7FC66EE8D7}" type="slidenum">
              <a:rPr lang="ko-KR" altLang="en-US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3200" smtClean="0">
                <a:latin typeface="Century Gothic" panose="020B0502020202020204" pitchFamily="34" charset="0"/>
              </a:rPr>
              <a:t>Example: In a Restaurant (Scenario 2)</a:t>
            </a:r>
          </a:p>
        </p:txBody>
      </p:sp>
      <p:grpSp>
        <p:nvGrpSpPr>
          <p:cNvPr id="70659" name="Group 3"/>
          <p:cNvGrpSpPr>
            <a:grpSpLocks/>
          </p:cNvGrpSpPr>
          <p:nvPr/>
        </p:nvGrpSpPr>
        <p:grpSpPr bwMode="auto">
          <a:xfrm>
            <a:off x="1219200" y="1562100"/>
            <a:ext cx="7470775" cy="4519613"/>
            <a:chOff x="768" y="984"/>
            <a:chExt cx="4706" cy="2847"/>
          </a:xfrm>
        </p:grpSpPr>
        <p:sp>
          <p:nvSpPr>
            <p:cNvPr id="19494" name="Oval 4"/>
            <p:cNvSpPr>
              <a:spLocks noChangeArrowheads="1"/>
            </p:cNvSpPr>
            <p:nvPr/>
          </p:nvSpPr>
          <p:spPr bwMode="auto">
            <a:xfrm>
              <a:off x="1584" y="115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495" name="Rectangle 5"/>
            <p:cNvSpPr>
              <a:spLocks noChangeArrowheads="1"/>
            </p:cNvSpPr>
            <p:nvPr/>
          </p:nvSpPr>
          <p:spPr bwMode="auto">
            <a:xfrm>
              <a:off x="2112" y="1920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496" name="Oval 6"/>
            <p:cNvSpPr>
              <a:spLocks noChangeArrowheads="1"/>
            </p:cNvSpPr>
            <p:nvPr/>
          </p:nvSpPr>
          <p:spPr bwMode="auto">
            <a:xfrm>
              <a:off x="2784" y="115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497" name="Oval 7"/>
            <p:cNvSpPr>
              <a:spLocks noChangeArrowheads="1"/>
            </p:cNvSpPr>
            <p:nvPr/>
          </p:nvSpPr>
          <p:spPr bwMode="auto">
            <a:xfrm>
              <a:off x="3888" y="115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498" name="Rectangle 8"/>
            <p:cNvSpPr>
              <a:spLocks noChangeArrowheads="1"/>
            </p:cNvSpPr>
            <p:nvPr/>
          </p:nvSpPr>
          <p:spPr bwMode="auto">
            <a:xfrm>
              <a:off x="3360" y="1920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499" name="Line 9"/>
            <p:cNvSpPr>
              <a:spLocks noChangeShapeType="1"/>
            </p:cNvSpPr>
            <p:nvPr/>
          </p:nvSpPr>
          <p:spPr bwMode="auto">
            <a:xfrm>
              <a:off x="1776" y="1392"/>
              <a:ext cx="4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00" name="Line 10"/>
            <p:cNvSpPr>
              <a:spLocks noChangeShapeType="1"/>
            </p:cNvSpPr>
            <p:nvPr/>
          </p:nvSpPr>
          <p:spPr bwMode="auto">
            <a:xfrm flipH="1">
              <a:off x="2352" y="1344"/>
              <a:ext cx="43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01" name="Line 11"/>
            <p:cNvSpPr>
              <a:spLocks noChangeShapeType="1"/>
            </p:cNvSpPr>
            <p:nvPr/>
          </p:nvSpPr>
          <p:spPr bwMode="auto">
            <a:xfrm>
              <a:off x="2976" y="1344"/>
              <a:ext cx="48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02" name="Line 12"/>
            <p:cNvSpPr>
              <a:spLocks noChangeShapeType="1"/>
            </p:cNvSpPr>
            <p:nvPr/>
          </p:nvSpPr>
          <p:spPr bwMode="auto">
            <a:xfrm flipH="1">
              <a:off x="3600" y="1344"/>
              <a:ext cx="33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03" name="Line 13"/>
            <p:cNvSpPr>
              <a:spLocks noChangeShapeType="1"/>
            </p:cNvSpPr>
            <p:nvPr/>
          </p:nvSpPr>
          <p:spPr bwMode="auto">
            <a:xfrm flipH="1">
              <a:off x="1776" y="2112"/>
              <a:ext cx="43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04" name="Oval 14"/>
            <p:cNvSpPr>
              <a:spLocks noChangeArrowheads="1"/>
            </p:cNvSpPr>
            <p:nvPr/>
          </p:nvSpPr>
          <p:spPr bwMode="auto">
            <a:xfrm>
              <a:off x="1584" y="254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505" name="Oval 15"/>
            <p:cNvSpPr>
              <a:spLocks noChangeArrowheads="1"/>
            </p:cNvSpPr>
            <p:nvPr/>
          </p:nvSpPr>
          <p:spPr bwMode="auto">
            <a:xfrm>
              <a:off x="2832" y="259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506" name="Oval 16"/>
            <p:cNvSpPr>
              <a:spLocks noChangeArrowheads="1"/>
            </p:cNvSpPr>
            <p:nvPr/>
          </p:nvSpPr>
          <p:spPr bwMode="auto">
            <a:xfrm>
              <a:off x="4032" y="259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507" name="Line 17"/>
            <p:cNvSpPr>
              <a:spLocks noChangeShapeType="1"/>
            </p:cNvSpPr>
            <p:nvPr/>
          </p:nvSpPr>
          <p:spPr bwMode="auto">
            <a:xfrm>
              <a:off x="2352" y="2112"/>
              <a:ext cx="52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08" name="Line 18"/>
            <p:cNvSpPr>
              <a:spLocks noChangeShapeType="1"/>
            </p:cNvSpPr>
            <p:nvPr/>
          </p:nvSpPr>
          <p:spPr bwMode="auto">
            <a:xfrm flipH="1">
              <a:off x="3024" y="2112"/>
              <a:ext cx="4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09" name="Line 19"/>
            <p:cNvSpPr>
              <a:spLocks noChangeShapeType="1"/>
            </p:cNvSpPr>
            <p:nvPr/>
          </p:nvSpPr>
          <p:spPr bwMode="auto">
            <a:xfrm>
              <a:off x="3552" y="2112"/>
              <a:ext cx="52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10" name="Rectangle 20"/>
            <p:cNvSpPr>
              <a:spLocks noChangeArrowheads="1"/>
            </p:cNvSpPr>
            <p:nvPr/>
          </p:nvSpPr>
          <p:spPr bwMode="auto">
            <a:xfrm>
              <a:off x="4032" y="3408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511" name="Oval 21"/>
            <p:cNvSpPr>
              <a:spLocks noChangeArrowheads="1"/>
            </p:cNvSpPr>
            <p:nvPr/>
          </p:nvSpPr>
          <p:spPr bwMode="auto">
            <a:xfrm>
              <a:off x="4992" y="340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512" name="Rectangle 22"/>
            <p:cNvSpPr>
              <a:spLocks noChangeArrowheads="1"/>
            </p:cNvSpPr>
            <p:nvPr/>
          </p:nvSpPr>
          <p:spPr bwMode="auto">
            <a:xfrm>
              <a:off x="2832" y="3408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513" name="Line 23"/>
            <p:cNvSpPr>
              <a:spLocks noChangeShapeType="1"/>
            </p:cNvSpPr>
            <p:nvPr/>
          </p:nvSpPr>
          <p:spPr bwMode="auto">
            <a:xfrm>
              <a:off x="4176" y="283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14" name="Line 24"/>
            <p:cNvSpPr>
              <a:spLocks noChangeShapeType="1"/>
            </p:cNvSpPr>
            <p:nvPr/>
          </p:nvSpPr>
          <p:spPr bwMode="auto">
            <a:xfrm>
              <a:off x="4320" y="350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15" name="Line 25"/>
            <p:cNvSpPr>
              <a:spLocks noChangeShapeType="1"/>
            </p:cNvSpPr>
            <p:nvPr/>
          </p:nvSpPr>
          <p:spPr bwMode="auto">
            <a:xfrm>
              <a:off x="2976" y="283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16" name="Line 26"/>
            <p:cNvSpPr>
              <a:spLocks noChangeShapeType="1"/>
            </p:cNvSpPr>
            <p:nvPr/>
          </p:nvSpPr>
          <p:spPr bwMode="auto">
            <a:xfrm flipH="1" flipV="1">
              <a:off x="2496" y="3024"/>
              <a:ext cx="33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17" name="Line 27"/>
            <p:cNvSpPr>
              <a:spLocks noChangeShapeType="1"/>
            </p:cNvSpPr>
            <p:nvPr/>
          </p:nvSpPr>
          <p:spPr bwMode="auto">
            <a:xfrm flipV="1">
              <a:off x="2496" y="1392"/>
              <a:ext cx="384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18" name="Rectangle 28"/>
            <p:cNvSpPr>
              <a:spLocks noChangeArrowheads="1"/>
            </p:cNvSpPr>
            <p:nvPr/>
          </p:nvSpPr>
          <p:spPr bwMode="auto">
            <a:xfrm>
              <a:off x="1584" y="3408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519" name="Line 29"/>
            <p:cNvSpPr>
              <a:spLocks noChangeShapeType="1"/>
            </p:cNvSpPr>
            <p:nvPr/>
          </p:nvSpPr>
          <p:spPr bwMode="auto">
            <a:xfrm>
              <a:off x="1728" y="278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20" name="Oval 30"/>
            <p:cNvSpPr>
              <a:spLocks noChangeArrowheads="1"/>
            </p:cNvSpPr>
            <p:nvPr/>
          </p:nvSpPr>
          <p:spPr bwMode="auto">
            <a:xfrm>
              <a:off x="864" y="340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521" name="Line 31"/>
            <p:cNvSpPr>
              <a:spLocks noChangeShapeType="1"/>
            </p:cNvSpPr>
            <p:nvPr/>
          </p:nvSpPr>
          <p:spPr bwMode="auto">
            <a:xfrm flipH="1">
              <a:off x="1104" y="350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22" name="Line 32"/>
            <p:cNvSpPr>
              <a:spLocks noChangeShapeType="1"/>
            </p:cNvSpPr>
            <p:nvPr/>
          </p:nvSpPr>
          <p:spPr bwMode="auto">
            <a:xfrm flipV="1">
              <a:off x="1872" y="1344"/>
              <a:ext cx="96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23" name="Line 33"/>
            <p:cNvSpPr>
              <a:spLocks noChangeShapeType="1"/>
            </p:cNvSpPr>
            <p:nvPr/>
          </p:nvSpPr>
          <p:spPr bwMode="auto">
            <a:xfrm flipH="1" flipV="1">
              <a:off x="2928" y="1392"/>
              <a:ext cx="1104" cy="2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24" name="Text Box 34"/>
            <p:cNvSpPr txBox="1">
              <a:spLocks noChangeArrowheads="1"/>
            </p:cNvSpPr>
            <p:nvPr/>
          </p:nvSpPr>
          <p:spPr bwMode="auto">
            <a:xfrm>
              <a:off x="2294" y="984"/>
              <a:ext cx="54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Waiter</a:t>
              </a:r>
            </a:p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free</a:t>
              </a:r>
            </a:p>
          </p:txBody>
        </p:sp>
        <p:sp>
          <p:nvSpPr>
            <p:cNvPr id="19525" name="Text Box 35"/>
            <p:cNvSpPr txBox="1">
              <a:spLocks noChangeArrowheads="1"/>
            </p:cNvSpPr>
            <p:nvPr/>
          </p:nvSpPr>
          <p:spPr bwMode="auto">
            <a:xfrm>
              <a:off x="768" y="1104"/>
              <a:ext cx="8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Customer 1</a:t>
              </a:r>
            </a:p>
          </p:txBody>
        </p:sp>
        <p:sp>
          <p:nvSpPr>
            <p:cNvPr id="19526" name="Text Box 36"/>
            <p:cNvSpPr txBox="1">
              <a:spLocks noChangeArrowheads="1"/>
            </p:cNvSpPr>
            <p:nvPr/>
          </p:nvSpPr>
          <p:spPr bwMode="auto">
            <a:xfrm>
              <a:off x="4176" y="1152"/>
              <a:ext cx="8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Customer 2</a:t>
              </a:r>
            </a:p>
          </p:txBody>
        </p:sp>
        <p:sp>
          <p:nvSpPr>
            <p:cNvPr id="19527" name="Text Box 37"/>
            <p:cNvSpPr txBox="1">
              <a:spLocks noChangeArrowheads="1"/>
            </p:cNvSpPr>
            <p:nvPr/>
          </p:nvSpPr>
          <p:spPr bwMode="auto">
            <a:xfrm>
              <a:off x="1670" y="1752"/>
              <a:ext cx="4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Take</a:t>
              </a:r>
            </a:p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order</a:t>
              </a:r>
            </a:p>
          </p:txBody>
        </p:sp>
        <p:sp>
          <p:nvSpPr>
            <p:cNvPr id="19528" name="Text Box 38"/>
            <p:cNvSpPr txBox="1">
              <a:spLocks noChangeArrowheads="1"/>
            </p:cNvSpPr>
            <p:nvPr/>
          </p:nvSpPr>
          <p:spPr bwMode="auto">
            <a:xfrm>
              <a:off x="3734" y="1704"/>
              <a:ext cx="4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Take</a:t>
              </a:r>
            </a:p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order</a:t>
              </a:r>
            </a:p>
          </p:txBody>
        </p:sp>
        <p:sp>
          <p:nvSpPr>
            <p:cNvPr id="19529" name="Text Box 39"/>
            <p:cNvSpPr txBox="1">
              <a:spLocks noChangeArrowheads="1"/>
            </p:cNvSpPr>
            <p:nvPr/>
          </p:nvSpPr>
          <p:spPr bwMode="auto">
            <a:xfrm>
              <a:off x="3062" y="2568"/>
              <a:ext cx="50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Order</a:t>
              </a:r>
            </a:p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taken</a:t>
              </a:r>
            </a:p>
          </p:txBody>
        </p:sp>
        <p:sp>
          <p:nvSpPr>
            <p:cNvPr id="19530" name="Text Box 40"/>
            <p:cNvSpPr txBox="1">
              <a:spLocks noChangeArrowheads="1"/>
            </p:cNvSpPr>
            <p:nvPr/>
          </p:nvSpPr>
          <p:spPr bwMode="auto">
            <a:xfrm>
              <a:off x="3110" y="3336"/>
              <a:ext cx="57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Tell</a:t>
              </a:r>
            </a:p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kitchen</a:t>
              </a:r>
            </a:p>
          </p:txBody>
        </p:sp>
        <p:sp>
          <p:nvSpPr>
            <p:cNvPr id="19531" name="Text Box 41"/>
            <p:cNvSpPr txBox="1">
              <a:spLocks noChangeArrowheads="1"/>
            </p:cNvSpPr>
            <p:nvPr/>
          </p:nvSpPr>
          <p:spPr bwMode="auto">
            <a:xfrm>
              <a:off x="1238" y="2520"/>
              <a:ext cx="3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wait</a:t>
              </a:r>
            </a:p>
          </p:txBody>
        </p:sp>
        <p:sp>
          <p:nvSpPr>
            <p:cNvPr id="19532" name="Text Box 42"/>
            <p:cNvSpPr txBox="1">
              <a:spLocks noChangeArrowheads="1"/>
            </p:cNvSpPr>
            <p:nvPr/>
          </p:nvSpPr>
          <p:spPr bwMode="auto">
            <a:xfrm>
              <a:off x="4310" y="2568"/>
              <a:ext cx="3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wait</a:t>
              </a:r>
            </a:p>
          </p:txBody>
        </p:sp>
        <p:sp>
          <p:nvSpPr>
            <p:cNvPr id="19533" name="Line 43"/>
            <p:cNvSpPr>
              <a:spLocks noChangeShapeType="1"/>
            </p:cNvSpPr>
            <p:nvPr/>
          </p:nvSpPr>
          <p:spPr bwMode="auto">
            <a:xfrm>
              <a:off x="3024" y="1296"/>
              <a:ext cx="206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34" name="Line 44"/>
            <p:cNvSpPr>
              <a:spLocks noChangeShapeType="1"/>
            </p:cNvSpPr>
            <p:nvPr/>
          </p:nvSpPr>
          <p:spPr bwMode="auto">
            <a:xfrm flipH="1">
              <a:off x="816" y="1248"/>
              <a:ext cx="196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35" name="Line 45"/>
            <p:cNvSpPr>
              <a:spLocks noChangeShapeType="1"/>
            </p:cNvSpPr>
            <p:nvPr/>
          </p:nvSpPr>
          <p:spPr bwMode="auto">
            <a:xfrm>
              <a:off x="816" y="2160"/>
              <a:ext cx="816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36" name="Line 46"/>
            <p:cNvSpPr>
              <a:spLocks noChangeShapeType="1"/>
            </p:cNvSpPr>
            <p:nvPr/>
          </p:nvSpPr>
          <p:spPr bwMode="auto">
            <a:xfrm flipH="1">
              <a:off x="4272" y="2064"/>
              <a:ext cx="816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k-SK"/>
            </a:p>
          </p:txBody>
        </p:sp>
        <p:sp>
          <p:nvSpPr>
            <p:cNvPr id="19537" name="Text Box 47"/>
            <p:cNvSpPr txBox="1">
              <a:spLocks noChangeArrowheads="1"/>
            </p:cNvSpPr>
            <p:nvPr/>
          </p:nvSpPr>
          <p:spPr bwMode="auto">
            <a:xfrm>
              <a:off x="1392" y="3600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Serve food</a:t>
              </a:r>
            </a:p>
          </p:txBody>
        </p:sp>
        <p:sp>
          <p:nvSpPr>
            <p:cNvPr id="19538" name="Text Box 48"/>
            <p:cNvSpPr txBox="1">
              <a:spLocks noChangeArrowheads="1"/>
            </p:cNvSpPr>
            <p:nvPr/>
          </p:nvSpPr>
          <p:spPr bwMode="auto">
            <a:xfrm>
              <a:off x="3840" y="3552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Serve food</a:t>
              </a:r>
            </a:p>
          </p:txBody>
        </p:sp>
        <p:sp>
          <p:nvSpPr>
            <p:cNvPr id="19539" name="Text Box 49"/>
            <p:cNvSpPr txBox="1">
              <a:spLocks noChangeArrowheads="1"/>
            </p:cNvSpPr>
            <p:nvPr/>
          </p:nvSpPr>
          <p:spPr bwMode="auto">
            <a:xfrm>
              <a:off x="806" y="3192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eating</a:t>
              </a:r>
            </a:p>
          </p:txBody>
        </p:sp>
        <p:sp>
          <p:nvSpPr>
            <p:cNvPr id="19540" name="Text Box 50"/>
            <p:cNvSpPr txBox="1">
              <a:spLocks noChangeArrowheads="1"/>
            </p:cNvSpPr>
            <p:nvPr/>
          </p:nvSpPr>
          <p:spPr bwMode="auto">
            <a:xfrm>
              <a:off x="4982" y="3192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b="1">
                  <a:latin typeface="Times New Roman" panose="02020603050405020304" pitchFamily="18" charset="0"/>
                </a:rPr>
                <a:t>eating</a:t>
              </a:r>
            </a:p>
          </p:txBody>
        </p:sp>
      </p:grpSp>
      <p:sp>
        <p:nvSpPr>
          <p:cNvPr id="70707" name="Oval 51"/>
          <p:cNvSpPr>
            <a:spLocks noChangeArrowheads="1"/>
          </p:cNvSpPr>
          <p:nvPr/>
        </p:nvSpPr>
        <p:spPr bwMode="auto">
          <a:xfrm>
            <a:off x="2667000" y="1905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08" name="Oval 52"/>
          <p:cNvSpPr>
            <a:spLocks noChangeArrowheads="1"/>
          </p:cNvSpPr>
          <p:nvPr/>
        </p:nvSpPr>
        <p:spPr bwMode="auto">
          <a:xfrm>
            <a:off x="4495800" y="198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09" name="Oval 53"/>
          <p:cNvSpPr>
            <a:spLocks noChangeArrowheads="1"/>
          </p:cNvSpPr>
          <p:nvPr/>
        </p:nvSpPr>
        <p:spPr bwMode="auto">
          <a:xfrm>
            <a:off x="6324600" y="1905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grpSp>
        <p:nvGrpSpPr>
          <p:cNvPr id="70710" name="Group 54"/>
          <p:cNvGrpSpPr>
            <a:grpSpLocks/>
          </p:cNvGrpSpPr>
          <p:nvPr/>
        </p:nvGrpSpPr>
        <p:grpSpPr bwMode="auto">
          <a:xfrm>
            <a:off x="2667000" y="1905000"/>
            <a:ext cx="1981200" cy="228600"/>
            <a:chOff x="1680" y="1200"/>
            <a:chExt cx="1248" cy="144"/>
          </a:xfrm>
        </p:grpSpPr>
        <p:sp>
          <p:nvSpPr>
            <p:cNvPr id="19492" name="Oval 55"/>
            <p:cNvSpPr>
              <a:spLocks noChangeArrowheads="1"/>
            </p:cNvSpPr>
            <p:nvPr/>
          </p:nvSpPr>
          <p:spPr bwMode="auto">
            <a:xfrm>
              <a:off x="1680" y="12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493" name="Oval 56"/>
            <p:cNvSpPr>
              <a:spLocks noChangeArrowheads="1"/>
            </p:cNvSpPr>
            <p:nvPr/>
          </p:nvSpPr>
          <p:spPr bwMode="auto">
            <a:xfrm>
              <a:off x="2832" y="12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</p:grpSp>
      <p:sp>
        <p:nvSpPr>
          <p:cNvPr id="70713" name="Rectangle 57"/>
          <p:cNvSpPr>
            <a:spLocks noChangeArrowheads="1"/>
          </p:cNvSpPr>
          <p:nvPr/>
        </p:nvSpPr>
        <p:spPr bwMode="auto">
          <a:xfrm>
            <a:off x="3352800" y="3048000"/>
            <a:ext cx="4572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14" name="Oval 58"/>
          <p:cNvSpPr>
            <a:spLocks noChangeArrowheads="1"/>
          </p:cNvSpPr>
          <p:nvPr/>
        </p:nvSpPr>
        <p:spPr bwMode="auto">
          <a:xfrm>
            <a:off x="2667000" y="4114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15" name="Oval 59"/>
          <p:cNvSpPr>
            <a:spLocks noChangeArrowheads="1"/>
          </p:cNvSpPr>
          <p:nvPr/>
        </p:nvSpPr>
        <p:spPr bwMode="auto">
          <a:xfrm>
            <a:off x="4648200" y="4191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16" name="Oval 60"/>
          <p:cNvSpPr>
            <a:spLocks noChangeArrowheads="1"/>
          </p:cNvSpPr>
          <p:nvPr/>
        </p:nvSpPr>
        <p:spPr bwMode="auto">
          <a:xfrm>
            <a:off x="4648200" y="41910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17" name="Rectangle 61"/>
          <p:cNvSpPr>
            <a:spLocks noChangeArrowheads="1"/>
          </p:cNvSpPr>
          <p:nvPr/>
        </p:nvSpPr>
        <p:spPr bwMode="auto">
          <a:xfrm>
            <a:off x="4495800" y="5410200"/>
            <a:ext cx="4572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18" name="Oval 62"/>
          <p:cNvSpPr>
            <a:spLocks noChangeArrowheads="1"/>
          </p:cNvSpPr>
          <p:nvPr/>
        </p:nvSpPr>
        <p:spPr bwMode="auto">
          <a:xfrm>
            <a:off x="4495800" y="198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grpSp>
        <p:nvGrpSpPr>
          <p:cNvPr id="70719" name="Group 63"/>
          <p:cNvGrpSpPr>
            <a:grpSpLocks/>
          </p:cNvGrpSpPr>
          <p:nvPr/>
        </p:nvGrpSpPr>
        <p:grpSpPr bwMode="auto">
          <a:xfrm>
            <a:off x="4495800" y="1905000"/>
            <a:ext cx="1981200" cy="228600"/>
            <a:chOff x="2832" y="1200"/>
            <a:chExt cx="1248" cy="144"/>
          </a:xfrm>
        </p:grpSpPr>
        <p:sp>
          <p:nvSpPr>
            <p:cNvPr id="19490" name="Oval 64"/>
            <p:cNvSpPr>
              <a:spLocks noChangeArrowheads="1"/>
            </p:cNvSpPr>
            <p:nvPr/>
          </p:nvSpPr>
          <p:spPr bwMode="auto">
            <a:xfrm>
              <a:off x="2832" y="12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491" name="Oval 65"/>
            <p:cNvSpPr>
              <a:spLocks noChangeArrowheads="1"/>
            </p:cNvSpPr>
            <p:nvPr/>
          </p:nvSpPr>
          <p:spPr bwMode="auto">
            <a:xfrm>
              <a:off x="3984" y="12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</p:grpSp>
      <p:sp>
        <p:nvSpPr>
          <p:cNvPr id="70722" name="Rectangle 66"/>
          <p:cNvSpPr>
            <a:spLocks noChangeArrowheads="1"/>
          </p:cNvSpPr>
          <p:nvPr/>
        </p:nvSpPr>
        <p:spPr bwMode="auto">
          <a:xfrm>
            <a:off x="5334000" y="3048000"/>
            <a:ext cx="4572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23" name="Oval 67"/>
          <p:cNvSpPr>
            <a:spLocks noChangeArrowheads="1"/>
          </p:cNvSpPr>
          <p:nvPr/>
        </p:nvSpPr>
        <p:spPr bwMode="auto">
          <a:xfrm>
            <a:off x="4572000" y="4191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24" name="Oval 68"/>
          <p:cNvSpPr>
            <a:spLocks noChangeArrowheads="1"/>
          </p:cNvSpPr>
          <p:nvPr/>
        </p:nvSpPr>
        <p:spPr bwMode="auto">
          <a:xfrm>
            <a:off x="6553200" y="4267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25" name="Oval 69"/>
          <p:cNvSpPr>
            <a:spLocks noChangeArrowheads="1"/>
          </p:cNvSpPr>
          <p:nvPr/>
        </p:nvSpPr>
        <p:spPr bwMode="auto">
          <a:xfrm>
            <a:off x="4572000" y="41910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26" name="Rectangle 70"/>
          <p:cNvSpPr>
            <a:spLocks noChangeArrowheads="1"/>
          </p:cNvSpPr>
          <p:nvPr/>
        </p:nvSpPr>
        <p:spPr bwMode="auto">
          <a:xfrm>
            <a:off x="4495800" y="5410200"/>
            <a:ext cx="4572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27" name="Oval 71"/>
          <p:cNvSpPr>
            <a:spLocks noChangeArrowheads="1"/>
          </p:cNvSpPr>
          <p:nvPr/>
        </p:nvSpPr>
        <p:spPr bwMode="auto">
          <a:xfrm>
            <a:off x="4495800" y="198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grpSp>
        <p:nvGrpSpPr>
          <p:cNvPr id="70728" name="Group 72"/>
          <p:cNvGrpSpPr>
            <a:grpSpLocks/>
          </p:cNvGrpSpPr>
          <p:nvPr/>
        </p:nvGrpSpPr>
        <p:grpSpPr bwMode="auto">
          <a:xfrm>
            <a:off x="4495800" y="1981200"/>
            <a:ext cx="2209800" cy="2438400"/>
            <a:chOff x="2832" y="1248"/>
            <a:chExt cx="1392" cy="1536"/>
          </a:xfrm>
        </p:grpSpPr>
        <p:sp>
          <p:nvSpPr>
            <p:cNvPr id="19488" name="Oval 73"/>
            <p:cNvSpPr>
              <a:spLocks noChangeArrowheads="1"/>
            </p:cNvSpPr>
            <p:nvPr/>
          </p:nvSpPr>
          <p:spPr bwMode="auto">
            <a:xfrm>
              <a:off x="2832" y="12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489" name="Oval 74"/>
            <p:cNvSpPr>
              <a:spLocks noChangeArrowheads="1"/>
            </p:cNvSpPr>
            <p:nvPr/>
          </p:nvSpPr>
          <p:spPr bwMode="auto">
            <a:xfrm>
              <a:off x="4128" y="268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</p:grpSp>
      <p:sp>
        <p:nvSpPr>
          <p:cNvPr id="70731" name="Rectangle 75"/>
          <p:cNvSpPr>
            <a:spLocks noChangeArrowheads="1"/>
          </p:cNvSpPr>
          <p:nvPr/>
        </p:nvSpPr>
        <p:spPr bwMode="auto">
          <a:xfrm>
            <a:off x="6400800" y="5410200"/>
            <a:ext cx="4572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32" name="Oval 76"/>
          <p:cNvSpPr>
            <a:spLocks noChangeArrowheads="1"/>
          </p:cNvSpPr>
          <p:nvPr/>
        </p:nvSpPr>
        <p:spPr bwMode="auto">
          <a:xfrm>
            <a:off x="8001000" y="5562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33" name="Oval 77"/>
          <p:cNvSpPr>
            <a:spLocks noChangeArrowheads="1"/>
          </p:cNvSpPr>
          <p:nvPr/>
        </p:nvSpPr>
        <p:spPr bwMode="auto">
          <a:xfrm>
            <a:off x="4495800" y="1905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grpSp>
        <p:nvGrpSpPr>
          <p:cNvPr id="70734" name="Group 78"/>
          <p:cNvGrpSpPr>
            <a:grpSpLocks/>
          </p:cNvGrpSpPr>
          <p:nvPr/>
        </p:nvGrpSpPr>
        <p:grpSpPr bwMode="auto">
          <a:xfrm>
            <a:off x="2667000" y="1905000"/>
            <a:ext cx="1981200" cy="2362200"/>
            <a:chOff x="1680" y="1200"/>
            <a:chExt cx="1248" cy="1488"/>
          </a:xfrm>
        </p:grpSpPr>
        <p:sp>
          <p:nvSpPr>
            <p:cNvPr id="19486" name="Oval 79"/>
            <p:cNvSpPr>
              <a:spLocks noChangeArrowheads="1"/>
            </p:cNvSpPr>
            <p:nvPr/>
          </p:nvSpPr>
          <p:spPr bwMode="auto">
            <a:xfrm>
              <a:off x="1680" y="259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  <p:sp>
          <p:nvSpPr>
            <p:cNvPr id="19487" name="Oval 80"/>
            <p:cNvSpPr>
              <a:spLocks noChangeArrowheads="1"/>
            </p:cNvSpPr>
            <p:nvPr/>
          </p:nvSpPr>
          <p:spPr bwMode="auto">
            <a:xfrm>
              <a:off x="2832" y="12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</p:grpSp>
      <p:sp>
        <p:nvSpPr>
          <p:cNvPr id="70737" name="Rectangle 81"/>
          <p:cNvSpPr>
            <a:spLocks noChangeArrowheads="1"/>
          </p:cNvSpPr>
          <p:nvPr/>
        </p:nvSpPr>
        <p:spPr bwMode="auto">
          <a:xfrm>
            <a:off x="2514600" y="5410200"/>
            <a:ext cx="4572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38" name="Oval 82"/>
          <p:cNvSpPr>
            <a:spLocks noChangeArrowheads="1"/>
          </p:cNvSpPr>
          <p:nvPr/>
        </p:nvSpPr>
        <p:spPr bwMode="auto">
          <a:xfrm>
            <a:off x="1524000" y="5486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0739" name="Oval 83"/>
          <p:cNvSpPr>
            <a:spLocks noChangeArrowheads="1"/>
          </p:cNvSpPr>
          <p:nvPr/>
        </p:nvSpPr>
        <p:spPr bwMode="auto">
          <a:xfrm>
            <a:off x="4572000" y="1905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autoUpdateAnimBg="0"/>
      <p:bldP spid="70707" grpId="0" animBg="1"/>
      <p:bldP spid="70708" grpId="0" animBg="1"/>
      <p:bldP spid="70709" grpId="0" animBg="1"/>
      <p:bldP spid="70713" grpId="0" animBg="1"/>
      <p:bldP spid="70714" grpId="0" animBg="1"/>
      <p:bldP spid="70715" grpId="0" animBg="1"/>
      <p:bldP spid="70716" grpId="0" animBg="1"/>
      <p:bldP spid="70717" grpId="0" animBg="1"/>
      <p:bldP spid="70718" grpId="0" animBg="1"/>
      <p:bldP spid="70722" grpId="0" animBg="1"/>
      <p:bldP spid="70723" grpId="0" animBg="1"/>
      <p:bldP spid="70724" grpId="0" animBg="1"/>
      <p:bldP spid="70725" grpId="0" animBg="1"/>
      <p:bldP spid="70726" grpId="0" animBg="1"/>
      <p:bldP spid="70727" grpId="0" animBg="1"/>
      <p:bldP spid="70731" grpId="0" animBg="1"/>
      <p:bldP spid="70732" grpId="0" animBg="1"/>
      <p:bldP spid="70733" grpId="0" animBg="1"/>
      <p:bldP spid="70737" grpId="0" animBg="1"/>
      <p:bldP spid="70738" grpId="0" animBg="1"/>
      <p:bldP spid="707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Zástupný symbol čísla snímky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9909C5-CE13-48A1-9E4E-6D9E86CA6835}" type="slidenum">
              <a:rPr lang="ko-KR" altLang="en-US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9763"/>
            <a:ext cx="8229600" cy="1189037"/>
          </a:xfrm>
        </p:spPr>
        <p:txBody>
          <a:bodyPr/>
          <a:lstStyle/>
          <a:p>
            <a:pPr eaLnBrk="1" hangingPunct="1"/>
            <a:r>
              <a:rPr lang="en-US" altLang="ko-KR" sz="2800" smtClean="0">
                <a:latin typeface="Century Gothic" panose="020B0502020202020204" pitchFamily="34" charset="0"/>
              </a:rPr>
              <a:t>Example: Vending Machine (A Petri net)</a:t>
            </a:r>
          </a:p>
        </p:txBody>
      </p:sp>
      <p:grpSp>
        <p:nvGrpSpPr>
          <p:cNvPr id="20484" name="Group 3"/>
          <p:cNvGrpSpPr>
            <a:grpSpLocks/>
          </p:cNvGrpSpPr>
          <p:nvPr/>
        </p:nvGrpSpPr>
        <p:grpSpPr bwMode="auto">
          <a:xfrm>
            <a:off x="1066800" y="1752600"/>
            <a:ext cx="7083425" cy="4419600"/>
            <a:chOff x="672" y="1104"/>
            <a:chExt cx="4462" cy="2784"/>
          </a:xfrm>
        </p:grpSpPr>
        <p:grpSp>
          <p:nvGrpSpPr>
            <p:cNvPr id="20485" name="Group 4"/>
            <p:cNvGrpSpPr>
              <a:grpSpLocks/>
            </p:cNvGrpSpPr>
            <p:nvPr/>
          </p:nvGrpSpPr>
          <p:grpSpPr bwMode="auto">
            <a:xfrm>
              <a:off x="672" y="1104"/>
              <a:ext cx="4462" cy="2784"/>
              <a:chOff x="662" y="1104"/>
              <a:chExt cx="4462" cy="2784"/>
            </a:xfrm>
          </p:grpSpPr>
          <p:sp>
            <p:nvSpPr>
              <p:cNvPr id="20487" name="Line 5"/>
              <p:cNvSpPr>
                <a:spLocks noChangeShapeType="1"/>
              </p:cNvSpPr>
              <p:nvPr/>
            </p:nvSpPr>
            <p:spPr bwMode="auto">
              <a:xfrm flipH="1">
                <a:off x="1056" y="1200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0488" name="Text Box 6"/>
              <p:cNvSpPr txBox="1">
                <a:spLocks noChangeArrowheads="1"/>
              </p:cNvSpPr>
              <p:nvPr/>
            </p:nvSpPr>
            <p:spPr bwMode="auto">
              <a:xfrm>
                <a:off x="2064" y="1584"/>
                <a:ext cx="26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 sz="2000">
                    <a:latin typeface="Times New Roman" panose="02020603050405020304" pitchFamily="18" charset="0"/>
                  </a:rPr>
                  <a:t>5c</a:t>
                </a:r>
                <a:endParaRPr kumimoji="0" lang="en-US" altLang="ko-KR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489" name="Group 7"/>
              <p:cNvGrpSpPr>
                <a:grpSpLocks/>
              </p:cNvGrpSpPr>
              <p:nvPr/>
            </p:nvGrpSpPr>
            <p:grpSpPr bwMode="auto">
              <a:xfrm>
                <a:off x="662" y="1104"/>
                <a:ext cx="4462" cy="2784"/>
                <a:chOff x="662" y="1104"/>
                <a:chExt cx="4462" cy="2784"/>
              </a:xfrm>
            </p:grpSpPr>
            <p:sp>
              <p:nvSpPr>
                <p:cNvPr id="20490" name="Oval 8"/>
                <p:cNvSpPr>
                  <a:spLocks noChangeArrowheads="1"/>
                </p:cNvSpPr>
                <p:nvPr/>
              </p:nvSpPr>
              <p:spPr bwMode="auto">
                <a:xfrm>
                  <a:off x="912" y="2448"/>
                  <a:ext cx="240" cy="24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491" name="Rectangle 9"/>
                <p:cNvSpPr>
                  <a:spLocks noChangeArrowheads="1"/>
                </p:cNvSpPr>
                <p:nvPr/>
              </p:nvSpPr>
              <p:spPr bwMode="auto">
                <a:xfrm>
                  <a:off x="1536" y="2832"/>
                  <a:ext cx="14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492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1152" y="2112"/>
                  <a:ext cx="384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493" name="Line 11"/>
                <p:cNvSpPr>
                  <a:spLocks noChangeShapeType="1"/>
                </p:cNvSpPr>
                <p:nvPr/>
              </p:nvSpPr>
              <p:spPr bwMode="auto">
                <a:xfrm>
                  <a:off x="1152" y="2640"/>
                  <a:ext cx="384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494" name="Oval 12"/>
                <p:cNvSpPr>
                  <a:spLocks noChangeArrowheads="1"/>
                </p:cNvSpPr>
                <p:nvPr/>
              </p:nvSpPr>
              <p:spPr bwMode="auto">
                <a:xfrm>
                  <a:off x="2256" y="1728"/>
                  <a:ext cx="240" cy="24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495" name="Oval 13"/>
                <p:cNvSpPr>
                  <a:spLocks noChangeArrowheads="1"/>
                </p:cNvSpPr>
                <p:nvPr/>
              </p:nvSpPr>
              <p:spPr bwMode="auto">
                <a:xfrm>
                  <a:off x="2256" y="3024"/>
                  <a:ext cx="240" cy="24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496" name="Rectangle 14"/>
                <p:cNvSpPr>
                  <a:spLocks noChangeArrowheads="1"/>
                </p:cNvSpPr>
                <p:nvPr/>
              </p:nvSpPr>
              <p:spPr bwMode="auto">
                <a:xfrm>
                  <a:off x="1536" y="2016"/>
                  <a:ext cx="14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497" name="Rectangle 15"/>
                <p:cNvSpPr>
                  <a:spLocks noChangeArrowheads="1"/>
                </p:cNvSpPr>
                <p:nvPr/>
              </p:nvSpPr>
              <p:spPr bwMode="auto">
                <a:xfrm>
                  <a:off x="3264" y="1536"/>
                  <a:ext cx="14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498" name="Rectangle 16"/>
                <p:cNvSpPr>
                  <a:spLocks noChangeArrowheads="1"/>
                </p:cNvSpPr>
                <p:nvPr/>
              </p:nvSpPr>
              <p:spPr bwMode="auto">
                <a:xfrm>
                  <a:off x="3264" y="3168"/>
                  <a:ext cx="14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499" name="Rectangle 17"/>
                <p:cNvSpPr>
                  <a:spLocks noChangeArrowheads="1"/>
                </p:cNvSpPr>
                <p:nvPr/>
              </p:nvSpPr>
              <p:spPr bwMode="auto">
                <a:xfrm>
                  <a:off x="3264" y="2352"/>
                  <a:ext cx="14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500" name="Oval 18"/>
                <p:cNvSpPr>
                  <a:spLocks noChangeArrowheads="1"/>
                </p:cNvSpPr>
                <p:nvPr/>
              </p:nvSpPr>
              <p:spPr bwMode="auto">
                <a:xfrm>
                  <a:off x="4320" y="3168"/>
                  <a:ext cx="240" cy="24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501" name="Oval 19"/>
                <p:cNvSpPr>
                  <a:spLocks noChangeArrowheads="1"/>
                </p:cNvSpPr>
                <p:nvPr/>
              </p:nvSpPr>
              <p:spPr bwMode="auto">
                <a:xfrm>
                  <a:off x="4272" y="1488"/>
                  <a:ext cx="240" cy="24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502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1680" y="1872"/>
                  <a:ext cx="576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03" name="Line 21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576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04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2496" y="1632"/>
                  <a:ext cx="768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05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3408" y="1584"/>
                  <a:ext cx="864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06" name="Rectangle 24"/>
                <p:cNvSpPr>
                  <a:spLocks noChangeArrowheads="1"/>
                </p:cNvSpPr>
                <p:nvPr/>
              </p:nvSpPr>
              <p:spPr bwMode="auto">
                <a:xfrm>
                  <a:off x="2352" y="2352"/>
                  <a:ext cx="14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507" name="Line 25"/>
                <p:cNvSpPr>
                  <a:spLocks noChangeShapeType="1"/>
                </p:cNvSpPr>
                <p:nvPr/>
              </p:nvSpPr>
              <p:spPr bwMode="auto">
                <a:xfrm>
                  <a:off x="2400" y="196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08" name="Line 26"/>
                <p:cNvSpPr>
                  <a:spLocks noChangeShapeType="1"/>
                </p:cNvSpPr>
                <p:nvPr/>
              </p:nvSpPr>
              <p:spPr bwMode="auto">
                <a:xfrm>
                  <a:off x="2400" y="2544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09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2496" y="2448"/>
                  <a:ext cx="76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10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3408" y="1728"/>
                  <a:ext cx="912" cy="7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11" name="Line 29"/>
                <p:cNvSpPr>
                  <a:spLocks noChangeShapeType="1"/>
                </p:cNvSpPr>
                <p:nvPr/>
              </p:nvSpPr>
              <p:spPr bwMode="auto">
                <a:xfrm>
                  <a:off x="2496" y="3168"/>
                  <a:ext cx="768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12" name="Line 30"/>
                <p:cNvSpPr>
                  <a:spLocks noChangeShapeType="1"/>
                </p:cNvSpPr>
                <p:nvPr/>
              </p:nvSpPr>
              <p:spPr bwMode="auto">
                <a:xfrm>
                  <a:off x="3408" y="3264"/>
                  <a:ext cx="9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13" name="Rectangle 31"/>
                <p:cNvSpPr>
                  <a:spLocks noChangeArrowheads="1"/>
                </p:cNvSpPr>
                <p:nvPr/>
              </p:nvSpPr>
              <p:spPr bwMode="auto">
                <a:xfrm>
                  <a:off x="4416" y="2352"/>
                  <a:ext cx="14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514" name="Line 32"/>
                <p:cNvSpPr>
                  <a:spLocks noChangeShapeType="1"/>
                </p:cNvSpPr>
                <p:nvPr/>
              </p:nvSpPr>
              <p:spPr bwMode="auto">
                <a:xfrm>
                  <a:off x="4416" y="1728"/>
                  <a:ext cx="96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15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4464" y="2544"/>
                  <a:ext cx="4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16" name="Rectangle 34"/>
                <p:cNvSpPr>
                  <a:spLocks noChangeArrowheads="1"/>
                </p:cNvSpPr>
                <p:nvPr/>
              </p:nvSpPr>
              <p:spPr bwMode="auto">
                <a:xfrm>
                  <a:off x="2208" y="3696"/>
                  <a:ext cx="14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517" name="Rectangle 35"/>
                <p:cNvSpPr>
                  <a:spLocks noChangeArrowheads="1"/>
                </p:cNvSpPr>
                <p:nvPr/>
              </p:nvSpPr>
              <p:spPr bwMode="auto">
                <a:xfrm>
                  <a:off x="2160" y="1104"/>
                  <a:ext cx="14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eaLnBrk="1" hangingPunct="1"/>
                  <a:endParaRPr lang="sk-SK"/>
                </a:p>
              </p:txBody>
            </p:sp>
            <p:sp>
              <p:nvSpPr>
                <p:cNvPr id="20518" name="Line 36"/>
                <p:cNvSpPr>
                  <a:spLocks noChangeShapeType="1"/>
                </p:cNvSpPr>
                <p:nvPr/>
              </p:nvSpPr>
              <p:spPr bwMode="auto">
                <a:xfrm>
                  <a:off x="4464" y="340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19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2352" y="3792"/>
                  <a:ext cx="21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20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1056" y="3792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21" name="Line 39"/>
                <p:cNvSpPr>
                  <a:spLocks noChangeShapeType="1"/>
                </p:cNvSpPr>
                <p:nvPr/>
              </p:nvSpPr>
              <p:spPr bwMode="auto">
                <a:xfrm flipV="1">
                  <a:off x="1056" y="2688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22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4416" y="1200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23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2304" y="1200"/>
                  <a:ext cx="21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24" name="Line 42"/>
                <p:cNvSpPr>
                  <a:spLocks noChangeShapeType="1"/>
                </p:cNvSpPr>
                <p:nvPr/>
              </p:nvSpPr>
              <p:spPr bwMode="auto">
                <a:xfrm>
                  <a:off x="1056" y="1200"/>
                  <a:ext cx="0" cy="12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k-SK"/>
                </a:p>
              </p:txBody>
            </p:sp>
            <p:sp>
              <p:nvSpPr>
                <p:cNvPr id="20525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1680" y="1248"/>
                  <a:ext cx="111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latinLnBrk="0"/>
                  <a:r>
                    <a:rPr kumimoji="0" lang="en-US" altLang="ko-KR">
                      <a:latin typeface="Times New Roman" panose="02020603050405020304" pitchFamily="18" charset="0"/>
                    </a:rPr>
                    <a:t>Take 15c bar</a:t>
                  </a:r>
                </a:p>
              </p:txBody>
            </p:sp>
            <p:sp>
              <p:nvSpPr>
                <p:cNvPr id="20526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200" y="1776"/>
                  <a:ext cx="73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latinLnBrk="0"/>
                  <a:r>
                    <a:rPr kumimoji="0" lang="en-US" altLang="ko-KR">
                      <a:latin typeface="Times New Roman" panose="02020603050405020304" pitchFamily="18" charset="0"/>
                    </a:rPr>
                    <a:t>Deposit 5c</a:t>
                  </a:r>
                  <a:endParaRPr kumimoji="0" lang="en-US" altLang="ko-K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2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662" y="2409"/>
                  <a:ext cx="267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latinLnBrk="0"/>
                  <a:r>
                    <a:rPr kumimoji="0" lang="en-US" altLang="ko-KR" sz="2000">
                      <a:latin typeface="Times New Roman" panose="02020603050405020304" pitchFamily="18" charset="0"/>
                    </a:rPr>
                    <a:t>0c</a:t>
                  </a:r>
                  <a:endParaRPr kumimoji="0" lang="en-US" altLang="ko-K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28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152" y="3024"/>
                  <a:ext cx="80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latinLnBrk="0"/>
                  <a:r>
                    <a:rPr kumimoji="0" lang="en-US" altLang="ko-KR">
                      <a:latin typeface="Times New Roman" panose="02020603050405020304" pitchFamily="18" charset="0"/>
                    </a:rPr>
                    <a:t>Deposit 10c</a:t>
                  </a:r>
                  <a:endParaRPr kumimoji="0" lang="en-US" altLang="ko-K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29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1824" y="2256"/>
                  <a:ext cx="624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latinLnBrk="0"/>
                  <a:r>
                    <a:rPr kumimoji="0" lang="en-US" altLang="ko-KR">
                      <a:latin typeface="Times New Roman" panose="02020603050405020304" pitchFamily="18" charset="0"/>
                    </a:rPr>
                    <a:t>Deposit</a:t>
                  </a:r>
                  <a:br>
                    <a:rPr kumimoji="0" lang="en-US" altLang="ko-KR">
                      <a:latin typeface="Times New Roman" panose="02020603050405020304" pitchFamily="18" charset="0"/>
                    </a:rPr>
                  </a:br>
                  <a:r>
                    <a:rPr kumimoji="0" lang="en-US" altLang="ko-KR">
                      <a:latin typeface="Times New Roman" panose="02020603050405020304" pitchFamily="18" charset="0"/>
                    </a:rPr>
                    <a:t>        5c</a:t>
                  </a:r>
                  <a:endParaRPr kumimoji="0" lang="en-US" altLang="ko-K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30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2102" y="3177"/>
                  <a:ext cx="347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latinLnBrk="0"/>
                  <a:r>
                    <a:rPr kumimoji="0" lang="en-US" altLang="ko-KR" sz="2000">
                      <a:latin typeface="Times New Roman" panose="02020603050405020304" pitchFamily="18" charset="0"/>
                    </a:rPr>
                    <a:t>10c</a:t>
                  </a:r>
                </a:p>
              </p:txBody>
            </p:sp>
            <p:sp>
              <p:nvSpPr>
                <p:cNvPr id="20531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928" y="1344"/>
                  <a:ext cx="80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latinLnBrk="0"/>
                  <a:r>
                    <a:rPr kumimoji="0" lang="en-US" altLang="ko-KR">
                      <a:latin typeface="Times New Roman" panose="02020603050405020304" pitchFamily="18" charset="0"/>
                    </a:rPr>
                    <a:t>Deposit 10c</a:t>
                  </a:r>
                  <a:endParaRPr kumimoji="0" lang="en-US" altLang="ko-K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32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398" y="2376"/>
                  <a:ext cx="564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latinLnBrk="0"/>
                  <a:r>
                    <a:rPr kumimoji="0" lang="en-US" altLang="ko-KR">
                      <a:latin typeface="Times New Roman" panose="02020603050405020304" pitchFamily="18" charset="0"/>
                    </a:rPr>
                    <a:t>Deposit</a:t>
                  </a:r>
                </a:p>
                <a:p>
                  <a:pPr latinLnBrk="0"/>
                  <a:r>
                    <a:rPr kumimoji="0" lang="en-US" altLang="ko-KR">
                      <a:latin typeface="Times New Roman" panose="02020603050405020304" pitchFamily="18" charset="0"/>
                    </a:rPr>
                    <a:t>5c</a:t>
                  </a:r>
                  <a:endParaRPr kumimoji="0" lang="en-US" altLang="ko-K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33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3024" y="3312"/>
                  <a:ext cx="80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latinLnBrk="0"/>
                  <a:r>
                    <a:rPr kumimoji="0" lang="en-US" altLang="ko-KR">
                      <a:latin typeface="Times New Roman" panose="02020603050405020304" pitchFamily="18" charset="0"/>
                    </a:rPr>
                    <a:t>Deposit 10c</a:t>
                  </a:r>
                  <a:endParaRPr kumimoji="0" lang="en-US" altLang="ko-K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34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4550" y="3129"/>
                  <a:ext cx="347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latinLnBrk="0"/>
                  <a:r>
                    <a:rPr kumimoji="0" lang="en-US" altLang="ko-KR" sz="2000">
                      <a:latin typeface="Times New Roman" panose="02020603050405020304" pitchFamily="18" charset="0"/>
                    </a:rPr>
                    <a:t>20c</a:t>
                  </a:r>
                </a:p>
              </p:txBody>
            </p:sp>
            <p:sp>
              <p:nvSpPr>
                <p:cNvPr id="20535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4560" y="2256"/>
                  <a:ext cx="564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latinLnBrk="0"/>
                  <a:r>
                    <a:rPr kumimoji="0" lang="en-US" altLang="ko-KR">
                      <a:latin typeface="Times New Roman" panose="02020603050405020304" pitchFamily="18" charset="0"/>
                    </a:rPr>
                    <a:t>Deposit</a:t>
                  </a:r>
                </a:p>
                <a:p>
                  <a:pPr latinLnBrk="0"/>
                  <a:r>
                    <a:rPr kumimoji="0" lang="en-US" altLang="ko-KR">
                      <a:latin typeface="Times New Roman" panose="02020603050405020304" pitchFamily="18" charset="0"/>
                    </a:rPr>
                    <a:t>5c</a:t>
                  </a:r>
                </a:p>
              </p:txBody>
            </p:sp>
            <p:sp>
              <p:nvSpPr>
                <p:cNvPr id="20536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4502" y="1449"/>
                  <a:ext cx="347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latinLnBrk="0"/>
                  <a:r>
                    <a:rPr kumimoji="0" lang="en-US" altLang="ko-KR" sz="2000">
                      <a:latin typeface="Times New Roman" panose="02020603050405020304" pitchFamily="18" charset="0"/>
                    </a:rPr>
                    <a:t>15c</a:t>
                  </a:r>
                </a:p>
              </p:txBody>
            </p:sp>
            <p:sp>
              <p:nvSpPr>
                <p:cNvPr id="20537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1584" y="3504"/>
                  <a:ext cx="86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1pPr>
                  <a:lvl2pPr marL="742950" indent="-28575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2pPr>
                  <a:lvl3pPr marL="11430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3pPr>
                  <a:lvl4pPr marL="16002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4pPr>
                  <a:lvl5pPr marL="2057400" indent="-228600" latinLnBrk="1"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굴림" panose="020B0600000101010101" pitchFamily="34" charset="-127"/>
                    </a:defRPr>
                  </a:lvl9pPr>
                </a:lstStyle>
                <a:p>
                  <a:pPr latinLnBrk="0"/>
                  <a:r>
                    <a:rPr kumimoji="0" lang="en-US" altLang="ko-KR">
                      <a:latin typeface="Times New Roman" panose="02020603050405020304" pitchFamily="18" charset="0"/>
                    </a:rPr>
                    <a:t>Take 20c bar</a:t>
                  </a:r>
                  <a:endParaRPr kumimoji="0" lang="en-US" altLang="ko-KR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0486" name="Oval 56"/>
            <p:cNvSpPr>
              <a:spLocks noChangeArrowheads="1"/>
            </p:cNvSpPr>
            <p:nvPr/>
          </p:nvSpPr>
          <p:spPr bwMode="auto">
            <a:xfrm>
              <a:off x="960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sk-SK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čísla snímky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38CAADD-83FB-452E-AA19-6BEAEA079E17}" type="slidenum">
              <a:rPr lang="ko-KR" altLang="en-US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800" smtClean="0">
                <a:latin typeface="Century Gothic" panose="020B0502020202020204" pitchFamily="34" charset="0"/>
              </a:rPr>
              <a:t>Example: Vending Machine (3 Scenarios)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mtClean="0">
                <a:latin typeface="Century Gothic" panose="020B0502020202020204" pitchFamily="34" charset="0"/>
              </a:rPr>
              <a:t>Scenario 1: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smtClean="0">
                <a:latin typeface="Century Gothic" panose="020B0502020202020204" pitchFamily="34" charset="0"/>
              </a:rPr>
              <a:t>Deposit 5c, deposit 5c, deposit 5c, deposit 5c, take 20c snack bar.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mtClean="0">
                <a:latin typeface="Century Gothic" panose="020B0502020202020204" pitchFamily="34" charset="0"/>
              </a:rPr>
              <a:t>Scenario 2: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smtClean="0">
                <a:latin typeface="Century Gothic" panose="020B0502020202020204" pitchFamily="34" charset="0"/>
              </a:rPr>
              <a:t>Deposit 10c, deposit 5c, take 15c snack bar.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mtClean="0">
                <a:latin typeface="Century Gothic" panose="020B0502020202020204" pitchFamily="34" charset="0"/>
              </a:rPr>
              <a:t>Scenario 3: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smtClean="0">
                <a:latin typeface="Century Gothic" panose="020B0502020202020204" pitchFamily="34" charset="0"/>
              </a:rPr>
              <a:t>Deposit 5c, deposit 10c, deposit 5c, take 20c snack bar.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ástupný symbol čísla snímky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2ECF9C-F93C-4543-8955-97D78F2C7652}" type="slidenum">
              <a:rPr lang="ko-KR" altLang="en-US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9763"/>
            <a:ext cx="8229600" cy="1189037"/>
          </a:xfrm>
        </p:spPr>
        <p:txBody>
          <a:bodyPr/>
          <a:lstStyle/>
          <a:p>
            <a:pPr eaLnBrk="1" hangingPunct="1"/>
            <a:r>
              <a:rPr lang="en-US" altLang="ko-KR" sz="2800" smtClean="0">
                <a:latin typeface="Century Gothic" panose="020B0502020202020204" pitchFamily="34" charset="0"/>
              </a:rPr>
              <a:t>Example: Vending Machine (Token Games)</a:t>
            </a:r>
          </a:p>
        </p:txBody>
      </p:sp>
      <p:grpSp>
        <p:nvGrpSpPr>
          <p:cNvPr id="79875" name="Group 3"/>
          <p:cNvGrpSpPr>
            <a:grpSpLocks/>
          </p:cNvGrpSpPr>
          <p:nvPr/>
        </p:nvGrpSpPr>
        <p:grpSpPr bwMode="auto">
          <a:xfrm>
            <a:off x="1066800" y="1752600"/>
            <a:ext cx="7083425" cy="4419600"/>
            <a:chOff x="662" y="1104"/>
            <a:chExt cx="4462" cy="2784"/>
          </a:xfrm>
        </p:grpSpPr>
        <p:sp>
          <p:nvSpPr>
            <p:cNvPr id="23582" name="Line 4"/>
            <p:cNvSpPr>
              <a:spLocks noChangeShapeType="1"/>
            </p:cNvSpPr>
            <p:nvPr/>
          </p:nvSpPr>
          <p:spPr bwMode="auto">
            <a:xfrm flipH="1">
              <a:off x="1056" y="120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23583" name="Text Box 5"/>
            <p:cNvSpPr txBox="1">
              <a:spLocks noChangeArrowheads="1"/>
            </p:cNvSpPr>
            <p:nvPr/>
          </p:nvSpPr>
          <p:spPr bwMode="auto">
            <a:xfrm>
              <a:off x="2064" y="1584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entury Gothic" panose="020B0502020202020204" pitchFamily="34" charset="0"/>
                  <a:ea typeface="굴림" panose="020B0600000101010101" pitchFamily="34" charset="-127"/>
                </a:defRPr>
              </a:lvl9pPr>
            </a:lstStyle>
            <a:p>
              <a:pPr latinLnBrk="0"/>
              <a:r>
                <a:rPr kumimoji="0" lang="en-US" altLang="ko-KR" sz="2000">
                  <a:latin typeface="Times New Roman" panose="02020603050405020304" pitchFamily="18" charset="0"/>
                </a:rPr>
                <a:t>5c</a:t>
              </a:r>
              <a:endParaRPr kumimoji="0" lang="en-US" altLang="ko-KR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3584" name="Group 6"/>
            <p:cNvGrpSpPr>
              <a:grpSpLocks/>
            </p:cNvGrpSpPr>
            <p:nvPr/>
          </p:nvGrpSpPr>
          <p:grpSpPr bwMode="auto">
            <a:xfrm>
              <a:off x="662" y="1104"/>
              <a:ext cx="4462" cy="2784"/>
              <a:chOff x="662" y="1104"/>
              <a:chExt cx="4462" cy="2784"/>
            </a:xfrm>
          </p:grpSpPr>
          <p:sp>
            <p:nvSpPr>
              <p:cNvPr id="23585" name="Oval 7"/>
              <p:cNvSpPr>
                <a:spLocks noChangeArrowheads="1"/>
              </p:cNvSpPr>
              <p:nvPr/>
            </p:nvSpPr>
            <p:spPr bwMode="auto">
              <a:xfrm>
                <a:off x="912" y="2448"/>
                <a:ext cx="240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586" name="Rectangle 8"/>
              <p:cNvSpPr>
                <a:spLocks noChangeArrowheads="1"/>
              </p:cNvSpPr>
              <p:nvPr/>
            </p:nvSpPr>
            <p:spPr bwMode="auto">
              <a:xfrm>
                <a:off x="1536" y="2832"/>
                <a:ext cx="14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587" name="Line 9"/>
              <p:cNvSpPr>
                <a:spLocks noChangeShapeType="1"/>
              </p:cNvSpPr>
              <p:nvPr/>
            </p:nvSpPr>
            <p:spPr bwMode="auto">
              <a:xfrm flipV="1">
                <a:off x="1152" y="2112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588" name="Line 10"/>
              <p:cNvSpPr>
                <a:spLocks noChangeShapeType="1"/>
              </p:cNvSpPr>
              <p:nvPr/>
            </p:nvSpPr>
            <p:spPr bwMode="auto">
              <a:xfrm>
                <a:off x="1152" y="2640"/>
                <a:ext cx="384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589" name="Oval 11"/>
              <p:cNvSpPr>
                <a:spLocks noChangeArrowheads="1"/>
              </p:cNvSpPr>
              <p:nvPr/>
            </p:nvSpPr>
            <p:spPr bwMode="auto">
              <a:xfrm>
                <a:off x="2256" y="1728"/>
                <a:ext cx="240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590" name="Oval 12"/>
              <p:cNvSpPr>
                <a:spLocks noChangeArrowheads="1"/>
              </p:cNvSpPr>
              <p:nvPr/>
            </p:nvSpPr>
            <p:spPr bwMode="auto">
              <a:xfrm>
                <a:off x="2256" y="3024"/>
                <a:ext cx="240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591" name="Rectangle 13"/>
              <p:cNvSpPr>
                <a:spLocks noChangeArrowheads="1"/>
              </p:cNvSpPr>
              <p:nvPr/>
            </p:nvSpPr>
            <p:spPr bwMode="auto">
              <a:xfrm>
                <a:off x="1536" y="2016"/>
                <a:ext cx="14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592" name="Rectangle 14"/>
              <p:cNvSpPr>
                <a:spLocks noChangeArrowheads="1"/>
              </p:cNvSpPr>
              <p:nvPr/>
            </p:nvSpPr>
            <p:spPr bwMode="auto">
              <a:xfrm>
                <a:off x="3264" y="1536"/>
                <a:ext cx="14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593" name="Rectangle 15"/>
              <p:cNvSpPr>
                <a:spLocks noChangeArrowheads="1"/>
              </p:cNvSpPr>
              <p:nvPr/>
            </p:nvSpPr>
            <p:spPr bwMode="auto">
              <a:xfrm>
                <a:off x="3264" y="3168"/>
                <a:ext cx="14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594" name="Rectangle 16"/>
              <p:cNvSpPr>
                <a:spLocks noChangeArrowheads="1"/>
              </p:cNvSpPr>
              <p:nvPr/>
            </p:nvSpPr>
            <p:spPr bwMode="auto">
              <a:xfrm>
                <a:off x="3264" y="2352"/>
                <a:ext cx="14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595" name="Oval 17"/>
              <p:cNvSpPr>
                <a:spLocks noChangeArrowheads="1"/>
              </p:cNvSpPr>
              <p:nvPr/>
            </p:nvSpPr>
            <p:spPr bwMode="auto">
              <a:xfrm>
                <a:off x="4320" y="3168"/>
                <a:ext cx="240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596" name="Oval 18"/>
              <p:cNvSpPr>
                <a:spLocks noChangeArrowheads="1"/>
              </p:cNvSpPr>
              <p:nvPr/>
            </p:nvSpPr>
            <p:spPr bwMode="auto">
              <a:xfrm>
                <a:off x="4272" y="1488"/>
                <a:ext cx="240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597" name="Line 19"/>
              <p:cNvSpPr>
                <a:spLocks noChangeShapeType="1"/>
              </p:cNvSpPr>
              <p:nvPr/>
            </p:nvSpPr>
            <p:spPr bwMode="auto">
              <a:xfrm flipV="1">
                <a:off x="1680" y="1872"/>
                <a:ext cx="576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598" name="Line 20"/>
              <p:cNvSpPr>
                <a:spLocks noChangeShapeType="1"/>
              </p:cNvSpPr>
              <p:nvPr/>
            </p:nvSpPr>
            <p:spPr bwMode="auto">
              <a:xfrm>
                <a:off x="1680" y="2928"/>
                <a:ext cx="576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599" name="Line 21"/>
              <p:cNvSpPr>
                <a:spLocks noChangeShapeType="1"/>
              </p:cNvSpPr>
              <p:nvPr/>
            </p:nvSpPr>
            <p:spPr bwMode="auto">
              <a:xfrm flipV="1">
                <a:off x="2496" y="1632"/>
                <a:ext cx="768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00" name="Line 22"/>
              <p:cNvSpPr>
                <a:spLocks noChangeShapeType="1"/>
              </p:cNvSpPr>
              <p:nvPr/>
            </p:nvSpPr>
            <p:spPr bwMode="auto">
              <a:xfrm flipV="1">
                <a:off x="3408" y="1584"/>
                <a:ext cx="86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01" name="Rectangle 23"/>
              <p:cNvSpPr>
                <a:spLocks noChangeArrowheads="1"/>
              </p:cNvSpPr>
              <p:nvPr/>
            </p:nvSpPr>
            <p:spPr bwMode="auto">
              <a:xfrm>
                <a:off x="2352" y="2352"/>
                <a:ext cx="14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602" name="Line 24"/>
              <p:cNvSpPr>
                <a:spLocks noChangeShapeType="1"/>
              </p:cNvSpPr>
              <p:nvPr/>
            </p:nvSpPr>
            <p:spPr bwMode="auto">
              <a:xfrm>
                <a:off x="2400" y="196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03" name="Line 25"/>
              <p:cNvSpPr>
                <a:spLocks noChangeShapeType="1"/>
              </p:cNvSpPr>
              <p:nvPr/>
            </p:nvSpPr>
            <p:spPr bwMode="auto">
              <a:xfrm>
                <a:off x="2400" y="2544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04" name="Line 26"/>
              <p:cNvSpPr>
                <a:spLocks noChangeShapeType="1"/>
              </p:cNvSpPr>
              <p:nvPr/>
            </p:nvSpPr>
            <p:spPr bwMode="auto">
              <a:xfrm flipV="1">
                <a:off x="2496" y="2448"/>
                <a:ext cx="76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05" name="Line 27"/>
              <p:cNvSpPr>
                <a:spLocks noChangeShapeType="1"/>
              </p:cNvSpPr>
              <p:nvPr/>
            </p:nvSpPr>
            <p:spPr bwMode="auto">
              <a:xfrm flipV="1">
                <a:off x="3408" y="1728"/>
                <a:ext cx="912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06" name="Line 28"/>
              <p:cNvSpPr>
                <a:spLocks noChangeShapeType="1"/>
              </p:cNvSpPr>
              <p:nvPr/>
            </p:nvSpPr>
            <p:spPr bwMode="auto">
              <a:xfrm>
                <a:off x="2496" y="3168"/>
                <a:ext cx="76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07" name="Line 29"/>
              <p:cNvSpPr>
                <a:spLocks noChangeShapeType="1"/>
              </p:cNvSpPr>
              <p:nvPr/>
            </p:nvSpPr>
            <p:spPr bwMode="auto">
              <a:xfrm>
                <a:off x="3408" y="3264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08" name="Rectangle 30"/>
              <p:cNvSpPr>
                <a:spLocks noChangeArrowheads="1"/>
              </p:cNvSpPr>
              <p:nvPr/>
            </p:nvSpPr>
            <p:spPr bwMode="auto">
              <a:xfrm>
                <a:off x="4416" y="2352"/>
                <a:ext cx="14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609" name="Line 31"/>
              <p:cNvSpPr>
                <a:spLocks noChangeShapeType="1"/>
              </p:cNvSpPr>
              <p:nvPr/>
            </p:nvSpPr>
            <p:spPr bwMode="auto">
              <a:xfrm>
                <a:off x="4416" y="1728"/>
                <a:ext cx="9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10" name="Line 32"/>
              <p:cNvSpPr>
                <a:spLocks noChangeShapeType="1"/>
              </p:cNvSpPr>
              <p:nvPr/>
            </p:nvSpPr>
            <p:spPr bwMode="auto">
              <a:xfrm flipH="1">
                <a:off x="4464" y="2544"/>
                <a:ext cx="4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11" name="Rectangle 33"/>
              <p:cNvSpPr>
                <a:spLocks noChangeArrowheads="1"/>
              </p:cNvSpPr>
              <p:nvPr/>
            </p:nvSpPr>
            <p:spPr bwMode="auto">
              <a:xfrm>
                <a:off x="2208" y="3696"/>
                <a:ext cx="14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612" name="Rectangle 34"/>
              <p:cNvSpPr>
                <a:spLocks noChangeArrowheads="1"/>
              </p:cNvSpPr>
              <p:nvPr/>
            </p:nvSpPr>
            <p:spPr bwMode="auto">
              <a:xfrm>
                <a:off x="2160" y="1104"/>
                <a:ext cx="14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sk-SK"/>
              </a:p>
            </p:txBody>
          </p:sp>
          <p:sp>
            <p:nvSpPr>
              <p:cNvPr id="23613" name="Line 35"/>
              <p:cNvSpPr>
                <a:spLocks noChangeShapeType="1"/>
              </p:cNvSpPr>
              <p:nvPr/>
            </p:nvSpPr>
            <p:spPr bwMode="auto">
              <a:xfrm>
                <a:off x="4464" y="340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14" name="Line 36"/>
              <p:cNvSpPr>
                <a:spLocks noChangeShapeType="1"/>
              </p:cNvSpPr>
              <p:nvPr/>
            </p:nvSpPr>
            <p:spPr bwMode="auto">
              <a:xfrm flipH="1">
                <a:off x="2352" y="3792"/>
                <a:ext cx="21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15" name="Line 37"/>
              <p:cNvSpPr>
                <a:spLocks noChangeShapeType="1"/>
              </p:cNvSpPr>
              <p:nvPr/>
            </p:nvSpPr>
            <p:spPr bwMode="auto">
              <a:xfrm flipH="1">
                <a:off x="1056" y="3792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16" name="Line 38"/>
              <p:cNvSpPr>
                <a:spLocks noChangeShapeType="1"/>
              </p:cNvSpPr>
              <p:nvPr/>
            </p:nvSpPr>
            <p:spPr bwMode="auto">
              <a:xfrm flipV="1">
                <a:off x="1056" y="2688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17" name="Line 39"/>
              <p:cNvSpPr>
                <a:spLocks noChangeShapeType="1"/>
              </p:cNvSpPr>
              <p:nvPr/>
            </p:nvSpPr>
            <p:spPr bwMode="auto">
              <a:xfrm flipV="1">
                <a:off x="4416" y="120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18" name="Line 40"/>
              <p:cNvSpPr>
                <a:spLocks noChangeShapeType="1"/>
              </p:cNvSpPr>
              <p:nvPr/>
            </p:nvSpPr>
            <p:spPr bwMode="auto">
              <a:xfrm flipH="1">
                <a:off x="2304" y="1200"/>
                <a:ext cx="21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19" name="Line 41"/>
              <p:cNvSpPr>
                <a:spLocks noChangeShapeType="1"/>
              </p:cNvSpPr>
              <p:nvPr/>
            </p:nvSpPr>
            <p:spPr bwMode="auto">
              <a:xfrm>
                <a:off x="1056" y="1200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23620" name="Text Box 42"/>
              <p:cNvSpPr txBox="1">
                <a:spLocks noChangeArrowheads="1"/>
              </p:cNvSpPr>
              <p:nvPr/>
            </p:nvSpPr>
            <p:spPr bwMode="auto">
              <a:xfrm>
                <a:off x="1680" y="1248"/>
                <a:ext cx="111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>
                    <a:latin typeface="Times New Roman" panose="02020603050405020304" pitchFamily="18" charset="0"/>
                  </a:rPr>
                  <a:t>Take 15c bar</a:t>
                </a:r>
              </a:p>
            </p:txBody>
          </p:sp>
          <p:sp>
            <p:nvSpPr>
              <p:cNvPr id="23621" name="Text Box 43"/>
              <p:cNvSpPr txBox="1">
                <a:spLocks noChangeArrowheads="1"/>
              </p:cNvSpPr>
              <p:nvPr/>
            </p:nvSpPr>
            <p:spPr bwMode="auto">
              <a:xfrm>
                <a:off x="1200" y="1776"/>
                <a:ext cx="7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>
                    <a:latin typeface="Times New Roman" panose="02020603050405020304" pitchFamily="18" charset="0"/>
                  </a:rPr>
                  <a:t>Deposit 5c</a:t>
                </a:r>
                <a:endParaRPr kumimoji="0" lang="en-US" altLang="ko-K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2" name="Text Box 44"/>
              <p:cNvSpPr txBox="1">
                <a:spLocks noChangeArrowheads="1"/>
              </p:cNvSpPr>
              <p:nvPr/>
            </p:nvSpPr>
            <p:spPr bwMode="auto">
              <a:xfrm>
                <a:off x="662" y="2409"/>
                <a:ext cx="26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 sz="2000">
                    <a:latin typeface="Times New Roman" panose="02020603050405020304" pitchFamily="18" charset="0"/>
                  </a:rPr>
                  <a:t>0c</a:t>
                </a:r>
                <a:endParaRPr kumimoji="0" lang="en-US" altLang="ko-K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3" name="Text Box 45"/>
              <p:cNvSpPr txBox="1">
                <a:spLocks noChangeArrowheads="1"/>
              </p:cNvSpPr>
              <p:nvPr/>
            </p:nvSpPr>
            <p:spPr bwMode="auto">
              <a:xfrm>
                <a:off x="1152" y="3024"/>
                <a:ext cx="80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>
                    <a:latin typeface="Times New Roman" panose="02020603050405020304" pitchFamily="18" charset="0"/>
                  </a:rPr>
                  <a:t>Deposit 10c</a:t>
                </a:r>
                <a:endParaRPr kumimoji="0" lang="en-US" altLang="ko-K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4" name="Text Box 46"/>
              <p:cNvSpPr txBox="1">
                <a:spLocks noChangeArrowheads="1"/>
              </p:cNvSpPr>
              <p:nvPr/>
            </p:nvSpPr>
            <p:spPr bwMode="auto">
              <a:xfrm>
                <a:off x="1824" y="2256"/>
                <a:ext cx="62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>
                    <a:latin typeface="Times New Roman" panose="02020603050405020304" pitchFamily="18" charset="0"/>
                  </a:rPr>
                  <a:t>Deposit</a:t>
                </a:r>
                <a:br>
                  <a:rPr kumimoji="0" lang="en-US" altLang="ko-KR">
                    <a:latin typeface="Times New Roman" panose="02020603050405020304" pitchFamily="18" charset="0"/>
                  </a:rPr>
                </a:br>
                <a:r>
                  <a:rPr kumimoji="0" lang="en-US" altLang="ko-KR">
                    <a:latin typeface="Times New Roman" panose="02020603050405020304" pitchFamily="18" charset="0"/>
                  </a:rPr>
                  <a:t>        5c</a:t>
                </a:r>
                <a:endParaRPr kumimoji="0" lang="en-US" altLang="ko-K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5" name="Text Box 47"/>
              <p:cNvSpPr txBox="1">
                <a:spLocks noChangeArrowheads="1"/>
              </p:cNvSpPr>
              <p:nvPr/>
            </p:nvSpPr>
            <p:spPr bwMode="auto">
              <a:xfrm>
                <a:off x="2102" y="3177"/>
                <a:ext cx="34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 sz="2000">
                    <a:latin typeface="Times New Roman" panose="02020603050405020304" pitchFamily="18" charset="0"/>
                  </a:rPr>
                  <a:t>10c</a:t>
                </a:r>
              </a:p>
            </p:txBody>
          </p:sp>
          <p:sp>
            <p:nvSpPr>
              <p:cNvPr id="23626" name="Text Box 48"/>
              <p:cNvSpPr txBox="1">
                <a:spLocks noChangeArrowheads="1"/>
              </p:cNvSpPr>
              <p:nvPr/>
            </p:nvSpPr>
            <p:spPr bwMode="auto">
              <a:xfrm>
                <a:off x="2928" y="1344"/>
                <a:ext cx="80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>
                    <a:latin typeface="Times New Roman" panose="02020603050405020304" pitchFamily="18" charset="0"/>
                  </a:rPr>
                  <a:t>Deposit 10c</a:t>
                </a:r>
                <a:endParaRPr kumimoji="0" lang="en-US" altLang="ko-K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7" name="Text Box 49"/>
              <p:cNvSpPr txBox="1">
                <a:spLocks noChangeArrowheads="1"/>
              </p:cNvSpPr>
              <p:nvPr/>
            </p:nvSpPr>
            <p:spPr bwMode="auto">
              <a:xfrm>
                <a:off x="3398" y="2376"/>
                <a:ext cx="56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>
                    <a:latin typeface="Times New Roman" panose="02020603050405020304" pitchFamily="18" charset="0"/>
                  </a:rPr>
                  <a:t>Deposit</a:t>
                </a:r>
              </a:p>
              <a:p>
                <a:pPr latinLnBrk="0"/>
                <a:r>
                  <a:rPr kumimoji="0" lang="en-US" altLang="ko-KR">
                    <a:latin typeface="Times New Roman" panose="02020603050405020304" pitchFamily="18" charset="0"/>
                  </a:rPr>
                  <a:t>5c</a:t>
                </a:r>
                <a:endParaRPr kumimoji="0" lang="en-US" altLang="ko-K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8" name="Text Box 50"/>
              <p:cNvSpPr txBox="1">
                <a:spLocks noChangeArrowheads="1"/>
              </p:cNvSpPr>
              <p:nvPr/>
            </p:nvSpPr>
            <p:spPr bwMode="auto">
              <a:xfrm>
                <a:off x="3024" y="3312"/>
                <a:ext cx="80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>
                    <a:latin typeface="Times New Roman" panose="02020603050405020304" pitchFamily="18" charset="0"/>
                  </a:rPr>
                  <a:t>Deposit 10c</a:t>
                </a:r>
                <a:endParaRPr kumimoji="0" lang="en-US" altLang="ko-K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9" name="Text Box 51"/>
              <p:cNvSpPr txBox="1">
                <a:spLocks noChangeArrowheads="1"/>
              </p:cNvSpPr>
              <p:nvPr/>
            </p:nvSpPr>
            <p:spPr bwMode="auto">
              <a:xfrm>
                <a:off x="4550" y="3129"/>
                <a:ext cx="34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 sz="2000">
                    <a:latin typeface="Times New Roman" panose="02020603050405020304" pitchFamily="18" charset="0"/>
                  </a:rPr>
                  <a:t>20c</a:t>
                </a:r>
              </a:p>
            </p:txBody>
          </p:sp>
          <p:sp>
            <p:nvSpPr>
              <p:cNvPr id="23630" name="Text Box 52"/>
              <p:cNvSpPr txBox="1">
                <a:spLocks noChangeArrowheads="1"/>
              </p:cNvSpPr>
              <p:nvPr/>
            </p:nvSpPr>
            <p:spPr bwMode="auto">
              <a:xfrm>
                <a:off x="4560" y="2256"/>
                <a:ext cx="56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>
                    <a:latin typeface="Times New Roman" panose="02020603050405020304" pitchFamily="18" charset="0"/>
                  </a:rPr>
                  <a:t>Deposit</a:t>
                </a:r>
              </a:p>
              <a:p>
                <a:pPr latinLnBrk="0"/>
                <a:r>
                  <a:rPr kumimoji="0" lang="en-US" altLang="ko-KR">
                    <a:latin typeface="Times New Roman" panose="02020603050405020304" pitchFamily="18" charset="0"/>
                  </a:rPr>
                  <a:t>5c</a:t>
                </a:r>
              </a:p>
            </p:txBody>
          </p:sp>
          <p:sp>
            <p:nvSpPr>
              <p:cNvPr id="23631" name="Text Box 53"/>
              <p:cNvSpPr txBox="1">
                <a:spLocks noChangeArrowheads="1"/>
              </p:cNvSpPr>
              <p:nvPr/>
            </p:nvSpPr>
            <p:spPr bwMode="auto">
              <a:xfrm>
                <a:off x="4502" y="1449"/>
                <a:ext cx="34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 sz="2000">
                    <a:latin typeface="Times New Roman" panose="02020603050405020304" pitchFamily="18" charset="0"/>
                  </a:rPr>
                  <a:t>15c</a:t>
                </a:r>
              </a:p>
            </p:txBody>
          </p:sp>
          <p:sp>
            <p:nvSpPr>
              <p:cNvPr id="23632" name="Text Box 54"/>
              <p:cNvSpPr txBox="1">
                <a:spLocks noChangeArrowheads="1"/>
              </p:cNvSpPr>
              <p:nvPr/>
            </p:nvSpPr>
            <p:spPr bwMode="auto">
              <a:xfrm>
                <a:off x="1584" y="3504"/>
                <a:ext cx="8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entury Gothic" panose="020B0502020202020204" pitchFamily="34" charset="0"/>
                    <a:ea typeface="굴림" panose="020B0600000101010101" pitchFamily="34" charset="-127"/>
                  </a:defRPr>
                </a:lvl9pPr>
              </a:lstStyle>
              <a:p>
                <a:pPr latinLnBrk="0"/>
                <a:r>
                  <a:rPr kumimoji="0" lang="en-US" altLang="ko-KR">
                    <a:latin typeface="Times New Roman" panose="02020603050405020304" pitchFamily="18" charset="0"/>
                  </a:rPr>
                  <a:t>Take 20c bar</a:t>
                </a:r>
                <a:endParaRPr kumimoji="0" lang="en-US" altLang="ko-KR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9927" name="Oval 55"/>
          <p:cNvSpPr>
            <a:spLocks noChangeArrowheads="1"/>
          </p:cNvSpPr>
          <p:nvPr/>
        </p:nvSpPr>
        <p:spPr bwMode="auto">
          <a:xfrm>
            <a:off x="1524000" y="3962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28" name="Oval 56"/>
          <p:cNvSpPr>
            <a:spLocks noChangeArrowheads="1"/>
          </p:cNvSpPr>
          <p:nvPr/>
        </p:nvSpPr>
        <p:spPr bwMode="auto">
          <a:xfrm>
            <a:off x="3733800" y="2819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29" name="Oval 57"/>
          <p:cNvSpPr>
            <a:spLocks noChangeArrowheads="1"/>
          </p:cNvSpPr>
          <p:nvPr/>
        </p:nvSpPr>
        <p:spPr bwMode="auto">
          <a:xfrm>
            <a:off x="37338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30" name="Oval 58"/>
          <p:cNvSpPr>
            <a:spLocks noChangeArrowheads="1"/>
          </p:cNvSpPr>
          <p:nvPr/>
        </p:nvSpPr>
        <p:spPr bwMode="auto">
          <a:xfrm>
            <a:off x="6934200" y="2514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31" name="Oval 59"/>
          <p:cNvSpPr>
            <a:spLocks noChangeArrowheads="1"/>
          </p:cNvSpPr>
          <p:nvPr/>
        </p:nvSpPr>
        <p:spPr bwMode="auto">
          <a:xfrm>
            <a:off x="7010400" y="5105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32" name="Oval 60"/>
          <p:cNvSpPr>
            <a:spLocks noChangeArrowheads="1"/>
          </p:cNvSpPr>
          <p:nvPr/>
        </p:nvSpPr>
        <p:spPr bwMode="auto">
          <a:xfrm>
            <a:off x="1524000" y="3962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33" name="Oval 61"/>
          <p:cNvSpPr>
            <a:spLocks noChangeArrowheads="1"/>
          </p:cNvSpPr>
          <p:nvPr/>
        </p:nvSpPr>
        <p:spPr bwMode="auto">
          <a:xfrm>
            <a:off x="37338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34" name="Oval 62"/>
          <p:cNvSpPr>
            <a:spLocks noChangeArrowheads="1"/>
          </p:cNvSpPr>
          <p:nvPr/>
        </p:nvSpPr>
        <p:spPr bwMode="auto">
          <a:xfrm>
            <a:off x="6934200" y="2514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35" name="Oval 63"/>
          <p:cNvSpPr>
            <a:spLocks noChangeArrowheads="1"/>
          </p:cNvSpPr>
          <p:nvPr/>
        </p:nvSpPr>
        <p:spPr bwMode="auto">
          <a:xfrm>
            <a:off x="1524000" y="3962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36" name="Rectangle 64"/>
          <p:cNvSpPr>
            <a:spLocks noChangeArrowheads="1"/>
          </p:cNvSpPr>
          <p:nvPr/>
        </p:nvSpPr>
        <p:spPr bwMode="auto">
          <a:xfrm>
            <a:off x="2438400" y="3200400"/>
            <a:ext cx="2286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37" name="Rectangle 65"/>
          <p:cNvSpPr>
            <a:spLocks noChangeArrowheads="1"/>
          </p:cNvSpPr>
          <p:nvPr/>
        </p:nvSpPr>
        <p:spPr bwMode="auto">
          <a:xfrm>
            <a:off x="3733800" y="3733800"/>
            <a:ext cx="2286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38" name="Rectangle 66"/>
          <p:cNvSpPr>
            <a:spLocks noChangeArrowheads="1"/>
          </p:cNvSpPr>
          <p:nvPr/>
        </p:nvSpPr>
        <p:spPr bwMode="auto">
          <a:xfrm>
            <a:off x="5181600" y="3733800"/>
            <a:ext cx="2286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39" name="Rectangle 67"/>
          <p:cNvSpPr>
            <a:spLocks noChangeArrowheads="1"/>
          </p:cNvSpPr>
          <p:nvPr/>
        </p:nvSpPr>
        <p:spPr bwMode="auto">
          <a:xfrm>
            <a:off x="7010400" y="3733800"/>
            <a:ext cx="2286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40" name="Rectangle 68"/>
          <p:cNvSpPr>
            <a:spLocks noChangeArrowheads="1"/>
          </p:cNvSpPr>
          <p:nvPr/>
        </p:nvSpPr>
        <p:spPr bwMode="auto">
          <a:xfrm>
            <a:off x="3505200" y="5867400"/>
            <a:ext cx="2286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41" name="Rectangle 69"/>
          <p:cNvSpPr>
            <a:spLocks noChangeArrowheads="1"/>
          </p:cNvSpPr>
          <p:nvPr/>
        </p:nvSpPr>
        <p:spPr bwMode="auto">
          <a:xfrm>
            <a:off x="2438400" y="4495800"/>
            <a:ext cx="2286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42" name="Rectangle 70"/>
          <p:cNvSpPr>
            <a:spLocks noChangeArrowheads="1"/>
          </p:cNvSpPr>
          <p:nvPr/>
        </p:nvSpPr>
        <p:spPr bwMode="auto">
          <a:xfrm>
            <a:off x="5181600" y="3733800"/>
            <a:ext cx="2286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43" name="Rectangle 71"/>
          <p:cNvSpPr>
            <a:spLocks noChangeArrowheads="1"/>
          </p:cNvSpPr>
          <p:nvPr/>
        </p:nvSpPr>
        <p:spPr bwMode="auto">
          <a:xfrm>
            <a:off x="3429000" y="1752600"/>
            <a:ext cx="2286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44" name="Rectangle 72"/>
          <p:cNvSpPr>
            <a:spLocks noChangeArrowheads="1"/>
          </p:cNvSpPr>
          <p:nvPr/>
        </p:nvSpPr>
        <p:spPr bwMode="auto">
          <a:xfrm>
            <a:off x="2438400" y="3200400"/>
            <a:ext cx="2286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45" name="Rectangle 73"/>
          <p:cNvSpPr>
            <a:spLocks noChangeArrowheads="1"/>
          </p:cNvSpPr>
          <p:nvPr/>
        </p:nvSpPr>
        <p:spPr bwMode="auto">
          <a:xfrm>
            <a:off x="5181600" y="2438400"/>
            <a:ext cx="2286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46" name="Rectangle 74"/>
          <p:cNvSpPr>
            <a:spLocks noChangeArrowheads="1"/>
          </p:cNvSpPr>
          <p:nvPr/>
        </p:nvSpPr>
        <p:spPr bwMode="auto">
          <a:xfrm>
            <a:off x="7010400" y="3733800"/>
            <a:ext cx="2286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47" name="Rectangle 75"/>
          <p:cNvSpPr>
            <a:spLocks noChangeArrowheads="1"/>
          </p:cNvSpPr>
          <p:nvPr/>
        </p:nvSpPr>
        <p:spPr bwMode="auto">
          <a:xfrm>
            <a:off x="3505200" y="5867400"/>
            <a:ext cx="2286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48" name="Oval 76"/>
          <p:cNvSpPr>
            <a:spLocks noChangeArrowheads="1"/>
          </p:cNvSpPr>
          <p:nvPr/>
        </p:nvSpPr>
        <p:spPr bwMode="auto">
          <a:xfrm>
            <a:off x="3733800" y="2819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49" name="Oval 77"/>
          <p:cNvSpPr>
            <a:spLocks noChangeArrowheads="1"/>
          </p:cNvSpPr>
          <p:nvPr/>
        </p:nvSpPr>
        <p:spPr bwMode="auto">
          <a:xfrm>
            <a:off x="6934200" y="2514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50" name="Oval 78"/>
          <p:cNvSpPr>
            <a:spLocks noChangeArrowheads="1"/>
          </p:cNvSpPr>
          <p:nvPr/>
        </p:nvSpPr>
        <p:spPr bwMode="auto">
          <a:xfrm>
            <a:off x="7010400" y="5105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  <p:sp>
        <p:nvSpPr>
          <p:cNvPr id="79951" name="Oval 79"/>
          <p:cNvSpPr>
            <a:spLocks noChangeArrowheads="1"/>
          </p:cNvSpPr>
          <p:nvPr/>
        </p:nvSpPr>
        <p:spPr bwMode="auto">
          <a:xfrm>
            <a:off x="1524000" y="3962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entury Gothic" panose="020B0502020202020204" pitchFamily="34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sk-SK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99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99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799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799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799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799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79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799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799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799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799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7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27" grpId="0" animBg="1"/>
      <p:bldP spid="79928" grpId="0" animBg="1"/>
      <p:bldP spid="79929" grpId="0" animBg="1"/>
      <p:bldP spid="79930" grpId="0" animBg="1"/>
      <p:bldP spid="79931" grpId="0" animBg="1"/>
      <p:bldP spid="79932" grpId="0" animBg="1"/>
      <p:bldP spid="79933" grpId="0" animBg="1"/>
      <p:bldP spid="79934" grpId="0" animBg="1"/>
      <p:bldP spid="79935" grpId="0" animBg="1"/>
      <p:bldP spid="79936" grpId="0" animBg="1"/>
      <p:bldP spid="79937" grpId="0" animBg="1"/>
      <p:bldP spid="79938" grpId="0" animBg="1"/>
      <p:bldP spid="79939" grpId="0" animBg="1"/>
      <p:bldP spid="79940" grpId="0" animBg="1"/>
      <p:bldP spid="79941" grpId="0" animBg="1"/>
      <p:bldP spid="79942" grpId="0" animBg="1"/>
      <p:bldP spid="79943" grpId="0" animBg="1"/>
      <p:bldP spid="79944" grpId="0" animBg="1"/>
      <p:bldP spid="79945" grpId="0" animBg="1"/>
      <p:bldP spid="79946" grpId="0" animBg="1"/>
      <p:bldP spid="79947" grpId="0" animBg="1"/>
      <p:bldP spid="79948" grpId="0" animBg="1"/>
      <p:bldP spid="79949" grpId="0" animBg="1"/>
      <p:bldP spid="79950" grpId="0" animBg="1"/>
      <p:bldP spid="7995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čísla snímky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F94D7C4-5D44-49A1-9B9D-22DB184B8153}" type="slidenum">
              <a:rPr lang="ko-KR" altLang="en-US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180263" cy="458788"/>
          </a:xfrm>
        </p:spPr>
        <p:txBody>
          <a:bodyPr/>
          <a:lstStyle/>
          <a:p>
            <a:pPr eaLnBrk="1" hangingPunct="1"/>
            <a:r>
              <a:rPr lang="en-US" altLang="ko-KR" sz="4000" smtClean="0">
                <a:latin typeface="Century Gothic" panose="020B0502020202020204" pitchFamily="34" charset="0"/>
              </a:rPr>
              <a:t>Petri Net examples</a:t>
            </a:r>
          </a:p>
        </p:txBody>
      </p:sp>
      <p:pic>
        <p:nvPicPr>
          <p:cNvPr id="25604" name="Picture 11" descr="fig4-40-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50938"/>
            <a:ext cx="5359400" cy="47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čísla snímky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21EE193-B1ED-4E5E-BB8C-49352A145648}" type="slidenum">
              <a:rPr lang="ko-KR" altLang="en-US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3600" smtClean="0">
                <a:latin typeface="Century Gothic" panose="020B0502020202020204" pitchFamily="34" charset="0"/>
              </a:rPr>
              <a:t>Petri Net examples </a:t>
            </a:r>
            <a:br>
              <a:rPr lang="en-US" altLang="ko-KR" sz="3600" smtClean="0">
                <a:latin typeface="Century Gothic" panose="020B0502020202020204" pitchFamily="34" charset="0"/>
              </a:rPr>
            </a:br>
            <a:r>
              <a:rPr lang="en-US" altLang="ko-KR" sz="3600" smtClean="0">
                <a:latin typeface="Century Gothic" panose="020B0502020202020204" pitchFamily="34" charset="0"/>
              </a:rPr>
              <a:t>(Dining Philosophers)</a:t>
            </a: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981200"/>
            <a:ext cx="4191000" cy="4114800"/>
          </a:xfrm>
        </p:spPr>
        <p:txBody>
          <a:bodyPr/>
          <a:lstStyle/>
          <a:p>
            <a:pPr eaLnBrk="1" hangingPunct="1"/>
            <a:r>
              <a:rPr lang="en-US" altLang="ko-KR" sz="2400" smtClean="0">
                <a:latin typeface="Century Gothic" panose="020B0502020202020204" pitchFamily="34" charset="0"/>
              </a:rPr>
              <a:t>Five philosophers alternatively think and eating </a:t>
            </a:r>
          </a:p>
          <a:p>
            <a:pPr eaLnBrk="1" hangingPunct="1"/>
            <a:r>
              <a:rPr lang="en-US" altLang="ko-KR" sz="2400" smtClean="0">
                <a:latin typeface="Century Gothic" panose="020B0502020202020204" pitchFamily="34" charset="0"/>
              </a:rPr>
              <a:t>Chopsticks: </a:t>
            </a:r>
            <a:br>
              <a:rPr lang="en-US" altLang="ko-KR" sz="2400" smtClean="0">
                <a:latin typeface="Century Gothic" panose="020B0502020202020204" pitchFamily="34" charset="0"/>
              </a:rPr>
            </a:br>
            <a:r>
              <a:rPr lang="en-US" altLang="ko-KR" sz="2400" smtClean="0">
                <a:latin typeface="Century Gothic" panose="020B0502020202020204" pitchFamily="34" charset="0"/>
              </a:rPr>
              <a:t>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0</a:t>
            </a:r>
            <a:r>
              <a:rPr lang="en-US" altLang="ko-KR" sz="2400" smtClean="0">
                <a:latin typeface="Century Gothic" panose="020B0502020202020204" pitchFamily="34" charset="0"/>
              </a:rPr>
              <a:t>, 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2</a:t>
            </a:r>
            <a:r>
              <a:rPr lang="en-US" altLang="ko-KR" sz="2400" smtClean="0">
                <a:latin typeface="Century Gothic" panose="020B0502020202020204" pitchFamily="34" charset="0"/>
              </a:rPr>
              <a:t>, 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4</a:t>
            </a:r>
            <a:r>
              <a:rPr lang="en-US" altLang="ko-KR" sz="2400" smtClean="0">
                <a:latin typeface="Century Gothic" panose="020B0502020202020204" pitchFamily="34" charset="0"/>
              </a:rPr>
              <a:t>, 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6</a:t>
            </a:r>
            <a:r>
              <a:rPr lang="en-US" altLang="ko-KR" sz="2400" smtClean="0">
                <a:latin typeface="Century Gothic" panose="020B0502020202020204" pitchFamily="34" charset="0"/>
              </a:rPr>
              <a:t>, 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8</a:t>
            </a:r>
          </a:p>
          <a:p>
            <a:pPr eaLnBrk="1" hangingPunct="1"/>
            <a:r>
              <a:rPr lang="en-US" altLang="ko-KR" sz="2400" smtClean="0">
                <a:latin typeface="Century Gothic" panose="020B0502020202020204" pitchFamily="34" charset="0"/>
              </a:rPr>
              <a:t>Philosophers eating: </a:t>
            </a:r>
            <a:br>
              <a:rPr lang="en-US" altLang="ko-KR" sz="2400" smtClean="0">
                <a:latin typeface="Century Gothic" panose="020B0502020202020204" pitchFamily="34" charset="0"/>
              </a:rPr>
            </a:br>
            <a:r>
              <a:rPr lang="en-US" altLang="ko-KR" sz="2400" smtClean="0">
                <a:latin typeface="Century Gothic" panose="020B0502020202020204" pitchFamily="34" charset="0"/>
              </a:rPr>
              <a:t>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10</a:t>
            </a:r>
            <a:r>
              <a:rPr lang="en-US" altLang="ko-KR" sz="2400" smtClean="0">
                <a:latin typeface="Century Gothic" panose="020B0502020202020204" pitchFamily="34" charset="0"/>
              </a:rPr>
              <a:t>, 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11</a:t>
            </a:r>
            <a:r>
              <a:rPr lang="en-US" altLang="ko-KR" sz="2400" smtClean="0">
                <a:latin typeface="Century Gothic" panose="020B0502020202020204" pitchFamily="34" charset="0"/>
              </a:rPr>
              <a:t>, 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12</a:t>
            </a:r>
            <a:r>
              <a:rPr lang="en-US" altLang="ko-KR" sz="2400" smtClean="0">
                <a:latin typeface="Century Gothic" panose="020B0502020202020204" pitchFamily="34" charset="0"/>
              </a:rPr>
              <a:t>, 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13</a:t>
            </a:r>
            <a:r>
              <a:rPr lang="en-US" altLang="ko-KR" sz="2400" smtClean="0">
                <a:latin typeface="Century Gothic" panose="020B0502020202020204" pitchFamily="34" charset="0"/>
              </a:rPr>
              <a:t>, 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14</a:t>
            </a:r>
            <a:endParaRPr lang="en-US" altLang="ko-KR" sz="2400" smtClean="0">
              <a:latin typeface="Century Gothic" panose="020B0502020202020204" pitchFamily="34" charset="0"/>
            </a:endParaRPr>
          </a:p>
          <a:p>
            <a:pPr eaLnBrk="1" hangingPunct="1"/>
            <a:r>
              <a:rPr lang="en-US" altLang="ko-KR" sz="2400" smtClean="0">
                <a:latin typeface="Century Gothic" panose="020B0502020202020204" pitchFamily="34" charset="0"/>
              </a:rPr>
              <a:t>Philosophers thinking/meditating: </a:t>
            </a:r>
            <a:br>
              <a:rPr lang="en-US" altLang="ko-KR" sz="2400" smtClean="0">
                <a:latin typeface="Century Gothic" panose="020B0502020202020204" pitchFamily="34" charset="0"/>
              </a:rPr>
            </a:br>
            <a:r>
              <a:rPr lang="en-US" altLang="ko-KR" sz="2400" smtClean="0">
                <a:latin typeface="Century Gothic" panose="020B0502020202020204" pitchFamily="34" charset="0"/>
              </a:rPr>
              <a:t>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1</a:t>
            </a:r>
            <a:r>
              <a:rPr lang="en-US" altLang="ko-KR" sz="2400" smtClean="0">
                <a:latin typeface="Century Gothic" panose="020B0502020202020204" pitchFamily="34" charset="0"/>
              </a:rPr>
              <a:t>, 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3</a:t>
            </a:r>
            <a:r>
              <a:rPr lang="en-US" altLang="ko-KR" sz="2400" smtClean="0">
                <a:latin typeface="Century Gothic" panose="020B0502020202020204" pitchFamily="34" charset="0"/>
              </a:rPr>
              <a:t>, 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5</a:t>
            </a:r>
            <a:r>
              <a:rPr lang="en-US" altLang="ko-KR" sz="2400" smtClean="0">
                <a:latin typeface="Century Gothic" panose="020B0502020202020204" pitchFamily="34" charset="0"/>
              </a:rPr>
              <a:t>, 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7</a:t>
            </a:r>
            <a:r>
              <a:rPr lang="en-US" altLang="ko-KR" sz="2400" smtClean="0">
                <a:latin typeface="Century Gothic" panose="020B0502020202020204" pitchFamily="34" charset="0"/>
              </a:rPr>
              <a:t>, p</a:t>
            </a:r>
            <a:r>
              <a:rPr lang="en-US" altLang="ko-KR" sz="2400" baseline="-25000" smtClean="0">
                <a:latin typeface="Century Gothic" panose="020B0502020202020204" pitchFamily="34" charset="0"/>
              </a:rPr>
              <a:t>9</a:t>
            </a:r>
          </a:p>
          <a:p>
            <a:pPr eaLnBrk="1" hangingPunct="1"/>
            <a:endParaRPr lang="en-US" altLang="ko-KR" sz="2400" smtClean="0">
              <a:latin typeface="Century Gothic" panose="020B0502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ko-KR" altLang="en-US" sz="2400" smtClean="0">
              <a:latin typeface="Century Gothic" panose="020B0502020202020204" pitchFamily="34" charset="0"/>
            </a:endParaRPr>
          </a:p>
        </p:txBody>
      </p:sp>
      <p:pic>
        <p:nvPicPr>
          <p:cNvPr id="26629" name="Picture 5" descr="philosophers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2286000"/>
            <a:ext cx="4267200" cy="33813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čísla snímky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B635A0-67A9-49B0-BDDA-531A75DDCD3C}" type="slidenum">
              <a:rPr lang="ko-KR" altLang="en-US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4000" smtClean="0">
                <a:latin typeface="Century Gothic" panose="020B0502020202020204" pitchFamily="34" charset="0"/>
              </a:rPr>
              <a:t>Petri Net with Time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2800" smtClean="0">
                <a:latin typeface="Century Gothic" panose="020B0502020202020204" pitchFamily="34" charset="0"/>
              </a:rPr>
              <a:t>1962 - Carl Adam Petri originally proposed Petri without any notion of time. Concept of time was intentionally avoided because addition of time restricts the behavior of the net.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800" smtClean="0">
                <a:latin typeface="Century Gothic" panose="020B0502020202020204" pitchFamily="34" charset="0"/>
              </a:rPr>
              <a:t>1970s ~ - Addition of time has been discussed in order to analyze the performance of the modeled system.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800" smtClean="0">
                <a:latin typeface="Century Gothic" panose="020B0502020202020204" pitchFamily="34" charset="0"/>
              </a:rPr>
              <a:t>Many properties are still undecided for Petri nets extended with data and time.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 smtClean="0"/>
              <a:t>How</a:t>
            </a:r>
            <a:r>
              <a:rPr lang="sk-SK" dirty="0" smtClean="0"/>
              <a:t> </a:t>
            </a:r>
            <a:r>
              <a:rPr lang="sk-SK" dirty="0" err="1" smtClean="0"/>
              <a:t>it</a:t>
            </a:r>
            <a:r>
              <a:rPr lang="sk-SK" dirty="0" smtClean="0"/>
              <a:t> </a:t>
            </a:r>
            <a:r>
              <a:rPr lang="sk-SK" dirty="0" err="1" smtClean="0"/>
              <a:t>works</a:t>
            </a:r>
            <a:r>
              <a:rPr lang="sk-SK" dirty="0" smtClean="0"/>
              <a:t>?</a:t>
            </a:r>
            <a:endParaRPr lang="sk-SK" dirty="0"/>
          </a:p>
        </p:txBody>
      </p:sp>
      <p:pic>
        <p:nvPicPr>
          <p:cNvPr id="5" name="Zástupný symbol obsah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183" y="1981200"/>
            <a:ext cx="2871634" cy="3886200"/>
          </a:xfrm>
        </p:spPr>
      </p:pic>
      <p:sp>
        <p:nvSpPr>
          <p:cNvPr id="4" name="Zástupný symbol čísla snímky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0B181A-4E00-4D03-86D0-A102441E276B}" type="slidenum">
              <a:rPr lang="ko-KR" altLang="en-US" smtClean="0"/>
              <a:pPr>
                <a:defRPr/>
              </a:pPr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6057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 smtClean="0"/>
              <a:t>How</a:t>
            </a:r>
            <a:r>
              <a:rPr lang="sk-SK" dirty="0" smtClean="0"/>
              <a:t> </a:t>
            </a:r>
            <a:r>
              <a:rPr lang="sk-SK" dirty="0" err="1" smtClean="0"/>
              <a:t>it</a:t>
            </a:r>
            <a:r>
              <a:rPr lang="sk-SK" dirty="0" smtClean="0"/>
              <a:t> </a:t>
            </a:r>
            <a:r>
              <a:rPr lang="sk-SK" dirty="0" err="1" smtClean="0"/>
              <a:t>works</a:t>
            </a:r>
            <a:r>
              <a:rPr lang="sk-SK" smtClean="0"/>
              <a:t>?</a:t>
            </a:r>
            <a:endParaRPr lang="sk-SK" dirty="0"/>
          </a:p>
        </p:txBody>
      </p:sp>
      <p:pic>
        <p:nvPicPr>
          <p:cNvPr id="5" name="Zástupný symbol obsahu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294"/>
          <a:stretch/>
        </p:blipFill>
        <p:spPr>
          <a:xfrm>
            <a:off x="914400" y="2514600"/>
            <a:ext cx="7637683" cy="3276600"/>
          </a:xfrm>
        </p:spPr>
      </p:pic>
      <p:sp>
        <p:nvSpPr>
          <p:cNvPr id="4" name="Zástupný symbol čísla snímky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0B181A-4E00-4D03-86D0-A102441E276B}" type="slidenum">
              <a:rPr lang="ko-KR" altLang="en-US" smtClean="0"/>
              <a:pPr>
                <a:defRPr/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516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čísla snímky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2E3300-11A3-4C18-A715-D79E178407D3}" type="slidenum">
              <a:rPr lang="ko-KR" altLang="en-US"/>
              <a:pPr>
                <a:defRPr/>
              </a:pPr>
              <a:t>22</a:t>
            </a:fld>
            <a:endParaRPr lang="en-US" altLang="ko-KR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>
                <a:latin typeface="Century Gothic" panose="020B0502020202020204" pitchFamily="34" charset="0"/>
              </a:rPr>
              <a:t>References	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  <a:buFont typeface="Marlett" pitchFamily="2" charset="2"/>
              <a:buChar char="i"/>
            </a:pPr>
            <a:r>
              <a:rPr lang="en-US" altLang="ko-KR" sz="2400" smtClean="0">
                <a:latin typeface="Century Gothic" panose="020B0502020202020204" pitchFamily="34" charset="0"/>
              </a:rPr>
              <a:t>Fishwick, Paul(1995) – Simulation Model Design and Execution</a:t>
            </a:r>
          </a:p>
          <a:p>
            <a:pPr eaLnBrk="1" hangingPunct="1">
              <a:buClr>
                <a:schemeClr val="tx1"/>
              </a:buClr>
              <a:buFont typeface="Marlett" pitchFamily="2" charset="2"/>
              <a:buChar char="i"/>
            </a:pPr>
            <a:r>
              <a:rPr lang="en-US" altLang="ko-KR" sz="2400" smtClean="0">
                <a:latin typeface="Century Gothic" panose="020B0502020202020204" pitchFamily="34" charset="0"/>
                <a:hlinkClick r:id="rId2"/>
              </a:rPr>
              <a:t>Petri Nets World </a:t>
            </a:r>
            <a:endParaRPr lang="en-US" altLang="ko-KR" sz="2400" smtClean="0">
              <a:latin typeface="Century Gothic" panose="020B0502020202020204" pitchFamily="34" charset="0"/>
            </a:endParaRPr>
          </a:p>
          <a:p>
            <a:pPr eaLnBrk="1" hangingPunct="1">
              <a:buClr>
                <a:schemeClr val="tx1"/>
              </a:buClr>
              <a:buFont typeface="Marlett" pitchFamily="2" charset="2"/>
              <a:buChar char="i"/>
            </a:pPr>
            <a:r>
              <a:rPr lang="en-US" altLang="ko-KR" sz="2400" smtClean="0">
                <a:latin typeface="Century Gothic" panose="020B0502020202020204" pitchFamily="34" charset="0"/>
              </a:rPr>
              <a:t>Ling,Chris(2001) – Lecture on Petri Nets Method</a:t>
            </a:r>
          </a:p>
          <a:p>
            <a:pPr eaLnBrk="1" hangingPunct="1">
              <a:buClr>
                <a:schemeClr val="tx1"/>
              </a:buClr>
              <a:buFont typeface="Marlett" pitchFamily="2" charset="2"/>
              <a:buChar char="i"/>
            </a:pPr>
            <a:r>
              <a:rPr lang="en-US" altLang="ko-KR" sz="2400" smtClean="0">
                <a:latin typeface="Century Gothic" panose="020B0502020202020204" pitchFamily="34" charset="0"/>
              </a:rPr>
              <a:t>Chapman, Nick(1997) – Surprise97 journal on Petri Nets Models</a:t>
            </a:r>
          </a:p>
          <a:p>
            <a:pPr eaLnBrk="1" hangingPunct="1">
              <a:buClr>
                <a:schemeClr val="tx1"/>
              </a:buClr>
              <a:buFont typeface="Marlett" pitchFamily="2" charset="2"/>
              <a:buNone/>
            </a:pPr>
            <a:endParaRPr lang="en-US" altLang="ko-KR" b="1" smtClean="0"/>
          </a:p>
          <a:p>
            <a:pPr eaLnBrk="1" hangingPunct="1">
              <a:buClr>
                <a:schemeClr val="tx1"/>
              </a:buClr>
              <a:buFont typeface="Marlett" pitchFamily="2" charset="2"/>
              <a:buChar char="i"/>
            </a:pPr>
            <a:endParaRPr lang="ko-KR" altLang="en-US" sz="2400" smtClean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anose="020B0502020202020204" pitchFamily="34" charset="0"/>
            <a:ea typeface="굴림" panose="020B0600000101010101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anose="020B0502020202020204" pitchFamily="34" charset="0"/>
            <a:ea typeface="굴림" panose="020B0600000101010101" pitchFamily="34" charset="-127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í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632</TotalTime>
  <Words>693</Words>
  <Application>Microsoft Office PowerPoint</Application>
  <PresentationFormat>On-screen Show (4:3)</PresentationFormat>
  <Paragraphs>272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굴림</vt:lpstr>
      <vt:lpstr>Arial</vt:lpstr>
      <vt:lpstr>Century Gothic</vt:lpstr>
      <vt:lpstr>Marlett</vt:lpstr>
      <vt:lpstr>Times New Roman</vt:lpstr>
      <vt:lpstr>Wingdings</vt:lpstr>
      <vt:lpstr>Pixel</vt:lpstr>
      <vt:lpstr>Petri Nets I</vt:lpstr>
      <vt:lpstr>Definition of Petri Net</vt:lpstr>
      <vt:lpstr>Applications of Petri 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In a Restaurant (A Petri Net)</vt:lpstr>
      <vt:lpstr>Example: In a Restaurant  (Two Scenarios)</vt:lpstr>
      <vt:lpstr>Example: In a Restaurant (Scenario 1)</vt:lpstr>
      <vt:lpstr>Example: In a Restaurant (Scenario 2)</vt:lpstr>
      <vt:lpstr>Example: Vending Machine (A Petri net)</vt:lpstr>
      <vt:lpstr>Example: Vending Machine (3 Scenarios)</vt:lpstr>
      <vt:lpstr>Example: Vending Machine (Token Games)</vt:lpstr>
      <vt:lpstr>Petri Net examples</vt:lpstr>
      <vt:lpstr>Petri Net examples  (Dining Philosophers)</vt:lpstr>
      <vt:lpstr>Petri Net with Time</vt:lpstr>
      <vt:lpstr>How it works?</vt:lpstr>
      <vt:lpstr>How it works?</vt:lpstr>
      <vt:lpstr>References 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Petri Nets</dc:title>
  <dc:creator>Yuna Park</dc:creator>
  <cp:lastModifiedBy>Julius Barath</cp:lastModifiedBy>
  <cp:revision>19</cp:revision>
  <dcterms:created xsi:type="dcterms:W3CDTF">2005-10-17T11:39:44Z</dcterms:created>
  <dcterms:modified xsi:type="dcterms:W3CDTF">2013-09-24T11:45:28Z</dcterms:modified>
</cp:coreProperties>
</file>