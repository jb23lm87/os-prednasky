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52"/>
  </p:notesMasterIdLst>
  <p:handoutMasterIdLst>
    <p:handoutMasterId r:id="rId53"/>
  </p:handoutMasterIdLst>
  <p:sldIdLst>
    <p:sldId id="257" r:id="rId2"/>
    <p:sldId id="298" r:id="rId3"/>
    <p:sldId id="299" r:id="rId4"/>
    <p:sldId id="297" r:id="rId5"/>
    <p:sldId id="259" r:id="rId6"/>
    <p:sldId id="260" r:id="rId7"/>
    <p:sldId id="294" r:id="rId8"/>
    <p:sldId id="261" r:id="rId9"/>
    <p:sldId id="295" r:id="rId10"/>
    <p:sldId id="321" r:id="rId11"/>
    <p:sldId id="325" r:id="rId12"/>
    <p:sldId id="326" r:id="rId13"/>
    <p:sldId id="327" r:id="rId14"/>
    <p:sldId id="328" r:id="rId15"/>
    <p:sldId id="331" r:id="rId16"/>
    <p:sldId id="334" r:id="rId17"/>
    <p:sldId id="262" r:id="rId18"/>
    <p:sldId id="353" r:id="rId19"/>
    <p:sldId id="354" r:id="rId20"/>
    <p:sldId id="1086" r:id="rId21"/>
    <p:sldId id="1087" r:id="rId22"/>
    <p:sldId id="373" r:id="rId23"/>
    <p:sldId id="1088" r:id="rId24"/>
    <p:sldId id="1089" r:id="rId25"/>
    <p:sldId id="267" r:id="rId26"/>
    <p:sldId id="348" r:id="rId27"/>
    <p:sldId id="302" r:id="rId28"/>
    <p:sldId id="303" r:id="rId29"/>
    <p:sldId id="304" r:id="rId30"/>
    <p:sldId id="359" r:id="rId31"/>
    <p:sldId id="360" r:id="rId32"/>
    <p:sldId id="307" r:id="rId33"/>
    <p:sldId id="270" r:id="rId34"/>
    <p:sldId id="1090" r:id="rId35"/>
    <p:sldId id="1091" r:id="rId36"/>
    <p:sldId id="349" r:id="rId37"/>
    <p:sldId id="271" r:id="rId38"/>
    <p:sldId id="272" r:id="rId39"/>
    <p:sldId id="300" r:id="rId40"/>
    <p:sldId id="335" r:id="rId41"/>
    <p:sldId id="351" r:id="rId42"/>
    <p:sldId id="322" r:id="rId43"/>
    <p:sldId id="323" r:id="rId44"/>
    <p:sldId id="324" r:id="rId45"/>
    <p:sldId id="352" r:id="rId46"/>
    <p:sldId id="371" r:id="rId47"/>
    <p:sldId id="374" r:id="rId48"/>
    <p:sldId id="363" r:id="rId49"/>
    <p:sldId id="367" r:id="rId50"/>
    <p:sldId id="368" r:id="rId51"/>
  </p:sldIdLst>
  <p:sldSz cx="9144000" cy="6858000" type="screen4x3"/>
  <p:notesSz cx="7086600" cy="10223500"/>
  <p:defaultTextStyle>
    <a:defPPr>
      <a:defRPr lang="sk-SK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úlius Baráth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BA871-DA53-1E49-AFBC-C267EF91BB43}" v="6" dt="2026-02-03T09:51:29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23"/>
    <p:restoredTop sz="94729"/>
  </p:normalViewPr>
  <p:slideViewPr>
    <p:cSldViewPr snapToGrid="0" snapToObjects="1">
      <p:cViewPr varScale="1">
        <p:scale>
          <a:sx n="163" d="100"/>
          <a:sy n="163" d="100"/>
        </p:scale>
        <p:origin x="17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undo custSel delSld modSld">
      <pc:chgData name="Baráth, Július" userId="aebde9b9-dccc-4475-a9ac-c05e78323d7a" providerId="ADAL" clId="{4A0811C8-ED2F-505E-B787-C8270CED5046}" dt="2026-02-03T09:52:52.845" v="62" actId="12"/>
      <pc:docMkLst>
        <pc:docMk/>
      </pc:docMkLst>
      <pc:sldChg chg="addSp delSp modSp mod chgLayout">
        <pc:chgData name="Baráth, Július" userId="aebde9b9-dccc-4475-a9ac-c05e78323d7a" providerId="ADAL" clId="{4A0811C8-ED2F-505E-B787-C8270CED5046}" dt="2026-02-03T09:52:52.845" v="62" actId="12"/>
        <pc:sldMkLst>
          <pc:docMk/>
          <pc:sldMk cId="2818575950" sldId="326"/>
        </pc:sldMkLst>
        <pc:spChg chg="add del mod">
          <ac:chgData name="Baráth, Július" userId="aebde9b9-dccc-4475-a9ac-c05e78323d7a" providerId="ADAL" clId="{4A0811C8-ED2F-505E-B787-C8270CED5046}" dt="2026-02-03T09:52:29.837" v="55" actId="6264"/>
          <ac:spMkLst>
            <pc:docMk/>
            <pc:sldMk cId="2818575950" sldId="326"/>
            <ac:spMk id="2" creationId="{0F9660C1-9DAE-F6C7-2BF8-2B60A90D6410}"/>
          </ac:spMkLst>
        </pc:spChg>
        <pc:spChg chg="add del mod">
          <ac:chgData name="Baráth, Július" userId="aebde9b9-dccc-4475-a9ac-c05e78323d7a" providerId="ADAL" clId="{4A0811C8-ED2F-505E-B787-C8270CED5046}" dt="2026-02-03T09:52:29.837" v="55" actId="6264"/>
          <ac:spMkLst>
            <pc:docMk/>
            <pc:sldMk cId="2818575950" sldId="326"/>
            <ac:spMk id="3" creationId="{802D4F91-BA2A-D9BC-47E3-1673B1E1D900}"/>
          </ac:spMkLst>
        </pc:spChg>
        <pc:spChg chg="add del mod">
          <ac:chgData name="Baráth, Július" userId="aebde9b9-dccc-4475-a9ac-c05e78323d7a" providerId="ADAL" clId="{4A0811C8-ED2F-505E-B787-C8270CED5046}" dt="2026-02-03T09:52:29.837" v="55" actId="6264"/>
          <ac:spMkLst>
            <pc:docMk/>
            <pc:sldMk cId="2818575950" sldId="326"/>
            <ac:spMk id="4" creationId="{6C5A6DFA-D874-8AD9-B658-CDDD4CD0F081}"/>
          </ac:spMkLst>
        </pc:spChg>
        <pc:spChg chg="mod ord">
          <ac:chgData name="Baráth, Július" userId="aebde9b9-dccc-4475-a9ac-c05e78323d7a" providerId="ADAL" clId="{4A0811C8-ED2F-505E-B787-C8270CED5046}" dt="2026-02-03T09:52:29.837" v="55" actId="6264"/>
          <ac:spMkLst>
            <pc:docMk/>
            <pc:sldMk cId="2818575950" sldId="326"/>
            <ac:spMk id="35843" creationId="{00000000-0000-0000-0000-000000000000}"/>
          </ac:spMkLst>
        </pc:spChg>
        <pc:spChg chg="mod ord">
          <ac:chgData name="Baráth, Július" userId="aebde9b9-dccc-4475-a9ac-c05e78323d7a" providerId="ADAL" clId="{4A0811C8-ED2F-505E-B787-C8270CED5046}" dt="2026-02-03T09:52:29.837" v="55" actId="6264"/>
          <ac:spMkLst>
            <pc:docMk/>
            <pc:sldMk cId="2818575950" sldId="326"/>
            <ac:spMk id="35844" creationId="{00000000-0000-0000-0000-000000000000}"/>
          </ac:spMkLst>
        </pc:spChg>
        <pc:spChg chg="mod ord">
          <ac:chgData name="Baráth, Július" userId="aebde9b9-dccc-4475-a9ac-c05e78323d7a" providerId="ADAL" clId="{4A0811C8-ED2F-505E-B787-C8270CED5046}" dt="2026-02-03T09:52:52.845" v="62" actId="12"/>
          <ac:spMkLst>
            <pc:docMk/>
            <pc:sldMk cId="2818575950" sldId="326"/>
            <ac:spMk id="35845" creationId="{00000000-0000-0000-0000-000000000000}"/>
          </ac:spMkLst>
        </pc:spChg>
        <pc:spChg chg="del">
          <ac:chgData name="Baráth, Július" userId="aebde9b9-dccc-4475-a9ac-c05e78323d7a" providerId="ADAL" clId="{4A0811C8-ED2F-505E-B787-C8270CED5046}" dt="2026-02-03T09:47:38.444" v="2" actId="478"/>
          <ac:spMkLst>
            <pc:docMk/>
            <pc:sldMk cId="2818575950" sldId="326"/>
            <ac:spMk id="66564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2-03T09:51:22.369" v="53" actId="1036"/>
        <pc:sldMkLst>
          <pc:docMk/>
          <pc:sldMk cId="594497787" sldId="327"/>
        </pc:sldMkLst>
        <pc:spChg chg="mod">
          <ac:chgData name="Baráth, Július" userId="aebde9b9-dccc-4475-a9ac-c05e78323d7a" providerId="ADAL" clId="{4A0811C8-ED2F-505E-B787-C8270CED5046}" dt="2026-02-03T09:51:20.359" v="52"/>
          <ac:spMkLst>
            <pc:docMk/>
            <pc:sldMk cId="594497787" sldId="327"/>
            <ac:spMk id="36868" creationId="{00000000-0000-0000-0000-000000000000}"/>
          </ac:spMkLst>
        </pc:spChg>
        <pc:spChg chg="mod">
          <ac:chgData name="Baráth, Július" userId="aebde9b9-dccc-4475-a9ac-c05e78323d7a" providerId="ADAL" clId="{4A0811C8-ED2F-505E-B787-C8270CED5046}" dt="2026-02-03T09:51:22.369" v="53" actId="1036"/>
          <ac:spMkLst>
            <pc:docMk/>
            <pc:sldMk cId="594497787" sldId="327"/>
            <ac:spMk id="36869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2-03T09:51:29.582" v="54"/>
        <pc:sldMkLst>
          <pc:docMk/>
          <pc:sldMk cId="3223375723" sldId="328"/>
        </pc:sldMkLst>
        <pc:spChg chg="mod">
          <ac:chgData name="Baráth, Július" userId="aebde9b9-dccc-4475-a9ac-c05e78323d7a" providerId="ADAL" clId="{4A0811C8-ED2F-505E-B787-C8270CED5046}" dt="2026-02-03T09:51:29.582" v="54"/>
          <ac:spMkLst>
            <pc:docMk/>
            <pc:sldMk cId="3223375723" sldId="328"/>
            <ac:spMk id="37892" creationId="{00000000-0000-0000-0000-000000000000}"/>
          </ac:spMkLst>
        </pc:spChg>
        <pc:spChg chg="mod">
          <ac:chgData name="Baráth, Július" userId="aebde9b9-dccc-4475-a9ac-c05e78323d7a" providerId="ADAL" clId="{4A0811C8-ED2F-505E-B787-C8270CED5046}" dt="2026-02-03T09:49:42.815" v="34" actId="12"/>
          <ac:spMkLst>
            <pc:docMk/>
            <pc:sldMk cId="3223375723" sldId="328"/>
            <ac:spMk id="37893" creationId="{00000000-0000-0000-0000-000000000000}"/>
          </ac:spMkLst>
        </pc:spChg>
      </pc:sldChg>
      <pc:sldChg chg="del">
        <pc:chgData name="Baráth, Július" userId="aebde9b9-dccc-4475-a9ac-c05e78323d7a" providerId="ADAL" clId="{4A0811C8-ED2F-505E-B787-C8270CED5046}" dt="2026-02-03T09:50:06.541" v="35" actId="2696"/>
        <pc:sldMkLst>
          <pc:docMk/>
          <pc:sldMk cId="3928888847" sldId="329"/>
        </pc:sldMkLst>
      </pc:sldChg>
      <pc:sldChg chg="del">
        <pc:chgData name="Baráth, Július" userId="aebde9b9-dccc-4475-a9ac-c05e78323d7a" providerId="ADAL" clId="{4A0811C8-ED2F-505E-B787-C8270CED5046}" dt="2026-02-03T09:50:06.541" v="35" actId="2696"/>
        <pc:sldMkLst>
          <pc:docMk/>
          <pc:sldMk cId="170286491" sldId="33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4-01-19T08:44:33.312" idx="1">
    <p:pos x="133" y="3120"/>
    <p:text>Next-Generation Secure Computing Base
http://www.microsoft.com/resources/ngscb/four_features.mspx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1175" y="9712325"/>
            <a:ext cx="14954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fld id="{696F7068-4F02-4ADA-9867-9F2096FF2EE0}" type="slidenum">
              <a:rPr lang="sk-SK"/>
              <a:pPr/>
              <a:t>‹#›</a:t>
            </a:fld>
            <a:endParaRPr lang="sk-SK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-95250" y="9667875"/>
            <a:ext cx="71135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8911" tIns="49455" rIns="98911" bIns="49455">
            <a:spAutoFit/>
          </a:bodyPr>
          <a:lstStyle/>
          <a:p>
            <a:pPr defTabSz="989013">
              <a:defRPr/>
            </a:pPr>
            <a:r>
              <a:rPr lang="sk-SK" sz="1300"/>
              <a:t>Kpt. Ing. Július Baráth, Ph.D. KT-405,Fakulta Zabezpečenia velenia, Vojenská akadémia, Liptovský Mikuláš</a:t>
            </a:r>
          </a:p>
          <a:p>
            <a:pPr defTabSz="989013">
              <a:defRPr/>
            </a:pPr>
            <a:r>
              <a:rPr lang="sk-SK" sz="1300"/>
              <a:t>© Ing. Július Baráth, Ph.D.</a:t>
            </a:r>
            <a:endParaRPr lang="sk-SK" sz="2600"/>
          </a:p>
        </p:txBody>
      </p:sp>
    </p:spTree>
    <p:extLst>
      <p:ext uri="{BB962C8B-B14F-4D97-AF65-F5344CB8AC3E}">
        <p14:creationId xmlns:p14="http://schemas.microsoft.com/office/powerpoint/2010/main" val="2607742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766763"/>
            <a:ext cx="5111750" cy="3833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k-SK" noProof="0"/>
              <a:t>Klepnutím lze upravit styly předlohy textu</a:t>
            </a:r>
          </a:p>
          <a:p>
            <a:pPr lvl="0"/>
            <a:r>
              <a:rPr lang="sk-SK" noProof="0"/>
              <a:t>Druhá úroveň</a:t>
            </a:r>
          </a:p>
          <a:p>
            <a:pPr lvl="0"/>
            <a:r>
              <a:rPr lang="sk-SK" noProof="0"/>
              <a:t>Třetí úroveň</a:t>
            </a:r>
          </a:p>
          <a:p>
            <a:pPr lvl="0"/>
            <a:r>
              <a:rPr lang="sk-SK" noProof="0"/>
              <a:t>Čtvrtá úroveň</a:t>
            </a:r>
          </a:p>
          <a:p>
            <a:pPr lvl="0"/>
            <a:r>
              <a:rPr lang="sk-SK" noProof="0"/>
              <a:t>Pátá úroveň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fld id="{A887FD47-BE67-41B3-A411-8096366EED04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806445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enterpriselinux.techtarget.com/definition/open-source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hatis.techtarget.com/definition/operating-system-OS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1300"/>
              <a:t>VIS T1/5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F69B22-5013-44CE-9394-C8CF7940A92A}" type="slidenum">
              <a:rPr lang="sk-SK" sz="1300"/>
              <a:pPr/>
              <a:t>1</a:t>
            </a:fld>
            <a:endParaRPr lang="sk-SK" sz="1300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37803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hlavičku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87FD47-BE67-41B3-A411-8096366EED04}" type="slidenum">
              <a:rPr lang="sk-SK" smtClean="0"/>
              <a:pPr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8143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hlavičku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7FD47-BE67-41B3-A411-8096366EED04}" type="slidenum">
              <a:rPr lang="sk-SK" smtClean="0"/>
              <a:pPr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87635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dirty="0"/>
              <a:t>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Windows Operating System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200" b="0" dirty="0">
                <a:solidFill>
                  <a:srgbClr val="FF0000"/>
                </a:solidFill>
              </a:rPr>
              <a:t>3.2 </a:t>
            </a:r>
            <a:r>
              <a:rPr lang="en-GB" dirty="0"/>
              <a:t>–</a:t>
            </a:r>
            <a:r>
              <a:rPr lang="en-GB" baseline="0" dirty="0"/>
              <a:t> </a:t>
            </a:r>
            <a:r>
              <a:rPr lang="en-US" dirty="0"/>
              <a:t>Windows Architecture and Operations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3.2.1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 Abstraction Layer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dirty="0"/>
              <a:t>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Windows Operating System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200" b="0" dirty="0">
                <a:solidFill>
                  <a:srgbClr val="FF0000"/>
                </a:solidFill>
              </a:rPr>
              <a:t>3.2 </a:t>
            </a:r>
            <a:r>
              <a:rPr lang="en-GB" dirty="0"/>
              <a:t>–</a:t>
            </a:r>
            <a:r>
              <a:rPr lang="en-GB" baseline="0" dirty="0"/>
              <a:t> </a:t>
            </a:r>
            <a:r>
              <a:rPr lang="en-US" dirty="0"/>
              <a:t>Windows Architecture and Operations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3.2.2 </a:t>
            </a:r>
            <a:r>
              <a:rPr lang="en-GB" dirty="0"/>
              <a:t>– </a:t>
            </a:r>
            <a:r>
              <a:rPr lang="fr-FR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Mode and Kernel Mode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Zdroj http://</a:t>
            </a:r>
            <a:r>
              <a:rPr lang="sk-SK" err="1"/>
              <a:t>searchwindowsserver.techtarget.com</a:t>
            </a:r>
            <a:r>
              <a:rPr lang="sk-SK"/>
              <a:t>/</a:t>
            </a:r>
            <a:r>
              <a:rPr lang="sk-SK" err="1"/>
              <a:t>definition</a:t>
            </a:r>
            <a:r>
              <a:rPr lang="sk-SK"/>
              <a:t>/Microsoft-Windows-Server-OS-</a:t>
            </a:r>
            <a:r>
              <a:rPr lang="sk-SK" err="1"/>
              <a:t>operating</a:t>
            </a:r>
            <a:r>
              <a:rPr lang="sk-SK"/>
              <a:t>-</a:t>
            </a:r>
            <a:r>
              <a:rPr lang="sk-SK" err="1"/>
              <a:t>system</a:t>
            </a:r>
            <a:endParaRPr lang="sk-SK"/>
          </a:p>
          <a:p>
            <a:endParaRPr lang="sk-SK"/>
          </a:p>
          <a:p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Docker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an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  <a:r>
              <a:rPr lang="sk-SK" sz="1200" b="0" i="0" u="sng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open source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software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platform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to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create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deploy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and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manage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virtualized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application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containers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on a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common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operating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system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(</a:t>
            </a:r>
            <a:r>
              <a:rPr lang="sk-SK" sz="1200" b="0" i="0" u="sng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4"/>
              </a:rPr>
              <a:t>OS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),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with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an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ecosystem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of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allied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sk-SK" sz="1200" b="0" i="0" kern="120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tools</a:t>
            </a:r>
            <a:r>
              <a:rPr lang="sk-SK" sz="1200" b="0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.</a:t>
            </a:r>
            <a:endParaRPr lang="sk-SK"/>
          </a:p>
        </p:txBody>
      </p:sp>
      <p:sp>
        <p:nvSpPr>
          <p:cNvPr id="4" name="Zástupný objekt pre hlavičku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87FD47-BE67-41B3-A411-8096366EED04}" type="slidenum">
              <a:rPr lang="sk-SK" smtClean="0"/>
              <a:pPr/>
              <a:t>22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19786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1300"/>
              <a:t>VIS T1/5</a:t>
            </a:r>
          </a:p>
        </p:txBody>
      </p:sp>
      <p:sp>
        <p:nvSpPr>
          <p:cNvPr id="634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553218-26C6-48EF-9208-EA194F28BDA3}" type="slidenum">
              <a:rPr lang="sk-SK" sz="1300"/>
              <a:pPr/>
              <a:t>28</a:t>
            </a:fld>
            <a:endParaRPr lang="sk-SK" sz="1300"/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5" tIns="48257" rIns="96515" bIns="48257"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6184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err="1"/>
              <a:t>https</a:t>
            </a:r>
            <a:r>
              <a:rPr lang="sk-SK"/>
              <a:t>://</a:t>
            </a:r>
            <a:r>
              <a:rPr lang="sk-SK" err="1"/>
              <a:t>codeingwithios.blogspot.com</a:t>
            </a:r>
            <a:r>
              <a:rPr lang="sk-SK"/>
              <a:t>/2017/09/</a:t>
            </a:r>
            <a:r>
              <a:rPr lang="sk-SK" err="1"/>
              <a:t>ios-layered-architecture.html</a:t>
            </a:r>
            <a:r>
              <a:rPr lang="sk-SK"/>
              <a:t> </a:t>
            </a:r>
          </a:p>
        </p:txBody>
      </p:sp>
      <p:sp>
        <p:nvSpPr>
          <p:cNvPr id="4" name="Zástupný objekt pre hlavičku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sk-SK"/>
              <a:t>VIS T1/5</a:t>
            </a:r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7FD47-BE67-41B3-A411-8096366EED04}" type="slidenum">
              <a:rPr lang="sk-SK" smtClean="0"/>
              <a:pPr/>
              <a:t>47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981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sk-SK"/>
              <a:t>Kliknite sem a upravte štýl predlohy podnadpisov.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D606C4A-687F-441A-828F-A8C30148FBCF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7772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E2FE831-F59A-419E-8FF9-70E368DBF391}" type="slidenum">
              <a:rPr lang="sk-SK"/>
              <a:pPr/>
              <a:t>‹#›</a:t>
            </a:fld>
            <a:endParaRPr lang="sk-SK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905F3283-85FF-0447-89E6-FA0426DB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1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0C1BF8E-B21F-4D43-B0FE-B825AEA9D5AB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763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295400"/>
            <a:ext cx="3810000" cy="5181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800600" y="1295400"/>
            <a:ext cx="3810000" cy="5181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FDB8D63-B479-423D-8C3A-8B4435E5C70B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9921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3CD5EA3-8878-49B0-8CA7-D508B305F9A2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370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BE801AE-72E6-42EF-9089-B4DBA355E9F1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7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CBEF1F4-047F-4C96-AAB8-A458B81FD633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1557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1663159-5650-4408-970C-F388FD517570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1241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k-SK" noProof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879AAF6-6142-47C6-96AC-50AF69B174D6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034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B3E724-020F-4A75-831E-357A2D8B51FA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48450" y="0"/>
            <a:ext cx="1962150" cy="6477000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5734050" cy="6477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0B8F78C-C5F9-4B7D-9B37-0D7B2ABEE0E0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87941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obsah a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295400"/>
            <a:ext cx="38100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quarter" idx="2"/>
          </p:nvPr>
        </p:nvSpPr>
        <p:spPr>
          <a:xfrm>
            <a:off x="4800600" y="1295400"/>
            <a:ext cx="3810000" cy="2514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obsahu 4"/>
          <p:cNvSpPr>
            <a:spLocks noGrp="1"/>
          </p:cNvSpPr>
          <p:nvPr>
            <p:ph sz="quarter" idx="3"/>
          </p:nvPr>
        </p:nvSpPr>
        <p:spPr>
          <a:xfrm>
            <a:off x="4800600" y="3962400"/>
            <a:ext cx="3810000" cy="2514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9DC104A-3B34-4D3A-80C8-D9AA1BC942CA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15233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sz="half" idx="1"/>
          </p:nvPr>
        </p:nvSpPr>
        <p:spPr>
          <a:xfrm>
            <a:off x="838200" y="1295400"/>
            <a:ext cx="38100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800600" y="1295400"/>
            <a:ext cx="38100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56C2EE0-8177-4B38-A8C1-1EAF26419EBB}" type="slidenum">
              <a:rPr lang="sk-SK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33734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6605684"/>
            <a:ext cx="676910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1065260"/>
            <a:ext cx="8853286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9144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08977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k-SK"/>
              <a:t>Klepnutím lze upravit styl předlohy nadpisů.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457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6960389" y="6356350"/>
            <a:ext cx="21836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sk-SK" sz="1200"/>
              <a:t>doc. Ing. Július BARÁTH, PhD.</a:t>
            </a:r>
          </a:p>
          <a:p>
            <a:pPr>
              <a:defRPr/>
            </a:pPr>
            <a:r>
              <a:rPr lang="sk-SK" sz="1200"/>
              <a:t>Katedra informatiky</a:t>
            </a:r>
          </a:p>
        </p:txBody>
      </p:sp>
      <p:sp>
        <p:nvSpPr>
          <p:cNvPr id="2" name="Zástupný text 1">
            <a:extLst>
              <a:ext uri="{FF2B5EF4-FFF2-40B4-BE49-F238E27FC236}">
                <a16:creationId xmlns:a16="http://schemas.microsoft.com/office/drawing/2014/main" id="{B895FBD3-C656-4D49-BAFB-95BD8A59D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FE93D718-3AA7-1A4A-BD4F-8F16E8557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17F5F-D91E-CD46-9450-DFD856A1AC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hacks.net/2018/07/12/microsoft-already-working-on-next-gen-operating-syste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networking.techtarget.com/definition/subn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ndowsazure.com/" TargetMode="External"/><Relationship Id="rId2" Type="http://schemas.openxmlformats.org/officeDocument/2006/relationships/hyperlink" Target="http://www.icloud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ws.amazon.com/ec2/" TargetMode="External"/><Relationship Id="rId4" Type="http://schemas.openxmlformats.org/officeDocument/2006/relationships/hyperlink" Target="http://eyeos.org/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sk-SK" sz="4400" b="1"/>
              <a:t>Úvod </a:t>
            </a:r>
            <a:r>
              <a:rPr lang="sk-SK" sz="4400" b="1" dirty="0"/>
              <a:t>do operačných systémov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135188"/>
          </a:xfrm>
        </p:spPr>
        <p:txBody>
          <a:bodyPr/>
          <a:lstStyle/>
          <a:p>
            <a:r>
              <a:rPr lang="sk-SK" sz="3200"/>
              <a:t>doc. Ing. Július </a:t>
            </a:r>
            <a:r>
              <a:rPr lang="sk-SK" sz="3200" b="1"/>
              <a:t>BARÁTH</a:t>
            </a:r>
            <a:r>
              <a:rPr lang="sk-SK" sz="3200"/>
              <a:t>, PhD.</a:t>
            </a:r>
            <a:endParaRPr lang="sk-SK"/>
          </a:p>
          <a:p>
            <a:r>
              <a:rPr lang="sk-SK"/>
              <a:t>Katedra Informatiky </a:t>
            </a:r>
          </a:p>
          <a:p>
            <a:r>
              <a:rPr lang="sk-SK"/>
              <a:t>Akadémia ozbrojených síl,</a:t>
            </a:r>
            <a:endParaRPr lang="sk-SK" sz="2000"/>
          </a:p>
          <a:p>
            <a:r>
              <a:rPr lang="sk-SK"/>
              <a:t>e-mail: julius.barath@aos.sk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3C1F9C-B519-455E-9E2C-FB7D9FB8CB47}" type="slidenum">
              <a:rPr lang="sk-SK" sz="1400"/>
              <a:pPr/>
              <a:t>2</a:t>
            </a:fld>
            <a:endParaRPr lang="sk-SK" sz="1400"/>
          </a:p>
        </p:txBody>
      </p:sp>
      <p:sp>
        <p:nvSpPr>
          <p:cNvPr id="512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vznik počítačov</a:t>
            </a:r>
          </a:p>
        </p:txBody>
      </p:sp>
      <p:sp>
        <p:nvSpPr>
          <p:cNvPr id="512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sk-SK" dirty="0">
                <a:latin typeface="Arial" panose="020B0604020202020204" pitchFamily="34" charset="0"/>
              </a:rPr>
              <a:t>1642 - Francúzsky matematik </a:t>
            </a:r>
            <a:r>
              <a:rPr lang="sk-SK" dirty="0" err="1">
                <a:latin typeface="Arial" panose="020B0604020202020204" pitchFamily="34" charset="0"/>
              </a:rPr>
              <a:t>Blaise</a:t>
            </a:r>
            <a:r>
              <a:rPr lang="sk-SK" dirty="0">
                <a:latin typeface="Arial" panose="020B0604020202020204" pitchFamily="34" charset="0"/>
              </a:rPr>
              <a:t> Pascal, vynašiel zariadenie na sčítanie použitím koliesok číslovaných od  0 po 9 so špeciálnym mechanizmom na detekciu na indikáciu prechodu na vyšší rád, aby uľahčil svojmu otcovi rátanie daní.</a:t>
            </a:r>
          </a:p>
          <a:p>
            <a:pPr>
              <a:spcBef>
                <a:spcPct val="0"/>
              </a:spcBef>
            </a:pPr>
            <a:r>
              <a:rPr lang="sk-SK" dirty="0">
                <a:latin typeface="Arial" panose="020B0604020202020204" pitchFamily="34" charset="0"/>
              </a:rPr>
              <a:t>1833 Anglický matematik  Charles </a:t>
            </a:r>
            <a:r>
              <a:rPr lang="sk-SK" dirty="0" err="1">
                <a:latin typeface="Arial" panose="020B0604020202020204" pitchFamily="34" charset="0"/>
              </a:rPr>
              <a:t>Babbage</a:t>
            </a:r>
            <a:r>
              <a:rPr lang="sk-SK" dirty="0">
                <a:latin typeface="Arial" panose="020B0604020202020204" pitchFamily="34" charset="0"/>
              </a:rPr>
              <a:t>, predstavil  “analytický stroj” - veľký digitálny kalkulátor, ktorý predstihol </a:t>
            </a:r>
            <a:r>
              <a:rPr lang="sk-SK" dirty="0" err="1">
                <a:latin typeface="Arial" panose="020B0604020202020204" pitchFamily="34" charset="0"/>
              </a:rPr>
              <a:t>odčítací</a:t>
            </a:r>
            <a:r>
              <a:rPr lang="sk-SK" dirty="0">
                <a:latin typeface="Arial" panose="020B0604020202020204" pitchFamily="34" charset="0"/>
              </a:rPr>
              <a:t> stroj z roku 1822. </a:t>
            </a:r>
          </a:p>
          <a:p>
            <a:pPr>
              <a:spcBef>
                <a:spcPct val="0"/>
              </a:spcBef>
            </a:pPr>
            <a:r>
              <a:rPr lang="sk-SK" dirty="0">
                <a:latin typeface="Arial" panose="020B0604020202020204" pitchFamily="34" charset="0"/>
              </a:rPr>
              <a:t>1944 prvý automatický číslicový počítač všeobecného určenia -  </a:t>
            </a:r>
            <a:r>
              <a:rPr lang="sk-SK" dirty="0" err="1">
                <a:latin typeface="Arial" panose="020B0604020202020204" pitchFamily="34" charset="0"/>
              </a:rPr>
              <a:t>Harvard</a:t>
            </a:r>
            <a:r>
              <a:rPr lang="sk-SK" dirty="0">
                <a:latin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</a:rPr>
              <a:t>University</a:t>
            </a:r>
            <a:endParaRPr lang="sk-S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1D17C2-2E60-49CA-9DB8-FF9FB6AF4259}" type="slidenum">
              <a:rPr lang="sk-SK" sz="1400"/>
              <a:pPr/>
              <a:t>3</a:t>
            </a:fld>
            <a:endParaRPr lang="sk-SK" sz="14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Základné pojmy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kritériá pre delenie (číslicových) počítačov</a:t>
            </a:r>
          </a:p>
          <a:p>
            <a:pPr lvl="1"/>
            <a:r>
              <a:rPr lang="sk-SK" dirty="0"/>
              <a:t>počet operácií za sekundu</a:t>
            </a:r>
          </a:p>
          <a:p>
            <a:pPr lvl="1"/>
            <a:r>
              <a:rPr lang="sk-SK" dirty="0"/>
              <a:t>veľkosť operačnej pamäti</a:t>
            </a:r>
          </a:p>
          <a:p>
            <a:pPr lvl="1"/>
            <a:r>
              <a:rPr lang="sk-SK" dirty="0"/>
              <a:t>disková kapacita</a:t>
            </a:r>
          </a:p>
          <a:p>
            <a:pPr lvl="1"/>
            <a:r>
              <a:rPr lang="sk-SK" dirty="0"/>
              <a:t>počet procesorov, ...</a:t>
            </a:r>
          </a:p>
          <a:p>
            <a:pPr lvl="1"/>
            <a:endParaRPr lang="sk-SK" dirty="0"/>
          </a:p>
          <a:p>
            <a:r>
              <a:rPr lang="sk-SK" dirty="0"/>
              <a:t>Táto prednáška nezahŕňa analógové, kvantové ani iné počítače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BCF769-F732-4B73-8CD1-F0824BBB53AC}" type="slidenum">
              <a:rPr lang="sk-SK" sz="1400"/>
              <a:pPr/>
              <a:t>4</a:t>
            </a:fld>
            <a:endParaRPr lang="sk-SK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Delenie podľa výkonnosti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sk-SK" dirty="0"/>
              <a:t>superpočítače</a:t>
            </a:r>
          </a:p>
          <a:p>
            <a:pPr lvl="1">
              <a:spcBef>
                <a:spcPct val="0"/>
              </a:spcBef>
            </a:pPr>
            <a:r>
              <a:rPr lang="sk-SK" dirty="0">
                <a:latin typeface="Arial" panose="020B0604020202020204" pitchFamily="34" charset="0"/>
              </a:rPr>
              <a:t>Je to počítač, ktorý je v danej dobe najväčší, najrýchlejší a najvýkonnejší medzi dostupnými počítačmi.</a:t>
            </a:r>
            <a:endParaRPr lang="sk-SK" dirty="0"/>
          </a:p>
          <a:p>
            <a:pPr>
              <a:spcBef>
                <a:spcPct val="0"/>
              </a:spcBef>
            </a:pPr>
            <a:r>
              <a:rPr lang="sk-SK" dirty="0"/>
              <a:t>strediskové počítače - </a:t>
            </a:r>
            <a:r>
              <a:rPr lang="sk-SK" dirty="0" err="1"/>
              <a:t>mainframe</a:t>
            </a:r>
            <a:endParaRPr lang="sk-SK" dirty="0"/>
          </a:p>
          <a:p>
            <a:pPr lvl="1">
              <a:spcBef>
                <a:spcPct val="0"/>
              </a:spcBef>
              <a:spcAft>
                <a:spcPts val="500"/>
              </a:spcAft>
            </a:pPr>
            <a:r>
              <a:rPr lang="sk-SK" dirty="0">
                <a:latin typeface="Arial" panose="020B0604020202020204" pitchFamily="34" charset="0"/>
              </a:rPr>
              <a:t>Počítač vyššej triedy navrhnutý na riešenie najnáročnejších úloh. </a:t>
            </a:r>
            <a:r>
              <a:rPr lang="sk-SK" dirty="0" err="1">
                <a:latin typeface="Arial" panose="020B0604020202020204" pitchFamily="34" charset="0"/>
              </a:rPr>
              <a:t>Mainframy</a:t>
            </a:r>
            <a:r>
              <a:rPr lang="sk-SK" dirty="0">
                <a:latin typeface="Arial" panose="020B0604020202020204" pitchFamily="34" charset="0"/>
              </a:rPr>
              <a:t> sú často využívané viacerými používateľmi pripojenými cez terminály.</a:t>
            </a:r>
            <a:r>
              <a:rPr lang="sk-SK" i="1" dirty="0">
                <a:latin typeface="Arial" panose="020B0604020202020204" pitchFamily="34" charset="0"/>
              </a:rPr>
              <a:t> </a:t>
            </a:r>
            <a:endParaRPr lang="sk-SK" dirty="0"/>
          </a:p>
          <a:p>
            <a:pPr>
              <a:spcBef>
                <a:spcPct val="0"/>
              </a:spcBef>
              <a:spcAft>
                <a:spcPts val="500"/>
              </a:spcAft>
            </a:pPr>
            <a:r>
              <a:rPr lang="sk-SK" dirty="0"/>
              <a:t>minipočítače </a:t>
            </a:r>
          </a:p>
          <a:p>
            <a:pPr lvl="1">
              <a:spcBef>
                <a:spcPct val="0"/>
              </a:spcBef>
              <a:spcAft>
                <a:spcPts val="500"/>
              </a:spcAft>
            </a:pPr>
            <a:r>
              <a:rPr lang="sk-SK" dirty="0">
                <a:latin typeface="Arial" panose="020B0604020202020204" pitchFamily="34" charset="0"/>
              </a:rPr>
              <a:t>Používajú sa v stredne veľkých podnikoch a organizáciách na spracovanie dát, riadenie procesov a podporu viacerých používateľov súčasne. (DEC PDP-11, IBM </a:t>
            </a:r>
            <a:r>
              <a:rPr lang="sk-SK" dirty="0" err="1">
                <a:latin typeface="Arial" panose="020B0604020202020204" pitchFamily="34" charset="0"/>
              </a:rPr>
              <a:t>System</a:t>
            </a:r>
            <a:r>
              <a:rPr lang="sk-SK" dirty="0">
                <a:latin typeface="Arial" panose="020B0604020202020204" pitchFamily="34" charset="0"/>
              </a:rPr>
              <a:t>/36)</a:t>
            </a:r>
          </a:p>
          <a:p>
            <a:r>
              <a:rPr lang="sk-SK" dirty="0"/>
              <a:t>mikropočítače</a:t>
            </a:r>
          </a:p>
          <a:p>
            <a:pPr lvl="1">
              <a:spcBef>
                <a:spcPct val="0"/>
              </a:spcBef>
            </a:pPr>
            <a:r>
              <a:rPr lang="sk-SK" dirty="0">
                <a:latin typeface="Arial" panose="020B0604020202020204" pitchFamily="34" charset="0"/>
              </a:rPr>
              <a:t>Používajú sa na osobné a domáce účely, v malých podnikoch a na vzdelávacie účely... (</a:t>
            </a:r>
            <a:r>
              <a:rPr lang="sk-SK" b="0" i="0" dirty="0">
                <a:solidFill>
                  <a:srgbClr val="424242"/>
                </a:solidFill>
                <a:effectLst/>
                <a:latin typeface="Segoe Sans"/>
              </a:rPr>
              <a:t>Apple II, IBM PC.</a:t>
            </a:r>
            <a:r>
              <a:rPr lang="sk-SK" dirty="0">
                <a:latin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sk-SK" dirty="0"/>
              <a:t>Inteligentné zariadenia</a:t>
            </a:r>
          </a:p>
          <a:p>
            <a:pPr lvl="1">
              <a:spcBef>
                <a:spcPct val="0"/>
              </a:spcBef>
            </a:pPr>
            <a:r>
              <a:rPr lang="sk-SK" dirty="0"/>
              <a:t>PDA, smartphone, nositeľné zariadenia</a:t>
            </a:r>
          </a:p>
          <a:p>
            <a:pPr>
              <a:spcBef>
                <a:spcPct val="0"/>
              </a:spcBef>
            </a:pPr>
            <a:r>
              <a:rPr lang="sk-SK" dirty="0" err="1"/>
              <a:t>IoT</a:t>
            </a:r>
            <a:r>
              <a:rPr lang="sk-SK" dirty="0"/>
              <a:t> – Internet of </a:t>
            </a:r>
            <a:r>
              <a:rPr lang="sk-SK" dirty="0" err="1"/>
              <a:t>things</a:t>
            </a:r>
            <a:endParaRPr lang="sk-S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655443-80FD-41ED-A5BD-ADFA4932F6FB}" type="slidenum">
              <a:rPr lang="sk-SK" sz="1400"/>
              <a:pPr/>
              <a:t>5</a:t>
            </a:fld>
            <a:endParaRPr lang="sk-SK" sz="14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delenie počítačov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sk-SK"/>
              <a:t>osobné počítače - PC</a:t>
            </a:r>
          </a:p>
          <a:p>
            <a:pPr lvl="1"/>
            <a:r>
              <a:rPr lang="sk-SK"/>
              <a:t>domáce</a:t>
            </a:r>
          </a:p>
          <a:p>
            <a:pPr lvl="1"/>
            <a:r>
              <a:rPr lang="sk-SK"/>
              <a:t>profesionálne (niekedy tiež pracovné stanice)</a:t>
            </a:r>
          </a:p>
          <a:p>
            <a:r>
              <a:rPr lang="sk-SK"/>
              <a:t>jednoúčelové (vstavané) počítače - riadiace systémy</a:t>
            </a:r>
          </a:p>
          <a:p>
            <a:r>
              <a:rPr lang="sk-SK"/>
              <a:t>vývojové systémy</a:t>
            </a:r>
          </a:p>
          <a:p>
            <a:r>
              <a:rPr lang="sk-SK"/>
              <a:t>počítače sú riadené programom (OS, aplikačným)</a:t>
            </a:r>
          </a:p>
          <a:p>
            <a:pPr lvl="1"/>
            <a:r>
              <a:rPr lang="sk-SK"/>
              <a:t>vedecké výpočty, hromadné spracovanie dát, automatizácia kancelárskych prác, používanie DB, simulácie, úlohy umelej inteligencie, automatizovaný návrh a projektovanie, riadenie technologických procesov, podpora výučby, programovanie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C31198-BD11-4353-A193-6CEBBBF20A19}" type="slidenum">
              <a:rPr lang="sk-SK" sz="1400"/>
              <a:pPr/>
              <a:t>6</a:t>
            </a:fld>
            <a:endParaRPr lang="sk-SK" sz="14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Programy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sk-SK" dirty="0"/>
              <a:t>Program (kód)  - postupnosť inštrukcií</a:t>
            </a:r>
          </a:p>
          <a:p>
            <a:pPr>
              <a:lnSpc>
                <a:spcPct val="90000"/>
              </a:lnSpc>
            </a:pPr>
            <a:endParaRPr lang="sk-SK" dirty="0"/>
          </a:p>
          <a:p>
            <a:pPr>
              <a:lnSpc>
                <a:spcPct val="90000"/>
              </a:lnSpc>
            </a:pPr>
            <a:r>
              <a:rPr lang="sk-SK" dirty="0"/>
              <a:t>aplikačný program je tvorený sústavou programov - vykonávané sú ako úlohy</a:t>
            </a:r>
          </a:p>
          <a:p>
            <a:pPr>
              <a:lnSpc>
                <a:spcPct val="90000"/>
              </a:lnSpc>
            </a:pPr>
            <a:r>
              <a:rPr lang="sk-SK" u="sng" dirty="0">
                <a:solidFill>
                  <a:schemeClr val="accent2"/>
                </a:solidFill>
              </a:rPr>
              <a:t>sekvenčný prístup</a:t>
            </a:r>
            <a:r>
              <a:rPr lang="sk-SK" dirty="0"/>
              <a:t> - úlohy sa pri vykonávaní vzájomne neprekrývajú</a:t>
            </a:r>
          </a:p>
          <a:p>
            <a:pPr>
              <a:lnSpc>
                <a:spcPct val="90000"/>
              </a:lnSpc>
            </a:pPr>
            <a:r>
              <a:rPr lang="sk-SK" u="sng" dirty="0">
                <a:solidFill>
                  <a:schemeClr val="accent2"/>
                </a:solidFill>
              </a:rPr>
              <a:t>paralelný prístup</a:t>
            </a:r>
            <a:r>
              <a:rPr lang="sk-SK" dirty="0"/>
              <a:t> - jednotlivé podprogramy sa musia vykonávať súčasne (multitasking)</a:t>
            </a:r>
          </a:p>
          <a:p>
            <a:pPr>
              <a:lnSpc>
                <a:spcPct val="90000"/>
              </a:lnSpc>
            </a:pPr>
            <a:r>
              <a:rPr lang="sk-SK" dirty="0"/>
              <a:t>u výkonných počítačov sa </a:t>
            </a:r>
            <a:r>
              <a:rPr lang="sk-SK" dirty="0" err="1"/>
              <a:t>PGMy</a:t>
            </a:r>
            <a:r>
              <a:rPr lang="sk-SK" dirty="0"/>
              <a:t> vykonávajú súčasne, aby sa lepšie využil procesor</a:t>
            </a:r>
          </a:p>
          <a:p>
            <a:pPr>
              <a:lnSpc>
                <a:spcPct val="90000"/>
              </a:lnSpc>
            </a:pPr>
            <a:r>
              <a:rPr lang="sk-SK" dirty="0" err="1"/>
              <a:t>Reentrantný</a:t>
            </a:r>
            <a:r>
              <a:rPr lang="sk-SK" dirty="0"/>
              <a:t>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536CBE-2582-475E-BF58-6A71DAFEAB1C}" type="slidenum">
              <a:rPr lang="sk-SK" sz="1400"/>
              <a:pPr/>
              <a:t>7</a:t>
            </a:fld>
            <a:endParaRPr lang="sk-SK" sz="14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Operačný systém - pojmy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sk-SK" dirty="0">
                <a:solidFill>
                  <a:schemeClr val="accent2"/>
                </a:solidFill>
              </a:rPr>
              <a:t>používateľ</a:t>
            </a:r>
            <a:r>
              <a:rPr lang="sk-SK" dirty="0"/>
              <a:t> - každý, kto zadáva úlohu na spracovanie výpočtovému systému</a:t>
            </a:r>
          </a:p>
          <a:p>
            <a:r>
              <a:rPr lang="sk-SK" dirty="0">
                <a:solidFill>
                  <a:schemeClr val="accent2"/>
                </a:solidFill>
              </a:rPr>
              <a:t>úloha</a:t>
            </a:r>
            <a:r>
              <a:rPr lang="sk-SK" dirty="0"/>
              <a:t> (</a:t>
            </a:r>
            <a:r>
              <a:rPr lang="sk-SK" dirty="0" err="1"/>
              <a:t>job</a:t>
            </a:r>
            <a:r>
              <a:rPr lang="sk-SK" dirty="0"/>
              <a:t>) - súhrn činností potrebných k vykonaniu zadania</a:t>
            </a:r>
          </a:p>
          <a:p>
            <a:r>
              <a:rPr lang="sk-SK" dirty="0">
                <a:solidFill>
                  <a:schemeClr val="accent2"/>
                </a:solidFill>
              </a:rPr>
              <a:t>kroky úlohy</a:t>
            </a:r>
            <a:r>
              <a:rPr lang="sk-SK" dirty="0"/>
              <a:t> - jednotky činností, ktoré musia byť vykonané postupne v stanovenom poradí (preklad, zavedenie </a:t>
            </a:r>
            <a:r>
              <a:rPr lang="sk-SK" dirty="0" err="1"/>
              <a:t>PGMu</a:t>
            </a:r>
            <a:r>
              <a:rPr lang="sk-SK" dirty="0"/>
              <a:t> a jeho vykonanie)</a:t>
            </a:r>
          </a:p>
          <a:p>
            <a:r>
              <a:rPr lang="sk-SK" dirty="0">
                <a:solidFill>
                  <a:schemeClr val="accent2"/>
                </a:solidFill>
              </a:rPr>
              <a:t>proces</a:t>
            </a:r>
            <a:r>
              <a:rPr lang="sk-SK" dirty="0"/>
              <a:t> - výpočet, ktorý môže byť vykonaný paralelne s inými výpočtami</a:t>
            </a:r>
          </a:p>
          <a:p>
            <a:r>
              <a:rPr lang="sk-SK" dirty="0">
                <a:solidFill>
                  <a:schemeClr val="accent2"/>
                </a:solidFill>
              </a:rPr>
              <a:t>adresný priestor</a:t>
            </a:r>
            <a:r>
              <a:rPr lang="sk-SK" dirty="0"/>
              <a:t> - rozsah adries, ktoré môže procesor alebo iný hardvérový komponent použiť na prístup k pamäti (fyzický/virtuálny).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54740F-4D79-4908-8BF1-6F940B4991EF}" type="slidenum">
              <a:rPr lang="sk-SK" sz="1400"/>
              <a:pPr/>
              <a:t>8</a:t>
            </a:fld>
            <a:endParaRPr lang="sk-SK" sz="14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Operačný systém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r>
              <a:rPr lang="sk-SK" dirty="0">
                <a:solidFill>
                  <a:srgbClr val="FF0000"/>
                </a:solidFill>
              </a:rPr>
              <a:t>OS</a:t>
            </a:r>
            <a:r>
              <a:rPr lang="sk-SK" dirty="0"/>
              <a:t> - základný prvok programového vybavenia - medzi aplikáciou a technickými prostriedkami</a:t>
            </a:r>
          </a:p>
          <a:p>
            <a:r>
              <a:rPr lang="sk-SK" b="1" dirty="0"/>
              <a:t>Definícia </a:t>
            </a:r>
            <a:r>
              <a:rPr lang="sk-SK" dirty="0"/>
              <a:t>Operačný systém výpočtového systému je správca fyzických prostriedkov daného systému (aj cloudového), ktorý pomocou logických prostriedkov spracováva úlohy zadané používateľom alebo iným procesom.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Pod pojmom softvérová platforma systému obvykle chápeme práve operačný systém.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0ADBD1-BE63-4F26-AC81-C0AB920444A3}" type="slidenum">
              <a:rPr lang="sk-SK" sz="1400"/>
              <a:pPr/>
              <a:t>9</a:t>
            </a:fld>
            <a:endParaRPr lang="sk-SK" sz="140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95400"/>
            <a:ext cx="5181600" cy="5181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lvl="1"/>
            <a:r>
              <a:rPr lang="sk-SK" u="sng">
                <a:solidFill>
                  <a:schemeClr val="accent2"/>
                </a:solidFill>
              </a:rPr>
              <a:t>systém ovládania súborov</a:t>
            </a:r>
            <a:endParaRPr lang="sk-SK"/>
          </a:p>
          <a:p>
            <a:pPr lvl="2"/>
            <a:r>
              <a:rPr lang="sk-SK"/>
              <a:t>sleduje súbory, ich umiestnenie, použitie, stav a pod.</a:t>
            </a:r>
          </a:p>
          <a:p>
            <a:pPr lvl="2"/>
            <a:r>
              <a:rPr lang="sk-SK"/>
              <a:t>rozhoduje, komu budú prostriedky pridelené, realizuje požiadavky na ochranu</a:t>
            </a:r>
          </a:p>
          <a:p>
            <a:pPr lvl="2"/>
            <a:r>
              <a:rPr lang="sk-SK"/>
              <a:t>prideľuje a uvoľňuje prostriedok (súbor)</a:t>
            </a:r>
          </a:p>
          <a:p>
            <a:pPr lvl="1"/>
            <a:r>
              <a:rPr lang="sk-SK" u="sng">
                <a:solidFill>
                  <a:schemeClr val="accent2"/>
                </a:solidFill>
              </a:rPr>
              <a:t>ovládanie PZ</a:t>
            </a:r>
            <a:endParaRPr lang="sk-SK"/>
          </a:p>
          <a:p>
            <a:pPr lvl="2"/>
            <a:r>
              <a:rPr lang="sk-SK"/>
              <a:t>sleduje stav prostriedkov (PZ, kanály, riadiace jednotky)</a:t>
            </a:r>
          </a:p>
          <a:p>
            <a:pPr lvl="2"/>
            <a:r>
              <a:rPr lang="sk-SK"/>
              <a:t>rozhoduje o efektívnom pridelení PZ</a:t>
            </a:r>
          </a:p>
          <a:p>
            <a:pPr lvl="2"/>
            <a:r>
              <a:rPr lang="sk-SK"/>
              <a:t>prideľuje a uvoľňuje prostriedok</a:t>
            </a:r>
          </a:p>
          <a:p>
            <a:pPr lvl="1">
              <a:lnSpc>
                <a:spcPct val="90000"/>
              </a:lnSpc>
            </a:pPr>
            <a:r>
              <a:rPr lang="sk-SK" sz="2000" u="sng">
                <a:solidFill>
                  <a:schemeClr val="accent2"/>
                </a:solidFill>
              </a:rPr>
              <a:t>správa operačnej pamäti</a:t>
            </a:r>
            <a:endParaRPr lang="sk-SK" sz="2000"/>
          </a:p>
          <a:p>
            <a:pPr lvl="2">
              <a:lnSpc>
                <a:spcPct val="90000"/>
              </a:lnSpc>
            </a:pPr>
            <a:r>
              <a:rPr lang="sk-SK" sz="1800"/>
              <a:t>sleduje stav prostriedku</a:t>
            </a:r>
          </a:p>
          <a:p>
            <a:pPr lvl="2">
              <a:lnSpc>
                <a:spcPct val="90000"/>
              </a:lnSpc>
            </a:pPr>
            <a:r>
              <a:rPr lang="sk-SK" sz="1800"/>
              <a:t>v </a:t>
            </a:r>
            <a:r>
              <a:rPr lang="sk-SK" sz="1800" err="1"/>
              <a:t>multiprogramovom</a:t>
            </a:r>
            <a:r>
              <a:rPr lang="sk-SK" sz="1800"/>
              <a:t> systéme rozhoduje, ktorý proces dostane pridelenú pamäť</a:t>
            </a:r>
          </a:p>
          <a:p>
            <a:pPr lvl="2">
              <a:lnSpc>
                <a:spcPct val="90000"/>
              </a:lnSpc>
            </a:pPr>
            <a:r>
              <a:rPr lang="sk-SK" sz="1800"/>
              <a:t>žiada navrátenie prostriedku</a:t>
            </a:r>
          </a:p>
          <a:p>
            <a:pPr lvl="1">
              <a:lnSpc>
                <a:spcPct val="90000"/>
              </a:lnSpc>
            </a:pPr>
            <a:r>
              <a:rPr lang="sk-SK" sz="2000" u="sng">
                <a:solidFill>
                  <a:schemeClr val="accent2"/>
                </a:solidFill>
              </a:rPr>
              <a:t>správa procesov</a:t>
            </a:r>
            <a:endParaRPr lang="sk-SK" sz="2000"/>
          </a:p>
          <a:p>
            <a:pPr lvl="2">
              <a:lnSpc>
                <a:spcPct val="90000"/>
              </a:lnSpc>
            </a:pPr>
            <a:r>
              <a:rPr lang="sk-SK" sz="1800"/>
              <a:t>sleduje stav procesov</a:t>
            </a:r>
          </a:p>
          <a:p>
            <a:pPr lvl="2">
              <a:lnSpc>
                <a:spcPct val="90000"/>
              </a:lnSpc>
            </a:pPr>
            <a:r>
              <a:rPr lang="sk-SK" sz="1800"/>
              <a:t>realizuje funkciu plánovača úloh</a:t>
            </a:r>
          </a:p>
          <a:p>
            <a:pPr lvl="2">
              <a:lnSpc>
                <a:spcPct val="90000"/>
              </a:lnSpc>
            </a:pPr>
            <a:r>
              <a:rPr lang="sk-SK" sz="1800"/>
              <a:t>prideľuje a uvoľňuje prostriedok</a:t>
            </a:r>
          </a:p>
          <a:p>
            <a:pPr lvl="1">
              <a:lnSpc>
                <a:spcPct val="90000"/>
              </a:lnSpc>
            </a:pPr>
            <a:r>
              <a:rPr lang="sk-SK" sz="2200"/>
              <a:t>Správa systému, správa súborov, správa používateľov, správa úloh,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Služby OS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953000" y="1828800"/>
          <a:ext cx="3752850" cy="375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14560" imgH="2914560" progId="Visio.Drawing.6">
                  <p:embed/>
                </p:oleObj>
              </mc:Choice>
              <mc:Fallback>
                <p:oleObj name="VISIO" r:id="rId2" imgW="2914560" imgH="2914560" progId="Visio.Drawing.6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28800"/>
                        <a:ext cx="3752850" cy="375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F1F4-047F-4C96-AAB8-A458B81FD633}" type="slidenum">
              <a:rPr lang="sk-SK" smtClean="0"/>
              <a:pPr/>
              <a:t>10</a:t>
            </a:fld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520262" y="1143000"/>
            <a:ext cx="7772400" cy="51816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sk-SK" dirty="0"/>
              <a:t>Podľa počtu používateľov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Jednopoužívateľské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Viacpoužívateľské</a:t>
            </a:r>
          </a:p>
          <a:p>
            <a:pPr>
              <a:lnSpc>
                <a:spcPct val="90000"/>
              </a:lnSpc>
            </a:pPr>
            <a:r>
              <a:rPr lang="sk-SK" dirty="0"/>
              <a:t>Podľa počtu vykonávaných úloh</a:t>
            </a:r>
          </a:p>
          <a:p>
            <a:pPr lvl="1">
              <a:lnSpc>
                <a:spcPct val="90000"/>
              </a:lnSpc>
            </a:pPr>
            <a:r>
              <a:rPr lang="sk-SK" dirty="0" err="1"/>
              <a:t>Jednoúlohové</a:t>
            </a:r>
            <a:endParaRPr lang="sk-SK" dirty="0"/>
          </a:p>
          <a:p>
            <a:pPr lvl="1">
              <a:lnSpc>
                <a:spcPct val="90000"/>
              </a:lnSpc>
            </a:pPr>
            <a:r>
              <a:rPr lang="sk-SK" dirty="0" err="1"/>
              <a:t>Viacúlohové</a:t>
            </a:r>
            <a:endParaRPr lang="sk-SK" dirty="0"/>
          </a:p>
          <a:p>
            <a:pPr>
              <a:lnSpc>
                <a:spcPct val="90000"/>
              </a:lnSpc>
            </a:pPr>
            <a:r>
              <a:rPr lang="sk-SK" dirty="0"/>
              <a:t>Podľa spôsobu spracovania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Interaktívne: Umožňujú priamu interakciu používateľa s počítačom (napr. Windows, </a:t>
            </a:r>
            <a:r>
              <a:rPr lang="sk-SK" dirty="0" err="1"/>
              <a:t>macOS</a:t>
            </a:r>
            <a:r>
              <a:rPr lang="sk-SK" dirty="0"/>
              <a:t>).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Dávkové: Spracovávajú úlohy bez priamej interakcie používateľa, často v dávkach (napr. staršie </a:t>
            </a:r>
            <a:r>
              <a:rPr lang="sk-SK" dirty="0" err="1"/>
              <a:t>mainframe</a:t>
            </a:r>
            <a:r>
              <a:rPr lang="sk-SK" dirty="0"/>
              <a:t> systémy).</a:t>
            </a:r>
          </a:p>
          <a:p>
            <a:pPr>
              <a:lnSpc>
                <a:spcPct val="90000"/>
              </a:lnSpc>
            </a:pPr>
            <a:r>
              <a:rPr lang="sk-SK" dirty="0"/>
              <a:t>Podľa použitia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Desktopové: Určené pre osobné počítače a bežných používateľov (napr. Windows, </a:t>
            </a:r>
            <a:r>
              <a:rPr lang="sk-SK" dirty="0" err="1"/>
              <a:t>macOS</a:t>
            </a:r>
            <a:r>
              <a:rPr lang="sk-SK" dirty="0"/>
              <a:t>).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Serverové: Optimalizované pre servery a sieťové služby (napr. Windows Server, Linux Server).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Mobilné: Navrhnuté pre mobilné zariadenia (napr. Android, </a:t>
            </a:r>
            <a:r>
              <a:rPr lang="sk-SK" dirty="0" err="1"/>
              <a:t>iOS</a:t>
            </a:r>
            <a:r>
              <a:rPr lang="sk-SK" dirty="0"/>
              <a:t>).</a:t>
            </a:r>
          </a:p>
          <a:p>
            <a:pPr>
              <a:lnSpc>
                <a:spcPct val="90000"/>
              </a:lnSpc>
            </a:pPr>
            <a:r>
              <a:rPr lang="sk-SK" dirty="0"/>
              <a:t>Podľa architektúry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Monolitické: Všetky základné služby sú integrované do jedného jadra (napr. staršie verzie Unixu).</a:t>
            </a:r>
          </a:p>
          <a:p>
            <a:pPr lvl="1">
              <a:lnSpc>
                <a:spcPct val="90000"/>
              </a:lnSpc>
            </a:pPr>
            <a:r>
              <a:rPr lang="sk-SK" dirty="0" err="1"/>
              <a:t>Mikrojadrové</a:t>
            </a:r>
            <a:r>
              <a:rPr lang="sk-SK" dirty="0"/>
              <a:t>: Jadro je rozdelené na menšie moduly, ktoré komunikujú medzi sebou (napr. moderné verzie Unixu, QNX).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1143000"/>
          </a:xfrm>
        </p:spPr>
        <p:txBody>
          <a:bodyPr/>
          <a:lstStyle/>
          <a:p>
            <a:r>
              <a:rPr lang="sk-SK" dirty="0"/>
              <a:t>Delenie OS</a:t>
            </a:r>
          </a:p>
        </p:txBody>
      </p:sp>
    </p:spTree>
    <p:extLst>
      <p:ext uri="{BB962C8B-B14F-4D97-AF65-F5344CB8AC3E}">
        <p14:creationId xmlns:p14="http://schemas.microsoft.com/office/powerpoint/2010/main" val="278099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Architektúry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b="1" dirty="0"/>
              <a:t>Monolitické</a:t>
            </a:r>
            <a:r>
              <a:rPr lang="sk-SK" dirty="0"/>
              <a:t>: Všetky základné služby sú integrované do jedného jadra (napr. staršie verzie Unixu).</a:t>
            </a:r>
          </a:p>
          <a:p>
            <a:r>
              <a:rPr lang="sk-SK" b="1" dirty="0" err="1"/>
              <a:t>Mikrojadrové</a:t>
            </a:r>
            <a:r>
              <a:rPr lang="sk-SK" dirty="0"/>
              <a:t>: Jadro je rozdelené na menšie moduly, ktoré komunikujú medzi sebou (napr. moderné verzie Unixu, QNX).</a:t>
            </a:r>
          </a:p>
          <a:p>
            <a:r>
              <a:rPr lang="sk-SK" dirty="0"/>
              <a:t>Virtuálne počítače</a:t>
            </a:r>
          </a:p>
          <a:p>
            <a:pPr lvl="1"/>
            <a:r>
              <a:rPr lang="sk-SK" dirty="0"/>
              <a:t>V OS pre oddelené podsystémy</a:t>
            </a:r>
          </a:p>
          <a:p>
            <a:r>
              <a:rPr lang="sk-SK" dirty="0"/>
              <a:t>Abstraktné počítače</a:t>
            </a:r>
          </a:p>
          <a:p>
            <a:pPr lvl="1"/>
            <a:r>
              <a:rPr lang="sk-SK" dirty="0"/>
              <a:t>Sú prideľované len jednému prostriedku</a:t>
            </a:r>
          </a:p>
          <a:p>
            <a:r>
              <a:rPr lang="sk-SK" dirty="0"/>
              <a:t>Modulárna štruktúra</a:t>
            </a:r>
          </a:p>
          <a:p>
            <a:r>
              <a:rPr lang="sk-SK" dirty="0"/>
              <a:t>Model klient-server</a:t>
            </a:r>
          </a:p>
          <a:p>
            <a:endParaRPr lang="sk-S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E15A2-9A3E-4593-9898-18766718B2D9}" type="slidenum">
              <a:rPr lang="sk-SK" smtClean="0"/>
              <a:pPr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36868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7772400" cy="5181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k-SK" b="1" dirty="0"/>
              <a:t>1. Kontextová inteligencia</a:t>
            </a:r>
          </a:p>
          <a:p>
            <a:r>
              <a:rPr lang="sk-SK" dirty="0"/>
              <a:t>OS musí chápať, čo chceš urobiť, nie ako to chceš urobiť.</a:t>
            </a:r>
          </a:p>
          <a:p>
            <a:r>
              <a:rPr lang="sk-SK" dirty="0"/>
              <a:t>Automaticky prispôsobí prostredie podľa úlohy (práca, cestovanie, prezentácia, úprava fotiek, bezpečný režim na verejnej Wi‑Fi).</a:t>
            </a:r>
          </a:p>
          <a:p>
            <a:r>
              <a:rPr lang="sk-SK" dirty="0"/>
              <a:t>Predvída ďalší krok a ponúka ho bez toho, aby si musel klikať.</a:t>
            </a:r>
          </a:p>
          <a:p>
            <a:pPr marL="0" indent="0">
              <a:buNone/>
            </a:pPr>
            <a:r>
              <a:rPr lang="sk-SK" b="1" dirty="0"/>
              <a:t>2. </a:t>
            </a:r>
            <a:r>
              <a:rPr lang="sk-SK" b="1" dirty="0" err="1"/>
              <a:t>Nativná</a:t>
            </a:r>
            <a:r>
              <a:rPr lang="sk-SK" b="1" dirty="0"/>
              <a:t> integrácia AI na všetkých úrovniach</a:t>
            </a:r>
          </a:p>
          <a:p>
            <a:r>
              <a:rPr lang="sk-SK" dirty="0"/>
              <a:t>AI nie je aplikácia, ale súčasť jadra.</a:t>
            </a:r>
          </a:p>
          <a:p>
            <a:r>
              <a:rPr lang="sk-SK" dirty="0"/>
              <a:t>Správa súborov, bezpečnosť, optimalizácia výkonu, multitasking — všetko riadené adaptívne.</a:t>
            </a:r>
          </a:p>
          <a:p>
            <a:r>
              <a:rPr lang="sk-SK" dirty="0"/>
              <a:t>OS sa učí tvoje návyky, ale transparentne a s kontrolou nad tým, čo sa ukladá.</a:t>
            </a:r>
          </a:p>
          <a:p>
            <a:pPr marL="0" indent="0">
              <a:buNone/>
            </a:pPr>
            <a:r>
              <a:rPr lang="sk-SK" b="1" dirty="0"/>
              <a:t>3. Absolútna modularita</a:t>
            </a:r>
          </a:p>
          <a:p>
            <a:r>
              <a:rPr lang="sk-SK" dirty="0"/>
              <a:t>Každá časť systému je vymeniteľná bez reštartu.</a:t>
            </a:r>
          </a:p>
          <a:p>
            <a:r>
              <a:rPr lang="sk-SK" dirty="0"/>
              <a:t>Používateľ si môže vybrať jadro UI, správcu okien, bezpečnostný modul, sieťový </a:t>
            </a:r>
            <a:r>
              <a:rPr lang="sk-SK" dirty="0" err="1"/>
              <a:t>stack</a:t>
            </a:r>
            <a:r>
              <a:rPr lang="sk-SK" dirty="0"/>
              <a:t>.</a:t>
            </a:r>
          </a:p>
          <a:p>
            <a:r>
              <a:rPr lang="sk-SK" dirty="0"/>
              <a:t>Systém sa aktualizuje po moduloch, nie ako monolit.</a:t>
            </a:r>
          </a:p>
        </p:txBody>
      </p:sp>
      <p:sp>
        <p:nvSpPr>
          <p:cNvPr id="35843" name="Zástupný symbol čísla snímky 5"/>
          <p:cNvSpPr>
            <a:spLocks noGrp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43F905-6EC0-4475-9B64-4D719018CAD1}" type="slidenum">
              <a:rPr lang="sk-SK"/>
              <a:pPr/>
              <a:t>12</a:t>
            </a:fld>
            <a:endParaRPr lang="sk-SK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dirty="0"/>
              <a:t>Požiadavky na OS budúcnosti</a:t>
            </a:r>
          </a:p>
        </p:txBody>
      </p:sp>
    </p:spTree>
    <p:extLst>
      <p:ext uri="{BB962C8B-B14F-4D97-AF65-F5344CB8AC3E}">
        <p14:creationId xmlns:p14="http://schemas.microsoft.com/office/powerpoint/2010/main" val="281857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F37717-5762-4006-940D-ED1308F8C9A2}" type="slidenum">
              <a:rPr lang="sk-SK" sz="1400"/>
              <a:pPr/>
              <a:t>13</a:t>
            </a:fld>
            <a:endParaRPr lang="sk-SK" sz="14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b="1" dirty="0"/>
              <a:t>Požiadavky na OS budúcnosti</a:t>
            </a:r>
            <a:endParaRPr lang="sk-SK" dirty="0"/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03215"/>
            <a:ext cx="7772400" cy="5181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k-SK" b="1" dirty="0"/>
              <a:t>4. </a:t>
            </a:r>
            <a:r>
              <a:rPr lang="sk-SK" b="1" dirty="0" err="1"/>
              <a:t>Zero</a:t>
            </a:r>
            <a:r>
              <a:rPr lang="sk-SK" b="1" dirty="0"/>
              <a:t>‑trust bezpečnostná architektúra</a:t>
            </a:r>
          </a:p>
          <a:p>
            <a:r>
              <a:rPr lang="sk-SK" dirty="0"/>
              <a:t>Každý proces je </a:t>
            </a:r>
            <a:r>
              <a:rPr lang="sk-SK" dirty="0" err="1"/>
              <a:t>sandboxovaný</a:t>
            </a:r>
            <a:r>
              <a:rPr lang="sk-SK" dirty="0"/>
              <a:t>.</a:t>
            </a:r>
          </a:p>
          <a:p>
            <a:r>
              <a:rPr lang="sk-SK" dirty="0"/>
              <a:t>OS automaticky izoluje rizikové aktivity (napr. prístup na verejnú Wi‑Fi, spúšťanie neznámeho softvéru).</a:t>
            </a:r>
          </a:p>
          <a:p>
            <a:r>
              <a:rPr lang="sk-SK" dirty="0"/>
              <a:t>Hardvérové šifrovanie je povinné a transparentné.</a:t>
            </a:r>
          </a:p>
          <a:p>
            <a:pPr marL="0" indent="0">
              <a:buNone/>
            </a:pPr>
            <a:r>
              <a:rPr lang="sk-SK" b="1" dirty="0"/>
              <a:t>5. Bezšvová </a:t>
            </a:r>
            <a:r>
              <a:rPr lang="sk-SK" b="1" dirty="0" err="1"/>
              <a:t>multiplatformovosť</a:t>
            </a:r>
            <a:endParaRPr lang="sk-SK" b="1" dirty="0"/>
          </a:p>
          <a:p>
            <a:r>
              <a:rPr lang="sk-SK" dirty="0"/>
              <a:t>Rovnaké prostredie na PC, mobile, tablete, AR okuliaroch, serveri.</a:t>
            </a:r>
          </a:p>
          <a:p>
            <a:r>
              <a:rPr lang="sk-SK" dirty="0"/>
              <a:t>Aplikácie bežia kdekoľvek — lokálne, v </a:t>
            </a:r>
            <a:r>
              <a:rPr lang="sk-SK" dirty="0" err="1"/>
              <a:t>cloude</a:t>
            </a:r>
            <a:r>
              <a:rPr lang="sk-SK" dirty="0"/>
              <a:t>, hybridne.</a:t>
            </a:r>
          </a:p>
          <a:p>
            <a:r>
              <a:rPr lang="sk-SK" dirty="0"/>
              <a:t>Prechod medzi zariadeniami je okamžitý, bez synchronizácie.</a:t>
            </a:r>
          </a:p>
          <a:p>
            <a:pPr marL="0" indent="0">
              <a:buNone/>
            </a:pPr>
            <a:r>
              <a:rPr lang="sk-SK" b="1" dirty="0"/>
              <a:t>6. Extrémna energetická efektivita</a:t>
            </a:r>
          </a:p>
          <a:p>
            <a:r>
              <a:rPr lang="sk-SK" dirty="0"/>
              <a:t>OS optimalizuje spotrebu podľa kontextu a predikcie.</a:t>
            </a:r>
          </a:p>
          <a:p>
            <a:r>
              <a:rPr lang="sk-SK" dirty="0"/>
              <a:t>Vie presne, kedy má proces bežať na CPU, GPU, NPU alebo v </a:t>
            </a:r>
            <a:r>
              <a:rPr lang="sk-SK" dirty="0" err="1"/>
              <a:t>cloude</a:t>
            </a:r>
            <a:r>
              <a:rPr lang="sk-SK" dirty="0"/>
              <a:t>.</a:t>
            </a:r>
          </a:p>
          <a:p>
            <a:r>
              <a:rPr lang="sk-SK" dirty="0"/>
              <a:t>Pre mobilné zariadenia je cieľom </a:t>
            </a:r>
            <a:r>
              <a:rPr lang="sk-SK" i="1" dirty="0"/>
              <a:t>týždňová výdrž</a:t>
            </a:r>
            <a:r>
              <a:rPr lang="sk-SK" dirty="0"/>
              <a:t>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94497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B73712-6AC9-4EF3-BA54-993B06DF0006}" type="slidenum">
              <a:rPr lang="sk-SK" sz="1400"/>
              <a:pPr/>
              <a:t>14</a:t>
            </a:fld>
            <a:endParaRPr lang="sk-SK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b="1" dirty="0"/>
              <a:t>Požiadavky na OS budúcnosti</a:t>
            </a:r>
            <a:endParaRPr lang="sk-SK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k-SK" b="1" dirty="0"/>
              <a:t>7. Prirodzené rozhranie človek–stroj</a:t>
            </a:r>
          </a:p>
          <a:p>
            <a:r>
              <a:rPr lang="sk-SK" dirty="0"/>
              <a:t>Hlas, gestá, pohľad, text, dotyk — všetko rovnocenné vstupy.</a:t>
            </a:r>
          </a:p>
          <a:p>
            <a:r>
              <a:rPr lang="sk-SK" dirty="0"/>
              <a:t>OS rozumie nepresným príkazom („priprav mi pracovné prostredie na cestu“).</a:t>
            </a:r>
          </a:p>
          <a:p>
            <a:r>
              <a:rPr lang="sk-SK" dirty="0"/>
              <a:t>AR/VR je natívna súčasť, nie doplnok.</a:t>
            </a:r>
          </a:p>
          <a:p>
            <a:pPr marL="0" indent="0">
              <a:buNone/>
            </a:pPr>
            <a:r>
              <a:rPr lang="sk-SK" b="1" dirty="0"/>
              <a:t>8. Dátová suverenita používateľa</a:t>
            </a:r>
          </a:p>
          <a:p>
            <a:r>
              <a:rPr lang="sk-SK" dirty="0"/>
              <a:t>Používateľ vlastní všetky dáta a rozhoduje, kde sú uložené.</a:t>
            </a:r>
          </a:p>
          <a:p>
            <a:r>
              <a:rPr lang="sk-SK" dirty="0"/>
              <a:t>OS poskytuje jednotné šifrované úložisko, ktoré môže byť lokálne, na NAS, v </a:t>
            </a:r>
            <a:r>
              <a:rPr lang="sk-SK" dirty="0" err="1"/>
              <a:t>cloude</a:t>
            </a:r>
            <a:r>
              <a:rPr lang="sk-SK" dirty="0"/>
              <a:t> alebo hybridne.</a:t>
            </a:r>
          </a:p>
          <a:p>
            <a:r>
              <a:rPr lang="sk-SK" dirty="0"/>
              <a:t>Transparentné logy o tom, čo systém robí.</a:t>
            </a:r>
          </a:p>
          <a:p>
            <a:pPr marL="0" indent="0">
              <a:buNone/>
            </a:pPr>
            <a:r>
              <a:rPr lang="sk-SK" b="1" dirty="0"/>
              <a:t>9. </a:t>
            </a:r>
            <a:r>
              <a:rPr lang="sk-SK" b="1" dirty="0" err="1"/>
              <a:t>Samoliečivý</a:t>
            </a:r>
            <a:r>
              <a:rPr lang="sk-SK" b="1" dirty="0"/>
              <a:t> systém</a:t>
            </a:r>
          </a:p>
          <a:p>
            <a:r>
              <a:rPr lang="sk-SK" dirty="0"/>
              <a:t>OS deteguje chyby, opravuje sa, obnovuje moduly bez zásahu používateľa.</a:t>
            </a:r>
          </a:p>
          <a:p>
            <a:r>
              <a:rPr lang="sk-SK" dirty="0"/>
              <a:t>Diagnostika je autonómna a vysvetliteľná.</a:t>
            </a:r>
          </a:p>
          <a:p>
            <a:r>
              <a:rPr lang="sk-SK" dirty="0"/>
              <a:t>Systém sa nikdy „nerozbije“ aktualizáciou.</a:t>
            </a:r>
          </a:p>
          <a:p>
            <a:pPr marL="0" indent="0">
              <a:buNone/>
            </a:pPr>
            <a:r>
              <a:rPr lang="sk-SK" b="1" dirty="0"/>
              <a:t>10. Kompatibilita s minulosťou aj budúcnosťou</a:t>
            </a:r>
          </a:p>
          <a:p>
            <a:r>
              <a:rPr lang="sk-SK" dirty="0"/>
              <a:t>Emulácia starých aplikácií (Windows, Linux, Android, </a:t>
            </a:r>
            <a:r>
              <a:rPr lang="sk-SK" dirty="0" err="1"/>
              <a:t>macOS</a:t>
            </a:r>
            <a:r>
              <a:rPr lang="sk-SK" dirty="0"/>
              <a:t>) je natívna.</a:t>
            </a:r>
          </a:p>
          <a:p>
            <a:r>
              <a:rPr lang="sk-SK" dirty="0"/>
              <a:t>OS podporuje nové formy výpočtov — kvantové, distribuované, </a:t>
            </a:r>
            <a:r>
              <a:rPr lang="sk-SK" dirty="0" err="1"/>
              <a:t>edge</a:t>
            </a:r>
            <a:r>
              <a:rPr lang="sk-SK" dirty="0"/>
              <a:t> </a:t>
            </a:r>
            <a:r>
              <a:rPr lang="sk-SK" dirty="0" err="1"/>
              <a:t>computing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23375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911344-9339-42FD-9CD6-90BC9D621C47}" type="slidenum">
              <a:rPr lang="sk-SK" sz="1400"/>
              <a:pPr/>
              <a:t>15</a:t>
            </a:fld>
            <a:endParaRPr lang="sk-SK" sz="14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sz="3200" dirty="0"/>
              <a:t>Vízia nového OS Microsoft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0591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k-SK" dirty="0"/>
              <a:t>Systém Windows ako služba zmení model vývoja a uvoľnenia tým, že zverejní </a:t>
            </a:r>
            <a:r>
              <a:rPr lang="sk-SK" b="1" dirty="0"/>
              <a:t>nepretržitú postupnosť aktualizácií funkcií pre operačný systém</a:t>
            </a:r>
            <a:r>
              <a:rPr lang="sk-SK" dirty="0"/>
              <a:t>, na rozdiel od publikovania aktualizácií funkcií ako balíkov služieb alebo individuálnych aktualizácií.</a:t>
            </a:r>
          </a:p>
          <a:p>
            <a:r>
              <a:rPr lang="sk-SK" dirty="0"/>
              <a:t>Operačný systém Microsoft </a:t>
            </a:r>
            <a:r>
              <a:rPr lang="sk-SK" dirty="0" err="1"/>
              <a:t>Next-Generation</a:t>
            </a:r>
            <a:r>
              <a:rPr lang="sk-SK" dirty="0"/>
              <a:t> bude podporovať biometrickú bezpečnosť počítača Enterprise-</a:t>
            </a:r>
            <a:r>
              <a:rPr lang="sk-SK" dirty="0" err="1"/>
              <a:t>Grade</a:t>
            </a:r>
            <a:r>
              <a:rPr lang="sk-SK" dirty="0"/>
              <a:t> a zdá sa, že spoločnosť Microsoft pracuje na "biometrickom bezpečnostnom operačnom systéme", ktorý zahŕňa </a:t>
            </a:r>
            <a:r>
              <a:rPr lang="en" dirty="0"/>
              <a:t>Windows Hello.</a:t>
            </a:r>
          </a:p>
          <a:p>
            <a:r>
              <a:rPr lang="sk-SK" sz="2000" dirty="0"/>
              <a:t>Z</a:t>
            </a:r>
            <a:r>
              <a:rPr lang="en" sz="2000" dirty="0" err="1"/>
              <a:t>droj</a:t>
            </a:r>
            <a:r>
              <a:rPr lang="en" sz="2000" dirty="0"/>
              <a:t>: </a:t>
            </a:r>
            <a:r>
              <a:rPr lang="sk-SK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https://www.ghacks.net/2018/07/12/microsoft-already-working-on-next-gen-operating-system/</a:t>
            </a:r>
            <a:r>
              <a:rPr lang="sk-SK" sz="2000" dirty="0"/>
              <a:t> </a:t>
            </a:r>
          </a:p>
          <a:p>
            <a:r>
              <a:rPr lang="sk-SK" sz="2000" dirty="0"/>
              <a:t>Integrácia AI, </a:t>
            </a:r>
            <a:r>
              <a:rPr lang="sk-SK" sz="2000" dirty="0" err="1"/>
              <a:t>cloud</a:t>
            </a:r>
            <a:r>
              <a:rPr lang="sk-SK" sz="2000" dirty="0"/>
              <a:t> a bezpečnosti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5D93C697-C7EB-22D7-DB50-4CF0CA3FF86F}"/>
              </a:ext>
            </a:extLst>
          </p:cNvPr>
          <p:cNvSpPr txBox="1"/>
          <p:nvPr/>
        </p:nvSpPr>
        <p:spPr>
          <a:xfrm>
            <a:off x="7742985" y="5002924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TPM ...</a:t>
            </a:r>
          </a:p>
        </p:txBody>
      </p:sp>
    </p:spTree>
    <p:extLst>
      <p:ext uri="{BB962C8B-B14F-4D97-AF65-F5344CB8AC3E}">
        <p14:creationId xmlns:p14="http://schemas.microsoft.com/office/powerpoint/2010/main" val="3949453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Architektúry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16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87555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323B93-C45A-4210-AD7D-C7967799833F}" type="slidenum">
              <a:rPr lang="sk-SK" sz="1400"/>
              <a:pPr/>
              <a:t>17</a:t>
            </a:fld>
            <a:endParaRPr lang="sk-SK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Univerzálny operačný systém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sk-SK" err="1"/>
              <a:t>charakt</a:t>
            </a:r>
            <a:r>
              <a:rPr lang="sk-SK"/>
              <a:t>. rys - ovládanie vonkajších pamätí na báze súborov</a:t>
            </a:r>
          </a:p>
          <a:p>
            <a:pPr lvl="1">
              <a:lnSpc>
                <a:spcPct val="90000"/>
              </a:lnSpc>
            </a:pPr>
            <a:r>
              <a:rPr lang="sk-SK"/>
              <a:t>spúšťanie výpočtových procesov cez aplikačné programy</a:t>
            </a:r>
          </a:p>
          <a:p>
            <a:pPr lvl="1">
              <a:lnSpc>
                <a:spcPct val="90000"/>
              </a:lnSpc>
            </a:pPr>
            <a:r>
              <a:rPr lang="sk-SK"/>
              <a:t>definovanie používateľského rozhrania a RJ rozhrania (alebo GUI)</a:t>
            </a:r>
          </a:p>
          <a:p>
            <a:pPr>
              <a:lnSpc>
                <a:spcPct val="90000"/>
              </a:lnSpc>
            </a:pPr>
            <a:r>
              <a:rPr lang="sk-SK"/>
              <a:t>viacpoužívateľský OS</a:t>
            </a:r>
          </a:p>
          <a:p>
            <a:pPr lvl="1">
              <a:lnSpc>
                <a:spcPct val="90000"/>
              </a:lnSpc>
            </a:pPr>
            <a:r>
              <a:rPr lang="sk-SK"/>
              <a:t>súčasná práca viacerých používateľov</a:t>
            </a:r>
          </a:p>
          <a:p>
            <a:pPr lvl="1">
              <a:lnSpc>
                <a:spcPct val="90000"/>
              </a:lnSpc>
            </a:pPr>
            <a:r>
              <a:rPr lang="sk-SK"/>
              <a:t>realizácia virtuálnych počítačov</a:t>
            </a:r>
          </a:p>
          <a:p>
            <a:pPr>
              <a:lnSpc>
                <a:spcPct val="90000"/>
              </a:lnSpc>
            </a:pPr>
            <a:r>
              <a:rPr lang="sk-SK"/>
              <a:t>jednopoužívateľský OS</a:t>
            </a:r>
          </a:p>
          <a:p>
            <a:pPr lvl="1">
              <a:lnSpc>
                <a:spcPct val="90000"/>
              </a:lnSpc>
            </a:pPr>
            <a:r>
              <a:rPr lang="sk-SK"/>
              <a:t>multitasking - jeden používateľ spúšťa viacero programov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MS-DOS a MS </a:t>
            </a:r>
            <a:r>
              <a:rPr lang="sk-SK" dirty="0" err="1"/>
              <a:t>windows</a:t>
            </a:r>
            <a:endParaRPr lang="sk-S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BF8E-B21F-4D43-B0FE-B825AEA9D5AB}" type="slidenum">
              <a:rPr lang="sk-SK" smtClean="0"/>
              <a:pPr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7784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MS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400"/>
            <a:ext cx="7772400" cy="1197496"/>
          </a:xfrm>
        </p:spPr>
        <p:txBody>
          <a:bodyPr>
            <a:normAutofit fontScale="92500"/>
          </a:bodyPr>
          <a:lstStyle/>
          <a:p>
            <a:r>
              <a:rPr lang="sk-SK" dirty="0"/>
              <a:t>Jednoprocesorový jednopoužívateľský jednoprogramový lokálny OS používaný v minulosti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19</a:t>
            </a:fld>
            <a:endParaRPr lang="sk-SK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80928"/>
            <a:ext cx="6994532" cy="29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9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5250"/>
            <a:r>
              <a:rPr lang="en-US" sz="1600" dirty="0"/>
              <a:t>Modern Windows Architecture and Operations</a:t>
            </a:r>
            <a:br>
              <a:rPr lang="en-US" altLang="en-US" dirty="0"/>
            </a:br>
            <a:r>
              <a:rPr lang="en-US" dirty="0"/>
              <a:t>Hardware Abstraction Layer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6" y="1666705"/>
            <a:ext cx="4075068" cy="4155319"/>
          </a:xfrm>
        </p:spPr>
        <p:txBody>
          <a:bodyPr/>
          <a:lstStyle/>
          <a:p>
            <a:pPr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A hardware abstraction layer (HAL) is software that handles all of the communication between the hardware and the kernel.</a:t>
            </a:r>
          </a:p>
          <a:p>
            <a:pPr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The kernel is the core of the operating system and has control over the entire computer.</a:t>
            </a:r>
          </a:p>
          <a:p>
            <a:pPr>
              <a:buClrTx/>
              <a:buSzPct val="100000"/>
              <a:buFont typeface="Arial" pitchFamily="34" charset="0"/>
              <a:buChar char="•"/>
            </a:pPr>
            <a:r>
              <a:rPr lang="en-US" altLang="ja-JP" sz="1600" dirty="0"/>
              <a:t>The kernel </a:t>
            </a:r>
            <a:r>
              <a:rPr lang="en-US" sz="1600" dirty="0"/>
              <a:t>handles all of the input and output requests, memory, and all of the peripherals connected to the computer.</a:t>
            </a:r>
          </a:p>
          <a:p>
            <a:pPr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The basic Windows architecture is shown in the figure.</a:t>
            </a:r>
          </a:p>
          <a:p>
            <a:pPr>
              <a:buClrTx/>
              <a:buSzPct val="100000"/>
              <a:buFont typeface="Arial" pitchFamily="34" charset="0"/>
              <a:buChar char="•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865A7-9AA6-48AF-82E4-56CAA8644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134" y="1814690"/>
            <a:ext cx="4780800" cy="360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Windows Architecture and Operations</a:t>
            </a:r>
            <a:br>
              <a:rPr lang="en-US" altLang="en-US" dirty="0"/>
            </a:br>
            <a:r>
              <a:rPr lang="fr-FR" dirty="0"/>
              <a:t>User Mode and Kernel Mode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6" y="1656195"/>
            <a:ext cx="3771665" cy="4155319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The two different modes in which a CPU operates when the computer has Windows installed are the user mode and the kernel mode.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Installed applications run in user mode, and operating system code runs in kernel mode.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All of the code that runs in kernel mode uses the same address space.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When user mode code runs, it is granted its own restricted address space by the kernel, along with a process created specifically for the application. </a:t>
            </a:r>
          </a:p>
          <a:p>
            <a:pPr>
              <a:buFont typeface="Arial" pitchFamily="34" charset="0"/>
              <a:buChar char="•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E8D47A-7811-4808-9771-BD71DDF75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196" y="1839074"/>
            <a:ext cx="5228269" cy="360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638005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0053D6-4C0B-FE43-838D-BC0F4319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dirty="0"/>
              <a:t>Windows server 2012 až 2025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85C224-C6F9-8743-8CC6-1298A3436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k-SK"/>
              <a:t>Server 2012</a:t>
            </a:r>
          </a:p>
          <a:p>
            <a:pPr lvl="1"/>
            <a:r>
              <a:rPr lang="sk-SK" err="1"/>
              <a:t>Cloud</a:t>
            </a:r>
            <a:r>
              <a:rPr lang="sk-SK"/>
              <a:t> </a:t>
            </a:r>
            <a:r>
              <a:rPr lang="sk-SK" err="1"/>
              <a:t>services</a:t>
            </a:r>
            <a:endParaRPr lang="sk-SK"/>
          </a:p>
          <a:p>
            <a:pPr lvl="1"/>
            <a:r>
              <a:rPr lang="sk-SK"/>
              <a:t>Nové vlastnosti </a:t>
            </a:r>
            <a:r>
              <a:rPr lang="sk-SK" err="1"/>
              <a:t>Hyper</a:t>
            </a:r>
            <a:r>
              <a:rPr lang="sk-SK"/>
              <a:t>-V </a:t>
            </a:r>
            <a:r>
              <a:rPr lang="sk-SK" err="1"/>
              <a:t>virtual</a:t>
            </a:r>
            <a:r>
              <a:rPr lang="sk-SK"/>
              <a:t> switch, </a:t>
            </a:r>
            <a:r>
              <a:rPr lang="sk-SK" err="1"/>
              <a:t>Hyper</a:t>
            </a:r>
            <a:r>
              <a:rPr lang="sk-SK"/>
              <a:t>-V </a:t>
            </a:r>
            <a:r>
              <a:rPr lang="sk-SK" err="1"/>
              <a:t>Replica</a:t>
            </a:r>
            <a:r>
              <a:rPr lang="sk-SK"/>
              <a:t>, </a:t>
            </a:r>
            <a:r>
              <a:rPr lang="sk-SK" err="1"/>
              <a:t>Storage</a:t>
            </a:r>
            <a:r>
              <a:rPr lang="sk-SK"/>
              <a:t> </a:t>
            </a:r>
            <a:r>
              <a:rPr lang="sk-SK" err="1"/>
              <a:t>Spaces</a:t>
            </a:r>
            <a:r>
              <a:rPr lang="sk-SK"/>
              <a:t> a </a:t>
            </a:r>
            <a:r>
              <a:rPr lang="sk-SK" u="sng" err="1"/>
              <a:t>ReFS</a:t>
            </a:r>
            <a:r>
              <a:rPr lang="sk-SK"/>
              <a:t> </a:t>
            </a:r>
            <a:r>
              <a:rPr lang="sk-SK" err="1"/>
              <a:t>file</a:t>
            </a:r>
            <a:r>
              <a:rPr lang="sk-SK"/>
              <a:t> </a:t>
            </a:r>
            <a:r>
              <a:rPr lang="sk-SK" err="1"/>
              <a:t>system</a:t>
            </a:r>
            <a:endParaRPr lang="sk-SK"/>
          </a:p>
          <a:p>
            <a:pPr lvl="1"/>
            <a:r>
              <a:rPr lang="sk-SK" err="1"/>
              <a:t>Storage</a:t>
            </a:r>
            <a:r>
              <a:rPr lang="sk-SK"/>
              <a:t> </a:t>
            </a:r>
            <a:r>
              <a:rPr lang="sk-SK" err="1"/>
              <a:t>tiering</a:t>
            </a:r>
            <a:r>
              <a:rPr lang="sk-SK"/>
              <a:t> </a:t>
            </a:r>
            <a:r>
              <a:rPr lang="sk-SK" err="1"/>
              <a:t>added</a:t>
            </a:r>
            <a:r>
              <a:rPr lang="sk-SK"/>
              <a:t> to </a:t>
            </a:r>
            <a:r>
              <a:rPr lang="sk-SK" err="1"/>
              <a:t>Storage</a:t>
            </a:r>
            <a:r>
              <a:rPr lang="sk-SK"/>
              <a:t> </a:t>
            </a:r>
            <a:r>
              <a:rPr lang="sk-SK" err="1"/>
              <a:t>Spaces</a:t>
            </a:r>
            <a:r>
              <a:rPr lang="sk-SK"/>
              <a:t> </a:t>
            </a:r>
            <a:r>
              <a:rPr lang="sk-SK" err="1"/>
              <a:t>boosts</a:t>
            </a:r>
            <a:r>
              <a:rPr lang="sk-SK"/>
              <a:t> </a:t>
            </a:r>
            <a:r>
              <a:rPr lang="sk-SK" err="1"/>
              <a:t>performance</a:t>
            </a:r>
            <a:r>
              <a:rPr lang="sk-SK"/>
              <a:t> by </a:t>
            </a:r>
            <a:r>
              <a:rPr lang="sk-SK" err="1"/>
              <a:t>automatically</a:t>
            </a:r>
            <a:r>
              <a:rPr lang="sk-SK"/>
              <a:t> </a:t>
            </a:r>
            <a:r>
              <a:rPr lang="sk-SK" err="1"/>
              <a:t>moving</a:t>
            </a:r>
            <a:r>
              <a:rPr lang="sk-SK"/>
              <a:t> </a:t>
            </a:r>
            <a:r>
              <a:rPr lang="sk-SK" err="1"/>
              <a:t>frequently</a:t>
            </a:r>
            <a:r>
              <a:rPr lang="sk-SK"/>
              <a:t> </a:t>
            </a:r>
            <a:r>
              <a:rPr lang="sk-SK" err="1"/>
              <a:t>called</a:t>
            </a:r>
            <a:r>
              <a:rPr lang="sk-SK"/>
              <a:t> </a:t>
            </a:r>
            <a:r>
              <a:rPr lang="sk-SK" err="1"/>
              <a:t>blocks</a:t>
            </a:r>
            <a:r>
              <a:rPr lang="sk-SK"/>
              <a:t> of </a:t>
            </a:r>
            <a:r>
              <a:rPr lang="sk-SK" err="1"/>
              <a:t>data</a:t>
            </a:r>
            <a:r>
              <a:rPr lang="sk-SK"/>
              <a:t> to </a:t>
            </a:r>
            <a:r>
              <a:rPr lang="sk-SK" err="1"/>
              <a:t>solid</a:t>
            </a:r>
            <a:r>
              <a:rPr lang="sk-SK"/>
              <a:t>-state </a:t>
            </a:r>
            <a:r>
              <a:rPr lang="sk-SK" err="1"/>
              <a:t>storage</a:t>
            </a:r>
            <a:r>
              <a:rPr lang="sk-SK"/>
              <a:t>.</a:t>
            </a:r>
          </a:p>
          <a:p>
            <a:r>
              <a:rPr lang="sk-SK"/>
              <a:t>Server 2016</a:t>
            </a:r>
          </a:p>
          <a:p>
            <a:pPr lvl="1"/>
            <a:r>
              <a:rPr lang="sk-SK" err="1"/>
              <a:t>support</a:t>
            </a:r>
            <a:r>
              <a:rPr lang="sk-SK"/>
              <a:t> </a:t>
            </a:r>
            <a:r>
              <a:rPr lang="sk-SK" err="1"/>
              <a:t>for</a:t>
            </a:r>
            <a:r>
              <a:rPr lang="sk-SK"/>
              <a:t> </a:t>
            </a:r>
            <a:r>
              <a:rPr lang="sk-SK" u="sng" err="1"/>
              <a:t>Docker</a:t>
            </a:r>
            <a:r>
              <a:rPr lang="sk-SK"/>
              <a:t> </a:t>
            </a:r>
            <a:r>
              <a:rPr lang="sk-SK" err="1"/>
              <a:t>containers</a:t>
            </a:r>
            <a:r>
              <a:rPr lang="sk-SK"/>
              <a:t> and software-</a:t>
            </a:r>
            <a:r>
              <a:rPr lang="sk-SK" err="1"/>
              <a:t>defined</a:t>
            </a:r>
            <a:r>
              <a:rPr lang="sk-SK"/>
              <a:t> </a:t>
            </a:r>
            <a:r>
              <a:rPr lang="sk-SK" err="1"/>
              <a:t>enhancements</a:t>
            </a:r>
            <a:r>
              <a:rPr lang="sk-SK"/>
              <a:t> in </a:t>
            </a:r>
            <a:r>
              <a:rPr lang="sk-SK" err="1"/>
              <a:t>networking</a:t>
            </a:r>
            <a:endParaRPr lang="sk-SK"/>
          </a:p>
          <a:p>
            <a:pPr lvl="1"/>
            <a:r>
              <a:rPr lang="sk-SK" u="sng" err="1"/>
              <a:t>Nano</a:t>
            </a:r>
            <a:r>
              <a:rPr lang="sk-SK" u="sng"/>
              <a:t> Server</a:t>
            </a:r>
          </a:p>
          <a:p>
            <a:pPr lvl="1"/>
            <a:r>
              <a:rPr lang="sk-SK"/>
              <a:t>new </a:t>
            </a:r>
            <a:r>
              <a:rPr lang="sk-SK" u="sng" err="1"/>
              <a:t>Hyper</a:t>
            </a:r>
            <a:r>
              <a:rPr lang="sk-SK" u="sng"/>
              <a:t>-V </a:t>
            </a:r>
            <a:r>
              <a:rPr lang="sk-SK" u="sng" err="1"/>
              <a:t>shielded</a:t>
            </a:r>
            <a:r>
              <a:rPr lang="sk-SK" u="sng"/>
              <a:t> VM</a:t>
            </a:r>
            <a:r>
              <a:rPr lang="sk-SK"/>
              <a:t> feature, </a:t>
            </a:r>
            <a:r>
              <a:rPr lang="sk-SK" err="1"/>
              <a:t>which</a:t>
            </a:r>
            <a:r>
              <a:rPr lang="sk-SK"/>
              <a:t> </a:t>
            </a:r>
            <a:r>
              <a:rPr lang="sk-SK" err="1"/>
              <a:t>uses</a:t>
            </a:r>
            <a:r>
              <a:rPr lang="sk-SK"/>
              <a:t> </a:t>
            </a:r>
            <a:r>
              <a:rPr lang="sk-SK" err="1"/>
              <a:t>encryption</a:t>
            </a:r>
            <a:r>
              <a:rPr lang="sk-SK"/>
              <a:t> to </a:t>
            </a:r>
            <a:r>
              <a:rPr lang="sk-SK" err="1"/>
              <a:t>prevent</a:t>
            </a:r>
            <a:r>
              <a:rPr lang="sk-SK"/>
              <a:t> </a:t>
            </a:r>
            <a:r>
              <a:rPr lang="sk-SK" err="1"/>
              <a:t>data</a:t>
            </a:r>
            <a:r>
              <a:rPr lang="sk-SK"/>
              <a:t> </a:t>
            </a:r>
            <a:r>
              <a:rPr lang="sk-SK" err="1"/>
              <a:t>inside</a:t>
            </a:r>
            <a:r>
              <a:rPr lang="sk-SK"/>
              <a:t> a VM </a:t>
            </a:r>
            <a:r>
              <a:rPr lang="sk-SK" err="1"/>
              <a:t>from</a:t>
            </a:r>
            <a:r>
              <a:rPr lang="sk-SK"/>
              <a:t> </a:t>
            </a:r>
            <a:r>
              <a:rPr lang="sk-SK" err="1"/>
              <a:t>being</a:t>
            </a:r>
            <a:r>
              <a:rPr lang="sk-SK"/>
              <a:t> </a:t>
            </a:r>
            <a:r>
              <a:rPr lang="sk-SK" err="1"/>
              <a:t>compromised</a:t>
            </a:r>
            <a:r>
              <a:rPr lang="sk-SK"/>
              <a:t>.</a:t>
            </a:r>
          </a:p>
          <a:p>
            <a:pPr lvl="1"/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Network</a:t>
            </a:r>
            <a:r>
              <a:rPr lang="sk-SK"/>
              <a:t> </a:t>
            </a:r>
            <a:r>
              <a:rPr lang="sk-SK" err="1"/>
              <a:t>Controller</a:t>
            </a:r>
            <a:r>
              <a:rPr lang="sk-SK"/>
              <a:t> </a:t>
            </a:r>
            <a:r>
              <a:rPr lang="sk-SK" err="1"/>
              <a:t>is</a:t>
            </a:r>
            <a:r>
              <a:rPr lang="sk-SK"/>
              <a:t> a </a:t>
            </a:r>
            <a:r>
              <a:rPr lang="sk-SK" err="1"/>
              <a:t>key</a:t>
            </a:r>
            <a:r>
              <a:rPr lang="sk-SK"/>
              <a:t> new </a:t>
            </a:r>
            <a:r>
              <a:rPr lang="sk-SK" err="1"/>
              <a:t>networking</a:t>
            </a:r>
            <a:r>
              <a:rPr lang="sk-SK"/>
              <a:t> feature </a:t>
            </a:r>
            <a:r>
              <a:rPr lang="sk-SK" err="1"/>
              <a:t>that</a:t>
            </a:r>
            <a:r>
              <a:rPr lang="sk-SK"/>
              <a:t> </a:t>
            </a:r>
            <a:r>
              <a:rPr lang="sk-SK" err="1"/>
              <a:t>allows</a:t>
            </a:r>
            <a:r>
              <a:rPr lang="sk-SK"/>
              <a:t> </a:t>
            </a:r>
            <a:r>
              <a:rPr lang="sk-SK" err="1"/>
              <a:t>administrators</a:t>
            </a:r>
            <a:r>
              <a:rPr lang="sk-SK"/>
              <a:t> to </a:t>
            </a:r>
            <a:r>
              <a:rPr lang="sk-SK" err="1"/>
              <a:t>manage</a:t>
            </a:r>
            <a:r>
              <a:rPr lang="sk-SK"/>
              <a:t> </a:t>
            </a:r>
            <a:r>
              <a:rPr lang="sk-SK" err="1"/>
              <a:t>the</a:t>
            </a:r>
            <a:r>
              <a:rPr lang="sk-SK"/>
              <a:t> </a:t>
            </a:r>
            <a:r>
              <a:rPr lang="sk-SK" err="1"/>
              <a:t>switches</a:t>
            </a:r>
            <a:r>
              <a:rPr lang="sk-SK"/>
              <a:t>, </a:t>
            </a:r>
            <a:r>
              <a:rPr lang="sk-SK" u="sng">
                <a:hlinkClick r:id="rId3"/>
              </a:rPr>
              <a:t>subnets</a:t>
            </a:r>
            <a:r>
              <a:rPr lang="sk-SK"/>
              <a:t> and </a:t>
            </a:r>
            <a:r>
              <a:rPr lang="sk-SK" err="1"/>
              <a:t>other</a:t>
            </a:r>
            <a:r>
              <a:rPr lang="sk-SK"/>
              <a:t> </a:t>
            </a:r>
            <a:r>
              <a:rPr lang="sk-SK" err="1"/>
              <a:t>devices</a:t>
            </a:r>
            <a:r>
              <a:rPr lang="sk-SK"/>
              <a:t> on </a:t>
            </a:r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virtual</a:t>
            </a:r>
            <a:r>
              <a:rPr lang="sk-SK"/>
              <a:t> and </a:t>
            </a:r>
            <a:r>
              <a:rPr lang="sk-SK" err="1"/>
              <a:t>physical</a:t>
            </a:r>
            <a:r>
              <a:rPr lang="sk-SK"/>
              <a:t> </a:t>
            </a:r>
            <a:r>
              <a:rPr lang="sk-SK" err="1"/>
              <a:t>networks</a:t>
            </a:r>
            <a:endParaRPr lang="sk-SK"/>
          </a:p>
          <a:p>
            <a:r>
              <a:rPr lang="sk-SK"/>
              <a:t>Server 2019</a:t>
            </a:r>
          </a:p>
          <a:p>
            <a:pPr lvl="1"/>
            <a:r>
              <a:rPr lang="sk-SK"/>
              <a:t>Hybrid </a:t>
            </a:r>
            <a:r>
              <a:rPr lang="sk-SK" err="1"/>
              <a:t>capabilities</a:t>
            </a:r>
            <a:r>
              <a:rPr lang="sk-SK"/>
              <a:t> </a:t>
            </a:r>
            <a:r>
              <a:rPr lang="sk-SK" err="1"/>
              <a:t>with</a:t>
            </a:r>
            <a:r>
              <a:rPr lang="sk-SK"/>
              <a:t> </a:t>
            </a:r>
            <a:r>
              <a:rPr lang="sk-SK" err="1"/>
              <a:t>Azure</a:t>
            </a:r>
            <a:endParaRPr lang="sk-SK"/>
          </a:p>
          <a:p>
            <a:pPr lvl="1"/>
            <a:r>
              <a:rPr lang="sk-SK" err="1"/>
              <a:t>Advanced</a:t>
            </a:r>
            <a:r>
              <a:rPr lang="sk-SK"/>
              <a:t> </a:t>
            </a:r>
            <a:r>
              <a:rPr lang="sk-SK" err="1"/>
              <a:t>multilayer</a:t>
            </a:r>
            <a:r>
              <a:rPr lang="sk-SK"/>
              <a:t> </a:t>
            </a:r>
            <a:r>
              <a:rPr lang="sk-SK" err="1"/>
              <a:t>security</a:t>
            </a:r>
            <a:endParaRPr lang="sk-SK"/>
          </a:p>
          <a:p>
            <a:pPr lvl="1"/>
            <a:r>
              <a:rPr lang="sk-SK" err="1"/>
              <a:t>Faster</a:t>
            </a:r>
            <a:r>
              <a:rPr lang="sk-SK"/>
              <a:t> </a:t>
            </a:r>
            <a:r>
              <a:rPr lang="sk-SK" err="1"/>
              <a:t>innovation</a:t>
            </a:r>
            <a:r>
              <a:rPr lang="sk-SK"/>
              <a:t> </a:t>
            </a:r>
            <a:r>
              <a:rPr lang="sk-SK" err="1"/>
              <a:t>for</a:t>
            </a:r>
            <a:r>
              <a:rPr lang="sk-SK"/>
              <a:t> </a:t>
            </a:r>
            <a:r>
              <a:rPr lang="sk-SK" err="1"/>
              <a:t>applications</a:t>
            </a:r>
            <a:endParaRPr lang="sk-SK"/>
          </a:p>
          <a:p>
            <a:pPr lvl="1"/>
            <a:r>
              <a:rPr lang="sk-SK" err="1"/>
              <a:t>Unprecedented</a:t>
            </a:r>
            <a:r>
              <a:rPr lang="sk-SK"/>
              <a:t> </a:t>
            </a:r>
            <a:r>
              <a:rPr lang="sk-SK" err="1"/>
              <a:t>hyper-converged</a:t>
            </a:r>
            <a:r>
              <a:rPr lang="sk-SK"/>
              <a:t> </a:t>
            </a:r>
            <a:r>
              <a:rPr lang="sk-SK" err="1"/>
              <a:t>infrastructure</a:t>
            </a:r>
            <a:endParaRPr lang="sk-SK"/>
          </a:p>
          <a:p>
            <a:pPr marL="457200" lvl="1" indent="0">
              <a:buNone/>
            </a:pPr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E8D0CA1-AD19-404F-A849-A8844D90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22</a:t>
            </a:fld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057D3FAB-AE2E-B74D-BD89-644F3AC17661}"/>
              </a:ext>
            </a:extLst>
          </p:cNvPr>
          <p:cNvSpPr txBox="1"/>
          <p:nvPr/>
        </p:nvSpPr>
        <p:spPr>
          <a:xfrm>
            <a:off x="5786204" y="5021705"/>
            <a:ext cx="34927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Server 2025</a:t>
            </a:r>
          </a:p>
          <a:p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podpora hybridného </a:t>
            </a: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cloudu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, vylepšená bezpečnosť a šifrovanie, automatizácia a integrácia umelej inteligencie,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59547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3EC9ACC-D3AE-B6FD-8BC0-6E677274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980"/>
            <a:ext cx="1905000" cy="457200"/>
          </a:xfrm>
        </p:spPr>
        <p:txBody>
          <a:bodyPr/>
          <a:lstStyle/>
          <a:p>
            <a:fld id="{6E2FE831-F59A-419E-8FF9-70E368DBF391}" type="slidenum">
              <a:rPr lang="sk-SK" smtClean="0"/>
              <a:pPr/>
              <a:t>23</a:t>
            </a:fld>
            <a:endParaRPr lang="sk-SK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D23D82-C78A-AC0F-B21A-8FFF90164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85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E5652C92-2869-0708-D0C7-2998DAE84B2D}"/>
              </a:ext>
            </a:extLst>
          </p:cNvPr>
          <p:cNvSpPr txBox="1"/>
          <p:nvPr/>
        </p:nvSpPr>
        <p:spPr>
          <a:xfrm>
            <a:off x="296917" y="5943063"/>
            <a:ext cx="460878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100" dirty="0" err="1"/>
              <a:t>https</a:t>
            </a:r>
            <a:r>
              <a:rPr lang="sk-SK" sz="1100" dirty="0"/>
              <a:t>://</a:t>
            </a:r>
            <a:r>
              <a:rPr lang="sk-SK" sz="1100" dirty="0" err="1"/>
              <a:t>blogs.brighton.ac.uk</a:t>
            </a:r>
            <a:r>
              <a:rPr lang="sk-SK" sz="1100" dirty="0"/>
              <a:t>/</a:t>
            </a:r>
            <a:r>
              <a:rPr lang="sk-SK" sz="1100" dirty="0" err="1"/>
              <a:t>misseloquence</a:t>
            </a:r>
            <a:r>
              <a:rPr lang="sk-SK" sz="1100" dirty="0"/>
              <a:t>/2017/05/09/comparing-ios-and-android-the-architecture-and-development-environment-of-the-two-most-popular-operating-systems/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CE3A487C-30A5-06A4-647C-84D0D62EC961}"/>
              </a:ext>
            </a:extLst>
          </p:cNvPr>
          <p:cNvSpPr txBox="1"/>
          <p:nvPr/>
        </p:nvSpPr>
        <p:spPr>
          <a:xfrm>
            <a:off x="4572000" y="5789174"/>
            <a:ext cx="338763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XNU </a:t>
            </a:r>
            <a:r>
              <a:rPr lang="sk-SK" sz="1200" b="0" i="0" dirty="0" err="1">
                <a:solidFill>
                  <a:srgbClr val="424242"/>
                </a:solidFill>
                <a:effectLst/>
                <a:latin typeface="Segoe Sans"/>
              </a:rPr>
              <a:t>Kernel</a:t>
            </a:r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pPr algn="l"/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XNU (X </a:t>
            </a:r>
            <a:r>
              <a:rPr lang="sk-SK" sz="1200" b="0" i="0" dirty="0" err="1">
                <a:solidFill>
                  <a:srgbClr val="424242"/>
                </a:solidFill>
                <a:effectLst/>
                <a:latin typeface="Segoe Sans"/>
              </a:rPr>
              <a:t>is</a:t>
            </a:r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 </a:t>
            </a:r>
            <a:r>
              <a:rPr lang="sk-SK" sz="1200" b="0" i="0" dirty="0" err="1">
                <a:solidFill>
                  <a:srgbClr val="424242"/>
                </a:solidFill>
                <a:effectLst/>
                <a:latin typeface="Segoe Sans"/>
              </a:rPr>
              <a:t>Not</a:t>
            </a:r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 Unix) je hybridné jadro, ktoré kombinuje prvky </a:t>
            </a:r>
            <a:r>
              <a:rPr lang="sk-SK" sz="1200" b="0" i="0" dirty="0" err="1">
                <a:solidFill>
                  <a:srgbClr val="424242"/>
                </a:solidFill>
                <a:effectLst/>
                <a:latin typeface="Segoe Sans"/>
              </a:rPr>
              <a:t>mikrojadra</a:t>
            </a:r>
            <a:r>
              <a:rPr lang="sk-SK" sz="1200" b="0" i="0" dirty="0">
                <a:solidFill>
                  <a:srgbClr val="424242"/>
                </a:solidFill>
                <a:effectLst/>
                <a:latin typeface="Segoe Sans"/>
              </a:rPr>
              <a:t> Mach a monolitického jadra BSD</a:t>
            </a:r>
          </a:p>
        </p:txBody>
      </p:sp>
    </p:spTree>
    <p:extLst>
      <p:ext uri="{BB962C8B-B14F-4D97-AF65-F5344CB8AC3E}">
        <p14:creationId xmlns:p14="http://schemas.microsoft.com/office/powerpoint/2010/main" val="2966432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A580F0B5-0699-7B86-CCC1-A4258F52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24</a:t>
            </a:fld>
            <a:endParaRPr lang="sk-SK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ADCB31-CBA6-FB3D-3330-8C10964FC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3" y="362607"/>
            <a:ext cx="9144000" cy="596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C0D7ED5C-9F47-AA59-A62F-287EBF435D52}"/>
              </a:ext>
            </a:extLst>
          </p:cNvPr>
          <p:cNvSpPr txBox="1"/>
          <p:nvPr/>
        </p:nvSpPr>
        <p:spPr>
          <a:xfrm>
            <a:off x="423042" y="6257836"/>
            <a:ext cx="460878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100" dirty="0" err="1"/>
              <a:t>https</a:t>
            </a:r>
            <a:r>
              <a:rPr lang="sk-SK" sz="1100" dirty="0"/>
              <a:t>://</a:t>
            </a:r>
            <a:r>
              <a:rPr lang="sk-SK" sz="1100" dirty="0" err="1"/>
              <a:t>blogs.brighton.ac.uk</a:t>
            </a:r>
            <a:r>
              <a:rPr lang="sk-SK" sz="1100" dirty="0"/>
              <a:t>/</a:t>
            </a:r>
            <a:r>
              <a:rPr lang="sk-SK" sz="1100" dirty="0" err="1"/>
              <a:t>misseloquence</a:t>
            </a:r>
            <a:r>
              <a:rPr lang="sk-SK" sz="1100" dirty="0"/>
              <a:t>/2017/05/09/comparing-ios-and-android-the-architecture-and-development-environment-of-the-two-most-popular-operating-systems/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9148566A-A743-03B5-0814-787C94F27193}"/>
              </a:ext>
            </a:extLst>
          </p:cNvPr>
          <p:cNvSpPr txBox="1"/>
          <p:nvPr/>
        </p:nvSpPr>
        <p:spPr>
          <a:xfrm>
            <a:off x="3203676" y="0"/>
            <a:ext cx="2736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Android </a:t>
            </a:r>
            <a:r>
              <a:rPr lang="sk-SK" dirty="0" err="1"/>
              <a:t>architecture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25421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DE64EF-375C-4BDB-AF53-8F9AFD62AC2C}" type="slidenum">
              <a:rPr lang="sk-SK" sz="1400"/>
              <a:pPr/>
              <a:t>25</a:t>
            </a:fld>
            <a:endParaRPr lang="sk-SK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Viacpoužívateľské OS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sk-SK" sz="2400" dirty="0">
                <a:solidFill>
                  <a:schemeClr val="accent2"/>
                </a:solidFill>
              </a:rPr>
              <a:t>V začiatkoch</a:t>
            </a:r>
            <a:r>
              <a:rPr lang="sk-SK" sz="2400" dirty="0"/>
              <a:t>  - </a:t>
            </a:r>
            <a:r>
              <a:rPr lang="sk-SK" sz="2400" dirty="0" err="1"/>
              <a:t>unix</a:t>
            </a:r>
            <a:r>
              <a:rPr lang="sk-SK" sz="2400" dirty="0"/>
              <a:t> pre počítače AT&amp;T a PDP11</a:t>
            </a:r>
          </a:p>
          <a:p>
            <a:r>
              <a:rPr lang="sk-SK" sz="2400" dirty="0">
                <a:solidFill>
                  <a:schemeClr val="accent2"/>
                </a:solidFill>
              </a:rPr>
              <a:t>Teraz</a:t>
            </a:r>
            <a:r>
              <a:rPr lang="sk-SK" sz="2400" dirty="0"/>
              <a:t> - rozličné typy </a:t>
            </a:r>
            <a:r>
              <a:rPr lang="sk-SK" sz="2400" dirty="0" err="1"/>
              <a:t>UNIXov</a:t>
            </a:r>
            <a:r>
              <a:rPr lang="sk-SK" sz="2400" dirty="0"/>
              <a:t>, MS Windows 2025, OS pre inteligentné zariadenia</a:t>
            </a:r>
          </a:p>
          <a:p>
            <a:r>
              <a:rPr lang="sk-SK" sz="2400" dirty="0"/>
              <a:t>N</a:t>
            </a:r>
            <a:r>
              <a:rPr lang="en" sz="2400" dirty="0"/>
              <a:t>ear future - Cambridge Quantum Computing Limited (CQCL) has built a new Fastest Operating System aimed at running the futuristic superfast </a:t>
            </a:r>
            <a:r>
              <a:rPr lang="en" sz="2400" dirty="0">
                <a:solidFill>
                  <a:schemeClr val="accent2"/>
                </a:solidFill>
              </a:rPr>
              <a:t>quantum computers</a:t>
            </a:r>
            <a:r>
              <a:rPr lang="en" sz="2400" dirty="0"/>
              <a:t>.</a:t>
            </a:r>
            <a:endParaRPr lang="sk-SK" sz="2400" dirty="0"/>
          </a:p>
          <a:p>
            <a:pPr>
              <a:buFontTx/>
              <a:buNone/>
            </a:pPr>
            <a:r>
              <a:rPr lang="sk-SK" sz="2400" b="1" u="sng" dirty="0"/>
              <a:t>Špecializované operačné systémy</a:t>
            </a:r>
            <a:endParaRPr lang="sk-SK" sz="2400" dirty="0"/>
          </a:p>
          <a:p>
            <a:r>
              <a:rPr lang="sk-SK" sz="2400" dirty="0"/>
              <a:t>RT systémy na riadenie v reálnom čase</a:t>
            </a:r>
          </a:p>
          <a:p>
            <a:r>
              <a:rPr lang="sk-SK" sz="2400" dirty="0"/>
              <a:t>DB OS pre prevádzkovanie DB</a:t>
            </a:r>
          </a:p>
          <a:p>
            <a:r>
              <a:rPr lang="sk-SK" sz="2400" dirty="0"/>
              <a:t>sieťové OS - zdieľanie zdrojov a riadenie prístupu</a:t>
            </a:r>
          </a:p>
          <a:p>
            <a:r>
              <a:rPr lang="sk-SK" sz="2400" dirty="0"/>
              <a:t>systémy pre malé výpočtové systémy</a:t>
            </a:r>
          </a:p>
          <a:p>
            <a:r>
              <a:rPr lang="sk-SK" sz="2400" dirty="0"/>
              <a:t>jednoúčelovo orientované na konkrétne úlohy, technologické linky, stroje</a:t>
            </a:r>
          </a:p>
          <a:p>
            <a:r>
              <a:rPr lang="sk-SK" sz="2400" dirty="0"/>
              <a:t>častým javom je využitie paralelného spracovania úloh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Systémy reálneho času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EF1F4-047F-4C96-AAB8-A458B81FD633}" type="slidenum">
              <a:rPr lang="sk-SK" smtClean="0"/>
              <a:pPr/>
              <a:t>26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51781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E65A0A-6E67-4A9B-A340-37C2AEA1BA3F}" type="slidenum">
              <a:rPr lang="sk-SK" sz="1400"/>
              <a:pPr/>
              <a:t>27</a:t>
            </a:fld>
            <a:endParaRPr lang="sk-SK" sz="1400"/>
          </a:p>
        </p:txBody>
      </p:sp>
      <p:sp>
        <p:nvSpPr>
          <p:cNvPr id="1946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sk-SK">
                <a:latin typeface="Arial Narrow" panose="020B0606020202030204" pitchFamily="34" charset="0"/>
              </a:rPr>
              <a:t>Operačný systém reálneho času</a:t>
            </a:r>
            <a:r>
              <a:rPr lang="sk-SK"/>
              <a:t>	</a:t>
            </a:r>
          </a:p>
        </p:txBody>
      </p:sp>
      <p:sp>
        <p:nvSpPr>
          <p:cNvPr id="1946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sk-SK"/>
              <a:t>Systém, v ktorom záleží  nielen na logickom výsledku výpočtu, ale aj na čase jeho vykonania</a:t>
            </a:r>
          </a:p>
          <a:p>
            <a:pPr marL="0" indent="0">
              <a:buNone/>
            </a:pPr>
            <a:endParaRPr lang="sk-SK" u="sng"/>
          </a:p>
          <a:p>
            <a:r>
              <a:rPr lang="sk-SK" u="sng"/>
              <a:t>Včasnosť</a:t>
            </a:r>
            <a:r>
              <a:rPr lang="sk-SK"/>
              <a:t>: požaduje sa, aby aplikácia ukončila úlohu v stanovenom čase</a:t>
            </a:r>
          </a:p>
          <a:p>
            <a:r>
              <a:rPr lang="sk-SK" u="sng"/>
              <a:t>Simultánnosť procesov: </a:t>
            </a:r>
            <a:r>
              <a:rPr lang="sk-SK"/>
              <a:t>súčasne môže nastať viac udalostí a všetkým udalostiam bude vyhovené</a:t>
            </a:r>
          </a:p>
          <a:p>
            <a:r>
              <a:rPr lang="sk-SK" u="sng"/>
              <a:t>Predpovedateľnosť:</a:t>
            </a:r>
            <a:r>
              <a:rPr lang="sk-SK"/>
              <a:t> systémy pracujúce v reálnom čase reagujú na všetky udalosti v predpovedateľnom postupe</a:t>
            </a:r>
          </a:p>
          <a:p>
            <a:r>
              <a:rPr lang="sk-SK" u="sng"/>
              <a:t>Prevádzková spoľahlivosť</a:t>
            </a:r>
            <a:r>
              <a:rPr lang="sk-SK"/>
              <a:t>: je pri týchto systémoch  nutnosťou</a:t>
            </a:r>
            <a:endParaRPr lang="sk-SK" u="sng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58DF1D-54A7-41CF-B1B2-05E2CDEB2028}" type="slidenum">
              <a:rPr lang="sk-SK" sz="1400"/>
              <a:pPr/>
              <a:t>28</a:t>
            </a:fld>
            <a:endParaRPr lang="sk-SK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1143000"/>
          </a:xfrm>
        </p:spPr>
        <p:txBody>
          <a:bodyPr/>
          <a:lstStyle/>
          <a:p>
            <a:r>
              <a:rPr lang="sk-SK"/>
              <a:t>Klasifikácia a použitie RT systémov 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sk-SK" b="1" err="1"/>
              <a:t>Hard</a:t>
            </a:r>
            <a:r>
              <a:rPr lang="sk-SK"/>
              <a:t> systémy -  použitie v letectve</a:t>
            </a:r>
          </a:p>
          <a:p>
            <a:r>
              <a:rPr lang="sk-SK" b="1"/>
              <a:t>Soft</a:t>
            </a:r>
            <a:r>
              <a:rPr lang="sk-SK"/>
              <a:t> systémy  - rôzne stroje</a:t>
            </a:r>
          </a:p>
          <a:p>
            <a:r>
              <a:rPr lang="sk-SK"/>
              <a:t>Iné – na kontrolu </a:t>
            </a:r>
            <a:r>
              <a:rPr lang="sk-SK" err="1"/>
              <a:t>jadr.elektrární</a:t>
            </a:r>
            <a:r>
              <a:rPr lang="sk-SK"/>
              <a:t>, v priemysle, medicíne, v zbraňových systémoch, vesmírna navigácia ….</a:t>
            </a:r>
          </a:p>
          <a:p>
            <a:r>
              <a:rPr lang="sk-SK"/>
              <a:t>Najznámejšie RT operačné systémy</a:t>
            </a:r>
          </a:p>
          <a:p>
            <a:pPr lvl="1"/>
            <a:r>
              <a:rPr lang="sk-SK"/>
              <a:t>QNX, OS-9, </a:t>
            </a:r>
            <a:r>
              <a:rPr lang="sk-SK" err="1"/>
              <a:t>VxWorks</a:t>
            </a:r>
            <a:r>
              <a:rPr lang="sk-SK"/>
              <a:t>, CMX, </a:t>
            </a:r>
            <a:r>
              <a:rPr lang="sk-SK" err="1"/>
              <a:t>LinuxWorks</a:t>
            </a:r>
            <a:r>
              <a:rPr lang="sk-SK"/>
              <a:t>, VRTX, </a:t>
            </a:r>
            <a:r>
              <a:rPr lang="sk-SK" err="1"/>
              <a:t>PharLap</a:t>
            </a:r>
            <a:endParaRPr lang="sk-SK"/>
          </a:p>
          <a:p>
            <a:endParaRPr lang="sk-SK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Zástupný symbol čísla snímky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6FB2CC-3E79-4A6C-85DD-03E6446124A7}" type="slidenum">
              <a:rPr lang="sk-SK" sz="1400"/>
              <a:pPr/>
              <a:t>29</a:t>
            </a:fld>
            <a:endParaRPr lang="sk-SK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>
                <a:solidFill>
                  <a:schemeClr val="tx1"/>
                </a:solidFill>
              </a:rPr>
              <a:t>QNX RTOS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96975"/>
            <a:ext cx="8210550" cy="5040313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sk-SK"/>
              <a:t>Schopnosti:</a:t>
            </a:r>
          </a:p>
          <a:p>
            <a:pPr>
              <a:spcBef>
                <a:spcPct val="0"/>
              </a:spcBef>
            </a:pPr>
            <a:r>
              <a:rPr lang="sk-SK"/>
              <a:t>multitasking</a:t>
            </a:r>
          </a:p>
          <a:p>
            <a:pPr>
              <a:spcBef>
                <a:spcPct val="0"/>
              </a:spcBef>
            </a:pPr>
            <a:r>
              <a:rPr lang="sk-SK"/>
              <a:t>prioritný systém časovania a prerušovania</a:t>
            </a:r>
          </a:p>
          <a:p>
            <a:pPr>
              <a:spcBef>
                <a:spcPct val="0"/>
              </a:spcBef>
            </a:pPr>
            <a:r>
              <a:rPr lang="sk-SK"/>
              <a:t>rýchle prepínanie úloh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k-SK"/>
              <a:t>Základné časti:</a:t>
            </a:r>
          </a:p>
          <a:p>
            <a:pPr>
              <a:spcBef>
                <a:spcPct val="0"/>
              </a:spcBef>
            </a:pPr>
            <a:r>
              <a:rPr lang="sk-SK"/>
              <a:t>mikrojadrová architektúra</a:t>
            </a:r>
          </a:p>
          <a:p>
            <a:pPr>
              <a:spcBef>
                <a:spcPct val="0"/>
              </a:spcBef>
            </a:pPr>
            <a:r>
              <a:rPr lang="sk-SK"/>
              <a:t>medziprocesová komunikácia založená na správach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k-SK"/>
              <a:t>Jadro:</a:t>
            </a:r>
          </a:p>
          <a:p>
            <a:pPr>
              <a:spcBef>
                <a:spcPct val="0"/>
              </a:spcBef>
            </a:pPr>
            <a:r>
              <a:rPr lang="sk-SK"/>
              <a:t>predávanie správ</a:t>
            </a:r>
          </a:p>
          <a:p>
            <a:pPr>
              <a:spcBef>
                <a:spcPct val="0"/>
              </a:spcBef>
            </a:pPr>
            <a:r>
              <a:rPr lang="sk-SK"/>
              <a:t>časovanie</a:t>
            </a:r>
          </a:p>
          <a:p>
            <a:endParaRPr lang="sk-SK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0840AD-E665-4186-A506-778303DCE358}" type="slidenum">
              <a:rPr lang="sk-SK" sz="1400"/>
              <a:pPr/>
              <a:t>30</a:t>
            </a:fld>
            <a:endParaRPr lang="sk-SK" sz="140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Box 3"/>
          <p:cNvSpPr txBox="1">
            <a:spLocks noChangeArrowheads="1"/>
          </p:cNvSpPr>
          <p:nvPr/>
        </p:nvSpPr>
        <p:spPr bwMode="auto">
          <a:xfrm>
            <a:off x="381000" y="0"/>
            <a:ext cx="876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sz="3200"/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3276600" y="1371600"/>
            <a:ext cx="54102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Je veľmi malý</a:t>
            </a:r>
          </a:p>
          <a:p>
            <a:pPr>
              <a:spcBef>
                <a:spcPct val="50000"/>
              </a:spcBef>
            </a:pPr>
            <a:r>
              <a:rPr lang="en-US" sz="1800"/>
              <a:t>Určený len na 2 základné úlohy:</a:t>
            </a:r>
          </a:p>
          <a:p>
            <a:pPr>
              <a:spcBef>
                <a:spcPct val="50000"/>
              </a:spcBef>
            </a:pPr>
            <a:r>
              <a:rPr lang="en-US" sz="1800"/>
              <a:t>	- doručovanie správ</a:t>
            </a:r>
          </a:p>
          <a:p>
            <a:pPr>
              <a:spcBef>
                <a:spcPct val="50000"/>
              </a:spcBef>
            </a:pPr>
            <a:r>
              <a:rPr lang="en-US" sz="1800"/>
              <a:t>	- prepínanie preocesov</a:t>
            </a:r>
          </a:p>
        </p:txBody>
      </p:sp>
      <p:sp>
        <p:nvSpPr>
          <p:cNvPr id="22535" name="Text Box 5"/>
          <p:cNvSpPr txBox="1">
            <a:spLocks noChangeArrowheads="1"/>
          </p:cNvSpPr>
          <p:nvPr/>
        </p:nvSpPr>
        <p:spPr bwMode="auto">
          <a:xfrm>
            <a:off x="914400" y="3886200"/>
            <a:ext cx="35052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Systémové procesy - manažéry:</a:t>
            </a:r>
          </a:p>
          <a:p>
            <a:pPr>
              <a:spcBef>
                <a:spcPct val="50000"/>
              </a:spcBef>
            </a:pPr>
            <a:r>
              <a:rPr lang="en-US" sz="1800"/>
              <a:t>	- procesný </a:t>
            </a:r>
          </a:p>
          <a:p>
            <a:pPr>
              <a:spcBef>
                <a:spcPct val="50000"/>
              </a:spcBef>
            </a:pPr>
            <a:r>
              <a:rPr lang="en-US" sz="1800"/>
              <a:t>	- systému súborov</a:t>
            </a:r>
          </a:p>
          <a:p>
            <a:pPr>
              <a:spcBef>
                <a:spcPct val="50000"/>
              </a:spcBef>
            </a:pPr>
            <a:r>
              <a:rPr lang="en-US" sz="1800"/>
              <a:t>	- manažér zariadení</a:t>
            </a:r>
          </a:p>
          <a:p>
            <a:pPr>
              <a:spcBef>
                <a:spcPct val="50000"/>
              </a:spcBef>
            </a:pPr>
            <a:r>
              <a:rPr lang="en-US" sz="1800"/>
              <a:t>	- sieťová komunikácia</a:t>
            </a:r>
          </a:p>
        </p:txBody>
      </p:sp>
      <p:sp>
        <p:nvSpPr>
          <p:cNvPr id="22536" name="Text Box 6"/>
          <p:cNvSpPr txBox="1">
            <a:spLocks noChangeArrowheads="1"/>
          </p:cNvSpPr>
          <p:nvPr/>
        </p:nvSpPr>
        <p:spPr bwMode="auto">
          <a:xfrm>
            <a:off x="4343400" y="3048000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Systémové služby OS riadia zdroje pre klientské aplikácie</a:t>
            </a:r>
          </a:p>
        </p:txBody>
      </p:sp>
      <p:pic>
        <p:nvPicPr>
          <p:cNvPr id="2253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277177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8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sk-SK" sz="2400">
                <a:solidFill>
                  <a:schemeClr val="tx1"/>
                </a:solidFill>
              </a:rPr>
              <a:t>QNX </a:t>
            </a:r>
            <a:r>
              <a:rPr lang="sk-SK" sz="2400" err="1">
                <a:solidFill>
                  <a:schemeClr val="tx1"/>
                </a:solidFill>
              </a:rPr>
              <a:t>microkernel</a:t>
            </a:r>
            <a:r>
              <a:rPr lang="sk-SK" sz="2400">
                <a:solidFill>
                  <a:schemeClr val="tx1"/>
                </a:solidFill>
              </a:rPr>
              <a:t> koordinujúci systémových manažérov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73019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4A76FB-946A-4FC5-BE7B-2405F78FB89A}" type="slidenum">
              <a:rPr lang="sk-SK" sz="1400"/>
              <a:pPr/>
              <a:t>31</a:t>
            </a:fld>
            <a:endParaRPr lang="sk-SK" sz="1400"/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304800" y="8382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3557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38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sz="1800"/>
          </a:p>
        </p:txBody>
      </p:sp>
      <p:pic>
        <p:nvPicPr>
          <p:cNvPr id="235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352800"/>
            <a:ext cx="3429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Text Box 5"/>
          <p:cNvSpPr txBox="1">
            <a:spLocks noChangeArrowheads="1"/>
          </p:cNvSpPr>
          <p:nvPr/>
        </p:nvSpPr>
        <p:spPr bwMode="auto">
          <a:xfrm>
            <a:off x="4572000" y="4038600"/>
            <a:ext cx="4191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/>
              <a:t>Proces A poslal správu  procesu B , ktorý správu prijal, vykonal a nakoniec na ňu odpovedal</a:t>
            </a:r>
          </a:p>
        </p:txBody>
      </p:sp>
      <p:sp>
        <p:nvSpPr>
          <p:cNvPr id="2356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sk-SK" sz="3200">
                <a:solidFill>
                  <a:schemeClr val="tx1"/>
                </a:solidFill>
              </a:rPr>
              <a:t>QNX je sieťový OS.</a:t>
            </a:r>
          </a:p>
        </p:txBody>
      </p:sp>
      <p:sp>
        <p:nvSpPr>
          <p:cNvPr id="2356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990600"/>
            <a:ext cx="7772400" cy="2971800"/>
          </a:xfrm>
          <a:prstGeom prst="rect">
            <a:avLst/>
          </a:prstGeom>
        </p:spPr>
        <p:txBody>
          <a:bodyPr/>
          <a:lstStyle/>
          <a:p>
            <a:r>
              <a:rPr lang="sk-SK" sz="1600" dirty="0"/>
              <a:t>Integruje sieť do jednotného homogénneho súboru zdrojov. Môžu sa k nim pristupovať ako k lokálnym zdrojom. Používateľské kontá zabezpečujú jednotné a transparentné prostredie.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sk-SK" sz="1600" dirty="0" err="1"/>
              <a:t>Medziprocesová</a:t>
            </a:r>
            <a:r>
              <a:rPr lang="sk-SK" sz="1600" dirty="0"/>
              <a:t> komunikácia IPC:</a:t>
            </a:r>
          </a:p>
          <a:p>
            <a:pPr>
              <a:spcBef>
                <a:spcPct val="50000"/>
              </a:spcBef>
            </a:pPr>
            <a:r>
              <a:rPr lang="sk-SK" sz="1600" dirty="0"/>
              <a:t>multitasking prostredie vyžaduje vzájomnú komunikáciu medzi kooperujúcimi procesmi </a:t>
            </a:r>
          </a:p>
          <a:p>
            <a:pPr>
              <a:spcBef>
                <a:spcPct val="50000"/>
              </a:spcBef>
            </a:pPr>
            <a:r>
              <a:rPr lang="sk-SK" sz="1600" dirty="0"/>
              <a:t>prebieha pomocou správ, </a:t>
            </a:r>
            <a:r>
              <a:rPr lang="sk-SK" sz="1600" dirty="0" err="1"/>
              <a:t>proxies</a:t>
            </a:r>
            <a:r>
              <a:rPr lang="sk-SK" sz="1600" dirty="0"/>
              <a:t> alebo signálov</a:t>
            </a:r>
            <a:endParaRPr lang="sk-SK" sz="5400" dirty="0"/>
          </a:p>
        </p:txBody>
      </p:sp>
    </p:spTree>
    <p:extLst>
      <p:ext uri="{BB962C8B-B14F-4D97-AF65-F5344CB8AC3E}">
        <p14:creationId xmlns:p14="http://schemas.microsoft.com/office/powerpoint/2010/main" val="3762518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8E148C-E22A-40C6-B671-EF4552CE38AD}" type="slidenum">
              <a:rPr lang="sk-SK" sz="1400"/>
              <a:pPr/>
              <a:t>32</a:t>
            </a:fld>
            <a:endParaRPr lang="sk-SK" sz="1400"/>
          </a:p>
        </p:txBody>
      </p:sp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304800" y="914400"/>
            <a:ext cx="838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sz="1800"/>
          </a:p>
        </p:txBody>
      </p:sp>
      <p:sp>
        <p:nvSpPr>
          <p:cNvPr id="24581" name="Text Box 3"/>
          <p:cNvSpPr txBox="1">
            <a:spLocks noChangeArrowheads="1"/>
          </p:cNvSpPr>
          <p:nvPr/>
        </p:nvSpPr>
        <p:spPr bwMode="auto">
          <a:xfrm>
            <a:off x="762000" y="4495800"/>
            <a:ext cx="62484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Správa:          bajtový paket dopravený od procesu inému procesu</a:t>
            </a:r>
          </a:p>
          <a:p>
            <a:pPr>
              <a:spcBef>
                <a:spcPct val="50000"/>
              </a:spcBef>
            </a:pPr>
            <a:r>
              <a:rPr lang="en-US" sz="1800"/>
              <a:t>Funkcie správ:</a:t>
            </a:r>
          </a:p>
          <a:p>
            <a:pPr>
              <a:spcBef>
                <a:spcPct val="50000"/>
              </a:spcBef>
            </a:pPr>
            <a:r>
              <a:rPr lang="en-US" sz="1800"/>
              <a:t>	Send() - poslanie</a:t>
            </a:r>
          </a:p>
          <a:p>
            <a:pPr>
              <a:spcBef>
                <a:spcPct val="50000"/>
              </a:spcBef>
            </a:pPr>
            <a:r>
              <a:rPr lang="en-US" sz="1800"/>
              <a:t>	Receive() - príjem správy</a:t>
            </a:r>
          </a:p>
          <a:p>
            <a:pPr>
              <a:spcBef>
                <a:spcPct val="50000"/>
              </a:spcBef>
            </a:pPr>
            <a:r>
              <a:rPr lang="en-US" sz="1800"/>
              <a:t>	Reply() - Odpoveď na správu </a:t>
            </a:r>
          </a:p>
        </p:txBody>
      </p:sp>
      <p:sp>
        <p:nvSpPr>
          <p:cNvPr id="24582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 sz="2400"/>
              <a:t>Interprocesorovú komunikáciu zabezpečujú:</a:t>
            </a:r>
          </a:p>
        </p:txBody>
      </p:sp>
      <p:sp>
        <p:nvSpPr>
          <p:cNvPr id="2458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2438400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50000"/>
              </a:spcBef>
            </a:pPr>
            <a:r>
              <a:rPr lang="sk-SK" sz="2000" b="1"/>
              <a:t>správy</a:t>
            </a:r>
            <a:r>
              <a:rPr lang="sk-SK" sz="2000"/>
              <a:t> - základná forma, synchrónna komunikácia procesov, kedy odosielajúca správa vyžaduje odpoveď alebo oznam</a:t>
            </a:r>
          </a:p>
          <a:p>
            <a:pPr>
              <a:spcBef>
                <a:spcPct val="50000"/>
              </a:spcBef>
            </a:pPr>
            <a:r>
              <a:rPr lang="sk-SK" sz="2000" b="1"/>
              <a:t>proxies</a:t>
            </a:r>
            <a:r>
              <a:rPr lang="sk-SK" sz="2000"/>
              <a:t> - špeciálna forma správ, určené pre notifikáciu kedy odosielajúca aplikácia nevyžaduje spoluprácu s príjemcom</a:t>
            </a:r>
          </a:p>
          <a:p>
            <a:pPr>
              <a:spcBef>
                <a:spcPct val="50000"/>
              </a:spcBef>
            </a:pPr>
            <a:r>
              <a:rPr lang="sk-SK" sz="2000" b="1"/>
              <a:t>signály</a:t>
            </a:r>
            <a:r>
              <a:rPr lang="sk-SK" sz="2000"/>
              <a:t> - tradičná forma pre asynchrónnu komunikáciu</a:t>
            </a:r>
            <a:endParaRPr lang="sk-SK"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58E43C-CA6B-412D-A937-028A19D859CD}" type="slidenum">
              <a:rPr lang="sk-SK" sz="1400"/>
              <a:pPr/>
              <a:t>33</a:t>
            </a:fld>
            <a:endParaRPr lang="sk-SK" sz="14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RT systém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sk-SK" dirty="0"/>
              <a:t>prechod z jedného programu na druhý - prepínanie kontextu po uplynutí časového kvanta</a:t>
            </a:r>
          </a:p>
          <a:p>
            <a:r>
              <a:rPr lang="sk-SK" dirty="0"/>
              <a:t>realizácia synchronizačných operácií</a:t>
            </a:r>
          </a:p>
          <a:p>
            <a:r>
              <a:rPr lang="sk-SK" dirty="0"/>
              <a:t>ovládanie štandardných periférií (klávesnica, disk, obrazovka)</a:t>
            </a:r>
          </a:p>
          <a:p>
            <a:r>
              <a:rPr lang="sk-SK" dirty="0"/>
              <a:t>ovládanie neštandardných periférií - súčasti riadenej sústavy</a:t>
            </a:r>
          </a:p>
          <a:p>
            <a:r>
              <a:rPr lang="sk-SK" dirty="0">
                <a:solidFill>
                  <a:schemeClr val="accent2"/>
                </a:solidFill>
              </a:rPr>
              <a:t>chýbajú funkcie vytvárajúce používateľské rozhranie</a:t>
            </a:r>
            <a:endParaRPr lang="sk-SK" dirty="0"/>
          </a:p>
          <a:p>
            <a:r>
              <a:rPr lang="sk-SK" dirty="0"/>
              <a:t>zväčša len jadro OS a programy pre riadenie procesov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9E854195-7972-B6D2-E9BD-3A4407C66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34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93DEA8-9EC8-5ADE-A09C-78BAD59A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 err="1"/>
              <a:t>FreeRTOS</a:t>
            </a:r>
            <a:r>
              <a:rPr lang="sk-SK" dirty="0"/>
              <a:t> je </a:t>
            </a:r>
            <a:r>
              <a:rPr lang="sk-SK" b="1" dirty="0" err="1"/>
              <a:t>open-source</a:t>
            </a:r>
            <a:r>
              <a:rPr lang="sk-SK" dirty="0"/>
              <a:t> operačný systém reálneho času (RTOS) navrhnutý pre </a:t>
            </a:r>
            <a:r>
              <a:rPr lang="sk-SK" b="1" dirty="0" err="1"/>
              <a:t>embedded</a:t>
            </a:r>
            <a:r>
              <a:rPr lang="sk-SK" b="1" dirty="0"/>
              <a:t> systémy</a:t>
            </a:r>
            <a:r>
              <a:rPr lang="sk-SK" dirty="0"/>
              <a:t>.</a:t>
            </a:r>
          </a:p>
          <a:p>
            <a:r>
              <a:rPr lang="sk-SK" dirty="0"/>
              <a:t>Poskytuje </a:t>
            </a:r>
            <a:r>
              <a:rPr lang="sk-SK" b="1" dirty="0"/>
              <a:t>deterministické plánovanie úloh</a:t>
            </a:r>
            <a:r>
              <a:rPr lang="sk-SK" dirty="0"/>
              <a:t>, čím umožňuje </a:t>
            </a:r>
            <a:r>
              <a:rPr lang="sk-SK" b="1" dirty="0"/>
              <a:t>precízne riadenie času vykonávania procesov</a:t>
            </a:r>
            <a:r>
              <a:rPr lang="sk-SK" dirty="0"/>
              <a:t>.</a:t>
            </a:r>
          </a:p>
          <a:p>
            <a:r>
              <a:rPr lang="sk-SK" dirty="0"/>
              <a:t>Často sa využíva v </a:t>
            </a:r>
            <a:r>
              <a:rPr lang="sk-SK" b="1" dirty="0"/>
              <a:t>automobilovom priemysle</a:t>
            </a:r>
            <a:r>
              <a:rPr lang="sk-SK" dirty="0"/>
              <a:t>, </a:t>
            </a:r>
            <a:r>
              <a:rPr lang="sk-SK" b="1" dirty="0"/>
              <a:t>medicíne</a:t>
            </a:r>
            <a:r>
              <a:rPr lang="sk-SK" dirty="0"/>
              <a:t>, </a:t>
            </a:r>
            <a:r>
              <a:rPr lang="sk-SK" b="1" dirty="0"/>
              <a:t>priemyselných systémoch</a:t>
            </a:r>
            <a:r>
              <a:rPr lang="sk-SK" dirty="0"/>
              <a:t> a </a:t>
            </a:r>
            <a:r>
              <a:rPr lang="sk-SK" b="1" dirty="0" err="1"/>
              <a:t>IoT</a:t>
            </a:r>
            <a:r>
              <a:rPr lang="sk-SK" b="1" dirty="0"/>
              <a:t> zariadeniach</a:t>
            </a:r>
            <a:r>
              <a:rPr lang="sk-SK" dirty="0"/>
              <a:t>.</a:t>
            </a:r>
          </a:p>
          <a:p>
            <a:r>
              <a:rPr lang="sk-SK" dirty="0"/>
              <a:t>Je </a:t>
            </a:r>
            <a:r>
              <a:rPr lang="sk-SK" b="1" dirty="0"/>
              <a:t>ľahký, modulárny</a:t>
            </a:r>
            <a:r>
              <a:rPr lang="sk-SK" dirty="0"/>
              <a:t> a optimalizovaný pre </a:t>
            </a:r>
            <a:r>
              <a:rPr lang="sk-SK" b="1" dirty="0" err="1"/>
              <a:t>mikrokontroléry</a:t>
            </a:r>
            <a:r>
              <a:rPr lang="sk-SK" b="1" dirty="0"/>
              <a:t> s obmedzenými zdrojmi</a:t>
            </a:r>
            <a:r>
              <a:rPr lang="sk-SK" dirty="0"/>
              <a:t>.</a:t>
            </a:r>
          </a:p>
          <a:p>
            <a:endParaRPr lang="sk-SK" dirty="0"/>
          </a:p>
          <a:p>
            <a:r>
              <a:rPr lang="sk-SK" dirty="0"/>
              <a:t>Zdroj: </a:t>
            </a:r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www.freertos.org</a:t>
            </a:r>
            <a:r>
              <a:rPr lang="sk-SK" dirty="0"/>
              <a:t>/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E79A9F6A-91DA-9A59-5F12-7F338AFA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Určenie </a:t>
            </a:r>
            <a:r>
              <a:rPr lang="sk-SK" dirty="0" err="1"/>
              <a:t>FreeRTOS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6499817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85A738EF-FC9F-3265-AD5A-470E39343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35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B3B6CF-74E8-1DDC-0847-46F7E7D2F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dirty="0"/>
              <a:t>Multitasking:</a:t>
            </a:r>
            <a:r>
              <a:rPr lang="sk-SK" dirty="0"/>
              <a:t> umožňuje súbežné vykonávanie viacerých úloh.</a:t>
            </a:r>
          </a:p>
          <a:p>
            <a:r>
              <a:rPr lang="sk-SK" b="1" dirty="0"/>
              <a:t>Správa úloh:</a:t>
            </a:r>
            <a:r>
              <a:rPr lang="sk-SK" dirty="0"/>
              <a:t> podporuje </a:t>
            </a:r>
            <a:r>
              <a:rPr lang="sk-SK" b="1" dirty="0"/>
              <a:t>prioritné plánovanie</a:t>
            </a:r>
            <a:r>
              <a:rPr lang="sk-SK" dirty="0"/>
              <a:t>, kde najdôležitejšie úlohy majú prednosť.</a:t>
            </a:r>
          </a:p>
          <a:p>
            <a:r>
              <a:rPr lang="sk-SK" b="1" dirty="0"/>
              <a:t>Synchronizácia a komunikácia:</a:t>
            </a:r>
            <a:r>
              <a:rPr lang="sk-SK" dirty="0"/>
              <a:t> zabezpečená pomocou </a:t>
            </a:r>
            <a:r>
              <a:rPr lang="sk-SK" b="1" dirty="0"/>
              <a:t>frontov, semaforov</a:t>
            </a:r>
            <a:r>
              <a:rPr lang="sk-SK" dirty="0"/>
              <a:t> a </a:t>
            </a:r>
            <a:r>
              <a:rPr lang="sk-SK" b="1" dirty="0" err="1"/>
              <a:t>mutexov</a:t>
            </a:r>
            <a:r>
              <a:rPr lang="sk-SK" dirty="0"/>
              <a:t>.</a:t>
            </a:r>
          </a:p>
          <a:p>
            <a:r>
              <a:rPr lang="sk-SK" b="1" dirty="0"/>
              <a:t>Efektívne využívanie pamäte:</a:t>
            </a:r>
            <a:r>
              <a:rPr lang="sk-SK" dirty="0"/>
              <a:t> optimalizované pre </a:t>
            </a:r>
            <a:r>
              <a:rPr lang="sk-SK" b="1" dirty="0"/>
              <a:t>zariadenia s nízkym výkonom</a:t>
            </a:r>
            <a:r>
              <a:rPr lang="sk-SK" dirty="0"/>
              <a:t>.</a:t>
            </a:r>
          </a:p>
          <a:p>
            <a:r>
              <a:rPr lang="sk-SK" b="1" dirty="0"/>
              <a:t>Podpora širokého spektra architektúr:</a:t>
            </a:r>
            <a:r>
              <a:rPr lang="sk-SK" dirty="0"/>
              <a:t> kompatibilné s </a:t>
            </a:r>
            <a:r>
              <a:rPr lang="sk-SK" b="1" dirty="0"/>
              <a:t>ARM </a:t>
            </a:r>
            <a:r>
              <a:rPr lang="sk-SK" b="1" dirty="0" err="1"/>
              <a:t>Cortex</a:t>
            </a:r>
            <a:r>
              <a:rPr lang="sk-SK" b="1" dirty="0"/>
              <a:t>, PIC, ESP32, AVR</a:t>
            </a:r>
            <a:r>
              <a:rPr lang="sk-SK" dirty="0"/>
              <a:t> a ďalšími procesormi.</a:t>
            </a:r>
          </a:p>
          <a:p>
            <a:endParaRPr lang="sk-SK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D7B207AC-E5BA-A5EA-B0B2-6A24BF2D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Hlavné rysy </a:t>
            </a:r>
            <a:r>
              <a:rPr lang="sk-SK" dirty="0" err="1"/>
              <a:t>FreeRTOS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0043513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Špecializované 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BF8E-B21F-4D43-B0FE-B825AEA9D5AB}" type="slidenum">
              <a:rPr lang="sk-SK" smtClean="0"/>
              <a:pPr/>
              <a:t>36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84102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47CE1B-A0BB-4B2C-9D28-7E2DC115F16A}" type="slidenum">
              <a:rPr lang="sk-SK" sz="1400"/>
              <a:pPr/>
              <a:t>37</a:t>
            </a:fld>
            <a:endParaRPr lang="sk-SK" sz="14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Databázový OS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r>
              <a:rPr lang="sk-SK"/>
              <a:t>systém na podporu DB u minipočítačov (SM 4-20 DIAMOS) a zriedkavo u PC  (PICK, THEOS)</a:t>
            </a:r>
          </a:p>
          <a:p>
            <a:r>
              <a:rPr lang="sk-SK"/>
              <a:t>príklad DB - spracovanie skladových zásob + výdaj materiálu</a:t>
            </a:r>
          </a:p>
          <a:p>
            <a:pPr lvl="1"/>
            <a:r>
              <a:rPr lang="sk-SK"/>
              <a:t>nutné paralelné spracovanie</a:t>
            </a:r>
          </a:p>
          <a:p>
            <a:pPr lvl="1"/>
            <a:r>
              <a:rPr lang="sk-SK"/>
              <a:t>synchronizácia a možnosť zamykania záznamov v DB</a:t>
            </a:r>
          </a:p>
          <a:p>
            <a:pPr lvl="1"/>
            <a:r>
              <a:rPr lang="sk-SK"/>
              <a:t>pre zmenu konfigurácie - heslo alebo systémový terminál</a:t>
            </a:r>
          </a:p>
          <a:p>
            <a:r>
              <a:rPr lang="sk-SK"/>
              <a:t>V súčasnosti realizovaný samotným DB enginom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CB471F-D3A7-4359-B188-DBD63150FEF4}" type="slidenum">
              <a:rPr lang="sk-SK" sz="1400"/>
              <a:pPr/>
              <a:t>38</a:t>
            </a:fld>
            <a:endParaRPr lang="sk-SK" sz="14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Sieťový operačný systém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5181600"/>
          </a:xfrm>
          <a:prstGeom prst="rect">
            <a:avLst/>
          </a:prstGeom>
        </p:spPr>
        <p:txBody>
          <a:bodyPr/>
          <a:lstStyle/>
          <a:p>
            <a:r>
              <a:rPr lang="sk-SK"/>
              <a:t>systém zdieľania diskového priestoru (Novell Netware)</a:t>
            </a:r>
          </a:p>
          <a:p>
            <a:r>
              <a:rPr lang="sk-SK"/>
              <a:t>zdieľanie periférnych zariadení</a:t>
            </a:r>
          </a:p>
          <a:p>
            <a:r>
              <a:rPr lang="sk-SK"/>
              <a:t>vytvorenie systému riadenia prístupu (účty, heslá)</a:t>
            </a:r>
          </a:p>
          <a:p>
            <a:r>
              <a:rPr lang="sk-SK"/>
              <a:t>samostatné serverové aplikácie (print server, fax, file server ...)</a:t>
            </a:r>
          </a:p>
          <a:p>
            <a:r>
              <a:rPr lang="sk-SK"/>
              <a:t>vytváranie stromových a adresárových štruktúr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Sieťový OS Novell Netware 6.0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sk-SK"/>
              <a:t>Symetrický multiprocesing už pre 32 mikroprocesorov</a:t>
            </a:r>
          </a:p>
          <a:p>
            <a:pPr>
              <a:lnSpc>
                <a:spcPct val="90000"/>
              </a:lnSpc>
            </a:pPr>
            <a:r>
              <a:rPr lang="sk-SK"/>
              <a:t>Cluster pre 2 (až 32) uzlov</a:t>
            </a:r>
          </a:p>
          <a:p>
            <a:pPr>
              <a:lnSpc>
                <a:spcPct val="90000"/>
              </a:lnSpc>
            </a:pPr>
            <a:r>
              <a:rPr lang="sk-SK"/>
              <a:t>Neexistuje klient – pre prácu so súbormi sa používajú protokoly NFS, AFP, CIFS, FTP alebo WebDAV</a:t>
            </a:r>
          </a:p>
          <a:p>
            <a:pPr>
              <a:lnSpc>
                <a:spcPct val="90000"/>
              </a:lnSpc>
            </a:pPr>
            <a:r>
              <a:rPr lang="sk-SK"/>
              <a:t>iFolder – autosynchronizácia dát medzi Klientom a serverom</a:t>
            </a:r>
          </a:p>
          <a:p>
            <a:pPr>
              <a:lnSpc>
                <a:spcPct val="90000"/>
              </a:lnSpc>
            </a:pPr>
            <a:r>
              <a:rPr lang="sk-SK"/>
              <a:t>Netware WebAccess</a:t>
            </a:r>
          </a:p>
          <a:p>
            <a:pPr lvl="1">
              <a:lnSpc>
                <a:spcPct val="90000"/>
              </a:lnSpc>
            </a:pPr>
            <a:r>
              <a:rPr lang="sk-SK"/>
              <a:t>Kontakty, pošta, HTML, tlačiarne, správca a súbory</a:t>
            </a:r>
          </a:p>
          <a:p>
            <a:pPr>
              <a:lnSpc>
                <a:spcPct val="90000"/>
              </a:lnSpc>
            </a:pPr>
            <a:r>
              <a:rPr lang="sk-SK"/>
              <a:t>iPrint</a:t>
            </a:r>
          </a:p>
        </p:txBody>
      </p:sp>
      <p:sp>
        <p:nvSpPr>
          <p:cNvPr id="136196" name="Comment 4"/>
          <p:cNvSpPr>
            <a:spLocks noChangeArrowheads="1"/>
          </p:cNvSpPr>
          <p:nvPr/>
        </p:nvSpPr>
        <p:spPr bwMode="auto">
          <a:xfrm>
            <a:off x="5003800" y="5876925"/>
            <a:ext cx="1828800" cy="712788"/>
          </a:xfrm>
          <a:prstGeom prst="rect">
            <a:avLst/>
          </a:prstGeom>
          <a:solidFill>
            <a:srgbClr val="FCFF9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cs-CZ" sz="1600" b="1">
                <a:solidFill>
                  <a:srgbClr val="000000"/>
                </a:solidFill>
                <a:latin typeface="Arial" charset="0"/>
              </a:rPr>
              <a:t>barath:</a:t>
            </a:r>
            <a:endParaRPr lang="cs-CZ" sz="1600">
              <a:solidFill>
                <a:srgbClr val="000000"/>
              </a:solidFill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cs-CZ" sz="1600">
                <a:solidFill>
                  <a:srgbClr val="000000"/>
                </a:solidFill>
                <a:latin typeface="Arial" charset="0"/>
              </a:rPr>
              <a:t>PC World 11/01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err="1"/>
              <a:t>Viacpoužívaľské</a:t>
            </a:r>
            <a:r>
              <a:rPr lang="sk-SK"/>
              <a:t> operačné systémy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k-SK" dirty="0"/>
              <a:t>Viacpoužívateľské OS na jednom počítači dovoľujú prácu viacerých používateľov a každý pracuje na svojom termináli.</a:t>
            </a:r>
          </a:p>
          <a:p>
            <a:r>
              <a:rPr lang="sk-SK" dirty="0"/>
              <a:t>Implementácia OS sa opiera o automatické prepínanie kontextu.</a:t>
            </a:r>
          </a:p>
          <a:p>
            <a:r>
              <a:rPr lang="sk-SK" dirty="0"/>
              <a:t>Používateľské rozhranie na jednom termináli sa vytvára dvoma spôsobmi:</a:t>
            </a:r>
          </a:p>
          <a:p>
            <a:pPr marL="914400" lvl="1" indent="-514350">
              <a:buFont typeface="+mj-lt"/>
              <a:buAutoNum type="arabicPeriod"/>
            </a:pPr>
            <a:r>
              <a:rPr lang="sk-SK" dirty="0"/>
              <a:t>Dovoľuje spustiť vždy najviac jeden aplikačný program.</a:t>
            </a:r>
          </a:p>
          <a:p>
            <a:pPr marL="914400" lvl="1" indent="-514350">
              <a:buFont typeface="+mj-lt"/>
              <a:buAutoNum type="arabicPeriod"/>
            </a:pPr>
            <a:r>
              <a:rPr lang="sk-SK" dirty="0"/>
              <a:t>Dovoľuje beh viacerých aplikačných programov súčasne, umožňuje multitasking.</a:t>
            </a:r>
          </a:p>
          <a:p>
            <a:r>
              <a:rPr lang="sk-SK" dirty="0"/>
              <a:t>Rozdiel medzi systémom neumožňujúcim multitasking a tým ktorý ho umožňuje je, že v spoločnom jadre pribudla vrstva vyrovnávacej pamäte.  </a:t>
            </a:r>
          </a:p>
          <a:p>
            <a:r>
              <a:rPr lang="sk-SK" dirty="0"/>
              <a:t>Základná myšlienka je poskytnúť aplikácii virtuálny počítač na báze služieb.</a:t>
            </a:r>
          </a:p>
          <a:p>
            <a:r>
              <a:rPr lang="sk-SK" dirty="0"/>
              <a:t>Jedinými spoločnými prostriedkami virtuálnych počítačov príslušných rôznym používateľom sú súbory na disku.</a:t>
            </a:r>
          </a:p>
          <a:p>
            <a:r>
              <a:rPr lang="sk-SK" dirty="0"/>
              <a:t>Ostatné periférie sú </a:t>
            </a:r>
            <a:r>
              <a:rPr lang="sk-SK" dirty="0" err="1"/>
              <a:t>virtualizované</a:t>
            </a:r>
            <a:r>
              <a:rPr lang="sk-SK" dirty="0"/>
              <a:t> (tlačiareň), alebo sa rezervujú (magnetické pásky, zapisovač)     </a:t>
            </a:r>
          </a:p>
        </p:txBody>
      </p:sp>
      <p:sp>
        <p:nvSpPr>
          <p:cNvPr id="4098" name="Zástupný symbol päty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sk-SK"/>
          </a:p>
        </p:txBody>
      </p:sp>
      <p:sp>
        <p:nvSpPr>
          <p:cNvPr id="4099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D1BEEF-029B-4FA7-BD56-C653B5655EC4}" type="slidenum">
              <a:rPr lang="sk-SK" smtClean="0"/>
              <a:pPr/>
              <a:t>40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46342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cloud</a:t>
            </a:r>
            <a:endParaRPr lang="sk-SK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41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641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dirty="0"/>
              <a:t>Distribuované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k-SK" b="0" i="0" dirty="0">
                <a:solidFill>
                  <a:srgbClr val="424242"/>
                </a:solidFill>
                <a:effectLst/>
                <a:latin typeface="Segoe Sans"/>
              </a:rPr>
              <a:t>Distribuovaný operačný systém je typ operačného systému, ktorý spravuje skupinu nezávislých počítačov a prezentuje ich používateľovi ako jeden súvislý systém </a:t>
            </a:r>
          </a:p>
          <a:p>
            <a:r>
              <a:rPr lang="sk-SK" dirty="0"/>
              <a:t>Program rozdelený na samostatné časti ktoré vzájomne komunikujú (RPC, DCOM, CORBA)</a:t>
            </a:r>
          </a:p>
          <a:p>
            <a:pPr lvl="1"/>
            <a:r>
              <a:rPr lang="sk-SK" dirty="0"/>
              <a:t>CORBA - </a:t>
            </a:r>
            <a:r>
              <a:rPr lang="en-US" dirty="0">
                <a:effectLst/>
              </a:rPr>
              <a:t>The </a:t>
            </a:r>
            <a:r>
              <a:rPr lang="en-US" b="1" i="1" dirty="0">
                <a:effectLst/>
              </a:rPr>
              <a:t>Common Object Request Broker Architecture</a:t>
            </a:r>
            <a:r>
              <a:rPr lang="en-US" dirty="0">
                <a:effectLst/>
              </a:rPr>
              <a:t> </a:t>
            </a:r>
            <a:endParaRPr lang="sk-SK" dirty="0"/>
          </a:p>
          <a:p>
            <a:r>
              <a:rPr lang="sk-SK" b="0" i="0" dirty="0">
                <a:solidFill>
                  <a:srgbClr val="424242"/>
                </a:solidFill>
                <a:effectLst/>
                <a:latin typeface="Segoe Sans"/>
              </a:rPr>
              <a:t>Distribuované operačné systémy sa často používajú v prostrediach, kde je potrebná vysoká dostupnosť a výkon, ako sú dátové centrá, cloudové služby a veľké podnikové siete</a:t>
            </a:r>
            <a:endParaRPr lang="sk-S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42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63550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/>
              <a:t>Distribuované systémy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Druhy distribúcie</a:t>
            </a:r>
          </a:p>
          <a:p>
            <a:pPr lvl="1"/>
            <a:r>
              <a:rPr lang="sk-SK" dirty="0"/>
              <a:t>Distribuované aplikácie</a:t>
            </a:r>
          </a:p>
          <a:p>
            <a:pPr lvl="1"/>
            <a:r>
              <a:rPr lang="sk-SK" dirty="0"/>
              <a:t>Distribuovaný OS</a:t>
            </a:r>
          </a:p>
          <a:p>
            <a:r>
              <a:rPr lang="sk-SK" dirty="0"/>
              <a:t>Distribuované aplikácie</a:t>
            </a:r>
          </a:p>
          <a:p>
            <a:pPr lvl="1"/>
            <a:r>
              <a:rPr lang="sk-SK" dirty="0"/>
              <a:t>Distribúcia dát</a:t>
            </a:r>
          </a:p>
          <a:p>
            <a:pPr lvl="1"/>
            <a:r>
              <a:rPr lang="sk-SK" dirty="0"/>
              <a:t>Distribúcia výpočtov</a:t>
            </a:r>
          </a:p>
          <a:p>
            <a:pPr lvl="1"/>
            <a:r>
              <a:rPr lang="sk-SK" dirty="0"/>
              <a:t>Distribúcia prostriedkov</a:t>
            </a:r>
          </a:p>
          <a:p>
            <a:r>
              <a:rPr lang="sk-SK" dirty="0"/>
              <a:t>Distribuovaný OS - vlastnosti</a:t>
            </a:r>
          </a:p>
          <a:p>
            <a:pPr lvl="1"/>
            <a:r>
              <a:rPr lang="sk-SK" dirty="0"/>
              <a:t>transparentnosť, škálovateľnosť, spoľahlivosť, zdieľanie zdrojov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43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92507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err="1"/>
              <a:t>Cloud</a:t>
            </a:r>
            <a:r>
              <a:rPr lang="sk-SK"/>
              <a:t>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sk-SK"/>
              <a:t>Prevádzkovanie služieb, aplikácií a dátových úložísk na Internete, pričom fyzické umiestnenie ani vnútorná organizácia nie sú z vonku zrejmé</a:t>
            </a:r>
          </a:p>
          <a:p>
            <a:r>
              <a:rPr lang="sk-SK" err="1"/>
              <a:t>google</a:t>
            </a:r>
            <a:r>
              <a:rPr lang="sk-SK"/>
              <a:t>, </a:t>
            </a:r>
            <a:r>
              <a:rPr lang="sk-SK" err="1"/>
              <a:t>microsoft</a:t>
            </a:r>
            <a:r>
              <a:rPr lang="sk-SK"/>
              <a:t>, </a:t>
            </a:r>
            <a:r>
              <a:rPr lang="sk-SK" err="1"/>
              <a:t>amazon</a:t>
            </a:r>
            <a:r>
              <a:rPr lang="sk-SK"/>
              <a:t>, </a:t>
            </a:r>
            <a:r>
              <a:rPr lang="sk-SK" err="1"/>
              <a:t>dell</a:t>
            </a:r>
            <a:r>
              <a:rPr lang="sk-SK"/>
              <a:t>, </a:t>
            </a:r>
            <a:r>
              <a:rPr lang="sk-SK" err="1"/>
              <a:t>telekom</a:t>
            </a:r>
            <a:endParaRPr lang="sk-SK"/>
          </a:p>
          <a:p>
            <a:r>
              <a:rPr lang="sk-SK"/>
              <a:t>Príklady </a:t>
            </a:r>
            <a:r>
              <a:rPr lang="sk-SK" err="1"/>
              <a:t>cloud</a:t>
            </a:r>
            <a:r>
              <a:rPr lang="sk-SK"/>
              <a:t> OS</a:t>
            </a:r>
          </a:p>
          <a:p>
            <a:pPr lvl="1"/>
            <a:r>
              <a:rPr lang="sk-SK" err="1"/>
              <a:t>ICloud</a:t>
            </a:r>
            <a:r>
              <a:rPr lang="sk-SK"/>
              <a:t> OS (</a:t>
            </a:r>
            <a:r>
              <a:rPr lang="sk-SK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http://www.icloud.com</a:t>
            </a:r>
            <a:r>
              <a:rPr lang="sk-SK"/>
              <a:t>) - </a:t>
            </a:r>
            <a:r>
              <a:rPr lang="sk-SK" err="1"/>
              <a:t>apple</a:t>
            </a:r>
            <a:endParaRPr lang="sk-SK"/>
          </a:p>
          <a:p>
            <a:pPr lvl="1"/>
            <a:r>
              <a:rPr lang="sk-SK" err="1"/>
              <a:t>Glide</a:t>
            </a:r>
            <a:r>
              <a:rPr lang="sk-SK"/>
              <a:t> OS (http://glidedigital.com)  </a:t>
            </a:r>
          </a:p>
          <a:p>
            <a:pPr lvl="1"/>
            <a:r>
              <a:rPr lang="sk-SK"/>
              <a:t>Windows </a:t>
            </a:r>
            <a:r>
              <a:rPr lang="sk-SK" err="1"/>
              <a:t>Azure</a:t>
            </a:r>
            <a:r>
              <a:rPr lang="sk-SK"/>
              <a:t> (</a:t>
            </a:r>
            <a:r>
              <a:rPr lang="sk-SK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http://www.windowsazure.com</a:t>
            </a:r>
            <a:r>
              <a:rPr lang="sk-SK"/>
              <a:t>) </a:t>
            </a:r>
          </a:p>
          <a:p>
            <a:pPr lvl="1"/>
            <a:r>
              <a:rPr lang="sk-SK" err="1"/>
              <a:t>Eye</a:t>
            </a:r>
            <a:r>
              <a:rPr lang="sk-SK"/>
              <a:t> OS (</a:t>
            </a:r>
            <a:r>
              <a:rPr lang="sk-SK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http://eyeos.org</a:t>
            </a:r>
            <a:r>
              <a:rPr lang="sk-SK"/>
              <a:t>) </a:t>
            </a:r>
          </a:p>
          <a:p>
            <a:pPr lvl="1"/>
            <a:r>
              <a:rPr lang="en-US">
                <a:effectLst/>
              </a:rPr>
              <a:t>Amazon Elastic Compute Cloud (Amazon EC2)</a:t>
            </a:r>
            <a:r>
              <a:rPr lang="sk-SK">
                <a:effectLst/>
              </a:rPr>
              <a:t> </a:t>
            </a:r>
            <a:r>
              <a:rPr lang="sk-SK" b="1">
                <a:effectLst/>
                <a:hlinkClick r:id="rId5"/>
              </a:rPr>
              <a:t>–</a:t>
            </a:r>
            <a:r>
              <a:rPr lang="sk-SK" b="1">
                <a:effectLst/>
              </a:rPr>
              <a:t> (</a:t>
            </a:r>
            <a:r>
              <a:rPr lang="sk-SK" b="1"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http://aws.amazon.com/ec2/</a:t>
            </a:r>
            <a:r>
              <a:rPr lang="sk-SK" b="1">
                <a:effectLst/>
              </a:rPr>
              <a:t> )</a:t>
            </a:r>
            <a:endParaRPr lang="sk-SK"/>
          </a:p>
          <a:p>
            <a:pPr lvl="1"/>
            <a:endParaRPr lang="sk-SK"/>
          </a:p>
          <a:p>
            <a:endParaRPr lang="sk-SK"/>
          </a:p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E831-F59A-419E-8FF9-70E368DBF391}" type="slidenum">
              <a:rPr lang="sk-SK" smtClean="0"/>
              <a:pPr/>
              <a:t>44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26293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Os pre mobilné zariadenia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BF8E-B21F-4D43-B0FE-B825AEA9D5AB}" type="slidenum">
              <a:rPr lang="sk-SK" smtClean="0"/>
              <a:pPr/>
              <a:t>45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551904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Android</a:t>
            </a:r>
            <a:endParaRPr lang="sk-SK"/>
          </a:p>
        </p:txBody>
      </p:sp>
      <p:pic>
        <p:nvPicPr>
          <p:cNvPr id="10" name="Zástupný symbol obsahu 9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68760"/>
            <a:ext cx="5760640" cy="4136672"/>
          </a:xfrm>
        </p:spPr>
      </p:pic>
      <p:sp>
        <p:nvSpPr>
          <p:cNvPr id="11" name="Zástupný symbol obsahu 10"/>
          <p:cNvSpPr>
            <a:spLocks noGrp="1"/>
          </p:cNvSpPr>
          <p:nvPr>
            <p:ph sz="half" idx="2"/>
          </p:nvPr>
        </p:nvSpPr>
        <p:spPr>
          <a:xfrm>
            <a:off x="6162426" y="1196752"/>
            <a:ext cx="2958480" cy="378978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Android has the following layers</a:t>
            </a:r>
          </a:p>
          <a:p>
            <a:r>
              <a:rPr lang="en-US"/>
              <a:t>applications (written in java, executing in </a:t>
            </a:r>
            <a:r>
              <a:rPr lang="en-US" err="1"/>
              <a:t>Dalvik</a:t>
            </a:r>
            <a:r>
              <a:rPr lang="en-US"/>
              <a:t>)</a:t>
            </a:r>
          </a:p>
          <a:p>
            <a:r>
              <a:rPr lang="en-US"/>
              <a:t>framework services and libraries (written mostly in java)</a:t>
            </a:r>
          </a:p>
          <a:p>
            <a:pPr lvl="1"/>
            <a:r>
              <a:rPr lang="en-US"/>
              <a:t>applications and most framework code executes in a virtual machine</a:t>
            </a:r>
          </a:p>
          <a:p>
            <a:r>
              <a:rPr lang="en-US"/>
              <a:t>native libraries, daemons and services (written in C or C++)</a:t>
            </a:r>
          </a:p>
          <a:p>
            <a:r>
              <a:rPr lang="en-US"/>
              <a:t>the Linux kernel, which includes</a:t>
            </a:r>
          </a:p>
          <a:p>
            <a:pPr lvl="1"/>
            <a:r>
              <a:rPr lang="en-US"/>
              <a:t>drivers for hardware, networking, file system access and inter-process-communication</a:t>
            </a:r>
          </a:p>
          <a:p>
            <a:pPr marL="0" indent="0">
              <a:buNone/>
            </a:pPr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BF8E-B21F-4D43-B0FE-B825AEA9D5AB}" type="slidenum">
              <a:rPr lang="sk-SK" smtClean="0"/>
              <a:pPr/>
              <a:t>46</a:t>
            </a:fld>
            <a:endParaRPr lang="sk-SK"/>
          </a:p>
        </p:txBody>
      </p:sp>
      <p:sp>
        <p:nvSpPr>
          <p:cNvPr id="12" name="BlokTextu 11"/>
          <p:cNvSpPr txBox="1"/>
          <p:nvPr/>
        </p:nvSpPr>
        <p:spPr>
          <a:xfrm>
            <a:off x="467544" y="6309320"/>
            <a:ext cx="4967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http://elinux.org/Android_Architecture</a:t>
            </a:r>
          </a:p>
        </p:txBody>
      </p:sp>
    </p:spTree>
    <p:extLst>
      <p:ext uri="{BB962C8B-B14F-4D97-AF65-F5344CB8AC3E}">
        <p14:creationId xmlns:p14="http://schemas.microsoft.com/office/powerpoint/2010/main" val="2021564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09FC98AE-50B3-7A4A-8557-CA36844A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Apple </a:t>
            </a:r>
            <a:r>
              <a:rPr lang="sk-SK" dirty="0" err="1"/>
              <a:t>iOS</a:t>
            </a:r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5F41F47-8E63-2E40-A852-95759BBE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8D63-B479-423D-8C3A-8B4435E5C70B}" type="slidenum">
              <a:rPr lang="sk-SK" smtClean="0"/>
              <a:pPr/>
              <a:t>47</a:t>
            </a:fld>
            <a:endParaRPr lang="sk-SK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267DBD35-5519-1942-8697-8E1E078E7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90" y="980728"/>
            <a:ext cx="3352216" cy="5445224"/>
          </a:xfrm>
          <a:prstGeom prst="rect">
            <a:avLst/>
          </a:prstGeom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558C2825-5821-3934-8C06-702C2836BE6E}"/>
              </a:ext>
            </a:extLst>
          </p:cNvPr>
          <p:cNvSpPr txBox="1"/>
          <p:nvPr/>
        </p:nvSpPr>
        <p:spPr>
          <a:xfrm>
            <a:off x="4689566" y="980728"/>
            <a:ext cx="3692434" cy="579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450"/>
              </a:spcBef>
              <a:spcAft>
                <a:spcPts val="750"/>
              </a:spcAft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Apple </a:t>
            </a: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iOS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 je mobilný operačný systém vyvinutý spoločnosťou Apple </a:t>
            </a: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Inc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. pre svoje zariadenia, ako sú iPhone, iPad a iPod </a:t>
            </a: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Touch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. Tu sú niektoré z jeho základných charakteristík:</a:t>
            </a: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Používateľské rozhranie: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Intuitívne a jednoduché.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Gestá a dotykové ovládanie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Bezpečnosť: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Silné zabezpečenie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App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 </a:t>
            </a: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Store</a:t>
            </a: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.</a:t>
            </a: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Výkon a stabilita: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Optimalizácia pre hardvér Apple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Efektívne využitie zdrojov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Ekosystém Apple: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Integrácia s ostatnými zariadeniami Apple 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 err="1">
                <a:solidFill>
                  <a:srgbClr val="424242"/>
                </a:solidFill>
                <a:effectLst/>
                <a:latin typeface="Segoe Sans"/>
              </a:rPr>
              <a:t>iCloud</a:t>
            </a:r>
            <a:endParaRPr lang="sk-SK" sz="1400" dirty="0">
              <a:solidFill>
                <a:srgbClr val="424242"/>
              </a:solidFill>
              <a:latin typeface="Segoe Sans"/>
            </a:endParaRP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Aplikácie a služby: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Bohatá ponuka aplikácií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sk-SK" sz="1400" b="0" i="0" dirty="0">
                <a:solidFill>
                  <a:srgbClr val="424242"/>
                </a:solidFill>
                <a:effectLst/>
                <a:latin typeface="Segoe Sans"/>
              </a:rPr>
              <a:t>Vstavané aplikácie</a:t>
            </a:r>
          </a:p>
        </p:txBody>
      </p:sp>
    </p:spTree>
    <p:extLst>
      <p:ext uri="{BB962C8B-B14F-4D97-AF65-F5344CB8AC3E}">
        <p14:creationId xmlns:p14="http://schemas.microsoft.com/office/powerpoint/2010/main" val="3937791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Windows </a:t>
            </a:r>
            <a:r>
              <a:rPr lang="sk-SK" err="1"/>
              <a:t>Phone</a:t>
            </a:r>
            <a:r>
              <a:rPr lang="sk-SK"/>
              <a:t> </a:t>
            </a:r>
            <a:r>
              <a:rPr lang="sk-SK" err="1"/>
              <a:t>architecture</a:t>
            </a:r>
            <a:r>
              <a:rPr lang="sk-SK"/>
              <a:t> </a:t>
            </a:r>
            <a:r>
              <a:rPr lang="sk-SK" err="1"/>
              <a:t>overview</a:t>
            </a:r>
            <a:endParaRPr lang="sk-SK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7105436" y="1295400"/>
            <a:ext cx="1505163" cy="5181600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Windows Phone 8.1 is based on the Windows NT kernel.</a:t>
            </a:r>
            <a:endParaRPr lang="sk-SK" sz="2400"/>
          </a:p>
        </p:txBody>
      </p:sp>
      <p:sp>
        <p:nvSpPr>
          <p:cNvPr id="32772" name="Zástupný symbol čísla snímky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85C8D5-8C01-44D1-AEDA-8AFB09F9617F}" type="slidenum">
              <a:rPr lang="sk-SK" sz="1400"/>
              <a:pPr/>
              <a:t>48</a:t>
            </a:fld>
            <a:endParaRPr lang="sk-SK" sz="1400"/>
          </a:p>
        </p:txBody>
      </p:sp>
      <p:pic>
        <p:nvPicPr>
          <p:cNvPr id="2" name="Obrázok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97" b="7729"/>
          <a:stretch/>
        </p:blipFill>
        <p:spPr>
          <a:xfrm>
            <a:off x="0" y="980728"/>
            <a:ext cx="6781909" cy="5212469"/>
          </a:xfrm>
          <a:prstGeom prst="rect">
            <a:avLst/>
          </a:prstGeom>
        </p:spPr>
      </p:pic>
      <p:sp>
        <p:nvSpPr>
          <p:cNvPr id="5" name="BlokTextu 4"/>
          <p:cNvSpPr txBox="1"/>
          <p:nvPr/>
        </p:nvSpPr>
        <p:spPr>
          <a:xfrm>
            <a:off x="14674" y="6273225"/>
            <a:ext cx="6530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600"/>
              <a:t>https://dev.windowsphone.com/en-US/OEM/docs/Getting_Started/Windows_Phone_architecture_overview</a:t>
            </a:r>
          </a:p>
        </p:txBody>
      </p:sp>
    </p:spTree>
    <p:extLst>
      <p:ext uri="{BB962C8B-B14F-4D97-AF65-F5344CB8AC3E}">
        <p14:creationId xmlns:p14="http://schemas.microsoft.com/office/powerpoint/2010/main" val="38938542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Nadpis 3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sk-SK" b="1"/>
              <a:t>Mikropočítač dnes</a:t>
            </a:r>
            <a:endParaRPr lang="sk-SK"/>
          </a:p>
        </p:txBody>
      </p:sp>
      <p:sp>
        <p:nvSpPr>
          <p:cNvPr id="56324" name="Zástupný symbol čísla snímky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1F8734-B496-4D3F-8323-5A55C1645DF7}" type="slidenum">
              <a:rPr lang="sk-SK" sz="1400"/>
              <a:pPr/>
              <a:t>49</a:t>
            </a:fld>
            <a:endParaRPr lang="sk-SK" sz="140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838200" y="5742086"/>
            <a:ext cx="7772400" cy="734913"/>
          </a:xfrm>
        </p:spPr>
        <p:txBody>
          <a:bodyPr/>
          <a:lstStyle/>
          <a:p>
            <a:pPr marL="0" indent="0">
              <a:buNone/>
            </a:pPr>
            <a:r>
              <a:rPr lang="sk-SK" sz="2000" dirty="0" err="1"/>
              <a:t>https</a:t>
            </a:r>
            <a:r>
              <a:rPr lang="sk-SK" sz="2000" dirty="0"/>
              <a:t>://</a:t>
            </a:r>
            <a:r>
              <a:rPr lang="sk-SK" sz="2000" dirty="0" err="1"/>
              <a:t>www.intel.com</a:t>
            </a:r>
            <a:r>
              <a:rPr lang="sk-SK" sz="2000" dirty="0"/>
              <a:t>/</a:t>
            </a:r>
            <a:r>
              <a:rPr lang="sk-SK" sz="2000" dirty="0" err="1"/>
              <a:t>content</a:t>
            </a:r>
            <a:r>
              <a:rPr lang="sk-SK" sz="2000" dirty="0"/>
              <a:t>/</a:t>
            </a:r>
            <a:r>
              <a:rPr lang="sk-SK" sz="2000" dirty="0" err="1"/>
              <a:t>www</a:t>
            </a:r>
            <a:r>
              <a:rPr lang="sk-SK" sz="2000" dirty="0"/>
              <a:t>/</a:t>
            </a:r>
            <a:r>
              <a:rPr lang="sk-SK" sz="2000" dirty="0" err="1"/>
              <a:t>us</a:t>
            </a:r>
            <a:r>
              <a:rPr lang="sk-SK" sz="2000" dirty="0"/>
              <a:t>/</a:t>
            </a:r>
            <a:r>
              <a:rPr lang="sk-SK" sz="2000" dirty="0" err="1"/>
              <a:t>en</a:t>
            </a:r>
            <a:r>
              <a:rPr lang="sk-SK" sz="2000" dirty="0"/>
              <a:t>/</a:t>
            </a:r>
            <a:r>
              <a:rPr lang="sk-SK" sz="2000" dirty="0" err="1"/>
              <a:t>products</a:t>
            </a:r>
            <a:r>
              <a:rPr lang="sk-SK" sz="2000" dirty="0"/>
              <a:t>/</a:t>
            </a:r>
            <a:r>
              <a:rPr lang="sk-SK" sz="2000" dirty="0" err="1"/>
              <a:t>docs</a:t>
            </a:r>
            <a:r>
              <a:rPr lang="sk-SK" sz="2000" dirty="0"/>
              <a:t>/</a:t>
            </a:r>
            <a:r>
              <a:rPr lang="sk-SK" sz="2000" dirty="0" err="1"/>
              <a:t>chipsets</a:t>
            </a:r>
            <a:r>
              <a:rPr lang="sk-SK" sz="2000" dirty="0"/>
              <a:t>/desktop-</a:t>
            </a:r>
            <a:r>
              <a:rPr lang="sk-SK" sz="2000" dirty="0" err="1"/>
              <a:t>chipsets</a:t>
            </a:r>
            <a:r>
              <a:rPr lang="sk-SK" sz="2000" dirty="0"/>
              <a:t>/z790-chipset-brief.html</a:t>
            </a:r>
          </a:p>
        </p:txBody>
      </p:sp>
      <p:pic>
        <p:nvPicPr>
          <p:cNvPr id="2050" name="Picture 2" descr="Z790 chipset block diagram">
            <a:extLst>
              <a:ext uri="{FF2B5EF4-FFF2-40B4-BE49-F238E27FC236}">
                <a16:creationId xmlns:a16="http://schemas.microsoft.com/office/drawing/2014/main" id="{4AF7D60F-33DF-E658-8F14-E5C7C3BFBA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9" t="7037" r="23564" b="5028"/>
          <a:stretch/>
        </p:blipFill>
        <p:spPr bwMode="auto">
          <a:xfrm>
            <a:off x="1910255" y="833656"/>
            <a:ext cx="5475890" cy="500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7929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Zástupný symbol čísla snímky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3E3BCD-1008-44EA-8B61-6A4433159F3E}" type="slidenum">
              <a:rPr lang="sk-SK" sz="1400"/>
              <a:pPr/>
              <a:t>50</a:t>
            </a:fld>
            <a:endParaRPr lang="sk-SK" sz="14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Záver</a:t>
            </a:r>
          </a:p>
        </p:txBody>
      </p:sp>
      <p:sp>
        <p:nvSpPr>
          <p:cNvPr id="2054" name="Text Box 3"/>
          <p:cNvSpPr txBox="1">
            <a:spLocks noChangeArrowheads="1"/>
          </p:cNvSpPr>
          <p:nvPr/>
        </p:nvSpPr>
        <p:spPr bwMode="auto">
          <a:xfrm>
            <a:off x="1387475" y="2330450"/>
            <a:ext cx="31845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6600"/>
              <a:t>Otázky ?</a:t>
            </a:r>
            <a:endParaRPr lang="sk-SK" sz="5400"/>
          </a:p>
        </p:txBody>
      </p:sp>
      <p:pic>
        <p:nvPicPr>
          <p:cNvPr id="2" name="Obrázok 2" descr="Obrázok, na ktorom je oblečenie, osoba, muž, mobilný telefón&#10;&#10;Popis vygenerovaný s veľmi vysokou spoľahlivosťou">
            <a:extLst>
              <a:ext uri="{FF2B5EF4-FFF2-40B4-BE49-F238E27FC236}">
                <a16:creationId xmlns:a16="http://schemas.microsoft.com/office/drawing/2014/main" id="{2A051867-8210-4063-8880-A620CB459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287" y="1557454"/>
            <a:ext cx="249420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3024"/>
      </p:ext>
    </p:extLst>
  </p:cSld>
  <p:clrMapOvr>
    <a:masterClrMapping/>
  </p:clrMapOvr>
  <p:transition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yuka">
  <a:themeElements>
    <a:clrScheme name="vyuk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vyuk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k-SK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k-SK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vyuk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yuk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yuk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yuk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yuk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yuk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yuk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Office\Sablony\vyuka.pot</Template>
  <TotalTime>131</TotalTime>
  <Words>3236</Words>
  <Application>Microsoft Macintosh PowerPoint</Application>
  <PresentationFormat>Prezentácia na obrazovke (4:3)</PresentationFormat>
  <Paragraphs>444</Paragraphs>
  <Slides>50</Slides>
  <Notes>8</Notes>
  <HiddenSlides>0</HiddenSlides>
  <MMClips>0</MMClips>
  <ScaleCrop>false</ScaleCrop>
  <HeadingPairs>
    <vt:vector size="8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snímok</vt:lpstr>
      </vt:variant>
      <vt:variant>
        <vt:i4>50</vt:i4>
      </vt:variant>
    </vt:vector>
  </HeadingPairs>
  <TitlesOfParts>
    <vt:vector size="57" baseType="lpstr">
      <vt:lpstr>Arial</vt:lpstr>
      <vt:lpstr>Arial Narrow</vt:lpstr>
      <vt:lpstr>Segoe Sans</vt:lpstr>
      <vt:lpstr>Times New Roman</vt:lpstr>
      <vt:lpstr>Wingdings</vt:lpstr>
      <vt:lpstr>vyuka</vt:lpstr>
      <vt:lpstr>VISIO</vt:lpstr>
      <vt:lpstr>Úvod do operačných systémov</vt:lpstr>
      <vt:lpstr>vznik počítačov</vt:lpstr>
      <vt:lpstr>Základné pojmy</vt:lpstr>
      <vt:lpstr>Delenie podľa výkonnosti</vt:lpstr>
      <vt:lpstr>delenie počítačov</vt:lpstr>
      <vt:lpstr>Programy</vt:lpstr>
      <vt:lpstr>Operačný systém - pojmy</vt:lpstr>
      <vt:lpstr>Operačný systém</vt:lpstr>
      <vt:lpstr>Služby OS</vt:lpstr>
      <vt:lpstr>Delenie OS</vt:lpstr>
      <vt:lpstr>Architektúry OS</vt:lpstr>
      <vt:lpstr>Požiadavky na OS budúcnosti</vt:lpstr>
      <vt:lpstr>Požiadavky na OS budúcnosti</vt:lpstr>
      <vt:lpstr>Požiadavky na OS budúcnosti</vt:lpstr>
      <vt:lpstr>Vízia nového OS Microsoft</vt:lpstr>
      <vt:lpstr>Architektúry</vt:lpstr>
      <vt:lpstr>Univerzálny operačný systém</vt:lpstr>
      <vt:lpstr>MS-DOS a MS windows</vt:lpstr>
      <vt:lpstr>MS DOS</vt:lpstr>
      <vt:lpstr>Modern Windows Architecture and Operations Hardware Abstraction Layer</vt:lpstr>
      <vt:lpstr>Windows Architecture and Operations User Mode and Kernel Mode</vt:lpstr>
      <vt:lpstr>Windows server 2012 až 2025</vt:lpstr>
      <vt:lpstr>Prezentácia programu PowerPoint</vt:lpstr>
      <vt:lpstr>Prezentácia programu PowerPoint</vt:lpstr>
      <vt:lpstr>Viacpoužívateľské OS</vt:lpstr>
      <vt:lpstr>Systémy reálneho času</vt:lpstr>
      <vt:lpstr>Operačný systém reálneho času </vt:lpstr>
      <vt:lpstr>Klasifikácia a použitie RT systémov </vt:lpstr>
      <vt:lpstr>QNX RTOS</vt:lpstr>
      <vt:lpstr>QNX microkernel koordinujúci systémových manažérov</vt:lpstr>
      <vt:lpstr>QNX je sieťový OS.</vt:lpstr>
      <vt:lpstr>Interprocesorovú komunikáciu zabezpečujú:</vt:lpstr>
      <vt:lpstr>RT systém</vt:lpstr>
      <vt:lpstr>Určenie FreeRTOS</vt:lpstr>
      <vt:lpstr>Hlavné rysy FreeRTOS</vt:lpstr>
      <vt:lpstr>Špecializované OS</vt:lpstr>
      <vt:lpstr>Databázový OS</vt:lpstr>
      <vt:lpstr>Sieťový operačný systém</vt:lpstr>
      <vt:lpstr>Sieťový OS Novell Netware 6.0</vt:lpstr>
      <vt:lpstr>Viacpoužívaľské operačné systémy</vt:lpstr>
      <vt:lpstr>cloud</vt:lpstr>
      <vt:lpstr>Distribuované OS</vt:lpstr>
      <vt:lpstr>Distribuované systémy</vt:lpstr>
      <vt:lpstr>Cloud OS</vt:lpstr>
      <vt:lpstr>Os pre mobilné zariadenia</vt:lpstr>
      <vt:lpstr>Android</vt:lpstr>
      <vt:lpstr>Apple iOS</vt:lpstr>
      <vt:lpstr>Windows Phone architecture overview</vt:lpstr>
      <vt:lpstr>Mikropočítač dnes</vt:lpstr>
      <vt:lpstr>Záver</vt:lpstr>
    </vt:vector>
  </TitlesOfParts>
  <Company>KT-405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operačných systémov</dc:title>
  <dc:creator>Július Baráth</dc:creator>
  <cp:lastModifiedBy>Baráth, Július</cp:lastModifiedBy>
  <cp:revision>3</cp:revision>
  <cp:lastPrinted>2001-03-15T07:48:27Z</cp:lastPrinted>
  <dcterms:created xsi:type="dcterms:W3CDTF">2000-01-09T09:14:12Z</dcterms:created>
  <dcterms:modified xsi:type="dcterms:W3CDTF">2026-02-03T09:53:00Z</dcterms:modified>
</cp:coreProperties>
</file>