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3"/>
  </p:notesMasterIdLst>
  <p:handoutMasterIdLst>
    <p:handoutMasterId r:id="rId54"/>
  </p:handoutMasterIdLst>
  <p:sldIdLst>
    <p:sldId id="321" r:id="rId2"/>
    <p:sldId id="270" r:id="rId3"/>
    <p:sldId id="342" r:id="rId4"/>
    <p:sldId id="323" r:id="rId5"/>
    <p:sldId id="343" r:id="rId6"/>
    <p:sldId id="344" r:id="rId7"/>
    <p:sldId id="346" r:id="rId8"/>
    <p:sldId id="347" r:id="rId9"/>
    <p:sldId id="348" r:id="rId10"/>
    <p:sldId id="349" r:id="rId11"/>
    <p:sldId id="350" r:id="rId12"/>
    <p:sldId id="345" r:id="rId13"/>
    <p:sldId id="324" r:id="rId14"/>
    <p:sldId id="351" r:id="rId15"/>
    <p:sldId id="352" r:id="rId16"/>
    <p:sldId id="353" r:id="rId17"/>
    <p:sldId id="325" r:id="rId18"/>
    <p:sldId id="355" r:id="rId19"/>
    <p:sldId id="379" r:id="rId20"/>
    <p:sldId id="354" r:id="rId21"/>
    <p:sldId id="326" r:id="rId22"/>
    <p:sldId id="356" r:id="rId23"/>
    <p:sldId id="357" r:id="rId24"/>
    <p:sldId id="327" r:id="rId25"/>
    <p:sldId id="358" r:id="rId26"/>
    <p:sldId id="364" r:id="rId27"/>
    <p:sldId id="359" r:id="rId28"/>
    <p:sldId id="360" r:id="rId29"/>
    <p:sldId id="328" r:id="rId30"/>
    <p:sldId id="361" r:id="rId31"/>
    <p:sldId id="365" r:id="rId32"/>
    <p:sldId id="362" r:id="rId33"/>
    <p:sldId id="363" r:id="rId34"/>
    <p:sldId id="329" r:id="rId35"/>
    <p:sldId id="366" r:id="rId36"/>
    <p:sldId id="367" r:id="rId37"/>
    <p:sldId id="374" r:id="rId38"/>
    <p:sldId id="368" r:id="rId39"/>
    <p:sldId id="369" r:id="rId40"/>
    <p:sldId id="370" r:id="rId41"/>
    <p:sldId id="371" r:id="rId42"/>
    <p:sldId id="330" r:id="rId43"/>
    <p:sldId id="372" r:id="rId44"/>
    <p:sldId id="331" r:id="rId45"/>
    <p:sldId id="373" r:id="rId46"/>
    <p:sldId id="332" r:id="rId47"/>
    <p:sldId id="375" r:id="rId48"/>
    <p:sldId id="376" r:id="rId49"/>
    <p:sldId id="377" r:id="rId50"/>
    <p:sldId id="378" r:id="rId51"/>
    <p:sldId id="322" r:id="rId5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3">
          <p15:clr>
            <a:srgbClr val="A4A3A4"/>
          </p15:clr>
        </p15:guide>
        <p15:guide id="2" pos="5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úlius Baráth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E3739B-5C95-4041-A33E-62979F4A0CDB}" v="9" dt="2026-04-08T11:59:15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3"/>
    <p:restoredTop sz="94729"/>
  </p:normalViewPr>
  <p:slideViewPr>
    <p:cSldViewPr snapToGrid="0">
      <p:cViewPr varScale="1">
        <p:scale>
          <a:sx n="115" d="100"/>
          <a:sy n="115" d="100"/>
        </p:scale>
        <p:origin x="200" y="1240"/>
      </p:cViewPr>
      <p:guideLst>
        <p:guide orient="horz" pos="813"/>
        <p:guide pos="5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undo custSel addSld modSld sldOrd">
      <pc:chgData name="Baráth, Július" userId="aebde9b9-dccc-4475-a9ac-c05e78323d7a" providerId="ADAL" clId="{4A0811C8-ED2F-505E-B787-C8270CED5046}" dt="2026-04-08T12:13:25.991" v="262" actId="20577"/>
      <pc:docMkLst>
        <pc:docMk/>
      </pc:docMkLst>
      <pc:sldChg chg="addSp modSp mod">
        <pc:chgData name="Baráth, Július" userId="aebde9b9-dccc-4475-a9ac-c05e78323d7a" providerId="ADAL" clId="{4A0811C8-ED2F-505E-B787-C8270CED5046}" dt="2026-04-08T11:55:41.239" v="156" actId="20577"/>
        <pc:sldMkLst>
          <pc:docMk/>
          <pc:sldMk cId="0" sldId="326"/>
        </pc:sldMkLst>
        <pc:spChg chg="add mod">
          <ac:chgData name="Baráth, Július" userId="aebde9b9-dccc-4475-a9ac-c05e78323d7a" providerId="ADAL" clId="{4A0811C8-ED2F-505E-B787-C8270CED5046}" dt="2026-04-08T11:55:41.239" v="156" actId="20577"/>
          <ac:spMkLst>
            <pc:docMk/>
            <pc:sldMk cId="0" sldId="326"/>
            <ac:spMk id="2" creationId="{83D4EE32-F5FB-3E13-F118-F95C26593B4F}"/>
          </ac:spMkLst>
        </pc:spChg>
        <pc:picChg chg="mod">
          <ac:chgData name="Baráth, Július" userId="aebde9b9-dccc-4475-a9ac-c05e78323d7a" providerId="ADAL" clId="{4A0811C8-ED2F-505E-B787-C8270CED5046}" dt="2026-04-08T11:55:25.493" v="152" actId="1076"/>
          <ac:picMkLst>
            <pc:docMk/>
            <pc:sldMk cId="0" sldId="326"/>
            <ac:picMk id="26626" creationId="{431FD52F-C635-152B-3BDF-554AC3327838}"/>
          </ac:picMkLst>
        </pc:picChg>
      </pc:sldChg>
      <pc:sldChg chg="ord">
        <pc:chgData name="Baráth, Július" userId="aebde9b9-dccc-4475-a9ac-c05e78323d7a" providerId="ADAL" clId="{4A0811C8-ED2F-505E-B787-C8270CED5046}" dt="2026-04-08T11:57:37.847" v="158" actId="20578"/>
        <pc:sldMkLst>
          <pc:docMk/>
          <pc:sldMk cId="0" sldId="354"/>
        </pc:sldMkLst>
      </pc:sldChg>
      <pc:sldChg chg="modSp mod">
        <pc:chgData name="Baráth, Július" userId="aebde9b9-dccc-4475-a9ac-c05e78323d7a" providerId="ADAL" clId="{4A0811C8-ED2F-505E-B787-C8270CED5046}" dt="2026-04-08T12:13:25.991" v="262" actId="20577"/>
        <pc:sldMkLst>
          <pc:docMk/>
          <pc:sldMk cId="0" sldId="372"/>
        </pc:sldMkLst>
        <pc:spChg chg="mod">
          <ac:chgData name="Baráth, Július" userId="aebde9b9-dccc-4475-a9ac-c05e78323d7a" providerId="ADAL" clId="{4A0811C8-ED2F-505E-B787-C8270CED5046}" dt="2026-04-08T12:13:25.991" v="262" actId="20577"/>
          <ac:spMkLst>
            <pc:docMk/>
            <pc:sldMk cId="0" sldId="372"/>
            <ac:spMk id="40962" creationId="{84C2715E-3BB3-9564-FE6A-771622347A5E}"/>
          </ac:spMkLst>
        </pc:spChg>
      </pc:sldChg>
      <pc:sldChg chg="modSp mod">
        <pc:chgData name="Baráth, Július" userId="aebde9b9-dccc-4475-a9ac-c05e78323d7a" providerId="ADAL" clId="{4A0811C8-ED2F-505E-B787-C8270CED5046}" dt="2026-04-08T12:11:09.476" v="251" actId="20577"/>
        <pc:sldMkLst>
          <pc:docMk/>
          <pc:sldMk cId="0" sldId="374"/>
        </pc:sldMkLst>
        <pc:spChg chg="mod">
          <ac:chgData name="Baráth, Július" userId="aebde9b9-dccc-4475-a9ac-c05e78323d7a" providerId="ADAL" clId="{4A0811C8-ED2F-505E-B787-C8270CED5046}" dt="2026-04-08T12:11:09.476" v="251" actId="20577"/>
          <ac:spMkLst>
            <pc:docMk/>
            <pc:sldMk cId="0" sldId="374"/>
            <ac:spMk id="43010" creationId="{514859F2-D828-4DEF-9DA8-1E3179D19916}"/>
          </ac:spMkLst>
        </pc:spChg>
      </pc:sldChg>
      <pc:sldChg chg="modSp new mod ord">
        <pc:chgData name="Baráth, Július" userId="aebde9b9-dccc-4475-a9ac-c05e78323d7a" providerId="ADAL" clId="{4A0811C8-ED2F-505E-B787-C8270CED5046}" dt="2026-04-08T12:00:52.087" v="205" actId="20577"/>
        <pc:sldMkLst>
          <pc:docMk/>
          <pc:sldMk cId="2092384274" sldId="379"/>
        </pc:sldMkLst>
        <pc:spChg chg="mod">
          <ac:chgData name="Baráth, Július" userId="aebde9b9-dccc-4475-a9ac-c05e78323d7a" providerId="ADAL" clId="{4A0811C8-ED2F-505E-B787-C8270CED5046}" dt="2026-04-08T11:42:49.430" v="54" actId="20577"/>
          <ac:spMkLst>
            <pc:docMk/>
            <pc:sldMk cId="2092384274" sldId="379"/>
            <ac:spMk id="2" creationId="{94E4D1C3-CB83-D9F2-6F7E-9A6BA25C159A}"/>
          </ac:spMkLst>
        </pc:spChg>
        <pc:spChg chg="mod">
          <ac:chgData name="Baráth, Július" userId="aebde9b9-dccc-4475-a9ac-c05e78323d7a" providerId="ADAL" clId="{4A0811C8-ED2F-505E-B787-C8270CED5046}" dt="2026-04-08T11:59:09.472" v="172" actId="27636"/>
          <ac:spMkLst>
            <pc:docMk/>
            <pc:sldMk cId="2092384274" sldId="379"/>
            <ac:spMk id="3" creationId="{72F1F2BC-3F11-9FAB-1422-7BBD39C77C03}"/>
          </ac:spMkLst>
        </pc:spChg>
        <pc:spChg chg="mod">
          <ac:chgData name="Baráth, Július" userId="aebde9b9-dccc-4475-a9ac-c05e78323d7a" providerId="ADAL" clId="{4A0811C8-ED2F-505E-B787-C8270CED5046}" dt="2026-04-08T12:00:52.087" v="205" actId="20577"/>
          <ac:spMkLst>
            <pc:docMk/>
            <pc:sldMk cId="2092384274" sldId="379"/>
            <ac:spMk id="4" creationId="{2F6E88E2-87C3-25BE-7606-C73EDBD2CC72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4-17T07:31:24.445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3D9D7AFE-4A05-AD0B-578D-19B88EEEEE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71" tIns="45786" rIns="91571" bIns="45786" numCol="1" anchor="ctr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Helvetica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9FE1F5AA-9711-D25A-9528-BFE3BBBDC1F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22738" y="0"/>
            <a:ext cx="3205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71" tIns="45786" rIns="91571" bIns="45786" numCol="1" anchor="ctr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Helvetica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46173E1A-869C-CD9F-0300-1E191B6852E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56700"/>
            <a:ext cx="320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71" tIns="45786" rIns="91571" bIns="45786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Helvetica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186BAACC-DC9C-E9E7-71AC-A85887D7EE1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22738" y="9156700"/>
            <a:ext cx="3205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71" tIns="45786" rIns="91571" bIns="45786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 smtClean="0">
                <a:latin typeface="Helvetica" pitchFamily="2" charset="0"/>
              </a:defRPr>
            </a:lvl1pPr>
          </a:lstStyle>
          <a:p>
            <a:pPr>
              <a:defRPr/>
            </a:pPr>
            <a:fld id="{299896FA-C033-664F-8E8E-773C661B94DE}" type="slidenum">
              <a:rPr lang="en-US" altLang="sk-SK"/>
              <a:pPr>
                <a:defRPr/>
              </a:pPr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071DD91-FCF3-864B-1E77-9CC1B44BE0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54" tIns="48326" rIns="96654" bIns="48326" numCol="1" anchor="ctr" anchorCtr="0" compatLnSpc="1">
            <a:prstTxWarp prst="textNoShape">
              <a:avLst/>
            </a:prstTxWarp>
          </a:bodyPr>
          <a:lstStyle>
            <a:lvl1pPr defTabSz="966788">
              <a:defRPr sz="1400">
                <a:latin typeface="Helvetica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579126B-3EBD-5A8A-C9C6-11A4D45C46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54" tIns="48326" rIns="96654" bIns="48326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400">
                <a:latin typeface="Helvetica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84C358A-77A9-5955-F0DD-D94DF6C1CE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99819AA5-CF41-A066-CD7A-C903448E43A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54" tIns="48326" rIns="96654" bIns="4832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6171A8E7-B9A6-2815-C479-4E1F376FD2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54" tIns="48326" rIns="96654" bIns="48326" numCol="1" anchor="b" anchorCtr="0" compatLnSpc="1">
            <a:prstTxWarp prst="textNoShape">
              <a:avLst/>
            </a:prstTxWarp>
          </a:bodyPr>
          <a:lstStyle>
            <a:lvl1pPr defTabSz="966788">
              <a:defRPr sz="1400">
                <a:latin typeface="Helvetica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CC97FC2A-8371-22B8-2842-9B3DC48422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r" defTabSz="966788">
              <a:defRPr sz="1400" smtClean="0">
                <a:latin typeface="Helvetica" pitchFamily="2" charset="0"/>
              </a:defRPr>
            </a:lvl1pPr>
          </a:lstStyle>
          <a:p>
            <a:pPr>
              <a:defRPr/>
            </a:pPr>
            <a:fld id="{84362C00-7AF2-0743-B57A-060F524756FF}" type="slidenum">
              <a:rPr lang="en-US" altLang="sk-SK"/>
              <a:pPr>
                <a:defRPr/>
              </a:pPr>
              <a:t>‹#›</a:t>
            </a:fld>
            <a:endParaRPr lang="en-US" alt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7C9916B3-1E71-C5D7-0A70-93A83BAE6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74194B1-C901-3C42-A00D-306FA855CF8B}" type="slidenum">
              <a:rPr lang="en-US" altLang="sk-SK">
                <a:latin typeface="Helvetica" pitchFamily="2" charset="0"/>
              </a:rPr>
              <a:pPr/>
              <a:t>1</a:t>
            </a:fld>
            <a:endParaRPr lang="en-US" altLang="sk-SK">
              <a:latin typeface="Helvetica" pitchFamily="2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B746EEEF-8080-D5F7-E377-64A625EF56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3A561AE-3363-4FC1-3DF0-09C508912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9415F06A-59D2-E277-B0E2-BFD8B4341C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C3C77EC-DA83-2443-AC1F-A8182429B24E}" type="slidenum">
              <a:rPr lang="en-US" altLang="sk-SK">
                <a:latin typeface="Helvetica" pitchFamily="2" charset="0"/>
              </a:rPr>
              <a:pPr/>
              <a:t>2</a:t>
            </a:fld>
            <a:endParaRPr lang="en-US" altLang="sk-SK">
              <a:latin typeface="Helvetica" pitchFamily="2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0E290BEF-A0F4-7C35-4591-CBC6F91B25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D9CAA9D-0D88-85E3-432D-1EA073E445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Zástupný objekt pre obrázok snímky 1">
            <a:extLst>
              <a:ext uri="{FF2B5EF4-FFF2-40B4-BE49-F238E27FC236}">
                <a16:creationId xmlns:a16="http://schemas.microsoft.com/office/drawing/2014/main" id="{0483B0BA-DB97-25AF-34A0-2A94ECE4C5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Zástupný objekt pre poznámky 2">
            <a:extLst>
              <a:ext uri="{FF2B5EF4-FFF2-40B4-BE49-F238E27FC236}">
                <a16:creationId xmlns:a16="http://schemas.microsoft.com/office/drawing/2014/main" id="{95E403BE-0D43-C38F-C276-DCEEB2B73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6323" name="Zástupný objekt pre číslo snímky 3">
            <a:extLst>
              <a:ext uri="{FF2B5EF4-FFF2-40B4-BE49-F238E27FC236}">
                <a16:creationId xmlns:a16="http://schemas.microsoft.com/office/drawing/2014/main" id="{80131667-2DDB-3538-883E-328280C675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BADAEB5-F3A8-1347-B81D-9E01B4C90BF3}" type="slidenum">
              <a:rPr lang="en-US" altLang="sk-SK">
                <a:latin typeface="Helvetica" pitchFamily="2" charset="0"/>
              </a:rPr>
              <a:pPr/>
              <a:t>6</a:t>
            </a:fld>
            <a:endParaRPr lang="en-US" altLang="sk-SK">
              <a:latin typeface="Helvetica" pitchFamily="2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362C00-7AF2-0743-B57A-060F524756FF}" type="slidenum">
              <a:rPr lang="en-US" altLang="sk-SK" smtClean="0"/>
              <a:pPr>
                <a:defRPr/>
              </a:pPr>
              <a:t>12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2913761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362C00-7AF2-0743-B57A-060F524756FF}" type="slidenum">
              <a:rPr lang="en-US" altLang="sk-SK" smtClean="0"/>
              <a:pPr>
                <a:defRPr/>
              </a:pPr>
              <a:t>19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9449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77915A42-A27F-9EFC-ACEB-6B37F5FB23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FC3A740-622D-4F45-A689-A7DA904A7424}" type="slidenum">
              <a:rPr lang="en-US" altLang="sk-SK">
                <a:latin typeface="Helvetica" pitchFamily="2" charset="0"/>
              </a:rPr>
              <a:pPr/>
              <a:t>51</a:t>
            </a:fld>
            <a:endParaRPr lang="en-US" altLang="sk-SK">
              <a:latin typeface="Helvetica" pitchFamily="2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34F7D7BD-6EC0-2479-DD3C-FEE8A0C973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5D3DFE5-A522-B5A0-5028-1D770BDA4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 altLang="sk-SK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5CF4F8FA-92FF-822A-3BF9-A5806C5C824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85F5887B-0F4D-8920-E40C-FBD1BF746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sk-SK" altLang="sk-SK" sz="1800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55693BBF-B48D-527D-17CF-D2FE440E7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sk-SK" altLang="sk-SK" sz="1800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2BE00BCD-2CB7-FF27-5ACB-9ACF57767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sk-SK" altLang="sk-SK" sz="1800"/>
            </a:p>
          </p:txBody>
        </p:sp>
      </p:grpSp>
      <p:sp>
        <p:nvSpPr>
          <p:cNvPr id="6" name="Text Box 7">
            <a:extLst>
              <a:ext uri="{FF2B5EF4-FFF2-40B4-BE49-F238E27FC236}">
                <a16:creationId xmlns:a16="http://schemas.microsoft.com/office/drawing/2014/main" id="{A15B875A-6924-3205-8119-6D1C8E895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sk-SK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7FF6B7BF-3166-1AE2-2D33-F982701C0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638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sk-SK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sk-SK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sk-SK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8" name="Picture 9" descr="dino_4">
            <a:extLst>
              <a:ext uri="{FF2B5EF4-FFF2-40B4-BE49-F238E27FC236}">
                <a16:creationId xmlns:a16="http://schemas.microsoft.com/office/drawing/2014/main" id="{326B1705-EF2E-4D94-4B0F-A000EA367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2A7C7FC3-571A-53AB-A939-28CB99BC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16375"/>
            <a:ext cx="2336800" cy="1878013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>
              <a:defRPr/>
            </a:pPr>
            <a:endParaRPr lang="sk-SK" altLang="sk-SK" sz="1800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03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65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33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486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338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879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64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126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244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44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189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AA2D7EE-5C70-1956-84D0-DCFE9A2C8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49EDA8DA-1D57-A120-66CF-25F2E83ED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k-SK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8E73FF5-C3A7-DDBB-A7F1-92F1F7AE5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k-SK"/>
              <a:t>Click to edit Master text styles</a:t>
            </a:r>
          </a:p>
          <a:p>
            <a:pPr lvl="1"/>
            <a:r>
              <a:rPr lang="en-US" altLang="sk-SK"/>
              <a:t>Second level</a:t>
            </a:r>
          </a:p>
          <a:p>
            <a:pPr lvl="2"/>
            <a:r>
              <a:rPr lang="en-US" altLang="sk-SK"/>
              <a:t>Third level</a:t>
            </a:r>
          </a:p>
          <a:p>
            <a:pPr lvl="3"/>
            <a:r>
              <a:rPr lang="en-US" altLang="sk-SK"/>
              <a:t>Fourth level</a:t>
            </a:r>
          </a:p>
          <a:p>
            <a:pPr lvl="4"/>
            <a:r>
              <a:rPr lang="en-US" altLang="sk-SK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73D98A-646E-0F06-E94A-3BEB18333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sk-SK" altLang="sk-SK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374AEC8-4CE7-0F1D-337B-DEFA02E55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6B64EA8-9796-9567-9C6D-234974FC6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sk-SK" altLang="sk-SK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983710E-2C3C-7646-6BB5-ABE39F2D9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sk-SK" altLang="sk-SK">
              <a:latin typeface="Times New Roman" pitchFamily="18" charset="0"/>
            </a:endParaRPr>
          </a:p>
        </p:txBody>
      </p:sp>
      <p:sp>
        <p:nvSpPr>
          <p:cNvPr id="132105" name="Text Box 9">
            <a:extLst>
              <a:ext uri="{FF2B5EF4-FFF2-40B4-BE49-F238E27FC236}">
                <a16:creationId xmlns:a16="http://schemas.microsoft.com/office/drawing/2014/main" id="{1E90A501-F283-63A6-EC53-9B645A5DB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0" y="6613525"/>
            <a:ext cx="514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sk-SK" sz="1000" b="1">
                <a:solidFill>
                  <a:srgbClr val="006699"/>
                </a:solidFill>
                <a:latin typeface="Helvetica" pitchFamily="2" charset="0"/>
              </a:rPr>
              <a:t>16.</a:t>
            </a:r>
            <a:fld id="{B5864DC8-59CF-0441-842D-B41CF75A3104}" type="slidenum">
              <a:rPr lang="en-US" altLang="sk-SK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sk-SK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32106" name="Text Box 10">
            <a:extLst>
              <a:ext uri="{FF2B5EF4-FFF2-40B4-BE49-F238E27FC236}">
                <a16:creationId xmlns:a16="http://schemas.microsoft.com/office/drawing/2014/main" id="{5738B1C2-A9E5-398C-BAAB-5C383D14B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sk-SK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32107" name="Text Box 11">
            <a:extLst>
              <a:ext uri="{FF2B5EF4-FFF2-40B4-BE49-F238E27FC236}">
                <a16:creationId xmlns:a16="http://schemas.microsoft.com/office/drawing/2014/main" id="{67A3A469-9C0F-439D-451B-69412898A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sk-SK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sk-SK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sk-SK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36AA44D-DAF3-C334-6BAB-D71A71716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ＭＳ Ｐゴシック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3F1508AD-5D00-45CF-8636-097B42F099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8125" y="1792288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Chapter 16:  Virtual Machines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08308A2E-D39E-C43C-8F38-8A598C6C2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277813"/>
            <a:ext cx="7685087" cy="576262"/>
          </a:xfrm>
        </p:spPr>
        <p:txBody>
          <a:bodyPr/>
          <a:lstStyle/>
          <a:p>
            <a:pPr eaLnBrk="1" hangingPunct="1"/>
            <a:r>
              <a:rPr lang="en-US" altLang="sk-SK" sz="2800">
                <a:ea typeface="ＭＳ Ｐゴシック" panose="020B0600070205080204" pitchFamily="34" charset="-128"/>
              </a:rPr>
              <a:t>Chapter 16: Virtual Machines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DB79D630-C63C-8A4A-0399-0C7217F2F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290638"/>
            <a:ext cx="7351712" cy="4483100"/>
          </a:xfrm>
        </p:spPr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Overview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History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Benefits and Features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Building Blocks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Types of Virtual Machines and Their Implementations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Virtualization and Operating-System Components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A027E010-3CF8-2080-829B-CAEEEB369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Overview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EED285DA-1876-63CE-DFD6-8B559DC81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Fundamental idea – abstract hardware of a single computer into several different execution environments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Similar to layered approach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But layer creates virtual system (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virtual machine</a:t>
            </a:r>
            <a:r>
              <a:rPr lang="en-US" altLang="sk-SK">
                <a:ea typeface="ＭＳ Ｐゴシック" panose="020B0600070205080204" pitchFamily="34" charset="-128"/>
              </a:rPr>
              <a:t>, or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VM</a:t>
            </a:r>
            <a:r>
              <a:rPr lang="en-US" altLang="sk-SK">
                <a:ea typeface="ＭＳ Ｐゴシック" panose="020B0600070205080204" pitchFamily="34" charset="-128"/>
              </a:rPr>
              <a:t>) on which operation systems or applications can run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Several components</a:t>
            </a:r>
          </a:p>
          <a:p>
            <a:pPr lvl="1"/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Host</a:t>
            </a:r>
            <a:r>
              <a:rPr lang="en-US" altLang="sk-SK">
                <a:ea typeface="ＭＳ Ｐゴシック" panose="020B0600070205080204" pitchFamily="34" charset="-128"/>
              </a:rPr>
              <a:t> – underlying hardware system</a:t>
            </a:r>
          </a:p>
          <a:p>
            <a:pPr lvl="1"/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Virtual machine manager </a:t>
            </a:r>
            <a:r>
              <a:rPr lang="en-US" altLang="sk-SK">
                <a:ea typeface="ＭＳ Ｐゴシック" panose="020B0600070205080204" pitchFamily="34" charset="-128"/>
              </a:rPr>
              <a:t>(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VMM</a:t>
            </a:r>
            <a:r>
              <a:rPr lang="en-US" altLang="sk-SK">
                <a:ea typeface="ＭＳ Ｐゴシック" panose="020B0600070205080204" pitchFamily="34" charset="-128"/>
              </a:rPr>
              <a:t>) or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hypervisor</a:t>
            </a:r>
            <a:r>
              <a:rPr lang="en-US" altLang="sk-SK">
                <a:ea typeface="ＭＳ Ｐゴシック" panose="020B0600070205080204" pitchFamily="34" charset="-128"/>
              </a:rPr>
              <a:t> – creates and runs virtual machines by providing interface that is </a:t>
            </a:r>
            <a:r>
              <a:rPr lang="en-US" altLang="sk-SK" b="1" i="1">
                <a:ea typeface="ＭＳ Ｐゴシック" panose="020B0600070205080204" pitchFamily="34" charset="-128"/>
              </a:rPr>
              <a:t>identical</a:t>
            </a:r>
            <a:r>
              <a:rPr lang="en-US" altLang="sk-SK">
                <a:ea typeface="ＭＳ Ｐゴシック" panose="020B0600070205080204" pitchFamily="34" charset="-128"/>
              </a:rPr>
              <a:t> to the host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(Except in the case of paravirtualization)</a:t>
            </a:r>
          </a:p>
          <a:p>
            <a:pPr lvl="1"/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Guest</a:t>
            </a:r>
            <a:r>
              <a:rPr lang="en-US" altLang="sk-SK">
                <a:ea typeface="ＭＳ Ｐゴシック" panose="020B0600070205080204" pitchFamily="34" charset="-128"/>
              </a:rPr>
              <a:t> – process provided with virtual copy of the host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Usually an operating system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Single physical machine can run multiple operating systems concurrently, each in its own virtual machine</a:t>
            </a:r>
          </a:p>
          <a:p>
            <a:pPr lvl="2">
              <a:buFont typeface="Webdings" pitchFamily="2" charset="2"/>
              <a:buNone/>
            </a:pPr>
            <a:r>
              <a:rPr lang="en-US" altLang="sk-SK">
                <a:ea typeface="ＭＳ Ｐゴシック" panose="020B0600070205080204" pitchFamily="34" charset="-128"/>
              </a:rPr>
              <a:t>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>
            <a:extLst>
              <a:ext uri="{FF2B5EF4-FFF2-40B4-BE49-F238E27FC236}">
                <a16:creationId xmlns:a16="http://schemas.microsoft.com/office/drawing/2014/main" id="{CCD32D02-FCC2-7F4D-25EC-4F19F63D8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System Models</a:t>
            </a:r>
          </a:p>
        </p:txBody>
      </p:sp>
      <p:pic>
        <p:nvPicPr>
          <p:cNvPr id="10242" name="Content Placeholder 3" descr="16_01.pdf">
            <a:extLst>
              <a:ext uri="{FF2B5EF4-FFF2-40B4-BE49-F238E27FC236}">
                <a16:creationId xmlns:a16="http://schemas.microsoft.com/office/drawing/2014/main" id="{76C3272E-91E1-D1A4-7E2F-306259C3B7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9" b="9419"/>
          <a:stretch>
            <a:fillRect/>
          </a:stretch>
        </p:blipFill>
        <p:spPr>
          <a:xfrm>
            <a:off x="965200" y="1409700"/>
            <a:ext cx="7386638" cy="4065588"/>
          </a:xfrm>
        </p:spPr>
      </p:pic>
      <p:sp>
        <p:nvSpPr>
          <p:cNvPr id="10243" name="TextBox 4">
            <a:extLst>
              <a:ext uri="{FF2B5EF4-FFF2-40B4-BE49-F238E27FC236}">
                <a16:creationId xmlns:a16="http://schemas.microsoft.com/office/drawing/2014/main" id="{977CD94F-096F-1FAF-7267-3121B6075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5848350"/>
            <a:ext cx="3011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sk-SK">
                <a:latin typeface="Verdana" panose="020B0604030504040204" pitchFamily="34" charset="0"/>
              </a:rPr>
              <a:t>(a) Nonvirtual machine</a:t>
            </a:r>
          </a:p>
        </p:txBody>
      </p:sp>
      <p:sp>
        <p:nvSpPr>
          <p:cNvPr id="10244" name="TextBox 5">
            <a:extLst>
              <a:ext uri="{FF2B5EF4-FFF2-40B4-BE49-F238E27FC236}">
                <a16:creationId xmlns:a16="http://schemas.microsoft.com/office/drawing/2014/main" id="{41B7E003-2A96-7326-8FA2-793215290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3813" y="5848350"/>
            <a:ext cx="2813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sk-SK">
                <a:latin typeface="Verdana" panose="020B0604030504040204" pitchFamily="34" charset="0"/>
              </a:rPr>
              <a:t>(b) Virtual machine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Ovál 1">
            <a:extLst>
              <a:ext uri="{FF2B5EF4-FFF2-40B4-BE49-F238E27FC236}">
                <a16:creationId xmlns:a16="http://schemas.microsoft.com/office/drawing/2014/main" id="{9C1D8EC6-EBD7-0B54-3744-1FECC1D09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2336800"/>
            <a:ext cx="542925" cy="16049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sk-SK" altLang="sk-SK">
              <a:latin typeface="Verdana" panose="020B0604030504040204" pitchFamily="34" charset="0"/>
            </a:endParaRPr>
          </a:p>
        </p:txBody>
      </p:sp>
      <p:sp>
        <p:nvSpPr>
          <p:cNvPr id="11266" name="Title 1">
            <a:extLst>
              <a:ext uri="{FF2B5EF4-FFF2-40B4-BE49-F238E27FC236}">
                <a16:creationId xmlns:a16="http://schemas.microsoft.com/office/drawing/2014/main" id="{7B06A379-B64F-47DE-564C-698DDA899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87338"/>
            <a:ext cx="8229600" cy="576262"/>
          </a:xfrm>
        </p:spPr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Implementation of VMMs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0A471A76-63AA-6EA7-0D1A-0FDFC7E570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6675"/>
            <a:ext cx="8229600" cy="453072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sk-SK" dirty="0">
                <a:ea typeface="ＭＳ Ｐゴシック" panose="020B0600070205080204" pitchFamily="34" charset="-128"/>
              </a:rPr>
              <a:t>Vary greatly, with options including:</a:t>
            </a:r>
          </a:p>
          <a:p>
            <a:pPr lvl="1">
              <a:defRPr/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Type 0 hypervisors </a:t>
            </a:r>
            <a:r>
              <a:rPr lang="en-US" altLang="sk-SK" b="1" dirty="0">
                <a:ea typeface="ＭＳ Ｐゴシック" panose="020B0600070205080204" pitchFamily="34" charset="-128"/>
              </a:rPr>
              <a:t>- </a:t>
            </a:r>
            <a:r>
              <a:rPr lang="en-US" altLang="sk-SK" dirty="0">
                <a:ea typeface="ＭＳ Ｐゴシック" panose="020B0600070205080204" pitchFamily="34" charset="-128"/>
              </a:rPr>
              <a:t>Hardware-based solutions that provide support for virtual machine creation and management via firmware</a:t>
            </a:r>
          </a:p>
          <a:p>
            <a:pPr lvl="2">
              <a:defRPr/>
            </a:pPr>
            <a:r>
              <a:rPr lang="en-US" altLang="sk-SK" sz="1600" dirty="0">
                <a:ea typeface="ＭＳ Ｐゴシック" panose="020B0600070205080204" pitchFamily="34" charset="-128"/>
              </a:rPr>
              <a:t>IBM LPARs </a:t>
            </a:r>
            <a:r>
              <a:rPr lang="en-US" altLang="sk-SK" dirty="0">
                <a:ea typeface="ＭＳ Ｐゴシック" panose="020B0600070205080204" pitchFamily="34" charset="-128"/>
              </a:rPr>
              <a:t>and Oracle </a:t>
            </a:r>
            <a:r>
              <a:rPr lang="en-US" altLang="sk-SK" sz="1600" dirty="0">
                <a:ea typeface="ＭＳ Ｐゴシック" panose="020B0600070205080204" pitchFamily="34" charset="-128"/>
              </a:rPr>
              <a:t>LDOMs </a:t>
            </a:r>
            <a:r>
              <a:rPr lang="en-US" altLang="sk-SK" dirty="0">
                <a:ea typeface="ＭＳ Ｐゴシック" panose="020B0600070205080204" pitchFamily="34" charset="-128"/>
              </a:rPr>
              <a:t>are examples</a:t>
            </a:r>
            <a:endParaRPr lang="en-US" altLang="sk-SK" sz="2800" dirty="0">
              <a:ea typeface="ＭＳ Ｐゴシック" panose="020B0600070205080204" pitchFamily="34" charset="-128"/>
            </a:endParaRPr>
          </a:p>
          <a:p>
            <a:pPr lvl="1">
              <a:defRPr/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Type 1 hypervisors </a:t>
            </a:r>
            <a:r>
              <a:rPr lang="en-US" altLang="sk-SK" b="1" dirty="0">
                <a:ea typeface="ＭＳ Ｐゴシック" panose="020B0600070205080204" pitchFamily="34" charset="-128"/>
              </a:rPr>
              <a:t>- </a:t>
            </a:r>
            <a:r>
              <a:rPr lang="en-US" altLang="sk-SK" dirty="0">
                <a:ea typeface="ＭＳ Ｐゴシック" panose="020B0600070205080204" pitchFamily="34" charset="-128"/>
              </a:rPr>
              <a:t>Operating-system-like software built to provide virtualization</a:t>
            </a:r>
          </a:p>
          <a:p>
            <a:pPr lvl="2">
              <a:defRPr/>
            </a:pPr>
            <a:r>
              <a:rPr lang="en-US" altLang="sk-SK" dirty="0">
                <a:ea typeface="ＭＳ Ｐゴシック" panose="020B0600070205080204" pitchFamily="34" charset="-128"/>
              </a:rPr>
              <a:t>Including </a:t>
            </a:r>
            <a:r>
              <a:rPr lang="en-US" altLang="sk-SK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VMware ESX</a:t>
            </a:r>
            <a:r>
              <a:rPr lang="en-US" altLang="sk-SK" dirty="0">
                <a:ea typeface="ＭＳ Ｐゴシック" panose="020B0600070205080204" pitchFamily="34" charset="-128"/>
              </a:rPr>
              <a:t>, </a:t>
            </a:r>
            <a:r>
              <a:rPr lang="en-US" altLang="sk-SK" dirty="0" err="1">
                <a:ea typeface="ＭＳ Ｐゴシック" panose="020B0600070205080204" pitchFamily="34" charset="-128"/>
              </a:rPr>
              <a:t>Joyent</a:t>
            </a:r>
            <a:r>
              <a:rPr lang="en-US" altLang="sk-SK" dirty="0">
                <a:ea typeface="ＭＳ Ｐゴシック" panose="020B0600070205080204" pitchFamily="34" charset="-128"/>
              </a:rPr>
              <a:t> </a:t>
            </a:r>
            <a:r>
              <a:rPr lang="en-US" altLang="sk-SK" dirty="0" err="1">
                <a:ea typeface="ＭＳ Ｐゴシック" panose="020B0600070205080204" pitchFamily="34" charset="-128"/>
              </a:rPr>
              <a:t>Smart</a:t>
            </a:r>
            <a:r>
              <a:rPr lang="en-US" altLang="sk-SK" sz="1600" dirty="0" err="1">
                <a:ea typeface="ＭＳ Ｐゴシック" panose="020B0600070205080204" pitchFamily="34" charset="-128"/>
              </a:rPr>
              <a:t>OS</a:t>
            </a:r>
            <a:r>
              <a:rPr lang="en-US" altLang="sk-SK" dirty="0">
                <a:ea typeface="ＭＳ Ｐゴシック" panose="020B0600070205080204" pitchFamily="34" charset="-128"/>
              </a:rPr>
              <a:t>, and </a:t>
            </a:r>
            <a:r>
              <a:rPr lang="en-US" altLang="sk-SK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Citrix </a:t>
            </a:r>
            <a:r>
              <a:rPr lang="en-US" altLang="sk-SK" dirty="0" err="1">
                <a:solidFill>
                  <a:schemeClr val="accent1"/>
                </a:solidFill>
                <a:ea typeface="ＭＳ Ｐゴシック" panose="020B0600070205080204" pitchFamily="34" charset="-128"/>
              </a:rPr>
              <a:t>XenServer</a:t>
            </a:r>
            <a:r>
              <a:rPr lang="en-US" altLang="sk-SK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1">
              <a:defRPr/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Type 1 hypervisors </a:t>
            </a:r>
            <a:r>
              <a:rPr lang="en-US" altLang="sk-SK" b="1" dirty="0">
                <a:ea typeface="ＭＳ Ｐゴシック" panose="020B0600070205080204" pitchFamily="34" charset="-128"/>
              </a:rPr>
              <a:t>– </a:t>
            </a:r>
            <a:r>
              <a:rPr lang="en-US" altLang="sk-SK" dirty="0">
                <a:ea typeface="ＭＳ Ｐゴシック" panose="020B0600070205080204" pitchFamily="34" charset="-128"/>
              </a:rPr>
              <a:t>Also includes general-purpose operating systems that provide standard functions as well as </a:t>
            </a:r>
            <a:r>
              <a:rPr lang="en-US" altLang="sk-SK" sz="1600" dirty="0">
                <a:ea typeface="ＭＳ Ｐゴシック" panose="020B0600070205080204" pitchFamily="34" charset="-128"/>
              </a:rPr>
              <a:t>VMM </a:t>
            </a:r>
            <a:r>
              <a:rPr lang="en-US" altLang="sk-SK" dirty="0">
                <a:ea typeface="ＭＳ Ｐゴシック" panose="020B0600070205080204" pitchFamily="34" charset="-128"/>
              </a:rPr>
              <a:t>functions</a:t>
            </a:r>
          </a:p>
          <a:p>
            <a:pPr lvl="2">
              <a:defRPr/>
            </a:pPr>
            <a:r>
              <a:rPr lang="en-US" altLang="sk-SK" dirty="0">
                <a:ea typeface="ＭＳ Ｐゴシック" panose="020B0600070205080204" pitchFamily="34" charset="-128"/>
              </a:rPr>
              <a:t>Including Microsoft Windows Server with </a:t>
            </a:r>
            <a:r>
              <a:rPr lang="en-US" altLang="sk-SK" dirty="0" err="1">
                <a:solidFill>
                  <a:schemeClr val="accent1"/>
                </a:solidFill>
                <a:ea typeface="ＭＳ Ｐゴシック" panose="020B0600070205080204" pitchFamily="34" charset="-128"/>
              </a:rPr>
              <a:t>HyperV</a:t>
            </a:r>
            <a:r>
              <a:rPr lang="en-US" altLang="sk-SK" dirty="0">
                <a:ea typeface="ＭＳ Ｐゴシック" panose="020B0600070205080204" pitchFamily="34" charset="-128"/>
              </a:rPr>
              <a:t> and RedHat Linux with </a:t>
            </a:r>
            <a:r>
              <a:rPr lang="en-US" altLang="sk-SK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KVM</a:t>
            </a:r>
          </a:p>
          <a:p>
            <a:pPr lvl="1">
              <a:defRPr/>
            </a:pP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Type 2 hypervisors </a:t>
            </a:r>
            <a:r>
              <a:rPr lang="en-US" altLang="sk-SK" b="1" dirty="0">
                <a:ea typeface="ＭＳ Ｐゴシック" panose="020B0600070205080204" pitchFamily="34" charset="-128"/>
              </a:rPr>
              <a:t>- </a:t>
            </a:r>
            <a:r>
              <a:rPr lang="en-US" altLang="sk-SK" dirty="0">
                <a:ea typeface="ＭＳ Ｐゴシック" panose="020B0600070205080204" pitchFamily="34" charset="-128"/>
              </a:rPr>
              <a:t>Applications that run on standard operating systems but provide </a:t>
            </a:r>
            <a:r>
              <a:rPr lang="en-US" altLang="sk-SK" sz="1600" dirty="0">
                <a:ea typeface="ＭＳ Ｐゴシック" panose="020B0600070205080204" pitchFamily="34" charset="-128"/>
              </a:rPr>
              <a:t>VMM </a:t>
            </a:r>
            <a:r>
              <a:rPr lang="en-US" altLang="sk-SK" dirty="0">
                <a:ea typeface="ＭＳ Ｐゴシック" panose="020B0600070205080204" pitchFamily="34" charset="-128"/>
              </a:rPr>
              <a:t>features to guest operating systems</a:t>
            </a:r>
          </a:p>
          <a:p>
            <a:pPr lvl="2">
              <a:defRPr/>
            </a:pPr>
            <a:r>
              <a:rPr lang="en-US" altLang="sk-SK" dirty="0" err="1">
                <a:ea typeface="ＭＳ Ｐゴシック" panose="020B0600070205080204" pitchFamily="34" charset="-128"/>
              </a:rPr>
              <a:t>Includeing</a:t>
            </a:r>
            <a:r>
              <a:rPr lang="en-US" altLang="sk-SK" dirty="0">
                <a:ea typeface="ＭＳ Ｐゴシック" panose="020B0600070205080204" pitchFamily="34" charset="-128"/>
              </a:rPr>
              <a:t> </a:t>
            </a:r>
            <a:r>
              <a:rPr lang="en-US" altLang="sk-SK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VMware Workstation </a:t>
            </a:r>
            <a:r>
              <a:rPr lang="en-US" altLang="sk-SK" dirty="0">
                <a:ea typeface="ＭＳ Ｐゴシック" panose="020B0600070205080204" pitchFamily="34" charset="-128"/>
              </a:rPr>
              <a:t>and Fusion, Parallels Desktop, and </a:t>
            </a:r>
            <a:r>
              <a:rPr lang="en-US" altLang="sk-SK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Oracle VirtualBox</a:t>
            </a:r>
            <a:endParaRPr lang="en-US" altLang="sk-SK" sz="2800" dirty="0">
              <a:solidFill>
                <a:schemeClr val="accent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>
            <a:extLst>
              <a:ext uri="{FF2B5EF4-FFF2-40B4-BE49-F238E27FC236}">
                <a16:creationId xmlns:a16="http://schemas.microsoft.com/office/drawing/2014/main" id="{385A2CCF-79C0-51C5-BA4C-A90036846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Implementation of VMMs (cont.)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49CF0489-2732-7F1C-16F8-05252D0AF0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b="1" dirty="0">
                <a:ea typeface="ＭＳ Ｐゴシック" panose="020B0600070205080204" pitchFamily="34" charset="-128"/>
              </a:rPr>
              <a:t>Other variations include: 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Paravirtualization</a:t>
            </a:r>
            <a:r>
              <a:rPr lang="en-US" altLang="sk-SK" dirty="0">
                <a:ea typeface="ＭＳ Ｐゴシック" panose="020B0600070205080204" pitchFamily="34" charset="-128"/>
              </a:rPr>
              <a:t> - Technique in which the guest operating system is modified to work in cooperation with the </a:t>
            </a:r>
            <a:r>
              <a:rPr lang="en-US" altLang="sk-SK" sz="1600" dirty="0">
                <a:ea typeface="ＭＳ Ｐゴシック" panose="020B0600070205080204" pitchFamily="34" charset="-128"/>
              </a:rPr>
              <a:t>VMM </a:t>
            </a:r>
            <a:r>
              <a:rPr lang="en-US" altLang="sk-SK" dirty="0">
                <a:ea typeface="ＭＳ Ｐゴシック" panose="020B0600070205080204" pitchFamily="34" charset="-128"/>
              </a:rPr>
              <a:t>to optimize performance </a:t>
            </a:r>
            <a:endParaRPr lang="en-US" altLang="sk-SK" sz="28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Programming-environment virtualization </a:t>
            </a:r>
            <a:r>
              <a:rPr lang="en-US" altLang="sk-SK" dirty="0">
                <a:ea typeface="ＭＳ Ｐゴシック" panose="020B0600070205080204" pitchFamily="34" charset="-128"/>
              </a:rPr>
              <a:t>- </a:t>
            </a:r>
            <a:r>
              <a:rPr lang="en-US" altLang="sk-SK" sz="1600" dirty="0">
                <a:ea typeface="ＭＳ Ｐゴシック" panose="020B0600070205080204" pitchFamily="34" charset="-128"/>
              </a:rPr>
              <a:t>VMM</a:t>
            </a:r>
            <a:r>
              <a:rPr lang="en-US" altLang="sk-SK" dirty="0">
                <a:ea typeface="ＭＳ Ｐゴシック" panose="020B0600070205080204" pitchFamily="34" charset="-128"/>
              </a:rPr>
              <a:t>s do not virtualize real hardware but instead create an optimized virtual system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Used by Oracle </a:t>
            </a:r>
            <a:r>
              <a:rPr lang="en-US" altLang="sk-SK" sz="1700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Java</a:t>
            </a:r>
            <a:r>
              <a:rPr lang="en-US" altLang="sk-SK" dirty="0">
                <a:ea typeface="ＭＳ Ｐゴシック" panose="020B0600070205080204" pitchFamily="34" charset="-128"/>
              </a:rPr>
              <a:t> and </a:t>
            </a:r>
            <a:r>
              <a:rPr lang="en-US" altLang="sk-SK" dirty="0" err="1">
                <a:ea typeface="ＭＳ Ｐゴシック" panose="020B0600070205080204" pitchFamily="34" charset="-128"/>
              </a:rPr>
              <a:t>Microsoft.Net</a:t>
            </a:r>
            <a:endParaRPr lang="en-US" altLang="sk-SK" sz="28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Emulators</a:t>
            </a:r>
            <a:r>
              <a:rPr lang="en-US" altLang="sk-SK" b="1" dirty="0">
                <a:ea typeface="ＭＳ Ｐゴシック" panose="020B0600070205080204" pitchFamily="34" charset="-128"/>
              </a:rPr>
              <a:t> – </a:t>
            </a:r>
            <a:r>
              <a:rPr lang="en-US" altLang="sk-SK" dirty="0">
                <a:ea typeface="ＭＳ Ｐゴシック" panose="020B0600070205080204" pitchFamily="34" charset="-128"/>
              </a:rPr>
              <a:t>Allow applications written for one hardware environment to run on a very different hardware environment, such as a different type of </a:t>
            </a:r>
            <a:r>
              <a:rPr lang="en-US" altLang="sk-SK" sz="1600" dirty="0">
                <a:ea typeface="ＭＳ Ｐゴシック" panose="020B0600070205080204" pitchFamily="34" charset="-128"/>
              </a:rPr>
              <a:t>CPU</a:t>
            </a:r>
            <a:endParaRPr lang="en-US" altLang="sk-SK" sz="28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Application containment </a:t>
            </a:r>
            <a:r>
              <a:rPr lang="en-US" altLang="sk-SK" dirty="0">
                <a:ea typeface="ＭＳ Ｐゴシック" panose="020B0600070205080204" pitchFamily="34" charset="-128"/>
              </a:rPr>
              <a:t>- Not virtualization at all but rather provides virtualization-like features by segregating applications from the operating system, making them more secure, manageable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Including Oracle Solaris Zones, </a:t>
            </a:r>
            <a:r>
              <a:rPr lang="en-US" altLang="sk-SK" sz="1600" dirty="0">
                <a:ea typeface="ＭＳ Ｐゴシック" panose="020B0600070205080204" pitchFamily="34" charset="-128"/>
              </a:rPr>
              <a:t>BSD </a:t>
            </a:r>
            <a:r>
              <a:rPr lang="en-US" altLang="sk-SK" dirty="0">
                <a:ea typeface="ＭＳ Ｐゴシック" panose="020B0600070205080204" pitchFamily="34" charset="-128"/>
              </a:rPr>
              <a:t>Jails, and </a:t>
            </a:r>
            <a:r>
              <a:rPr lang="en-US" altLang="sk-SK" sz="1600" dirty="0">
                <a:ea typeface="ＭＳ Ｐゴシック" panose="020B0600070205080204" pitchFamily="34" charset="-128"/>
              </a:rPr>
              <a:t>IBM AIX WPARs, open-source </a:t>
            </a:r>
            <a:r>
              <a:rPr lang="en-US" altLang="sk-SK" sz="1700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Docker 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Much variation due to breadth, depth and importance of virtualization in modern computing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C554E79C-A508-DB50-3DBF-5DBCC6C96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History</a:t>
            </a:r>
          </a:p>
        </p:txBody>
      </p:sp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6C1BE81F-14CF-6E69-2E5F-A4E1D2BD41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First appeared in IBM mainframes in 1972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Allowed multiple users to share a batch-oriented system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Formal definition of virtualization helped move it beyond IBM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A </a:t>
            </a:r>
            <a:r>
              <a:rPr lang="en-US" altLang="sk-SK" sz="1600">
                <a:ea typeface="ＭＳ Ｐゴシック" panose="020B0600070205080204" pitchFamily="34" charset="-128"/>
              </a:rPr>
              <a:t>VMM </a:t>
            </a:r>
            <a:r>
              <a:rPr lang="en-US" altLang="sk-SK">
                <a:ea typeface="ＭＳ Ｐゴシック" panose="020B0600070205080204" pitchFamily="34" charset="-128"/>
              </a:rPr>
              <a:t>provides an environment for programs that is essentially identical to the original machine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Programs running within that environment show only minor performance decreases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The </a:t>
            </a:r>
            <a:r>
              <a:rPr lang="en-US" altLang="sk-SK" sz="1600">
                <a:ea typeface="ＭＳ Ｐゴシック" panose="020B0600070205080204" pitchFamily="34" charset="-128"/>
              </a:rPr>
              <a:t>VMM </a:t>
            </a:r>
            <a:r>
              <a:rPr lang="en-US" altLang="sk-SK">
                <a:ea typeface="ＭＳ Ｐゴシック" panose="020B0600070205080204" pitchFamily="34" charset="-128"/>
              </a:rPr>
              <a:t>is in complete control of system resources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In late 1990s Intel CPUs fast enough for researchers to try virtualizing on general purpose PCs</a:t>
            </a:r>
          </a:p>
          <a:p>
            <a:pPr lvl="1"/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Xen</a:t>
            </a:r>
            <a:r>
              <a:rPr lang="en-US" altLang="sk-SK">
                <a:ea typeface="ＭＳ Ｐゴシック" panose="020B0600070205080204" pitchFamily="34" charset="-128"/>
              </a:rPr>
              <a:t> and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VMware</a:t>
            </a:r>
            <a:r>
              <a:rPr lang="en-US" altLang="sk-SK">
                <a:ea typeface="ＭＳ Ｐゴシック" panose="020B0600070205080204" pitchFamily="34" charset="-128"/>
              </a:rPr>
              <a:t> created technologies, still used today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Virtualization has expanded to many OSes, CPUs, VMMs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991AE944-9AF7-9342-F08A-0CA3E0775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Benefits and Features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1A0FB7D4-77A1-8469-0DA4-84D12220BD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41237"/>
            <a:ext cx="8229600" cy="4530725"/>
          </a:xfrm>
        </p:spPr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Host system protected from VMs, VMs protected from each other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I.e. A virus less likely to spread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Sharing is provided though via shared file system volume, network communication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Freeze,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suspend</a:t>
            </a:r>
            <a:r>
              <a:rPr lang="en-US" altLang="sk-SK" dirty="0">
                <a:ea typeface="ＭＳ Ｐゴシック" panose="020B0600070205080204" pitchFamily="34" charset="-128"/>
              </a:rPr>
              <a:t>, running VM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Then can move or copy somewhere else and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resume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Snapshot</a:t>
            </a:r>
            <a:r>
              <a:rPr lang="en-US" altLang="sk-SK" dirty="0">
                <a:ea typeface="ＭＳ Ｐゴシック" panose="020B0600070205080204" pitchFamily="34" charset="-128"/>
              </a:rPr>
              <a:t> of a given state, able to restore back to that state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Some VMMs allow multiple snapshots per VM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Clone</a:t>
            </a:r>
            <a:r>
              <a:rPr lang="en-US" altLang="sk-SK" dirty="0">
                <a:ea typeface="ＭＳ Ｐゴシック" panose="020B0600070205080204" pitchFamily="34" charset="-128"/>
              </a:rPr>
              <a:t> by creating copy and running both original and copy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Great for OS research, better system development efficiency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Run multiple, different OSes on a single machine</a:t>
            </a:r>
          </a:p>
          <a:p>
            <a:pPr lvl="1"/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Consolidation</a:t>
            </a:r>
            <a:r>
              <a:rPr lang="en-US" altLang="sk-SK" dirty="0">
                <a:ea typeface="ＭＳ Ｐゴシック" panose="020B0600070205080204" pitchFamily="34" charset="-128"/>
              </a:rPr>
              <a:t>, app dev,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6E564C67-F82C-6CAF-57DB-EE492ABBC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Benefits and Features (cont.)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C4FEA25A-3BBE-7F83-553E-84A88F31C3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Templating</a:t>
            </a:r>
            <a:r>
              <a:rPr lang="en-US" altLang="sk-SK" dirty="0">
                <a:ea typeface="ＭＳ Ｐゴシック" panose="020B0600070205080204" pitchFamily="34" charset="-128"/>
              </a:rPr>
              <a:t> – create an OS + application VM, provide it to customers, use it to create multiple instances of that combination</a:t>
            </a:r>
          </a:p>
          <a:p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Live migration </a:t>
            </a:r>
            <a:r>
              <a:rPr lang="en-US" altLang="sk-SK" dirty="0">
                <a:ea typeface="ＭＳ Ｐゴシック" panose="020B0600070205080204" pitchFamily="34" charset="-128"/>
              </a:rPr>
              <a:t>– move a running VM from one host to another!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No interruption of user access</a:t>
            </a:r>
          </a:p>
          <a:p>
            <a:endParaRPr lang="en-US" altLang="sk-SK" dirty="0">
              <a:ea typeface="ＭＳ Ｐゴシック" panose="020B0600070205080204" pitchFamily="34" charset="-128"/>
            </a:endParaRPr>
          </a:p>
          <a:p>
            <a:r>
              <a:rPr lang="en-US" altLang="sk-SK" sz="2800" dirty="0">
                <a:ea typeface="ＭＳ Ｐゴシック" panose="020B0600070205080204" pitchFamily="34" charset="-128"/>
              </a:rPr>
              <a:t>All those features taken together -&gt; </a:t>
            </a:r>
            <a:r>
              <a:rPr lang="en-US" altLang="sk-SK" sz="2800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cloud computing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Using APIs, programs tell cloud infrastructure (servers, networking, storage) to create new guests, VMs, virtual desktops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44B5F878-3C3C-BA8E-A151-3BA7937D1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Building Blocks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AA1013B4-C0A4-878A-1947-9E36657EB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Generally difficult to provide an </a:t>
            </a:r>
            <a:r>
              <a:rPr lang="en-US" b="1" i="1" dirty="0">
                <a:ea typeface="ＭＳ Ｐゴシック" charset="0"/>
              </a:rPr>
              <a:t>exact</a:t>
            </a:r>
            <a:r>
              <a:rPr lang="en-US" dirty="0">
                <a:ea typeface="ＭＳ Ｐゴシック" charset="0"/>
              </a:rPr>
              <a:t> duplicate of underlying machine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Especially if only dual-mode operation available on CPU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But getting easier over time as CPU features and support for VMM improves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Most VMMs implement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virtual CPU </a:t>
            </a:r>
            <a:r>
              <a:rPr lang="en-US" dirty="0">
                <a:ea typeface="ＭＳ Ｐゴシック" charset="0"/>
              </a:rPr>
              <a:t>(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VCPU</a:t>
            </a:r>
            <a:r>
              <a:rPr lang="en-US" dirty="0">
                <a:ea typeface="ＭＳ Ｐゴシック" charset="0"/>
              </a:rPr>
              <a:t>) to represent state of CPU per guest as guest believes it to be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When guest context switched onto CPU by VMM, information from VCPU loaded and stored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Several techniques, as described in next slides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A97CDF96-CF8A-1C6B-586A-3DBC49490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Building Block – Trap and Emulate</a:t>
            </a:r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ED103210-8F12-066C-2960-1FB044EC8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Dual mode CPU means guest executes in user mode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Kernel runs in kernel mode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Not safe to let guest kernel run in kernel mode too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So VM needs two modes </a:t>
            </a:r>
            <a:r>
              <a:rPr lang="en-US" altLang="sk-SK" b="1" dirty="0">
                <a:ea typeface="ＭＳ Ｐゴシック" panose="020B0600070205080204" pitchFamily="34" charset="-128"/>
              </a:rPr>
              <a:t>– virtual user mode </a:t>
            </a:r>
            <a:r>
              <a:rPr lang="en-US" altLang="sk-SK" dirty="0">
                <a:ea typeface="ＭＳ Ｐゴシック" panose="020B0600070205080204" pitchFamily="34" charset="-128"/>
              </a:rPr>
              <a:t>and </a:t>
            </a:r>
            <a:r>
              <a:rPr lang="en-US" altLang="sk-SK" b="1" dirty="0">
                <a:ea typeface="ＭＳ Ｐゴシック" panose="020B0600070205080204" pitchFamily="34" charset="-128"/>
              </a:rPr>
              <a:t>virtual kernel mode</a:t>
            </a:r>
          </a:p>
          <a:p>
            <a:pPr lvl="2"/>
            <a:r>
              <a:rPr lang="en-US" altLang="sk-SK" u="sng" dirty="0">
                <a:ea typeface="ＭＳ Ｐゴシック" panose="020B0600070205080204" pitchFamily="34" charset="-128"/>
              </a:rPr>
              <a:t>Both of which run in real user mode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Actions in guest that usually cause switch to kernel mode must cause switch to virtual kernel mode</a:t>
            </a:r>
          </a:p>
        </p:txBody>
      </p:sp>
      <p:sp>
        <p:nvSpPr>
          <p:cNvPr id="2" name="Šípka doprava 1">
            <a:extLst>
              <a:ext uri="{FF2B5EF4-FFF2-40B4-BE49-F238E27FC236}">
                <a16:creationId xmlns:a16="http://schemas.microsoft.com/office/drawing/2014/main" id="{C901EC8D-95E2-6553-6F48-8DEF76926136}"/>
              </a:ext>
            </a:extLst>
          </p:cNvPr>
          <p:cNvSpPr/>
          <p:nvPr/>
        </p:nvSpPr>
        <p:spPr bwMode="auto">
          <a:xfrm>
            <a:off x="305377" y="2382981"/>
            <a:ext cx="1002145" cy="3048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B902378A-6774-F235-BD0D-B6EE8FAE9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Trap-and-Emulate (cont.)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39AB2FC3-095F-81F4-CD3D-538AB53108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How does switch from virtual user mode to virtual kernel mode occur?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Attempting a privileged instruction in user mode causes an error -&gt; trap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VMM gains control, analyzes error, executes operation as attempted by guest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Returns control to guest in user mode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Known as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 trap-and-emulate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Most virtualization products use this at least in part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User mode code in guest runs at same speed as if not a guest</a:t>
            </a:r>
          </a:p>
          <a:p>
            <a:r>
              <a:rPr lang="en-US" altLang="sk-SK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But kernel mode privilege mode code runs slower due to trap-and-emulate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Especially a problem when multiple guests running, each needing trap-and-emulate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CPUs adding hardware support, more CPU modes to improve virtualization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17E8705F-2D99-B8BD-76BE-3A503B87D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Trap-and-Emulate Virtualization Implementation</a:t>
            </a:r>
          </a:p>
        </p:txBody>
      </p:sp>
      <p:pic>
        <p:nvPicPr>
          <p:cNvPr id="19458" name="Content Placeholder 3" descr="16_02.pdf">
            <a:extLst>
              <a:ext uri="{FF2B5EF4-FFF2-40B4-BE49-F238E27FC236}">
                <a16:creationId xmlns:a16="http://schemas.microsoft.com/office/drawing/2014/main" id="{594E1D1F-4EC9-F254-3189-178D5E39BD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62" r="-11562"/>
          <a:stretch>
            <a:fillRect/>
          </a:stretch>
        </p:blipFill>
        <p:spPr>
          <a:xfrm>
            <a:off x="904875" y="1517650"/>
            <a:ext cx="7540625" cy="4151313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8D5E8F13-0539-93A5-7959-C5F4094FB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Building Block – Binary Translation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5902BCB6-81D7-A5E2-8D51-8B46E50E16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Some CPUs don</a:t>
            </a:r>
            <a:r>
              <a:rPr lang="en-US" altLang="en-US">
                <a:ea typeface="ＭＳ Ｐゴシック" panose="020B0600070205080204" pitchFamily="34" charset="-128"/>
              </a:rPr>
              <a:t>’</a:t>
            </a:r>
            <a:r>
              <a:rPr lang="en-US" altLang="sk-SK">
                <a:ea typeface="ＭＳ Ｐゴシック" panose="020B0600070205080204" pitchFamily="34" charset="-128"/>
              </a:rPr>
              <a:t>t have clean separation between privileged and nonprivileged instructions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Earlier Intel x86 CPUs are among them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Earliest Intel CPU designed for a calculator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Backward compatibility means difficult to improve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Consider Intel x86 </a:t>
            </a:r>
            <a:r>
              <a:rPr lang="en-US" altLang="sk-SK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popf</a:t>
            </a:r>
            <a:r>
              <a:rPr lang="en-US" altLang="sk-SK">
                <a:ea typeface="ＭＳ Ｐゴシック" panose="020B0600070205080204" pitchFamily="34" charset="-128"/>
              </a:rPr>
              <a:t> instruction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Loads CPU flags register from contents of the stack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If CPU in privileged mode -&gt; all flags replaced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If CPU in user mode -&gt; on some flags replaced</a:t>
            </a:r>
          </a:p>
          <a:p>
            <a:pPr lvl="3"/>
            <a:r>
              <a:rPr lang="en-US" altLang="sk-SK">
                <a:ea typeface="ＭＳ Ｐゴシック" panose="020B0600070205080204" pitchFamily="34" charset="-128"/>
              </a:rPr>
              <a:t>No trap is generated</a:t>
            </a:r>
          </a:p>
          <a:p>
            <a:pPr lvl="2"/>
            <a:endParaRPr lang="en-US" altLang="sk-SK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8CE5292B-0A71-4B71-B326-83AF255C5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Binary Translation (cont.)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255F4FF3-0509-7B55-88B4-0AD3BC33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Other similar problem instructions we will call </a:t>
            </a:r>
            <a:r>
              <a:rPr lang="en-US" b="1" i="1" dirty="0">
                <a:ea typeface="ＭＳ Ｐゴシック" charset="0"/>
              </a:rPr>
              <a:t>special instructions</a:t>
            </a:r>
            <a:endParaRPr lang="en-US" b="1" dirty="0">
              <a:ea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Caused trap-and-emulate method considered impossible until 1998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Binary translation solves the problem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Basics are simple, but implementation very complex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ＭＳ Ｐゴシック" charset="0"/>
              </a:rPr>
              <a:t>If guest VCPU is in user mode, guest can run instructions natively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ＭＳ Ｐゴシック" charset="0"/>
              </a:rPr>
              <a:t>If guest VCPU in kernel mode (guest believes it is in kernel mode)</a:t>
            </a:r>
          </a:p>
          <a:p>
            <a:pPr marL="1143000" lvl="2" indent="-342900">
              <a:buFont typeface="+mj-lt"/>
              <a:buAutoNum type="arabicPeriod"/>
              <a:defRPr/>
            </a:pPr>
            <a:r>
              <a:rPr lang="en-US" dirty="0">
                <a:ea typeface="ＭＳ Ｐゴシック" charset="0"/>
              </a:rPr>
              <a:t>VMM examines every instruction guest is about to execute by reading a few instructions ahead of program counter</a:t>
            </a:r>
          </a:p>
          <a:p>
            <a:pPr marL="1143000" lvl="2" indent="-342900">
              <a:buFont typeface="+mj-lt"/>
              <a:buAutoNum type="arabicPeriod"/>
              <a:defRPr/>
            </a:pPr>
            <a:r>
              <a:rPr lang="en-US" dirty="0">
                <a:ea typeface="ＭＳ Ｐゴシック" charset="0"/>
              </a:rPr>
              <a:t>Non-special-instructions run natively</a:t>
            </a:r>
          </a:p>
          <a:p>
            <a:pPr marL="1143000" lvl="2" indent="-342900">
              <a:buFont typeface="+mj-lt"/>
              <a:buAutoNum type="arabicPeriod"/>
              <a:defRPr/>
            </a:pPr>
            <a:r>
              <a:rPr lang="en-US" b="1" dirty="0">
                <a:ea typeface="ＭＳ Ｐゴシック" charset="0"/>
              </a:rPr>
              <a:t>Special instructions translated into new set of instructions that perform equivalent task</a:t>
            </a:r>
            <a:r>
              <a:rPr lang="en-US" dirty="0">
                <a:ea typeface="ＭＳ Ｐゴシック" charset="0"/>
              </a:rPr>
              <a:t> (for example changing the flags in the VCPU)</a:t>
            </a: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3DFE5C5C-1968-9A60-7B21-4A9804EE7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Binary Translation (cont.)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9D97DF75-9E70-46BA-95A5-F9E1E9BA4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1244600"/>
            <a:ext cx="8229600" cy="4530725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Implemented by translation of code within VMM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Code reads native instructions dynamically from guest, on demand, generates native binary code that executes in place of original code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Performance of this method would be poor without optimizations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Products like VMware use caching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Translate once, and when guest executes code containing special instruction cached translation used instead of translating again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Testing showed booting Windows XP as guest caused 950,000 translations, at 3 microseconds each, or 3 second (5 %) slowdown over native</a:t>
            </a: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r>
              <a:rPr lang="en-US" dirty="0">
                <a:ea typeface="ＭＳ Ｐゴシック" panose="020B0600070205080204" pitchFamily="34" charset="-128"/>
              </a:rPr>
              <a:t>Problem of binary translation solved via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VT-x</a:t>
            </a:r>
            <a:r>
              <a:rPr lang="en-US" altLang="sk-SK" dirty="0">
                <a:ea typeface="ＭＳ Ｐゴシック" panose="020B0600070205080204" pitchFamily="34" charset="-128"/>
              </a:rPr>
              <a:t> instructions added to Intel CPUs</a:t>
            </a: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13287C56-D458-D2A0-66FE-8B3234FC21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Binary Translation Virtualization Implementation</a:t>
            </a:r>
          </a:p>
        </p:txBody>
      </p:sp>
      <p:pic>
        <p:nvPicPr>
          <p:cNvPr id="23554" name="Content Placeholder 3" descr="16_03.pdf">
            <a:extLst>
              <a:ext uri="{FF2B5EF4-FFF2-40B4-BE49-F238E27FC236}">
                <a16:creationId xmlns:a16="http://schemas.microsoft.com/office/drawing/2014/main" id="{972289DA-C625-D4DB-23E0-001C4A1F52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771" r="-11771"/>
          <a:stretch>
            <a:fillRect/>
          </a:stretch>
        </p:blipFill>
        <p:spPr>
          <a:xfrm>
            <a:off x="1076325" y="1350963"/>
            <a:ext cx="7545388" cy="4154487"/>
          </a:xfrm>
        </p:spPr>
      </p:pic>
      <p:sp>
        <p:nvSpPr>
          <p:cNvPr id="23555" name="Čiarová bublina 1 1">
            <a:extLst>
              <a:ext uri="{FF2B5EF4-FFF2-40B4-BE49-F238E27FC236}">
                <a16:creationId xmlns:a16="http://schemas.microsoft.com/office/drawing/2014/main" id="{021DFB1A-C78F-92BF-5B23-42F8A6309229}"/>
              </a:ext>
            </a:extLst>
          </p:cNvPr>
          <p:cNvSpPr>
            <a:spLocks/>
          </p:cNvSpPr>
          <p:nvPr/>
        </p:nvSpPr>
        <p:spPr bwMode="auto">
          <a:xfrm flipH="1">
            <a:off x="1260475" y="1976438"/>
            <a:ext cx="1030288" cy="514350"/>
          </a:xfrm>
          <a:prstGeom prst="borderCallout1">
            <a:avLst>
              <a:gd name="adj1" fmla="val 18750"/>
              <a:gd name="adj2" fmla="val -8333"/>
              <a:gd name="adj3" fmla="val 220662"/>
              <a:gd name="adj4" fmla="val -14859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sk-SK" altLang="sk-SK">
                <a:latin typeface="Verdana" panose="020B0604030504040204" pitchFamily="34" charset="0"/>
              </a:rPr>
              <a:t>No trap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13FD7147-FD8A-D73A-EC49-36473585A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sz="2800">
                <a:ea typeface="ＭＳ Ｐゴシック" panose="020B0600070205080204" pitchFamily="34" charset="-128"/>
              </a:rPr>
              <a:t>Building Blocks – Hardware Assistance</a:t>
            </a:r>
          </a:p>
        </p:txBody>
      </p:sp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C932231D-95C7-3623-5E09-EE7804FC24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All virtualization needs some HW support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More support -&gt; more feature rich, stable, better performance of guests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Intel added new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VT-x</a:t>
            </a:r>
            <a:r>
              <a:rPr lang="en-US" altLang="sk-SK" dirty="0">
                <a:ea typeface="ＭＳ Ｐゴシック" panose="020B0600070205080204" pitchFamily="34" charset="-128"/>
              </a:rPr>
              <a:t> instructions in 2005 and AMD the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AMD-V </a:t>
            </a:r>
            <a:r>
              <a:rPr lang="en-US" altLang="sk-SK" dirty="0">
                <a:ea typeface="ＭＳ Ｐゴシック" panose="020B0600070205080204" pitchFamily="34" charset="-128"/>
              </a:rPr>
              <a:t>instructions in 2006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CPUs with these instructions </a:t>
            </a:r>
            <a:r>
              <a:rPr lang="en-US" altLang="sk-SK" b="1" dirty="0">
                <a:ea typeface="ＭＳ Ｐゴシック" panose="020B0600070205080204" pitchFamily="34" charset="-128"/>
              </a:rPr>
              <a:t>remove need for binary translation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Generally define more CPU modes – </a:t>
            </a:r>
            <a:r>
              <a:rPr lang="en-US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sk-SK" dirty="0">
                <a:ea typeface="ＭＳ Ｐゴシック" panose="020B0600070205080204" pitchFamily="34" charset="-128"/>
              </a:rPr>
              <a:t>guest</a:t>
            </a:r>
            <a:r>
              <a:rPr lang="en-US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sk-SK" dirty="0">
                <a:ea typeface="ＭＳ Ｐゴシック" panose="020B0600070205080204" pitchFamily="34" charset="-128"/>
              </a:rPr>
              <a:t> and </a:t>
            </a:r>
            <a:r>
              <a:rPr lang="en-US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sk-SK" dirty="0">
                <a:ea typeface="ＭＳ Ｐゴシック" panose="020B0600070205080204" pitchFamily="34" charset="-128"/>
              </a:rPr>
              <a:t>host</a:t>
            </a:r>
            <a:r>
              <a:rPr lang="en-US" altLang="en-US" dirty="0">
                <a:ea typeface="ＭＳ Ｐゴシック" panose="020B0600070205080204" pitchFamily="34" charset="-128"/>
              </a:rPr>
              <a:t>”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VMM can enable host mode, define characteristics of each guest VM, switch to guest mode and guest(s) on CPU(s)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In guest mode, guest OS thinks it is running natively, sees devices (as defined by VMM for that guest) 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Access to virtualized device, </a:t>
            </a:r>
            <a:r>
              <a:rPr lang="en-US" altLang="sk-SK" dirty="0" err="1">
                <a:ea typeface="ＭＳ Ｐゴシック" panose="020B0600070205080204" pitchFamily="34" charset="-128"/>
              </a:rPr>
              <a:t>priv</a:t>
            </a:r>
            <a:r>
              <a:rPr lang="en-US" altLang="sk-SK" dirty="0">
                <a:ea typeface="ＭＳ Ｐゴシック" panose="020B0600070205080204" pitchFamily="34" charset="-128"/>
              </a:rPr>
              <a:t> instructions cause trap to VMM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CPU maintains VCPU, context switches it as needed</a:t>
            </a:r>
          </a:p>
          <a:p>
            <a:r>
              <a:rPr lang="en-US" altLang="sk-SK" u="sng" dirty="0">
                <a:ea typeface="ＭＳ Ｐゴシック" panose="020B0600070205080204" pitchFamily="34" charset="-128"/>
              </a:rPr>
              <a:t>HW support for Nested Page Tables, DMA, interrupts as well over time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2"/>
            <a:endParaRPr lang="en-US" altLang="sk-SK" dirty="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E4D1C3-CB83-D9F2-6F7E-9A6BA25C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Nové CPU módy – </a:t>
            </a:r>
            <a:r>
              <a:rPr lang="sk-SK" dirty="0" err="1"/>
              <a:t>root</a:t>
            </a:r>
            <a:r>
              <a:rPr lang="sk-SK" dirty="0"/>
              <a:t> a </a:t>
            </a:r>
            <a:r>
              <a:rPr lang="sk-SK" dirty="0" err="1"/>
              <a:t>non-root</a:t>
            </a:r>
            <a:r>
              <a:rPr lang="sk-SK" dirty="0"/>
              <a:t> </a:t>
            </a:r>
            <a:r>
              <a:rPr lang="sk-SK" dirty="0" err="1"/>
              <a:t>mode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F1F2BC-3F11-9FAB-1422-7BBD39C77C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 sz="1200" b="1" dirty="0"/>
              <a:t>Intel VMX (VT‑x)</a:t>
            </a:r>
          </a:p>
          <a:p>
            <a:r>
              <a:rPr lang="sk-SK" sz="1200" dirty="0"/>
              <a:t>Dva režimy</a:t>
            </a:r>
          </a:p>
          <a:p>
            <a:pPr lvl="1"/>
            <a:r>
              <a:rPr lang="sk-SK" sz="1200" dirty="0"/>
              <a:t>VMX </a:t>
            </a:r>
            <a:r>
              <a:rPr lang="sk-SK" sz="1200" dirty="0" err="1"/>
              <a:t>Root</a:t>
            </a:r>
            <a:r>
              <a:rPr lang="sk-SK" sz="1200" dirty="0"/>
              <a:t> </a:t>
            </a:r>
            <a:r>
              <a:rPr lang="sk-SK" sz="1200" dirty="0" err="1"/>
              <a:t>Operation</a:t>
            </a:r>
            <a:r>
              <a:rPr lang="sk-SK" sz="1200" dirty="0"/>
              <a:t> (</a:t>
            </a:r>
            <a:r>
              <a:rPr lang="sk-SK" sz="1200" dirty="0" err="1"/>
              <a:t>hypervízor</a:t>
            </a:r>
            <a:r>
              <a:rPr lang="sk-SK" sz="1200" dirty="0"/>
              <a:t>)</a:t>
            </a:r>
          </a:p>
          <a:p>
            <a:pPr lvl="1"/>
            <a:r>
              <a:rPr lang="sk-SK" sz="1200" dirty="0"/>
              <a:t>VMX </a:t>
            </a:r>
            <a:r>
              <a:rPr lang="sk-SK" sz="1200" dirty="0" err="1"/>
              <a:t>Non‑Root</a:t>
            </a:r>
            <a:r>
              <a:rPr lang="sk-SK" sz="1200" dirty="0"/>
              <a:t> </a:t>
            </a:r>
            <a:r>
              <a:rPr lang="sk-SK" sz="1200" dirty="0" err="1"/>
              <a:t>Operation</a:t>
            </a:r>
            <a:r>
              <a:rPr lang="sk-SK" sz="1200" dirty="0"/>
              <a:t> (virtuálny OS)</a:t>
            </a:r>
          </a:p>
          <a:p>
            <a:r>
              <a:rPr lang="sk-SK" sz="1200" dirty="0"/>
              <a:t>Kľúčové mechanizmy</a:t>
            </a:r>
          </a:p>
          <a:p>
            <a:r>
              <a:rPr lang="sk-SK" sz="1200" dirty="0"/>
              <a:t>1. VMCS (</a:t>
            </a:r>
            <a:r>
              <a:rPr lang="sk-SK" sz="1200" dirty="0" err="1"/>
              <a:t>Virtual</a:t>
            </a:r>
            <a:r>
              <a:rPr lang="sk-SK" sz="1200" dirty="0"/>
              <a:t> </a:t>
            </a:r>
            <a:r>
              <a:rPr lang="sk-SK" sz="1200" dirty="0" err="1"/>
              <a:t>Machine</a:t>
            </a:r>
            <a:r>
              <a:rPr lang="sk-SK" sz="1200" dirty="0"/>
              <a:t> </a:t>
            </a:r>
            <a:r>
              <a:rPr lang="sk-SK" sz="1200" dirty="0" err="1"/>
              <a:t>Control</a:t>
            </a:r>
            <a:r>
              <a:rPr lang="sk-SK" sz="1200" dirty="0"/>
              <a:t> </a:t>
            </a:r>
            <a:r>
              <a:rPr lang="sk-SK" sz="1200" dirty="0" err="1"/>
              <a:t>Structure</a:t>
            </a:r>
            <a:r>
              <a:rPr lang="sk-SK" sz="1200" dirty="0"/>
              <a:t>)</a:t>
            </a:r>
          </a:p>
          <a:p>
            <a:pPr marL="0" indent="0">
              <a:buNone/>
            </a:pPr>
            <a:r>
              <a:rPr lang="sk-SK" sz="1200" dirty="0"/>
              <a:t>Špeciálna dátová štruktúra v pamäti obsahujúca:</a:t>
            </a:r>
          </a:p>
          <a:p>
            <a:pPr lvl="1"/>
            <a:r>
              <a:rPr lang="sk-SK" sz="1200" dirty="0"/>
              <a:t>stav CPU hosťa</a:t>
            </a:r>
          </a:p>
          <a:p>
            <a:pPr lvl="1"/>
            <a:r>
              <a:rPr lang="sk-SK" sz="1200" dirty="0"/>
              <a:t>pravidlá, čo má vyvolať „VM‑</a:t>
            </a:r>
            <a:r>
              <a:rPr lang="sk-SK" sz="1200" dirty="0" err="1"/>
              <a:t>exit</a:t>
            </a:r>
            <a:r>
              <a:rPr lang="sk-SK" sz="1200" dirty="0"/>
              <a:t>“</a:t>
            </a:r>
          </a:p>
          <a:p>
            <a:pPr lvl="1"/>
            <a:r>
              <a:rPr lang="sk-SK" sz="1200" dirty="0"/>
              <a:t>stav hostiteľa</a:t>
            </a:r>
          </a:p>
          <a:p>
            <a:endParaRPr lang="sk-SK" sz="1200" dirty="0"/>
          </a:p>
          <a:p>
            <a:r>
              <a:rPr lang="sk-SK" sz="1200" dirty="0"/>
              <a:t>2. VM‑</a:t>
            </a:r>
            <a:r>
              <a:rPr lang="sk-SK" sz="1200" dirty="0" err="1"/>
              <a:t>entry</a:t>
            </a:r>
            <a:r>
              <a:rPr lang="sk-SK" sz="1200" dirty="0"/>
              <a:t> / VM‑</a:t>
            </a:r>
            <a:r>
              <a:rPr lang="sk-SK" sz="1200" dirty="0" err="1"/>
              <a:t>exit</a:t>
            </a:r>
            <a:endParaRPr lang="sk-SK" sz="1200" dirty="0"/>
          </a:p>
          <a:p>
            <a:pPr lvl="1"/>
            <a:r>
              <a:rPr lang="sk-SK" sz="1200" dirty="0"/>
              <a:t>VM‑</a:t>
            </a:r>
            <a:r>
              <a:rPr lang="sk-SK" sz="1200" dirty="0" err="1"/>
              <a:t>entry</a:t>
            </a:r>
            <a:r>
              <a:rPr lang="sk-SK" sz="1200" dirty="0"/>
              <a:t>: prechod do virtuálneho stroja</a:t>
            </a:r>
          </a:p>
          <a:p>
            <a:pPr lvl="1"/>
            <a:r>
              <a:rPr lang="sk-SK" sz="1200" dirty="0"/>
              <a:t>VM‑</a:t>
            </a:r>
            <a:r>
              <a:rPr lang="sk-SK" sz="1200" dirty="0" err="1"/>
              <a:t>exit</a:t>
            </a:r>
            <a:r>
              <a:rPr lang="sk-SK" sz="1200" dirty="0"/>
              <a:t>: návrat do </a:t>
            </a:r>
            <a:r>
              <a:rPr lang="sk-SK" sz="1200" dirty="0" err="1"/>
              <a:t>hypervízora</a:t>
            </a:r>
            <a:endParaRPr lang="sk-SK" sz="1200" dirty="0"/>
          </a:p>
          <a:p>
            <a:endParaRPr lang="sk-SK" sz="1200" dirty="0"/>
          </a:p>
          <a:p>
            <a:r>
              <a:rPr lang="sk-SK" sz="1200" dirty="0"/>
              <a:t>CPU automaticky:</a:t>
            </a:r>
          </a:p>
          <a:p>
            <a:pPr lvl="1"/>
            <a:r>
              <a:rPr lang="sk-SK" sz="1200" dirty="0"/>
              <a:t> uloží stav hosťa</a:t>
            </a:r>
          </a:p>
          <a:p>
            <a:pPr lvl="1"/>
            <a:r>
              <a:rPr lang="sk-SK" sz="1200" dirty="0"/>
              <a:t> obnoví stav </a:t>
            </a:r>
            <a:r>
              <a:rPr lang="sk-SK" sz="1200" dirty="0" err="1"/>
              <a:t>hypervízora</a:t>
            </a:r>
            <a:endParaRPr lang="sk-SK" sz="1200" dirty="0"/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F6E88E2-87C3-25BE-7606-C73EDBD2C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9554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k-SK" sz="1100" b="1" dirty="0"/>
              <a:t>AMD SVM (AMD‑V)</a:t>
            </a:r>
          </a:p>
          <a:p>
            <a:pPr marL="0" indent="0">
              <a:buNone/>
            </a:pPr>
            <a:r>
              <a:rPr lang="sk-SK" sz="1100" dirty="0"/>
              <a:t>AMD používa takmer rovnaký koncept, len s inými názvami.</a:t>
            </a:r>
          </a:p>
          <a:p>
            <a:r>
              <a:rPr lang="sk-SK" sz="1100" dirty="0"/>
              <a:t>Kľúčové prvky</a:t>
            </a:r>
          </a:p>
          <a:p>
            <a:r>
              <a:rPr lang="sk-SK" sz="1100" dirty="0"/>
              <a:t>1. VMCB (</a:t>
            </a:r>
            <a:r>
              <a:rPr lang="sk-SK" sz="1100" dirty="0" err="1"/>
              <a:t>Virtual</a:t>
            </a:r>
            <a:r>
              <a:rPr lang="sk-SK" sz="1100" dirty="0"/>
              <a:t> </a:t>
            </a:r>
            <a:r>
              <a:rPr lang="sk-SK" sz="1100" dirty="0" err="1"/>
              <a:t>Machine</a:t>
            </a:r>
            <a:r>
              <a:rPr lang="sk-SK" sz="1100" dirty="0"/>
              <a:t> </a:t>
            </a:r>
            <a:r>
              <a:rPr lang="sk-SK" sz="1100" dirty="0" err="1"/>
              <a:t>Control</a:t>
            </a:r>
            <a:r>
              <a:rPr lang="sk-SK" sz="1100" dirty="0"/>
              <a:t> </a:t>
            </a:r>
            <a:r>
              <a:rPr lang="sk-SK" sz="1100" dirty="0" err="1"/>
              <a:t>Block</a:t>
            </a:r>
            <a:r>
              <a:rPr lang="sk-SK" sz="1100" dirty="0"/>
              <a:t>)</a:t>
            </a:r>
          </a:p>
          <a:p>
            <a:pPr marL="0" indent="0">
              <a:buNone/>
            </a:pPr>
            <a:r>
              <a:rPr lang="sk-SK" sz="1100" dirty="0"/>
              <a:t>Ekvivalent VMCS:</a:t>
            </a:r>
          </a:p>
          <a:p>
            <a:pPr lvl="1"/>
            <a:r>
              <a:rPr lang="sk-SK" sz="1100" dirty="0"/>
              <a:t>stav CPU</a:t>
            </a:r>
          </a:p>
          <a:p>
            <a:pPr lvl="1"/>
            <a:r>
              <a:rPr lang="sk-SK" sz="1100" dirty="0" err="1"/>
              <a:t>intercepty</a:t>
            </a:r>
            <a:endParaRPr lang="sk-SK" sz="1100" dirty="0"/>
          </a:p>
          <a:p>
            <a:pPr lvl="1"/>
            <a:r>
              <a:rPr lang="sk-SK" sz="1100" dirty="0"/>
              <a:t>konfigurácia VM</a:t>
            </a:r>
          </a:p>
          <a:p>
            <a:pPr lvl="1"/>
            <a:endParaRPr lang="sk-SK" sz="1100" dirty="0"/>
          </a:p>
          <a:p>
            <a:r>
              <a:rPr lang="sk-SK" sz="1100" dirty="0"/>
              <a:t>2. </a:t>
            </a:r>
            <a:r>
              <a:rPr lang="sk-SK" sz="1100" dirty="0" err="1"/>
              <a:t>Host</a:t>
            </a:r>
            <a:r>
              <a:rPr lang="sk-SK" sz="1100" dirty="0"/>
              <a:t>/</a:t>
            </a:r>
            <a:r>
              <a:rPr lang="sk-SK" sz="1100" dirty="0" err="1"/>
              <a:t>Guest</a:t>
            </a:r>
            <a:r>
              <a:rPr lang="sk-SK" sz="1100" dirty="0"/>
              <a:t> módy</a:t>
            </a:r>
          </a:p>
          <a:p>
            <a:pPr lvl="1"/>
            <a:r>
              <a:rPr lang="sk-SK" sz="1100" dirty="0" err="1"/>
              <a:t>Host</a:t>
            </a:r>
            <a:r>
              <a:rPr lang="sk-SK" sz="1100" dirty="0"/>
              <a:t> </a:t>
            </a:r>
            <a:r>
              <a:rPr lang="sk-SK" sz="1100" dirty="0" err="1"/>
              <a:t>mode</a:t>
            </a:r>
            <a:r>
              <a:rPr lang="sk-SK" sz="1100" dirty="0"/>
              <a:t> → </a:t>
            </a:r>
            <a:r>
              <a:rPr lang="sk-SK" sz="1100" dirty="0" err="1"/>
              <a:t>hypervízor</a:t>
            </a:r>
            <a:endParaRPr lang="sk-SK" sz="1100" dirty="0"/>
          </a:p>
          <a:p>
            <a:pPr lvl="1"/>
            <a:r>
              <a:rPr lang="sk-SK" sz="1100" dirty="0" err="1"/>
              <a:t>Guest</a:t>
            </a:r>
            <a:r>
              <a:rPr lang="sk-SK" sz="1100" dirty="0"/>
              <a:t> </a:t>
            </a:r>
            <a:r>
              <a:rPr lang="sk-SK" sz="1100" dirty="0" err="1"/>
              <a:t>mode</a:t>
            </a:r>
            <a:r>
              <a:rPr lang="sk-SK" sz="1100" dirty="0"/>
              <a:t> → VM</a:t>
            </a:r>
          </a:p>
          <a:p>
            <a:pPr marL="0" indent="0">
              <a:buNone/>
            </a:pPr>
            <a:endParaRPr lang="sk-SK" sz="1100" dirty="0"/>
          </a:p>
          <a:p>
            <a:pPr marL="0" indent="0">
              <a:buNone/>
            </a:pPr>
            <a:r>
              <a:rPr lang="sk-SK" sz="1100" dirty="0" err="1"/>
              <a:t>Intercept</a:t>
            </a:r>
            <a:r>
              <a:rPr lang="sk-SK" sz="1100" dirty="0"/>
              <a:t> - CPU vie povedať: „Táto inštrukcia je nebezpečná – idem späť do </a:t>
            </a:r>
            <a:r>
              <a:rPr lang="sk-SK" sz="1100" dirty="0" err="1"/>
              <a:t>hypervízora</a:t>
            </a:r>
            <a:r>
              <a:rPr lang="sk-SK" sz="1100" dirty="0"/>
              <a:t>“</a:t>
            </a:r>
          </a:p>
          <a:p>
            <a:pPr marL="0" indent="0">
              <a:buNone/>
            </a:pPr>
            <a:endParaRPr lang="sk-SK" sz="1100" dirty="0"/>
          </a:p>
          <a:p>
            <a:pPr marL="0" indent="0">
              <a:buNone/>
            </a:pPr>
            <a:r>
              <a:rPr lang="sk-SK" sz="1100" dirty="0"/>
              <a:t>Typické </a:t>
            </a:r>
            <a:r>
              <a:rPr lang="sk-SK" sz="1100" dirty="0" err="1"/>
              <a:t>intercepty</a:t>
            </a:r>
            <a:r>
              <a:rPr lang="sk-SK" sz="1100" dirty="0"/>
              <a:t>:</a:t>
            </a:r>
          </a:p>
          <a:p>
            <a:pPr marL="0" indent="0">
              <a:buNone/>
            </a:pPr>
            <a:endParaRPr lang="sk-SK" sz="1100" dirty="0"/>
          </a:p>
          <a:p>
            <a:r>
              <a:rPr lang="sk-SK" sz="1100" dirty="0"/>
              <a:t>prístup k I/O portom</a:t>
            </a:r>
          </a:p>
          <a:p>
            <a:r>
              <a:rPr lang="sk-SK" sz="1100" dirty="0"/>
              <a:t>manipulácia s registrami CR0–CR4</a:t>
            </a:r>
          </a:p>
          <a:p>
            <a:r>
              <a:rPr lang="sk-SK" sz="1100" dirty="0"/>
              <a:t>prerušenia</a:t>
            </a:r>
          </a:p>
          <a:p>
            <a:r>
              <a:rPr lang="sk-SK" sz="1100" dirty="0"/>
              <a:t>HLT</a:t>
            </a:r>
          </a:p>
          <a:p>
            <a:r>
              <a:rPr lang="sk-SK" sz="1100" dirty="0"/>
              <a:t>prístup k MSR – model-</a:t>
            </a:r>
            <a:r>
              <a:rPr lang="sk-SK" sz="1100" dirty="0" err="1"/>
              <a:t>specific</a:t>
            </a:r>
            <a:r>
              <a:rPr lang="sk-SK" sz="1100" dirty="0"/>
              <a:t> register</a:t>
            </a:r>
          </a:p>
        </p:txBody>
      </p:sp>
    </p:spTree>
    <p:extLst>
      <p:ext uri="{BB962C8B-B14F-4D97-AF65-F5344CB8AC3E}">
        <p14:creationId xmlns:p14="http://schemas.microsoft.com/office/powerpoint/2010/main" val="2092384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A87FF3B3-BB8C-0961-E38A-9ECEE8F66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Nested Page Tables</a:t>
            </a:r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B4400930-85F5-5A0D-D973-27F9B6852F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Memory management another general challenge to VMM implementations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How can VMM keep page-table state for both guests believing they control the page tables and VMM that does control the tables?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Common method (for trap-and-emulate and binary translation) is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nested page</a:t>
            </a:r>
            <a:r>
              <a:rPr lang="en-US" altLang="sk-SK" dirty="0">
                <a:ea typeface="ＭＳ Ｐゴシック" panose="020B0600070205080204" pitchFamily="34" charset="-128"/>
              </a:rPr>
              <a:t>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tables</a:t>
            </a:r>
            <a:r>
              <a:rPr lang="en-US" altLang="sk-SK" dirty="0">
                <a:ea typeface="ＭＳ Ｐゴシック" panose="020B0600070205080204" pitchFamily="34" charset="-128"/>
              </a:rPr>
              <a:t> (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NPTs</a:t>
            </a:r>
            <a:r>
              <a:rPr lang="en-US" altLang="sk-SK" dirty="0">
                <a:ea typeface="ＭＳ Ｐゴシック" panose="020B0600070205080204" pitchFamily="34" charset="-128"/>
              </a:rPr>
              <a:t>)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Each guest maintains page tables to translate virtual to physical addresses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VMM maintains per guest NPTs to represent guest</a:t>
            </a:r>
            <a:r>
              <a:rPr lang="en-US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sk-SK" dirty="0">
                <a:ea typeface="ＭＳ Ｐゴシック" panose="020B0600070205080204" pitchFamily="34" charset="-128"/>
              </a:rPr>
              <a:t>s page-table state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Just as VCPU stores guest CPU state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When guest on CPU -&gt; VMM makes that guest</a:t>
            </a:r>
            <a:r>
              <a:rPr lang="en-US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sk-SK" dirty="0">
                <a:ea typeface="ＭＳ Ｐゴシック" panose="020B0600070205080204" pitchFamily="34" charset="-128"/>
              </a:rPr>
              <a:t>s NPTs the active system page tables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Guest tries to change page table -&gt; VMM makes equivalent change to NPTs and its own page tables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Can </a:t>
            </a:r>
            <a:r>
              <a:rPr lang="en-US" altLang="sk-SK" u="sng" dirty="0">
                <a:ea typeface="ＭＳ Ｐゴシック" panose="020B0600070205080204" pitchFamily="34" charset="-128"/>
              </a:rPr>
              <a:t>cause many more TLB misses </a:t>
            </a:r>
            <a:r>
              <a:rPr lang="en-US" altLang="sk-SK" dirty="0">
                <a:ea typeface="ＭＳ Ｐゴシック" panose="020B0600070205080204" pitchFamily="34" charset="-128"/>
              </a:rPr>
              <a:t>-&gt; much slower performance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2"/>
            <a:endParaRPr lang="en-US" altLang="sk-SK" dirty="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A893CD56-D7AE-E340-860E-14C547B89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Nested Page Tables</a:t>
            </a:r>
          </a:p>
        </p:txBody>
      </p:sp>
      <p:pic>
        <p:nvPicPr>
          <p:cNvPr id="26626" name="Content Placeholder 3" descr="16_04.pdf">
            <a:extLst>
              <a:ext uri="{FF2B5EF4-FFF2-40B4-BE49-F238E27FC236}">
                <a16:creationId xmlns:a16="http://schemas.microsoft.com/office/drawing/2014/main" id="{431FD52F-C635-152B-3BDF-554AC33278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78" t="-405" r="-6049" b="405"/>
          <a:stretch>
            <a:fillRect/>
          </a:stretch>
        </p:blipFill>
        <p:spPr>
          <a:xfrm>
            <a:off x="591015" y="981152"/>
            <a:ext cx="3847172" cy="5513388"/>
          </a:xfrm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83D4EE32-F5FB-3E13-F118-F95C26593B4F}"/>
              </a:ext>
            </a:extLst>
          </p:cNvPr>
          <p:cNvSpPr txBox="1"/>
          <p:nvPr/>
        </p:nvSpPr>
        <p:spPr>
          <a:xfrm>
            <a:off x="4572000" y="1260088"/>
            <a:ext cx="42281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Pamäťová virtualizácia (EPT / NPT)</a:t>
            </a:r>
          </a:p>
          <a:p>
            <a:r>
              <a:rPr lang="sk-SK" dirty="0"/>
              <a:t>Bez podpory → pomalé</a:t>
            </a:r>
          </a:p>
          <a:p>
            <a:r>
              <a:rPr lang="sk-SK" dirty="0"/>
              <a:t>S podporou → rýchle</a:t>
            </a:r>
          </a:p>
          <a:p>
            <a:endParaRPr lang="sk-SK" dirty="0"/>
          </a:p>
          <a:p>
            <a:r>
              <a:rPr lang="sk-SK" dirty="0"/>
              <a:t>Intel: EPT (</a:t>
            </a:r>
            <a:r>
              <a:rPr lang="sk-SK" dirty="0" err="1"/>
              <a:t>Extended</a:t>
            </a:r>
            <a:r>
              <a:rPr lang="sk-SK" dirty="0"/>
              <a:t> </a:t>
            </a:r>
            <a:r>
              <a:rPr lang="sk-SK" dirty="0" err="1"/>
              <a:t>Page</a:t>
            </a:r>
            <a:r>
              <a:rPr lang="sk-SK" dirty="0"/>
              <a:t> </a:t>
            </a:r>
            <a:r>
              <a:rPr lang="sk-SK" dirty="0" err="1"/>
              <a:t>Tables</a:t>
            </a:r>
            <a:r>
              <a:rPr lang="sk-SK" dirty="0"/>
              <a:t>)</a:t>
            </a:r>
          </a:p>
          <a:p>
            <a:r>
              <a:rPr lang="sk-SK" dirty="0"/>
              <a:t>AMD: NPT (</a:t>
            </a:r>
            <a:r>
              <a:rPr lang="sk-SK" dirty="0" err="1"/>
              <a:t>Nested</a:t>
            </a:r>
            <a:r>
              <a:rPr lang="sk-SK" dirty="0"/>
              <a:t> </a:t>
            </a:r>
            <a:r>
              <a:rPr lang="sk-SK" dirty="0" err="1"/>
              <a:t>Page</a:t>
            </a:r>
            <a:r>
              <a:rPr lang="sk-SK" dirty="0"/>
              <a:t> </a:t>
            </a:r>
            <a:r>
              <a:rPr lang="sk-SK" dirty="0" err="1"/>
              <a:t>Tables</a:t>
            </a:r>
            <a:r>
              <a:rPr lang="sk-SK" dirty="0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4DFA79C4-8C21-340B-B7FE-849D0F9E2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Types of Virtual Machines and Implementations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8972175D-DB36-2074-5E16-E4AAF845F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Many variations as well as HW details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Assume VMMs take advantage of HW features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HW features can simplify implementation, improve performance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Whatever the type, a VM has a lifecycle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Created by VMM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Resources assigned to it (number of cores, amount of memory, networking details, storage details)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In type 0 hypervisor, resources usually dedicated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Other types dedicate or share resources, or a mix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When no longer needed, VM can be deleted, freeing resources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Steps simpler, faster than with a physical machine install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Can lead to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virtual machine sprawl </a:t>
            </a:r>
            <a:r>
              <a:rPr lang="en-US" dirty="0">
                <a:ea typeface="ＭＳ Ｐゴシック" charset="0"/>
              </a:rPr>
              <a:t>with lots of VMs, history and state difficult to track</a:t>
            </a: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606335A6-B741-B35D-AD64-C3F0AFDB5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Types of VMs – Type 0 Hypervisor</a:t>
            </a:r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E2914D63-07A3-F455-8185-2D60DCBE3C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Old idea, under many names by HW manufacturers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sk-SK" dirty="0">
                <a:ea typeface="ＭＳ Ｐゴシック" panose="020B0600070205080204" pitchFamily="34" charset="-128"/>
              </a:rPr>
              <a:t>partitions</a:t>
            </a:r>
            <a:r>
              <a:rPr lang="en-US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sk-SK" dirty="0">
                <a:ea typeface="ＭＳ Ｐゴシック" panose="020B0600070205080204" pitchFamily="34" charset="-128"/>
              </a:rPr>
              <a:t>, </a:t>
            </a:r>
            <a:r>
              <a:rPr lang="en-US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sk-SK" dirty="0">
                <a:ea typeface="ＭＳ Ｐゴシック" panose="020B0600070205080204" pitchFamily="34" charset="-128"/>
              </a:rPr>
              <a:t>domains</a:t>
            </a:r>
            <a:r>
              <a:rPr lang="en-US" altLang="en-US" dirty="0">
                <a:ea typeface="ＭＳ Ｐゴシック" panose="020B0600070205080204" pitchFamily="34" charset="-128"/>
              </a:rPr>
              <a:t>”</a:t>
            </a:r>
            <a:endParaRPr lang="en-US" altLang="sk-SK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A HW feature implemented by firmware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OS need to nothing special, </a:t>
            </a:r>
            <a:r>
              <a:rPr lang="en-US" altLang="sk-SK" u="sng" dirty="0">
                <a:ea typeface="ＭＳ Ｐゴシック" panose="020B0600070205080204" pitchFamily="34" charset="-128"/>
              </a:rPr>
              <a:t>VMM is in firmware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Smaller feature set than other types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Each guest has dedicated HW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I/O a challenge as difficult to have enough devices, controllers to dedicate to each guest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Sometimes VMM implements a </a:t>
            </a:r>
            <a:r>
              <a:rPr lang="en-US" altLang="sk-SK" b="1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control partition </a:t>
            </a:r>
            <a:r>
              <a:rPr lang="en-US" altLang="sk-SK" dirty="0">
                <a:ea typeface="ＭＳ Ｐゴシック" panose="020B0600070205080204" pitchFamily="34" charset="-128"/>
              </a:rPr>
              <a:t>running daemons that other guests communicate with for shared I/O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Can provide virtualization-within-virtualization (guest itself can be a VMM with guests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Other types have difficulty doing this</a:t>
            </a:r>
          </a:p>
          <a:p>
            <a:pPr lvl="1"/>
            <a:endParaRPr lang="en-US" altLang="sk-SK" dirty="0">
              <a:ea typeface="ＭＳ Ｐゴシック" panose="020B0600070205080204" pitchFamily="34" charset="-128"/>
            </a:endParaRPr>
          </a:p>
          <a:p>
            <a:pPr lvl="2"/>
            <a:endParaRPr lang="en-US" altLang="sk-SK" dirty="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8037B59F-63F3-6A3A-2E4F-5B02EBC37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Type 0 Hypervisor</a:t>
            </a:r>
          </a:p>
        </p:txBody>
      </p:sp>
      <p:pic>
        <p:nvPicPr>
          <p:cNvPr id="29698" name="Content Placeholder 3" descr="16_05.pdf">
            <a:extLst>
              <a:ext uri="{FF2B5EF4-FFF2-40B4-BE49-F238E27FC236}">
                <a16:creationId xmlns:a16="http://schemas.microsoft.com/office/drawing/2014/main" id="{59E66596-F113-878F-7C82-98799C4D8C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861" b="-10861"/>
          <a:stretch>
            <a:fillRect/>
          </a:stretch>
        </p:blipFill>
        <p:spPr>
          <a:xfrm>
            <a:off x="1468438" y="2132013"/>
            <a:ext cx="6388100" cy="3517900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69A24CCC-AE1B-F1D0-EDB2-C64D3BFBA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 dirty="0">
                <a:ea typeface="ＭＳ Ｐゴシック" panose="020B0600070205080204" pitchFamily="34" charset="-128"/>
              </a:rPr>
              <a:t>Types of VMs – Type 1 Hypervisor</a:t>
            </a:r>
          </a:p>
        </p:txBody>
      </p:sp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CD3D4915-E361-61B3-D000-39117C85C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sz="1600" dirty="0">
                <a:ea typeface="ＭＳ Ｐゴシック" panose="020B0600070205080204" pitchFamily="34" charset="-128"/>
              </a:rPr>
              <a:t>Commonly found in company datacenters (known as </a:t>
            </a:r>
            <a:r>
              <a:rPr lang="en-US" altLang="sk-SK" sz="1600" b="1" dirty="0">
                <a:ea typeface="ＭＳ Ｐゴシック" panose="020B0600070205080204" pitchFamily="34" charset="-128"/>
              </a:rPr>
              <a:t>bare-metal</a:t>
            </a:r>
            <a:r>
              <a:rPr lang="en-US" altLang="sk-SK" sz="1600" dirty="0">
                <a:ea typeface="ＭＳ Ｐゴシック" panose="020B0600070205080204" pitchFamily="34" charset="-128"/>
              </a:rPr>
              <a:t> or </a:t>
            </a:r>
            <a:r>
              <a:rPr lang="en-US" altLang="sk-SK" sz="1600" b="1" dirty="0">
                <a:ea typeface="ＭＳ Ｐゴシック" panose="020B0600070205080204" pitchFamily="34" charset="-128"/>
              </a:rPr>
              <a:t>native </a:t>
            </a:r>
            <a:r>
              <a:rPr lang="en-US" altLang="sk-SK" sz="1600" b="1" dirty="0" err="1">
                <a:ea typeface="ＭＳ Ｐゴシック" panose="020B0600070205080204" pitchFamily="34" charset="-128"/>
              </a:rPr>
              <a:t>hyperv</a:t>
            </a:r>
            <a:r>
              <a:rPr lang="en-US" altLang="sk-SK" sz="1600" b="1" dirty="0">
                <a:ea typeface="ＭＳ Ｐゴシック" panose="020B0600070205080204" pitchFamily="34" charset="-128"/>
              </a:rPr>
              <a:t>.</a:t>
            </a:r>
            <a:r>
              <a:rPr lang="en-US" altLang="sk-SK" sz="1600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sk-SK" sz="1600" dirty="0">
                <a:ea typeface="ＭＳ Ｐゴシック" panose="020B0600070205080204" pitchFamily="34" charset="-128"/>
              </a:rPr>
              <a:t>In a sense becoming </a:t>
            </a:r>
            <a:r>
              <a:rPr lang="en-US" altLang="en-US" sz="1600" dirty="0">
                <a:ea typeface="ＭＳ Ｐゴシック" panose="020B0600070205080204" pitchFamily="34" charset="-128"/>
              </a:rPr>
              <a:t>“</a:t>
            </a:r>
            <a:r>
              <a:rPr lang="en-US" altLang="sk-SK" sz="1600" dirty="0">
                <a:ea typeface="ＭＳ Ｐゴシック" panose="020B0600070205080204" pitchFamily="34" charset="-128"/>
              </a:rPr>
              <a:t>datacenter operating systems</a:t>
            </a:r>
            <a:r>
              <a:rPr lang="en-US" altLang="en-US" sz="1600" dirty="0">
                <a:ea typeface="ＭＳ Ｐゴシック" panose="020B0600070205080204" pitchFamily="34" charset="-128"/>
              </a:rPr>
              <a:t>”</a:t>
            </a:r>
            <a:endParaRPr lang="en-US" altLang="sk-SK" sz="1600" dirty="0">
              <a:ea typeface="ＭＳ Ｐゴシック" panose="020B0600070205080204" pitchFamily="34" charset="-128"/>
            </a:endParaRPr>
          </a:p>
          <a:p>
            <a:pPr lvl="2"/>
            <a:r>
              <a:rPr lang="en-US" altLang="sk-SK" sz="1600" dirty="0">
                <a:ea typeface="ＭＳ Ｐゴシック" panose="020B0600070205080204" pitchFamily="34" charset="-128"/>
              </a:rPr>
              <a:t>Datacenter managers control and manage OSes in new, sophisticated ways by controlling the Type 1 hypervisor</a:t>
            </a:r>
          </a:p>
          <a:p>
            <a:pPr lvl="2"/>
            <a:r>
              <a:rPr lang="en-US" altLang="sk-SK" sz="1600" dirty="0">
                <a:ea typeface="ＭＳ Ｐゴシック" panose="020B0600070205080204" pitchFamily="34" charset="-128"/>
              </a:rPr>
              <a:t>Consolidation of multiple OSes and apps onto less HW</a:t>
            </a:r>
          </a:p>
          <a:p>
            <a:pPr lvl="2"/>
            <a:r>
              <a:rPr lang="en-US" altLang="sk-SK" sz="1600" dirty="0">
                <a:ea typeface="ＭＳ Ｐゴシック" panose="020B0600070205080204" pitchFamily="34" charset="-128"/>
              </a:rPr>
              <a:t>Move guests between systems to balance performance</a:t>
            </a:r>
          </a:p>
          <a:p>
            <a:pPr lvl="2"/>
            <a:r>
              <a:rPr lang="en-US" altLang="sk-SK" sz="1600" dirty="0">
                <a:ea typeface="ＭＳ Ｐゴシック" panose="020B0600070205080204" pitchFamily="34" charset="-128"/>
              </a:rPr>
              <a:t>Snapshots and cloning</a:t>
            </a:r>
          </a:p>
          <a:p>
            <a:r>
              <a:rPr lang="en-US" altLang="sk-SK" sz="1600" dirty="0">
                <a:ea typeface="ＭＳ Ｐゴシック" panose="020B0600070205080204" pitchFamily="34" charset="-128"/>
              </a:rPr>
              <a:t>Special purpose operating systems that run natively on HW</a:t>
            </a:r>
          </a:p>
          <a:p>
            <a:pPr lvl="1"/>
            <a:r>
              <a:rPr lang="en-US" altLang="sk-SK" sz="1600" dirty="0">
                <a:ea typeface="ＭＳ Ｐゴシック" panose="020B0600070205080204" pitchFamily="34" charset="-128"/>
              </a:rPr>
              <a:t>Rather than providing system call interface, create run and manage guest OSes</a:t>
            </a:r>
          </a:p>
          <a:p>
            <a:pPr lvl="1"/>
            <a:r>
              <a:rPr lang="en-US" altLang="sk-SK" sz="1600" dirty="0">
                <a:ea typeface="ＭＳ Ｐゴシック" panose="020B0600070205080204" pitchFamily="34" charset="-128"/>
              </a:rPr>
              <a:t>Can run on Type 0 hypervisors but not on other Type 1s</a:t>
            </a:r>
          </a:p>
          <a:p>
            <a:pPr lvl="1"/>
            <a:r>
              <a:rPr lang="en-US" altLang="sk-SK" sz="1600" dirty="0">
                <a:ea typeface="ＭＳ Ｐゴシック" panose="020B0600070205080204" pitchFamily="34" charset="-128"/>
              </a:rPr>
              <a:t>Run in kernel mode</a:t>
            </a:r>
          </a:p>
          <a:p>
            <a:pPr lvl="1"/>
            <a:r>
              <a:rPr lang="en-US" altLang="sk-SK" sz="1600" dirty="0">
                <a:ea typeface="ＭＳ Ｐゴシック" panose="020B0600070205080204" pitchFamily="34" charset="-128"/>
              </a:rPr>
              <a:t>Guests generally don</a:t>
            </a:r>
            <a:r>
              <a:rPr lang="en-US" altLang="en-US" sz="1600" dirty="0">
                <a:ea typeface="ＭＳ Ｐゴシック" panose="020B0600070205080204" pitchFamily="34" charset="-128"/>
              </a:rPr>
              <a:t>’</a:t>
            </a:r>
            <a:r>
              <a:rPr lang="en-US" altLang="sk-SK" sz="1600" dirty="0">
                <a:ea typeface="ＭＳ Ｐゴシック" panose="020B0600070205080204" pitchFamily="34" charset="-128"/>
              </a:rPr>
              <a:t>t know they are running in a VM</a:t>
            </a:r>
          </a:p>
          <a:p>
            <a:pPr lvl="1"/>
            <a:r>
              <a:rPr lang="en-US" altLang="sk-SK" sz="1600" dirty="0">
                <a:ea typeface="ＭＳ Ｐゴシック" panose="020B0600070205080204" pitchFamily="34" charset="-128"/>
              </a:rPr>
              <a:t>Implement device drivers for host HW because no other component can</a:t>
            </a:r>
          </a:p>
          <a:p>
            <a:pPr lvl="1"/>
            <a:r>
              <a:rPr lang="en-US" altLang="sk-SK" sz="1600" dirty="0">
                <a:ea typeface="ＭＳ Ｐゴシック" panose="020B0600070205080204" pitchFamily="34" charset="-128"/>
              </a:rPr>
              <a:t>Also provide other traditional OS services like CPU and memory management</a:t>
            </a:r>
          </a:p>
          <a:p>
            <a:pPr lvl="2"/>
            <a:endParaRPr lang="en-US" altLang="sk-SK" sz="1600" dirty="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 sz="16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D9CFCFAC-573A-C7E1-B338-BE0CA0940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 dirty="0">
                <a:ea typeface="ＭＳ Ｐゴシック" panose="020B0600070205080204" pitchFamily="34" charset="-128"/>
              </a:rPr>
              <a:t>Types of VMs – Type 1 Hypervisor (cont.)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70C2E9EB-87A5-1CE9-DE33-9E0FC1F3C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sz="1600" dirty="0">
                <a:ea typeface="ＭＳ Ｐゴシック" charset="0"/>
              </a:rPr>
              <a:t>Another variation is a general purpose OS that also provides VMM functionality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0"/>
              </a:rPr>
              <a:t>RedHat Enterprise Linux with </a:t>
            </a:r>
            <a:r>
              <a:rPr lang="en-US" dirty="0"/>
              <a:t>KVM</a:t>
            </a:r>
            <a:r>
              <a:rPr lang="en-US" sz="1600" dirty="0">
                <a:ea typeface="ＭＳ Ｐゴシック" charset="0"/>
              </a:rPr>
              <a:t>, Windows with </a:t>
            </a:r>
            <a:r>
              <a:rPr lang="en-US" dirty="0"/>
              <a:t>Hyper-V</a:t>
            </a:r>
            <a:r>
              <a:rPr lang="en-US" sz="1600" dirty="0">
                <a:ea typeface="ＭＳ Ｐゴシック" charset="0"/>
              </a:rPr>
              <a:t>, Oracle Solaris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0"/>
              </a:rPr>
              <a:t>Perform normal duties as well as VMM duties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0"/>
              </a:rPr>
              <a:t>Typically </a:t>
            </a:r>
            <a:r>
              <a:rPr lang="en-US" sz="1600" u="sng" dirty="0">
                <a:ea typeface="ＭＳ Ｐゴシック" charset="0"/>
              </a:rPr>
              <a:t>less feature rich than dedicated Type 1 hypervisors </a:t>
            </a:r>
          </a:p>
          <a:p>
            <a:pPr lvl="1">
              <a:buFont typeface="Monotype Sorts" charset="0"/>
              <a:buChar char="l"/>
              <a:defRPr/>
            </a:pPr>
            <a:endParaRPr lang="en-US" sz="1600" dirty="0">
              <a:ea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r>
              <a:rPr lang="en-US" sz="1600" dirty="0">
                <a:ea typeface="ＭＳ Ｐゴシック" charset="0"/>
              </a:rPr>
              <a:t>In many ways, treat guests </a:t>
            </a:r>
            <a:r>
              <a:rPr lang="en-US" sz="1600" dirty="0" err="1">
                <a:ea typeface="ＭＳ Ｐゴシック" charset="0"/>
              </a:rPr>
              <a:t>OSes</a:t>
            </a:r>
            <a:r>
              <a:rPr lang="en-US" sz="1600" dirty="0">
                <a:ea typeface="ＭＳ Ｐゴシック" charset="0"/>
              </a:rPr>
              <a:t> as just another process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0"/>
              </a:rPr>
              <a:t>Albeit with special handling when guest tries to execute special instructions</a:t>
            </a:r>
          </a:p>
          <a:p>
            <a:pPr lvl="1">
              <a:buFont typeface="Monotype Sorts" charset="0"/>
              <a:buChar char="l"/>
              <a:defRPr/>
            </a:pPr>
            <a:endParaRPr lang="en-US" sz="1600" dirty="0">
              <a:ea typeface="ＭＳ Ｐゴシック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0"/>
              </a:rPr>
              <a:t>Type 1 hypervisors 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 err="1">
                <a:ea typeface="ＭＳ Ｐゴシック" charset="0"/>
              </a:rPr>
              <a:t>Vmware</a:t>
            </a:r>
            <a:r>
              <a:rPr lang="en-US" sz="1600" dirty="0">
                <a:ea typeface="ＭＳ Ｐゴシック" charset="0"/>
              </a:rPr>
              <a:t> </a:t>
            </a:r>
            <a:r>
              <a:rPr lang="en-US" sz="1600" dirty="0" err="1">
                <a:ea typeface="ＭＳ Ｐゴシック" charset="0"/>
              </a:rPr>
              <a:t>ESXi</a:t>
            </a:r>
            <a:endParaRPr lang="en-US" sz="1600" dirty="0">
              <a:ea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0"/>
              </a:rPr>
              <a:t>Citrix Hypervisor (also known as </a:t>
            </a:r>
            <a:r>
              <a:rPr lang="en-US" sz="1600" dirty="0" err="1">
                <a:ea typeface="ＭＳ Ｐゴシック" charset="0"/>
              </a:rPr>
              <a:t>XenServer</a:t>
            </a:r>
            <a:r>
              <a:rPr lang="en-US" sz="1600" dirty="0">
                <a:ea typeface="ＭＳ Ｐゴシック" charset="0"/>
              </a:rPr>
              <a:t>)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0"/>
              </a:rPr>
              <a:t>Microsoft Hyper-V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0"/>
              </a:rPr>
              <a:t>KVM </a:t>
            </a:r>
            <a:r>
              <a:rPr lang="sk-SK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 Linux-</a:t>
            </a:r>
            <a:r>
              <a:rPr lang="sk-SK" sz="16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based</a:t>
            </a:r>
            <a:r>
              <a:rPr lang="sk-SK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 type-1 </a:t>
            </a:r>
            <a:r>
              <a:rPr lang="sk-SK" sz="16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hypervisor</a:t>
            </a:r>
            <a:endParaRPr lang="sk-SK" sz="16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lvl="2">
              <a:buFont typeface="Monotype Sorts" charset="0"/>
              <a:buChar char="l"/>
              <a:defRPr/>
            </a:pPr>
            <a:r>
              <a:rPr lang="sk-SK" sz="1600" i="0" dirty="0" err="1">
                <a:solidFill>
                  <a:srgbClr val="06243A"/>
                </a:solidFill>
                <a:effectLst/>
                <a:highlight>
                  <a:srgbClr val="FFFFFF"/>
                </a:highlight>
                <a:latin typeface="Inter"/>
              </a:rPr>
              <a:t>Red</a:t>
            </a:r>
            <a:r>
              <a:rPr lang="sk-SK" sz="1600" i="0" dirty="0">
                <a:solidFill>
                  <a:srgbClr val="06243A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sk-SK" sz="1600" i="0" dirty="0" err="1">
                <a:solidFill>
                  <a:srgbClr val="06243A"/>
                </a:solidFill>
                <a:effectLst/>
                <a:highlight>
                  <a:srgbClr val="FFFFFF"/>
                </a:highlight>
                <a:latin typeface="Inter"/>
              </a:rPr>
              <a:t>Hat</a:t>
            </a:r>
            <a:r>
              <a:rPr lang="sk-SK" sz="1600" i="0" dirty="0">
                <a:solidFill>
                  <a:srgbClr val="06243A"/>
                </a:solidFill>
                <a:effectLst/>
                <a:highlight>
                  <a:srgbClr val="FFFFFF"/>
                </a:highlight>
                <a:latin typeface="Inter"/>
              </a:rPr>
              <a:t> Enterprise </a:t>
            </a:r>
            <a:r>
              <a:rPr lang="sk-SK" sz="1600" i="0" dirty="0" err="1">
                <a:solidFill>
                  <a:srgbClr val="06243A"/>
                </a:solidFill>
                <a:effectLst/>
                <a:highlight>
                  <a:srgbClr val="FFFFFF"/>
                </a:highlight>
                <a:latin typeface="Inter"/>
              </a:rPr>
              <a:t>Virtualization</a:t>
            </a:r>
            <a:r>
              <a:rPr lang="sk-SK" sz="1600" i="0" dirty="0">
                <a:solidFill>
                  <a:srgbClr val="06243A"/>
                </a:solidFill>
                <a:effectLst/>
                <a:highlight>
                  <a:srgbClr val="FFFFFF"/>
                </a:highlight>
                <a:latin typeface="Inter"/>
              </a:rPr>
              <a:t> (RHEV) </a:t>
            </a:r>
            <a:r>
              <a:rPr lang="sk-SK" sz="16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is</a:t>
            </a:r>
            <a:r>
              <a:rPr lang="sk-SK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 a </a:t>
            </a:r>
            <a:r>
              <a:rPr lang="sk-SK" sz="16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commercial</a:t>
            </a:r>
            <a:r>
              <a:rPr lang="sk-SK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sk-SK" sz="16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implementation</a:t>
            </a:r>
            <a:r>
              <a:rPr lang="sk-SK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 of </a:t>
            </a:r>
            <a:r>
              <a:rPr lang="sk-SK" sz="16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the</a:t>
            </a:r>
            <a:r>
              <a:rPr lang="sk-SK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</a:rPr>
              <a:t> KVM </a:t>
            </a:r>
            <a:endParaRPr lang="sk-SK" sz="1600" b="1" i="0" dirty="0">
              <a:solidFill>
                <a:srgbClr val="06243A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marL="857250" lvl="2" indent="0">
              <a:buNone/>
              <a:defRPr/>
            </a:pPr>
            <a:endParaRPr lang="en-US" sz="1600" dirty="0">
              <a:ea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endParaRPr lang="en-US" sz="1600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sz="1600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850A6B22-C5CE-EEA5-14A9-39839791F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 dirty="0">
                <a:ea typeface="ＭＳ Ｐゴシック" panose="020B0600070205080204" pitchFamily="34" charset="-128"/>
              </a:rPr>
              <a:t>Types of VMs – Type 2 Hypervisor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726AB493-D4C5-27A4-2006-BB054FA4B8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Less interesting from an OS perspective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Very little OS involvement in virtualization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VMM is simply another process, run and managed by host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Even the host doesn</a:t>
            </a:r>
            <a:r>
              <a:rPr lang="en-US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sk-SK" dirty="0">
                <a:ea typeface="ＭＳ Ｐゴシック" panose="020B0600070205080204" pitchFamily="34" charset="-128"/>
              </a:rPr>
              <a:t>t know they are a VMM running guests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Tend to have poorer overall performance because can</a:t>
            </a:r>
            <a:r>
              <a:rPr lang="en-US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sk-SK" dirty="0">
                <a:ea typeface="ＭＳ Ｐゴシック" panose="020B0600070205080204" pitchFamily="34" charset="-128"/>
              </a:rPr>
              <a:t>t take advantage of some HW features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But also a benefit because require no changes to host OS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Student could have Type 2 hypervisor on native host, run multiple guests, all on standard host OS such as Windows, Linux, MacOS</a:t>
            </a:r>
          </a:p>
          <a:p>
            <a:r>
              <a:rPr lang="en-US" altLang="sk-SK" dirty="0"/>
              <a:t>Type 2 hypervisors</a:t>
            </a:r>
          </a:p>
          <a:p>
            <a:pPr lvl="1"/>
            <a:r>
              <a:rPr lang="en-US" altLang="sk-SK" dirty="0"/>
              <a:t>Oracle VM VirtualBox</a:t>
            </a:r>
          </a:p>
          <a:p>
            <a:pPr lvl="1"/>
            <a:r>
              <a:rPr lang="en-US" altLang="sk-SK" dirty="0" err="1"/>
              <a:t>Vmware</a:t>
            </a:r>
            <a:r>
              <a:rPr lang="en-US" altLang="sk-SK" dirty="0"/>
              <a:t> workstation Pro/</a:t>
            </a:r>
            <a:r>
              <a:rPr lang="en-US" altLang="sk-SK" dirty="0" err="1"/>
              <a:t>Wmware</a:t>
            </a:r>
            <a:r>
              <a:rPr lang="en-US" altLang="sk-SK" dirty="0"/>
              <a:t> Fusion</a:t>
            </a:r>
          </a:p>
          <a:p>
            <a:pPr lvl="1"/>
            <a:r>
              <a:rPr lang="en-US" altLang="sk-SK" dirty="0"/>
              <a:t>Windows Virtual PC</a:t>
            </a:r>
          </a:p>
          <a:p>
            <a:pPr lvl="1"/>
            <a:r>
              <a:rPr lang="en-US" altLang="sk-SK" dirty="0"/>
              <a:t>Parallels Desktop</a:t>
            </a:r>
          </a:p>
          <a:p>
            <a:pPr lvl="1"/>
            <a:r>
              <a:rPr lang="en-US" altLang="sk-SK" dirty="0"/>
              <a:t>QEMU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5BDDD334-43A6-5E29-48A5-5A9FB5FFE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 dirty="0">
                <a:ea typeface="ＭＳ Ｐゴシック" panose="020B0600070205080204" pitchFamily="34" charset="-128"/>
              </a:rPr>
              <a:t>Types of VMs – Paravirtualization (obsolete)</a:t>
            </a:r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AEE53818-E5ED-44BB-22BE-A25C439218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>
                <a:ea typeface="ＭＳ Ｐゴシック" panose="020B0600070205080204" pitchFamily="34" charset="-128"/>
              </a:rPr>
              <a:t>Does not fit the definition of virtualization – </a:t>
            </a:r>
            <a:r>
              <a:rPr lang="en-US" altLang="sk-SK" b="1" dirty="0">
                <a:ea typeface="ＭＳ Ｐゴシック" panose="020B0600070205080204" pitchFamily="34" charset="-128"/>
              </a:rPr>
              <a:t>VMM not presenting an exact duplication of underlying hardware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But still useful!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VMM provides services that </a:t>
            </a:r>
            <a:r>
              <a:rPr lang="en-US" altLang="sk-SK" b="1" dirty="0">
                <a:ea typeface="ＭＳ Ｐゴシック" panose="020B0600070205080204" pitchFamily="34" charset="-128"/>
              </a:rPr>
              <a:t>guest must be modified to use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Leads to increased performance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Less needed as hardware support for VMs grows</a:t>
            </a:r>
          </a:p>
          <a:p>
            <a:r>
              <a:rPr lang="en-US" altLang="sk-SK" dirty="0">
                <a:ea typeface="ＭＳ Ｐゴシック" panose="020B0600070205080204" pitchFamily="34" charset="-128"/>
              </a:rPr>
              <a:t>Xen, leader in </a:t>
            </a:r>
            <a:r>
              <a:rPr lang="en-US" altLang="sk-SK" dirty="0" err="1">
                <a:ea typeface="ＭＳ Ｐゴシック" panose="020B0600070205080204" pitchFamily="34" charset="-128"/>
              </a:rPr>
              <a:t>paravirtualized</a:t>
            </a:r>
            <a:r>
              <a:rPr lang="en-US" altLang="sk-SK" dirty="0">
                <a:ea typeface="ＭＳ Ｐゴシック" panose="020B0600070205080204" pitchFamily="34" charset="-128"/>
              </a:rPr>
              <a:t> space, adds several techniques 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For example, clean and simple device abstractions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Efficient I/O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Good communication between guest and VMM about device I/O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Each device has circular buffer shared by guest and VMM via shared memory</a:t>
            </a:r>
          </a:p>
          <a:p>
            <a:pPr lvl="2"/>
            <a:endParaRPr lang="en-US" altLang="sk-SK" dirty="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528DA442-AD3C-1423-88BA-4F83EDD40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Xen I/O via Shared Circular Buffer</a:t>
            </a:r>
          </a:p>
        </p:txBody>
      </p:sp>
      <p:pic>
        <p:nvPicPr>
          <p:cNvPr id="34818" name="Content Placeholder 3" descr="16_06.pdf">
            <a:extLst>
              <a:ext uri="{FF2B5EF4-FFF2-40B4-BE49-F238E27FC236}">
                <a16:creationId xmlns:a16="http://schemas.microsoft.com/office/drawing/2014/main" id="{667C160B-E5F3-583E-0887-E02D59560A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73" r="-5573"/>
          <a:stretch>
            <a:fillRect/>
          </a:stretch>
        </p:blipFill>
        <p:spPr>
          <a:xfrm>
            <a:off x="655638" y="1296988"/>
            <a:ext cx="8229600" cy="4530725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72FCCC03-CA22-F61B-D52D-5C3F67333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000">
                <a:ea typeface="ＭＳ Ｐゴシック" panose="020B0600070205080204" pitchFamily="34" charset="-128"/>
              </a:rPr>
              <a:t>Types of VMs – Paravirtualization (cont.)</a:t>
            </a:r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64CACF9A-5106-9037-8044-342B9514FE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sk-SK">
                <a:ea typeface="ＭＳ Ｐゴシック" panose="020B0600070205080204" pitchFamily="34" charset="-128"/>
              </a:rPr>
              <a:t>Memory management does not include nested page tables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Each guest has own read-only tables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Guest uses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hypercall</a:t>
            </a:r>
            <a:r>
              <a:rPr lang="en-US" altLang="sk-SK">
                <a:ea typeface="ＭＳ Ｐゴシック" panose="020B0600070205080204" pitchFamily="34" charset="-128"/>
              </a:rPr>
              <a:t> (call to hypervisor) when page-table changes needed</a:t>
            </a:r>
          </a:p>
          <a:p>
            <a:r>
              <a:rPr lang="en-US" altLang="sk-SK" b="1">
                <a:ea typeface="ＭＳ Ｐゴシック" panose="020B0600070205080204" pitchFamily="34" charset="-128"/>
              </a:rPr>
              <a:t>Paravirtualization allowed virtualization of older x86 CPUs </a:t>
            </a:r>
            <a:r>
              <a:rPr lang="en-US" altLang="sk-SK">
                <a:ea typeface="ＭＳ Ｐゴシック" panose="020B0600070205080204" pitchFamily="34" charset="-128"/>
              </a:rPr>
              <a:t>(and others) without binary translation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Guest had to be modified to use run on paravirtualized VMM</a:t>
            </a:r>
          </a:p>
          <a:p>
            <a:r>
              <a:rPr lang="en-US" altLang="sk-SK">
                <a:solidFill>
                  <a:schemeClr val="accent1"/>
                </a:solidFill>
                <a:ea typeface="ＭＳ Ｐゴシック" panose="020B0600070205080204" pitchFamily="34" charset="-128"/>
              </a:rPr>
              <a:t>But on modern CPUs Xen no longer requires guest modification -&gt; no longer paravirtualization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E4D6B1DA-0908-D4E2-B3BE-516634EBB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000">
                <a:ea typeface="ＭＳ Ｐゴシック" panose="020B0600070205080204" pitchFamily="34" charset="-128"/>
              </a:rPr>
              <a:t>Types of VMs – Programming Environment Virtualization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AFF55694-8DE0-F39C-5BCF-FEB6E2B3E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Also not-really-virtualization but using same techniques, providing similar features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Programming language is designed to run within custom-built virtualized environment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For example Oracle Java has many features that depend on running in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Java Virtual Machine</a:t>
            </a:r>
            <a:r>
              <a:rPr lang="en-US" dirty="0">
                <a:ea typeface="ＭＳ Ｐゴシック" charset="0"/>
              </a:rPr>
              <a:t> (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JVM</a:t>
            </a:r>
            <a:r>
              <a:rPr lang="en-US" dirty="0">
                <a:ea typeface="ＭＳ Ｐゴシック" charset="0"/>
              </a:rPr>
              <a:t>)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In this case virtualization is defined as providing APIs that define a set of features made available to a language and programs written in that language to provide an improved execution environment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JVM compiled to run on many systems (including some smart phones even)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Programs written in Java run in the JVM no matter the underlying system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Similar to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interpreted languages</a:t>
            </a: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B0F768C2-C32C-ABC8-F08D-110E69F62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Types of VMs – Emulation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E1DBB3FC-1700-1C9E-4CDC-D04403E9EF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Another (older) way for running one operating system on a different operating system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Virtualization requires underlying CPU to be same as guest was compiled for</a:t>
            </a:r>
          </a:p>
          <a:p>
            <a:pPr lvl="1"/>
            <a:r>
              <a:rPr lang="en-US" altLang="sk-SK">
                <a:solidFill>
                  <a:schemeClr val="accent1"/>
                </a:solidFill>
                <a:ea typeface="ＭＳ Ｐゴシック" panose="020B0600070205080204" pitchFamily="34" charset="-128"/>
              </a:rPr>
              <a:t>Emulation allows guest to run on different CPU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Necessary to translate all guest instructions from guest CPU to native CPU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Emulation, not virtualization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Useful when host system has one architecture, guest compiled for other architecture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Company replacing outdated servers with new servers containing different CPU architecture, but still want to run old applications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Performance challenge – order of magnitude slower than native code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New machines faster than older machines so can reduce slowdown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Very popular – especially in gaming where old consoles emulated on new</a:t>
            </a:r>
          </a:p>
          <a:p>
            <a:pPr lvl="1"/>
            <a:endParaRPr lang="en-US" altLang="sk-SK">
              <a:ea typeface="ＭＳ Ｐゴシック" panose="020B0600070205080204" pitchFamily="34" charset="-128"/>
            </a:endParaRPr>
          </a:p>
          <a:p>
            <a:pPr lvl="2"/>
            <a:endParaRPr lang="en-US" altLang="sk-SK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989D08BD-65B3-EACA-DB0E-2D4E88E7D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Types of VMs – Application Containment</a:t>
            </a:r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C109145F-2001-2B10-03C8-AAD6E54BC3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Some goals of virtualization are </a:t>
            </a:r>
            <a:r>
              <a:rPr lang="en-US" altLang="sk-SK">
                <a:solidFill>
                  <a:schemeClr val="accent1"/>
                </a:solidFill>
                <a:ea typeface="ＭＳ Ｐゴシック" panose="020B0600070205080204" pitchFamily="34" charset="-128"/>
              </a:rPr>
              <a:t>segregation of apps, performance and resource management</a:t>
            </a:r>
            <a:r>
              <a:rPr lang="en-US" altLang="sk-SK">
                <a:ea typeface="ＭＳ Ｐゴシック" panose="020B0600070205080204" pitchFamily="34" charset="-128"/>
              </a:rPr>
              <a:t>, easy start, stop, move, and management of them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Can do those things without full-fledged virtualization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If applications compiled for the host operating system, don</a:t>
            </a:r>
            <a:r>
              <a:rPr lang="en-US" altLang="en-US">
                <a:ea typeface="ＭＳ Ｐゴシック" panose="020B0600070205080204" pitchFamily="34" charset="-128"/>
              </a:rPr>
              <a:t>’</a:t>
            </a:r>
            <a:r>
              <a:rPr lang="en-US" altLang="sk-SK">
                <a:ea typeface="ＭＳ Ｐゴシック" panose="020B0600070205080204" pitchFamily="34" charset="-128"/>
              </a:rPr>
              <a:t>t need full virtualization to meet these goals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Oracle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containers</a:t>
            </a:r>
            <a:r>
              <a:rPr lang="en-US" altLang="sk-SK">
                <a:ea typeface="ＭＳ Ｐゴシック" panose="020B0600070205080204" pitchFamily="34" charset="-128"/>
              </a:rPr>
              <a:t> /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zones</a:t>
            </a:r>
            <a:r>
              <a:rPr lang="en-US" altLang="sk-SK">
                <a:ea typeface="ＭＳ Ｐゴシック" panose="020B0600070205080204" pitchFamily="34" charset="-128"/>
              </a:rPr>
              <a:t> for example create virtual layer between OS and apps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Only one kernel running – host OS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OS and devices are virtualized, providing resources within zone with impression that they are only processes on system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Each zone has its own applications; networking stack, addresses, and ports; user accounts, etc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CPU and memory resources divided between zones</a:t>
            </a:r>
          </a:p>
          <a:p>
            <a:pPr lvl="2"/>
            <a:r>
              <a:rPr lang="en-US" altLang="sk-SK">
                <a:ea typeface="ＭＳ Ｐゴシック" panose="020B0600070205080204" pitchFamily="34" charset="-128"/>
              </a:rPr>
              <a:t>Zone can have its own scheduler to use those resources</a:t>
            </a:r>
          </a:p>
          <a:p>
            <a:pPr lvl="1">
              <a:buFont typeface="Monotype Sorts" pitchFamily="2" charset="2"/>
              <a:buNone/>
            </a:pPr>
            <a:endParaRPr lang="en-US" altLang="sk-SK">
              <a:ea typeface="ＭＳ Ｐゴシック" panose="020B0600070205080204" pitchFamily="34" charset="-128"/>
            </a:endParaRPr>
          </a:p>
          <a:p>
            <a:pPr lvl="2"/>
            <a:endParaRPr lang="en-US" altLang="sk-SK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7FDD2B8E-7288-874A-5B77-42AE11560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Solaris 10 with Two Zones</a:t>
            </a:r>
          </a:p>
        </p:txBody>
      </p:sp>
      <p:pic>
        <p:nvPicPr>
          <p:cNvPr id="39938" name="Content Placeholder 3" descr="16_07.pdf">
            <a:extLst>
              <a:ext uri="{FF2B5EF4-FFF2-40B4-BE49-F238E27FC236}">
                <a16:creationId xmlns:a16="http://schemas.microsoft.com/office/drawing/2014/main" id="{A119F58E-4E43-96FF-58A0-4725DF47AE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374" r="-38374"/>
          <a:stretch>
            <a:fillRect/>
          </a:stretch>
        </p:blipFill>
        <p:spPr>
          <a:xfrm>
            <a:off x="615950" y="1503363"/>
            <a:ext cx="8229600" cy="4530725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6E9A3EBE-BFE1-243E-6528-80E046B21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Virtualization and Operating-System Components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5B3E6C8B-C0DD-ADCC-4DC2-779E87D9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Now look at operating system aspects of virtualization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CPU scheduling, memory management, I/O, storage, and unique VM migration feature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How do VMMs schedule CPU use when guests believe they have dedicated CPUs?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How can memory management work when many guests require large amounts of memory?</a:t>
            </a:r>
          </a:p>
          <a:p>
            <a:pPr marL="857250" lvl="2" indent="0">
              <a:buFont typeface="Webding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marL="457200" lvl="1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B25EDA91-9925-D511-9FB3-53E0675FA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OS Component – CPU Scheduling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6D1AD75D-7DAB-BC26-CB02-3A659C81C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Even single-CPU systems act like multiprocessor ones when virtualized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One or more virtual CPUs per guest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Generally VMM has one or more physical CPUs and number of threads to run on them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Guests configured with certain number of VCPUs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Can be adjusted throughout life of VM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When enough CPUs for all guests -&gt; VMM can allocate dedicated CPUs, each guest much like native operating system managing its CPUs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Usually not enough CPUs -&gt; CPU </a:t>
            </a:r>
            <a:r>
              <a:rPr lang="en-US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overcommitment</a:t>
            </a:r>
            <a:endParaRPr lang="en-US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VMM can use standard scheduling algorithms to put threads on CPUs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Some add fairness aspect</a:t>
            </a: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1C198BAD-5281-EDE8-D908-BC37A3564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OS Component – CPU Scheduling (cont.)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514859F2-D828-4DEF-9DA8-1E3179D199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b="1" dirty="0">
                <a:ea typeface="ＭＳ Ｐゴシック" panose="020B0600070205080204" pitchFamily="34" charset="-128"/>
              </a:rPr>
              <a:t>Cycle stealing </a:t>
            </a:r>
            <a:r>
              <a:rPr lang="en-US" altLang="sk-SK" dirty="0">
                <a:ea typeface="ＭＳ Ｐゴシック" panose="020B0600070205080204" pitchFamily="34" charset="-128"/>
              </a:rPr>
              <a:t>by VMM and </a:t>
            </a:r>
            <a:r>
              <a:rPr lang="en-US" altLang="sk-SK" b="1" dirty="0">
                <a:ea typeface="ＭＳ Ｐゴシック" panose="020B0600070205080204" pitchFamily="34" charset="-128"/>
              </a:rPr>
              <a:t>oversubscription</a:t>
            </a:r>
            <a:r>
              <a:rPr lang="en-US" altLang="sk-SK" dirty="0">
                <a:ea typeface="ＭＳ Ｐゴシック" panose="020B0600070205080204" pitchFamily="34" charset="-128"/>
              </a:rPr>
              <a:t> of CPUs means guests don</a:t>
            </a:r>
            <a:r>
              <a:rPr lang="en-US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sk-SK" dirty="0">
                <a:ea typeface="ＭＳ Ｐゴシック" panose="020B0600070205080204" pitchFamily="34" charset="-128"/>
              </a:rPr>
              <a:t>t get CPU cycles they expect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Consider timesharing scheduler in a guest trying to schedule 100ms time slices -&gt; each may take 100ms, 1 second, or longer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Poor response times for users of guest</a:t>
            </a:r>
          </a:p>
          <a:p>
            <a:pPr lvl="2"/>
            <a:r>
              <a:rPr lang="en-US" altLang="sk-SK" dirty="0">
                <a:ea typeface="ＭＳ Ｐゴシック" panose="020B0600070205080204" pitchFamily="34" charset="-128"/>
              </a:rPr>
              <a:t>Time-of-day clocks incorrect</a:t>
            </a:r>
          </a:p>
          <a:p>
            <a:pPr lvl="1"/>
            <a:r>
              <a:rPr lang="en-US" altLang="sk-SK" dirty="0">
                <a:ea typeface="ＭＳ Ｐゴシック" panose="020B0600070205080204" pitchFamily="34" charset="-128"/>
              </a:rPr>
              <a:t>Some VMMs provide application to run in each guest to fix time-of-day and </a:t>
            </a:r>
            <a:r>
              <a:rPr lang="en-US" altLang="sk-SK" b="1" dirty="0">
                <a:ea typeface="ＭＳ Ｐゴシック" panose="020B0600070205080204" pitchFamily="34" charset="-128"/>
              </a:rPr>
              <a:t>provide other integration features</a:t>
            </a:r>
          </a:p>
          <a:p>
            <a:pPr lvl="2"/>
            <a:r>
              <a:rPr lang="en-US" altLang="sk-SK" b="1" dirty="0">
                <a:ea typeface="ＭＳ Ｐゴシック" panose="020B0600070205080204" pitchFamily="34" charset="-128"/>
              </a:rPr>
              <a:t>Oracle Virtual Box extensions …</a:t>
            </a:r>
          </a:p>
        </p:txBody>
      </p:sp>
      <p:sp>
        <p:nvSpPr>
          <p:cNvPr id="2" name="Šípka doprava 1">
            <a:extLst>
              <a:ext uri="{FF2B5EF4-FFF2-40B4-BE49-F238E27FC236}">
                <a16:creationId xmlns:a16="http://schemas.microsoft.com/office/drawing/2014/main" id="{EE3688B8-220B-060F-5E38-D05C15DE8D31}"/>
              </a:ext>
            </a:extLst>
          </p:cNvPr>
          <p:cNvSpPr/>
          <p:nvPr/>
        </p:nvSpPr>
        <p:spPr bwMode="auto">
          <a:xfrm>
            <a:off x="671513" y="2761672"/>
            <a:ext cx="889432" cy="21243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64DCEA5E-E70E-CC01-145F-DD1F71E68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OS Component – Memory Management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05A30D-CAD0-C98A-B283-9397F6905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Also suffers from oversubscription -&gt; requires extra management efficiency from VMM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For example, VMware ESX guests have a configured amount of physical memory, then ESX uses 3 methods of memory management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ＭＳ Ｐゴシック" charset="0"/>
              </a:rPr>
              <a:t>Double-paging, in which the guest page table indicates a page is in a physical frame but the VMM moves some of those pages to backing store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ea typeface="ＭＳ Ｐゴシック" charset="0"/>
              </a:rPr>
              <a:t>Install 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pseudo-device driver </a:t>
            </a:r>
            <a:r>
              <a:rPr lang="en-US" dirty="0">
                <a:ea typeface="ＭＳ Ｐゴシック" charset="0"/>
              </a:rPr>
              <a:t>in each guest (it looks like a device driver to the guest kernel but really just adds kernel-mode code to the guest) </a:t>
            </a:r>
          </a:p>
          <a:p>
            <a:pPr marL="1143000" lvl="2" indent="-342900">
              <a:buFont typeface="Webdings" charset="0"/>
              <a:buChar char="4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Balloon</a:t>
            </a:r>
            <a:r>
              <a:rPr lang="en-US" dirty="0">
                <a:ea typeface="ＭＳ Ｐゴシック" charset="0"/>
              </a:rPr>
              <a:t> memory manager communicates with VMM and is told to allocate or </a:t>
            </a:r>
            <a:r>
              <a:rPr lang="en-US" dirty="0" err="1">
                <a:ea typeface="ＭＳ Ｐゴシック" charset="0"/>
              </a:rPr>
              <a:t>deallocate</a:t>
            </a:r>
            <a:r>
              <a:rPr lang="en-US" dirty="0">
                <a:ea typeface="ＭＳ Ｐゴシック" charset="0"/>
              </a:rPr>
              <a:t> memory to decrease or increase physical memory use of guest, causing guest OS to free or have more memory available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 err="1">
                <a:ea typeface="ＭＳ Ｐゴシック" charset="0"/>
              </a:rPr>
              <a:t>Deduplication</a:t>
            </a:r>
            <a:r>
              <a:rPr lang="en-US" dirty="0">
                <a:ea typeface="ＭＳ Ｐゴシック" charset="0"/>
              </a:rPr>
              <a:t> by VMM determining if same page loaded more than once, memory mapping the same page into multiple guests</a:t>
            </a:r>
          </a:p>
          <a:p>
            <a:pPr marL="800100" lvl="1" indent="-342900">
              <a:buFont typeface="+mj-lt"/>
              <a:buAutoNum type="arabicPeriod"/>
              <a:defRPr/>
            </a:pPr>
            <a:endParaRPr lang="en-US" dirty="0">
              <a:ea typeface="ＭＳ Ｐゴシック" charset="0"/>
            </a:endParaRPr>
          </a:p>
          <a:p>
            <a:pPr marL="457200" lvl="1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5F1C0F46-D4EE-D1DF-0FD9-DB3502600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OS Component – I/O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DE9FD9E1-EBC9-1F35-9836-EF94A0F62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Easier for VMMs to integrate with guests because I/O has lots of variation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Already somewhat segregated / flexible via device drivers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u="sng" dirty="0">
                <a:ea typeface="ＭＳ Ｐゴシック" charset="0"/>
              </a:rPr>
              <a:t>VMM can provide new devices and device drivers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But overall I/O is complicated for VMMs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Many short paths for I/O in standard </a:t>
            </a:r>
            <a:r>
              <a:rPr lang="en-US" dirty="0" err="1">
                <a:ea typeface="ＭＳ Ｐゴシック" charset="0"/>
              </a:rPr>
              <a:t>OSes</a:t>
            </a:r>
            <a:r>
              <a:rPr lang="en-US" dirty="0">
                <a:ea typeface="ＭＳ Ｐゴシック" charset="0"/>
              </a:rPr>
              <a:t> for improved performance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Less hypervisor needs to do for I/O for guests, the better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Possibilities include direct device access, DMA pass-through, direct interrupt delivery 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Again, HW support needed for these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Networking also complex as VMM and guests all need network access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VMM can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bridge</a:t>
            </a:r>
            <a:r>
              <a:rPr lang="en-US" dirty="0">
                <a:ea typeface="ＭＳ Ｐゴシック" charset="0"/>
              </a:rPr>
              <a:t> guest to network (allowing direct access)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And / or provide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network address translation </a:t>
            </a:r>
            <a:r>
              <a:rPr lang="en-US" dirty="0">
                <a:ea typeface="ＭＳ Ｐゴシック" charset="0"/>
              </a:rPr>
              <a:t>(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NAT</a:t>
            </a:r>
            <a:r>
              <a:rPr lang="en-US" dirty="0">
                <a:ea typeface="ＭＳ Ｐゴシック" charset="0"/>
              </a:rPr>
              <a:t>)</a:t>
            </a:r>
          </a:p>
          <a:p>
            <a:pPr lvl="2">
              <a:buFont typeface="Webdings" charset="0"/>
              <a:buChar char="4"/>
              <a:defRPr/>
            </a:pPr>
            <a:r>
              <a:rPr lang="en-US" dirty="0">
                <a:ea typeface="ＭＳ Ｐゴシック" charset="0"/>
              </a:rPr>
              <a:t>NAT address local to machine on which guest is running, VMM provides address translation to guest to hide its address</a:t>
            </a: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2BF321BF-584F-53C8-2B85-9D77C2A2F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OS Component – Storage Management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2CF04D7C-020E-B1B7-D42A-C40AF80EB9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Both boot disk and general data access need  be provided by VMM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Need to support potentially dozens of guests per VMM (so standard disk partitioning not sufficient)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Type 1 – storage guest root disks and config information within file system provided by VMM as a 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disk image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Type 2 – store as files in file system provided by host OS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Duplicate file -&gt; create new guest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Move file to another system -&gt; move guest</a:t>
            </a:r>
          </a:p>
          <a:p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Physical-to-virtual </a:t>
            </a:r>
            <a:r>
              <a:rPr lang="en-US" altLang="sk-SK">
                <a:ea typeface="ＭＳ Ｐゴシック" panose="020B0600070205080204" pitchFamily="34" charset="-128"/>
              </a:rPr>
              <a:t>(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P-to-V</a:t>
            </a:r>
            <a:r>
              <a:rPr lang="en-US" altLang="sk-SK">
                <a:ea typeface="ＭＳ Ｐゴシック" panose="020B0600070205080204" pitchFamily="34" charset="-128"/>
              </a:rPr>
              <a:t>) convert native disk blocks into VMM format</a:t>
            </a:r>
          </a:p>
          <a:p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Virtual-to-physical </a:t>
            </a:r>
            <a:r>
              <a:rPr lang="en-US" altLang="sk-SK">
                <a:ea typeface="ＭＳ Ｐゴシック" panose="020B0600070205080204" pitchFamily="34" charset="-128"/>
              </a:rPr>
              <a:t>(</a:t>
            </a:r>
            <a:r>
              <a:rPr lang="en-US" altLang="sk-SK" b="1">
                <a:solidFill>
                  <a:srgbClr val="3366FF"/>
                </a:solidFill>
                <a:ea typeface="ＭＳ Ｐゴシック" panose="020B0600070205080204" pitchFamily="34" charset="-128"/>
              </a:rPr>
              <a:t>V-to-P</a:t>
            </a:r>
            <a:r>
              <a:rPr lang="en-US" altLang="sk-SK">
                <a:ea typeface="ＭＳ Ｐゴシック" panose="020B0600070205080204" pitchFamily="34" charset="-128"/>
              </a:rPr>
              <a:t>) convert from virtual format to native or disk format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VMM also needs to provide access to network attached storage (just networking) and other disk images, disk partitions, disks, etc</a:t>
            </a:r>
          </a:p>
          <a:p>
            <a:pPr marL="457200" lvl="1" indent="0">
              <a:buFont typeface="Monotype Sorts" pitchFamily="2" charset="2"/>
              <a:buNone/>
            </a:pPr>
            <a:endParaRPr lang="en-US" altLang="sk-SK">
              <a:ea typeface="ＭＳ Ｐゴシック" panose="020B0600070205080204" pitchFamily="34" charset="-128"/>
            </a:endParaRPr>
          </a:p>
          <a:p>
            <a:pPr lvl="2"/>
            <a:endParaRPr lang="en-US" altLang="sk-SK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0EFE07F9-3E9D-0851-C334-F0407DFC2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OS Component – Live Migration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D17C0D1A-39CF-DA64-FE64-B1A483A999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Taking advantage of VMM features leads to new functionality not found on general operating systems such as live migration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Running guest can be moved between systems, without interrupting user access to the guest or its apps</a:t>
            </a:r>
          </a:p>
          <a:p>
            <a:r>
              <a:rPr lang="en-US" altLang="sk-SK">
                <a:ea typeface="ＭＳ Ｐゴシック" panose="020B0600070205080204" pitchFamily="34" charset="-128"/>
              </a:rPr>
              <a:t>Very useful for resource management, maintenance downtime windows, etc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The source VMM establishes a connection with the target VMM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The target creates a new guest by creating a new VCPU, etc 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The source sends all read-only guest memory pages to the target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The source sends all read-write pages to the target, marking them as clean 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The source repeats step 4, as during that step some pages were probably modified by the guest and are now dirty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altLang="sk-SK">
                <a:ea typeface="ＭＳ Ｐゴシック" panose="020B0600070205080204" pitchFamily="34" charset="-128"/>
              </a:rPr>
              <a:t>When cycle of steps 4 and 5 becomes very short, source VMM freezes guest, sends VCPU</a:t>
            </a:r>
            <a:r>
              <a:rPr lang="en-US" altLang="en-US">
                <a:ea typeface="ＭＳ Ｐゴシック" panose="020B0600070205080204" pitchFamily="34" charset="-128"/>
              </a:rPr>
              <a:t>’</a:t>
            </a:r>
            <a:r>
              <a:rPr lang="en-US" altLang="sk-SK">
                <a:ea typeface="ＭＳ Ｐゴシック" panose="020B0600070205080204" pitchFamily="34" charset="-128"/>
              </a:rPr>
              <a:t>s final state, sends other state details, sends final dirty pages, and tells target to start running the guest</a:t>
            </a:r>
          </a:p>
          <a:p>
            <a:pPr lvl="1"/>
            <a:r>
              <a:rPr lang="en-US" altLang="sk-SK">
                <a:ea typeface="ＭＳ Ｐゴシック" panose="020B0600070205080204" pitchFamily="34" charset="-128"/>
              </a:rPr>
              <a:t>Once target acknowledges that guest running, source terminates guest</a:t>
            </a:r>
          </a:p>
          <a:p>
            <a:pPr lvl="2"/>
            <a:endParaRPr lang="en-US" altLang="sk-SK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sk-SK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B58B65B2-0FC8-4918-C4DD-ED31F8C89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3575" y="277813"/>
            <a:ext cx="8229600" cy="576262"/>
          </a:xfrm>
        </p:spPr>
        <p:txBody>
          <a:bodyPr/>
          <a:lstStyle/>
          <a:p>
            <a:r>
              <a:rPr lang="en-US" altLang="sk-SK" sz="2800">
                <a:ea typeface="ＭＳ Ｐゴシック" panose="020B0600070205080204" pitchFamily="34" charset="-128"/>
              </a:rPr>
              <a:t>Live Migration of Guest Between Servers</a:t>
            </a:r>
          </a:p>
        </p:txBody>
      </p:sp>
      <p:pic>
        <p:nvPicPr>
          <p:cNvPr id="48130" name="Content Placeholder 3" descr="16_08.pdf">
            <a:extLst>
              <a:ext uri="{FF2B5EF4-FFF2-40B4-BE49-F238E27FC236}">
                <a16:creationId xmlns:a16="http://schemas.microsoft.com/office/drawing/2014/main" id="{5162EC0D-4418-F379-672D-7A0467B7F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00" b="-17900"/>
          <a:stretch>
            <a:fillRect/>
          </a:stretch>
        </p:blipFill>
        <p:spPr>
          <a:xfrm>
            <a:off x="679450" y="1233488"/>
            <a:ext cx="8229600" cy="4530725"/>
          </a:xfr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C14DA66D-8C19-6E52-9747-A59AB7B01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Examples - VMware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84C2715E-3BB3-9564-FE6A-771622347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VMware Workstation runs on x86, provides VMM for guests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Runs as application on other native, installed host operating system -&gt; Type </a:t>
            </a:r>
            <a:r>
              <a:rPr lang="en-US">
                <a:ea typeface="ＭＳ Ｐゴシック" charset="0"/>
              </a:rPr>
              <a:t>2 hypervisor</a:t>
            </a:r>
            <a:endParaRPr lang="en-US" dirty="0">
              <a:ea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Lots of guests possible, including Windows, Linux, </a:t>
            </a:r>
            <a:r>
              <a:rPr lang="en-US" dirty="0" err="1">
                <a:ea typeface="ＭＳ Ｐゴシック" charset="0"/>
              </a:rPr>
              <a:t>etc</a:t>
            </a:r>
            <a:r>
              <a:rPr lang="en-US" dirty="0">
                <a:ea typeface="ＭＳ Ｐゴシック" charset="0"/>
              </a:rPr>
              <a:t> all runnable concurrently (as resources allow)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Virtualization layer abstracts underlying HW, providing guest with is own virtual CPUs, memory, disk drives, network interfaces, </a:t>
            </a:r>
            <a:r>
              <a:rPr lang="en-US" dirty="0" err="1">
                <a:ea typeface="ＭＳ Ｐゴシック" charset="0"/>
              </a:rPr>
              <a:t>etc</a:t>
            </a:r>
            <a:endParaRPr lang="en-US" dirty="0">
              <a:ea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Physical disks can be provided to guests, or virtual physical disks (just files within host file system)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marL="457200" lvl="1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06976D6C-F2E1-5505-4F57-7488B1697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VMware Workstation Architecture</a:t>
            </a:r>
          </a:p>
        </p:txBody>
      </p:sp>
      <p:pic>
        <p:nvPicPr>
          <p:cNvPr id="50178" name="Content Placeholder 3" descr="16_09.pdf">
            <a:extLst>
              <a:ext uri="{FF2B5EF4-FFF2-40B4-BE49-F238E27FC236}">
                <a16:creationId xmlns:a16="http://schemas.microsoft.com/office/drawing/2014/main" id="{643729F2-43EE-9734-F6E4-03F630F1C5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153" r="-14153"/>
          <a:stretch>
            <a:fillRect/>
          </a:stretch>
        </p:blipFill>
        <p:spPr>
          <a:xfrm>
            <a:off x="663575" y="1328738"/>
            <a:ext cx="8229600" cy="4530725"/>
          </a:xfr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400BD26A-8781-3053-5837-90B1829FE7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277813"/>
            <a:ext cx="8229600" cy="576262"/>
          </a:xfrm>
        </p:spPr>
        <p:txBody>
          <a:bodyPr/>
          <a:lstStyle/>
          <a:p>
            <a:r>
              <a:rPr lang="en-US" altLang="sk-SK" sz="2400">
                <a:ea typeface="ＭＳ Ｐゴシック" panose="020B0600070205080204" pitchFamily="34" charset="-128"/>
              </a:rPr>
              <a:t>Examples – Java Virtual Machine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06561D8A-219A-D420-4454-1AEA86448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Example of programming-environment virtualization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Very popular language / application environment invented by Sun Microsystems in 1995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Write once, run anywhere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Includes language specification (Java), API library, Java virtual machine (JVM)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Java objects specified by class construct, Java program is one or more objects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Each Java object compiled into architecture-neutral </a:t>
            </a:r>
            <a:r>
              <a:rPr lang="en-US" b="1" dirty="0" err="1">
                <a:solidFill>
                  <a:srgbClr val="3366FF"/>
                </a:solidFill>
                <a:ea typeface="ＭＳ Ｐゴシック" charset="0"/>
              </a:rPr>
              <a:t>bytecode</a:t>
            </a:r>
            <a:r>
              <a:rPr lang="en-US" dirty="0">
                <a:ea typeface="ＭＳ Ｐゴシック" charset="0"/>
              </a:rPr>
              <a:t> output (</a:t>
            </a:r>
            <a:r>
              <a:rPr lang="en-US" b="1" dirty="0">
                <a:latin typeface="Courier New"/>
                <a:ea typeface="ＭＳ Ｐゴシック" charset="0"/>
                <a:cs typeface="Courier New"/>
              </a:rPr>
              <a:t>.class</a:t>
            </a:r>
            <a:r>
              <a:rPr lang="en-US" dirty="0">
                <a:ea typeface="ＭＳ Ｐゴシック" charset="0"/>
              </a:rPr>
              <a:t>) which JVM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class loader </a:t>
            </a:r>
            <a:r>
              <a:rPr lang="en-US" dirty="0">
                <a:ea typeface="ＭＳ Ｐゴシック" charset="0"/>
              </a:rPr>
              <a:t>loads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JVM compiled per architecture, reads </a:t>
            </a:r>
            <a:r>
              <a:rPr lang="en-US" dirty="0" err="1">
                <a:ea typeface="ＭＳ Ｐゴシック" charset="0"/>
              </a:rPr>
              <a:t>bytecode</a:t>
            </a:r>
            <a:r>
              <a:rPr lang="en-US" dirty="0">
                <a:ea typeface="ＭＳ Ｐゴシック" charset="0"/>
              </a:rPr>
              <a:t> and executes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Includes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garbage collection </a:t>
            </a:r>
            <a:r>
              <a:rPr lang="en-US" dirty="0">
                <a:ea typeface="ＭＳ Ｐゴシック" charset="0"/>
              </a:rPr>
              <a:t>to reclaim memory no longer in use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Made faster by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just-in-time </a:t>
            </a:r>
            <a:r>
              <a:rPr lang="en-US" dirty="0">
                <a:ea typeface="ＭＳ Ｐゴシック" charset="0"/>
              </a:rPr>
              <a:t>(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</a:rPr>
              <a:t>JIT</a:t>
            </a:r>
            <a:r>
              <a:rPr lang="en-US" dirty="0">
                <a:ea typeface="ＭＳ Ｐゴシック" charset="0"/>
              </a:rPr>
              <a:t>) compiler that turns </a:t>
            </a:r>
            <a:r>
              <a:rPr lang="en-US" dirty="0" err="1">
                <a:ea typeface="ＭＳ Ｐゴシック" charset="0"/>
              </a:rPr>
              <a:t>bytecodes</a:t>
            </a:r>
            <a:r>
              <a:rPr lang="en-US" dirty="0">
                <a:ea typeface="ＭＳ Ｐゴシック" charset="0"/>
              </a:rPr>
              <a:t> into native code and caches them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marL="457200" lvl="1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lvl="2">
              <a:buFont typeface="Webdings" charset="0"/>
              <a:buChar char="4"/>
              <a:defRPr/>
            </a:pPr>
            <a:endParaRPr lang="en-US" dirty="0">
              <a:ea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8BA53612-727A-ED42-8F9C-7F2A0632F8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ea typeface="ＭＳ Ｐゴシック" panose="020B0600070205080204" pitchFamily="34" charset="-128"/>
              </a:rPr>
              <a:t>The Java Virtual Machine</a:t>
            </a:r>
          </a:p>
        </p:txBody>
      </p:sp>
      <p:pic>
        <p:nvPicPr>
          <p:cNvPr id="52226" name="Content Placeholder 3" descr="16_10.pdf">
            <a:extLst>
              <a:ext uri="{FF2B5EF4-FFF2-40B4-BE49-F238E27FC236}">
                <a16:creationId xmlns:a16="http://schemas.microsoft.com/office/drawing/2014/main" id="{72BC667D-01C4-1BF4-400A-D484D7FB5B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986" b="-8986"/>
          <a:stretch>
            <a:fillRect/>
          </a:stretch>
        </p:blipFill>
        <p:spPr>
          <a:xfrm>
            <a:off x="663575" y="1455738"/>
            <a:ext cx="8229600" cy="4530725"/>
          </a:xfr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DD29E3-C8B8-D8C3-746D-1CC96A7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sk-SK" dirty="0"/>
              <a:t>Úvod do </a:t>
            </a:r>
            <a:r>
              <a:rPr lang="sk-SK" dirty="0" err="1"/>
              <a:t>Dockeru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F8D0DE8-86D5-B8BF-521B-15EB8B290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530725"/>
          </a:xfrm>
        </p:spPr>
        <p:txBody>
          <a:bodyPr>
            <a:normAutofit/>
          </a:bodyPr>
          <a:lstStyle/>
          <a:p>
            <a:r>
              <a:rPr lang="sk-SK" dirty="0"/>
              <a:t>Definícia </a:t>
            </a:r>
            <a:r>
              <a:rPr lang="sk-SK" dirty="0" err="1"/>
              <a:t>Dockeru</a:t>
            </a:r>
            <a:r>
              <a:rPr lang="sk-SK" dirty="0"/>
              <a:t>: </a:t>
            </a:r>
            <a:r>
              <a:rPr lang="sk-SK" dirty="0" err="1"/>
              <a:t>Docker</a:t>
            </a:r>
            <a:r>
              <a:rPr lang="sk-SK" dirty="0"/>
              <a:t> je </a:t>
            </a:r>
            <a:r>
              <a:rPr lang="sk-SK" dirty="0" err="1"/>
              <a:t>open-source</a:t>
            </a:r>
            <a:r>
              <a:rPr lang="sk-SK" dirty="0"/>
              <a:t> platforma používaná na automatizáciu nasadenia, škálovanie a izoláciu aplikácií pomocou kontajnerov.</a:t>
            </a:r>
          </a:p>
          <a:p>
            <a:r>
              <a:rPr lang="sk-SK" dirty="0"/>
              <a:t>Výhody použitia </a:t>
            </a:r>
            <a:r>
              <a:rPr lang="sk-SK" dirty="0" err="1"/>
              <a:t>Dockeru</a:t>
            </a:r>
            <a:r>
              <a:rPr lang="sk-SK" dirty="0"/>
              <a:t>: Portabilita, reprodukovateľnosť, izolácia a ďalšie.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pic>
        <p:nvPicPr>
          <p:cNvPr id="1028" name="Picture 4" descr="Create a Docker application with Python easily - Example">
            <a:extLst>
              <a:ext uri="{FF2B5EF4-FFF2-40B4-BE49-F238E27FC236}">
                <a16:creationId xmlns:a16="http://schemas.microsoft.com/office/drawing/2014/main" id="{05FD5BF5-3DB0-E760-3741-5E43CAC70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172" y="2919614"/>
            <a:ext cx="5985862" cy="277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2393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827708-F65E-3093-7006-6BD418269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b="1" dirty="0"/>
              <a:t>Architektúra </a:t>
            </a:r>
            <a:r>
              <a:rPr lang="sk-SK" b="1" dirty="0" err="1"/>
              <a:t>Dockeru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16EF9FA-BE46-916C-965C-ECBA3A3C0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Popis </a:t>
            </a:r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Engine</a:t>
            </a:r>
            <a:r>
              <a:rPr lang="sk-SK" dirty="0"/>
              <a:t>: </a:t>
            </a:r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Engine</a:t>
            </a:r>
            <a:r>
              <a:rPr lang="sk-SK" dirty="0"/>
              <a:t> je klient-serverová aplikácia, ktorá pozostáva z </a:t>
            </a:r>
            <a:r>
              <a:rPr lang="sk-SK" dirty="0" err="1"/>
              <a:t>Docker</a:t>
            </a:r>
            <a:r>
              <a:rPr lang="sk-SK" dirty="0"/>
              <a:t> démona, REST API a CLI.</a:t>
            </a:r>
          </a:p>
          <a:p>
            <a:r>
              <a:rPr lang="sk-SK" dirty="0"/>
              <a:t>Komponenty </a:t>
            </a:r>
            <a:r>
              <a:rPr lang="sk-SK" dirty="0" err="1"/>
              <a:t>Dockeru</a:t>
            </a:r>
            <a:r>
              <a:rPr lang="sk-SK" dirty="0"/>
              <a:t>: </a:t>
            </a:r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Images</a:t>
            </a:r>
            <a:r>
              <a:rPr lang="sk-SK" dirty="0"/>
              <a:t>, </a:t>
            </a:r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Containers</a:t>
            </a:r>
            <a:r>
              <a:rPr lang="sk-SK" dirty="0"/>
              <a:t>, </a:t>
            </a:r>
            <a:r>
              <a:rPr lang="sk-SK" dirty="0" err="1"/>
              <a:t>Dockerfile</a:t>
            </a:r>
            <a:r>
              <a:rPr lang="sk-SK" dirty="0"/>
              <a:t> a </a:t>
            </a:r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Compose</a:t>
            </a:r>
            <a:r>
              <a:rPr lang="sk-SK" dirty="0"/>
              <a:t>.</a:t>
            </a:r>
          </a:p>
          <a:p>
            <a:endParaRPr lang="sk-SK" dirty="0"/>
          </a:p>
        </p:txBody>
      </p:sp>
      <p:pic>
        <p:nvPicPr>
          <p:cNvPr id="2050" name="Picture 2" descr="Docker Nedir? Nasıl Kullanılır? | ceaksan | Web Analisti &amp; Veri Bilimi ...">
            <a:extLst>
              <a:ext uri="{FF2B5EF4-FFF2-40B4-BE49-F238E27FC236}">
                <a16:creationId xmlns:a16="http://schemas.microsoft.com/office/drawing/2014/main" id="{6408AEA4-02CD-C8EF-B9ED-B41429033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176" y="2937749"/>
            <a:ext cx="5755135" cy="336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07902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81C8D6-022E-AF50-F216-23F4170B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Docker</a:t>
            </a:r>
            <a:r>
              <a:rPr lang="sk-SK" b="1" dirty="0"/>
              <a:t> </a:t>
            </a:r>
            <a:r>
              <a:rPr lang="sk-SK" b="1" dirty="0" err="1"/>
              <a:t>Images</a:t>
            </a:r>
            <a:r>
              <a:rPr lang="sk-SK" b="1" dirty="0"/>
              <a:t> a </a:t>
            </a:r>
            <a:r>
              <a:rPr lang="sk-SK" b="1" dirty="0" err="1"/>
              <a:t>Docker</a:t>
            </a:r>
            <a:r>
              <a:rPr lang="sk-SK" b="1" dirty="0"/>
              <a:t> </a:t>
            </a:r>
            <a:r>
              <a:rPr lang="sk-SK" b="1" dirty="0" err="1"/>
              <a:t>Containers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06DB20-6B71-823A-D542-EA54D3153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Images</a:t>
            </a:r>
            <a:r>
              <a:rPr lang="sk-SK" dirty="0"/>
              <a:t>: Sú to </a:t>
            </a:r>
            <a:r>
              <a:rPr lang="sk-SK" dirty="0" err="1"/>
              <a:t>read-only</a:t>
            </a:r>
            <a:r>
              <a:rPr lang="sk-SK" dirty="0"/>
              <a:t> šablóny obsahujúce inštrukcie pre vytvorenie </a:t>
            </a:r>
            <a:r>
              <a:rPr lang="sk-SK" dirty="0" err="1"/>
              <a:t>Docker</a:t>
            </a:r>
            <a:r>
              <a:rPr lang="sk-SK" dirty="0"/>
              <a:t> kontajnera.</a:t>
            </a:r>
          </a:p>
          <a:p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Containers</a:t>
            </a:r>
            <a:r>
              <a:rPr lang="sk-SK" dirty="0"/>
              <a:t>: Sú to bežiace inštancie </a:t>
            </a:r>
            <a:r>
              <a:rPr lang="sk-SK" dirty="0" err="1"/>
              <a:t>Docker</a:t>
            </a:r>
            <a:r>
              <a:rPr lang="sk-SK" dirty="0"/>
              <a:t> Image. Kontajnery izolujú softvér od jeho okolia.</a:t>
            </a:r>
          </a:p>
          <a:p>
            <a:pPr marL="0" indent="0">
              <a:buNone/>
            </a:pPr>
            <a:endParaRPr lang="sk-SK" dirty="0"/>
          </a:p>
        </p:txBody>
      </p:sp>
      <p:pic>
        <p:nvPicPr>
          <p:cNvPr id="3074" name="Picture 2" descr="Docker 101">
            <a:extLst>
              <a:ext uri="{FF2B5EF4-FFF2-40B4-BE49-F238E27FC236}">
                <a16:creationId xmlns:a16="http://schemas.microsoft.com/office/drawing/2014/main" id="{AF185D8C-A720-F8BC-B9E7-F47C18C6D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577" y="2732395"/>
            <a:ext cx="5640935" cy="317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4450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04C828-B2B7-521B-B46A-71DA638E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Dockerfile</a:t>
            </a:r>
            <a:r>
              <a:rPr lang="sk-SK" b="1" dirty="0"/>
              <a:t> a </a:t>
            </a:r>
            <a:r>
              <a:rPr lang="sk-SK" b="1" dirty="0" err="1"/>
              <a:t>Docker</a:t>
            </a:r>
            <a:r>
              <a:rPr lang="sk-SK" b="1" dirty="0"/>
              <a:t> </a:t>
            </a:r>
            <a:r>
              <a:rPr lang="sk-SK" b="1" dirty="0" err="1"/>
              <a:t>Compose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269CABA-3B69-D68C-8A0D-332588E5D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Dockerfile</a:t>
            </a:r>
            <a:r>
              <a:rPr lang="sk-SK" dirty="0"/>
              <a:t>: Je textový súbor, ktorý obsahuje všetky príkazy potrebné na zostavenie </a:t>
            </a:r>
            <a:r>
              <a:rPr lang="sk-SK" dirty="0" err="1"/>
              <a:t>Docker</a:t>
            </a:r>
            <a:r>
              <a:rPr lang="sk-SK" dirty="0"/>
              <a:t> Image.</a:t>
            </a:r>
          </a:p>
          <a:p>
            <a:r>
              <a:rPr lang="sk-SK" dirty="0" err="1"/>
              <a:t>Docker</a:t>
            </a:r>
            <a:r>
              <a:rPr lang="sk-SK" dirty="0"/>
              <a:t> </a:t>
            </a:r>
            <a:r>
              <a:rPr lang="sk-SK" dirty="0" err="1"/>
              <a:t>Compose</a:t>
            </a:r>
            <a:r>
              <a:rPr lang="sk-SK" dirty="0"/>
              <a:t>: Je nástroj na definovanie a spustenie viacnásobných </a:t>
            </a:r>
            <a:r>
              <a:rPr lang="sk-SK" dirty="0" err="1"/>
              <a:t>Docker</a:t>
            </a:r>
            <a:r>
              <a:rPr lang="sk-SK" dirty="0"/>
              <a:t> kontajnerov.</a:t>
            </a:r>
          </a:p>
          <a:p>
            <a:endParaRPr lang="sk-SK" dirty="0"/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3EDFA7C7-3467-48DC-0B9E-E26C806D27E2}"/>
              </a:ext>
            </a:extLst>
          </p:cNvPr>
          <p:cNvGrpSpPr/>
          <p:nvPr/>
        </p:nvGrpSpPr>
        <p:grpSpPr>
          <a:xfrm>
            <a:off x="806450" y="2820040"/>
            <a:ext cx="7376672" cy="3128590"/>
            <a:chOff x="806450" y="2820040"/>
            <a:chExt cx="7376672" cy="3128590"/>
          </a:xfrm>
        </p:grpSpPr>
        <p:pic>
          <p:nvPicPr>
            <p:cNvPr id="4098" name="Picture 2" descr="Docker AWS EC2 deploy">
              <a:extLst>
                <a:ext uri="{FF2B5EF4-FFF2-40B4-BE49-F238E27FC236}">
                  <a16:creationId xmlns:a16="http://schemas.microsoft.com/office/drawing/2014/main" id="{DFB01718-19B1-2E5A-031C-C7276DFFF0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450" y="2828912"/>
              <a:ext cx="7376672" cy="3119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Pravouholník 3">
              <a:extLst>
                <a:ext uri="{FF2B5EF4-FFF2-40B4-BE49-F238E27FC236}">
                  <a16:creationId xmlns:a16="http://schemas.microsoft.com/office/drawing/2014/main" id="{2D8BB6F1-9F12-7543-22C2-C94A5219FF97}"/>
                </a:ext>
              </a:extLst>
            </p:cNvPr>
            <p:cNvSpPr/>
            <p:nvPr/>
          </p:nvSpPr>
          <p:spPr bwMode="auto">
            <a:xfrm>
              <a:off x="6900262" y="2820040"/>
              <a:ext cx="1068081" cy="33809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sk-S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69923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72E73E6B-B05B-EFD8-EDD1-DF810769EE8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sk-SK">
                <a:ea typeface="ＭＳ Ｐゴシック" panose="020B0600070205080204" pitchFamily="34" charset="-128"/>
              </a:rPr>
              <a:t>End of Chapter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6848</TotalTime>
  <Words>4010</Words>
  <Application>Microsoft Macintosh PowerPoint</Application>
  <PresentationFormat>Prezentácia na obrazovke (4:3)</PresentationFormat>
  <Paragraphs>437</Paragraphs>
  <Slides>51</Slides>
  <Notes>6</Notes>
  <HiddenSlides>0</HiddenSlides>
  <MMClips>0</MMClips>
  <ScaleCrop>false</ScaleCrop>
  <HeadingPairs>
    <vt:vector size="6" baseType="variant">
      <vt:variant>
        <vt:lpstr>Použité písma</vt:lpstr>
      </vt:variant>
      <vt:variant>
        <vt:i4>9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51</vt:i4>
      </vt:variant>
    </vt:vector>
  </HeadingPairs>
  <TitlesOfParts>
    <vt:vector size="61" baseType="lpstr">
      <vt:lpstr>ＭＳ Ｐゴシック</vt:lpstr>
      <vt:lpstr>Arial</vt:lpstr>
      <vt:lpstr>Courier New</vt:lpstr>
      <vt:lpstr>Helvetica</vt:lpstr>
      <vt:lpstr>Inter</vt:lpstr>
      <vt:lpstr>Monotype Sorts</vt:lpstr>
      <vt:lpstr>Times New Roman</vt:lpstr>
      <vt:lpstr>Verdana</vt:lpstr>
      <vt:lpstr>Webdings</vt:lpstr>
      <vt:lpstr>os-8</vt:lpstr>
      <vt:lpstr>Chapter 16:  Virtual Machines</vt:lpstr>
      <vt:lpstr>Chapter 16: Virtual Machines</vt:lpstr>
      <vt:lpstr>Overview</vt:lpstr>
      <vt:lpstr>System Models</vt:lpstr>
      <vt:lpstr>Implementation of VMMs</vt:lpstr>
      <vt:lpstr>Implementation of VMMs (cont.)</vt:lpstr>
      <vt:lpstr>History</vt:lpstr>
      <vt:lpstr>Benefits and Features</vt:lpstr>
      <vt:lpstr>Benefits and Features (cont.)</vt:lpstr>
      <vt:lpstr>Building Blocks</vt:lpstr>
      <vt:lpstr>Building Block – Trap and Emulate</vt:lpstr>
      <vt:lpstr>Trap-and-Emulate (cont.)</vt:lpstr>
      <vt:lpstr>Trap-and-Emulate Virtualization Implementation</vt:lpstr>
      <vt:lpstr>Building Block – Binary Translation</vt:lpstr>
      <vt:lpstr>Binary Translation (cont.)</vt:lpstr>
      <vt:lpstr>Binary Translation (cont.)</vt:lpstr>
      <vt:lpstr>Binary Translation Virtualization Implementation</vt:lpstr>
      <vt:lpstr>Building Blocks – Hardware Assistance</vt:lpstr>
      <vt:lpstr>Nové CPU módy – root a non-root mode</vt:lpstr>
      <vt:lpstr>Nested Page Tables</vt:lpstr>
      <vt:lpstr>Nested Page Tables</vt:lpstr>
      <vt:lpstr>Types of Virtual Machines and Implementations</vt:lpstr>
      <vt:lpstr>Types of VMs – Type 0 Hypervisor</vt:lpstr>
      <vt:lpstr>Type 0 Hypervisor</vt:lpstr>
      <vt:lpstr>Types of VMs – Type 1 Hypervisor</vt:lpstr>
      <vt:lpstr>Types of VMs – Type 1 Hypervisor (cont.)</vt:lpstr>
      <vt:lpstr>Types of VMs – Type 2 Hypervisor</vt:lpstr>
      <vt:lpstr>Types of VMs – Paravirtualization (obsolete)</vt:lpstr>
      <vt:lpstr>Xen I/O via Shared Circular Buffer</vt:lpstr>
      <vt:lpstr>Types of VMs – Paravirtualization (cont.)</vt:lpstr>
      <vt:lpstr>Types of VMs – Programming Environment Virtualization</vt:lpstr>
      <vt:lpstr>Types of VMs – Emulation</vt:lpstr>
      <vt:lpstr>Types of VMs – Application Containment</vt:lpstr>
      <vt:lpstr>Solaris 10 with Two Zones</vt:lpstr>
      <vt:lpstr>Virtualization and Operating-System Components</vt:lpstr>
      <vt:lpstr>OS Component – CPU Scheduling</vt:lpstr>
      <vt:lpstr>OS Component – CPU Scheduling (cont.)</vt:lpstr>
      <vt:lpstr>OS Component – Memory Management</vt:lpstr>
      <vt:lpstr>OS Component – I/O</vt:lpstr>
      <vt:lpstr>OS Component – Storage Management</vt:lpstr>
      <vt:lpstr>OS Component – Live Migration</vt:lpstr>
      <vt:lpstr>Live Migration of Guest Between Servers</vt:lpstr>
      <vt:lpstr>Examples - VMware</vt:lpstr>
      <vt:lpstr>VMware Workstation Architecture</vt:lpstr>
      <vt:lpstr>Examples – Java Virtual Machine</vt:lpstr>
      <vt:lpstr>The Java Virtual Machine</vt:lpstr>
      <vt:lpstr>Úvod do Dockeru</vt:lpstr>
      <vt:lpstr>Architektúra Dockeru</vt:lpstr>
      <vt:lpstr>Docker Images a Docker Containers</vt:lpstr>
      <vt:lpstr>Dockerfile a Docker Compose</vt:lpstr>
      <vt:lpstr>End of Chapter 16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Marilyn Turnamian</dc:creator>
  <cp:lastModifiedBy>Baráth, Július</cp:lastModifiedBy>
  <cp:revision>195</cp:revision>
  <cp:lastPrinted>2001-07-05T20:31:09Z</cp:lastPrinted>
  <dcterms:created xsi:type="dcterms:W3CDTF">1999-08-24T14:34:23Z</dcterms:created>
  <dcterms:modified xsi:type="dcterms:W3CDTF">2026-04-08T12:13:33Z</dcterms:modified>
</cp:coreProperties>
</file>