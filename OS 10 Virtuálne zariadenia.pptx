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4" r:id="rId1"/>
  </p:sldMasterIdLst>
  <p:notesMasterIdLst>
    <p:notesMasterId r:id="rId52"/>
  </p:notesMasterIdLst>
  <p:handoutMasterIdLst>
    <p:handoutMasterId r:id="rId53"/>
  </p:handoutMasterIdLst>
  <p:sldIdLst>
    <p:sldId id="321" r:id="rId2"/>
    <p:sldId id="270" r:id="rId3"/>
    <p:sldId id="342" r:id="rId4"/>
    <p:sldId id="323" r:id="rId5"/>
    <p:sldId id="343" r:id="rId6"/>
    <p:sldId id="344" r:id="rId7"/>
    <p:sldId id="346" r:id="rId8"/>
    <p:sldId id="347" r:id="rId9"/>
    <p:sldId id="348" r:id="rId10"/>
    <p:sldId id="349" r:id="rId11"/>
    <p:sldId id="350" r:id="rId12"/>
    <p:sldId id="345" r:id="rId13"/>
    <p:sldId id="324" r:id="rId14"/>
    <p:sldId id="351" r:id="rId15"/>
    <p:sldId id="352" r:id="rId16"/>
    <p:sldId id="353" r:id="rId17"/>
    <p:sldId id="325" r:id="rId18"/>
    <p:sldId id="354" r:id="rId19"/>
    <p:sldId id="355" r:id="rId20"/>
    <p:sldId id="326" r:id="rId21"/>
    <p:sldId id="356" r:id="rId22"/>
    <p:sldId id="357" r:id="rId23"/>
    <p:sldId id="327" r:id="rId24"/>
    <p:sldId id="358" r:id="rId25"/>
    <p:sldId id="364" r:id="rId26"/>
    <p:sldId id="359" r:id="rId27"/>
    <p:sldId id="360" r:id="rId28"/>
    <p:sldId id="328" r:id="rId29"/>
    <p:sldId id="361" r:id="rId30"/>
    <p:sldId id="365" r:id="rId31"/>
    <p:sldId id="362" r:id="rId32"/>
    <p:sldId id="363" r:id="rId33"/>
    <p:sldId id="329" r:id="rId34"/>
    <p:sldId id="366" r:id="rId35"/>
    <p:sldId id="367" r:id="rId36"/>
    <p:sldId id="374" r:id="rId37"/>
    <p:sldId id="368" r:id="rId38"/>
    <p:sldId id="369" r:id="rId39"/>
    <p:sldId id="370" r:id="rId40"/>
    <p:sldId id="371" r:id="rId41"/>
    <p:sldId id="330" r:id="rId42"/>
    <p:sldId id="372" r:id="rId43"/>
    <p:sldId id="331" r:id="rId44"/>
    <p:sldId id="373" r:id="rId45"/>
    <p:sldId id="332" r:id="rId46"/>
    <p:sldId id="375" r:id="rId47"/>
    <p:sldId id="376" r:id="rId48"/>
    <p:sldId id="377" r:id="rId49"/>
    <p:sldId id="378" r:id="rId50"/>
    <p:sldId id="322" r:id="rId51"/>
  </p:sldIdLst>
  <p:sldSz cx="9144000" cy="6858000" type="screen4x3"/>
  <p:notesSz cx="7315200" cy="9601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13">
          <p15:clr>
            <a:srgbClr val="A4A3A4"/>
          </p15:clr>
        </p15:guide>
        <p15:guide id="2" pos="529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úlius Baráth" initials="JB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4726"/>
  </p:normalViewPr>
  <p:slideViewPr>
    <p:cSldViewPr snapToGrid="0">
      <p:cViewPr varScale="1">
        <p:scale>
          <a:sx n="165" d="100"/>
          <a:sy n="165" d="100"/>
        </p:scale>
        <p:origin x="320" y="200"/>
      </p:cViewPr>
      <p:guideLst>
        <p:guide orient="horz" pos="813"/>
        <p:guide pos="5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áth, Július" userId="aebde9b9-dccc-4475-a9ac-c05e78323d7a" providerId="ADAL" clId="{9191FEAF-F4D4-A645-846E-876D0BEDC323}"/>
    <pc:docChg chg="undo custSel addSld delSld modSld">
      <pc:chgData name="Baráth, Július" userId="aebde9b9-dccc-4475-a9ac-c05e78323d7a" providerId="ADAL" clId="{9191FEAF-F4D4-A645-846E-876D0BEDC323}" dt="2024-04-10T08:34:12.232" v="533" actId="14"/>
      <pc:docMkLst>
        <pc:docMk/>
      </pc:docMkLst>
      <pc:sldChg chg="modSp mod">
        <pc:chgData name="Baráth, Július" userId="aebde9b9-dccc-4475-a9ac-c05e78323d7a" providerId="ADAL" clId="{9191FEAF-F4D4-A645-846E-876D0BEDC323}" dt="2024-04-10T08:14:30.297" v="127" actId="20577"/>
        <pc:sldMkLst>
          <pc:docMk/>
          <pc:sldMk cId="0" sldId="344"/>
        </pc:sldMkLst>
      </pc:sldChg>
      <pc:sldChg chg="addSp modSp mod">
        <pc:chgData name="Baráth, Július" userId="aebde9b9-dccc-4475-a9ac-c05e78323d7a" providerId="ADAL" clId="{9191FEAF-F4D4-A645-846E-876D0BEDC323}" dt="2024-04-10T07:06:59.212" v="1" actId="1076"/>
        <pc:sldMkLst>
          <pc:docMk/>
          <pc:sldMk cId="0" sldId="350"/>
        </pc:sldMkLst>
      </pc:sldChg>
      <pc:sldChg chg="modSp mod">
        <pc:chgData name="Baráth, Július" userId="aebde9b9-dccc-4475-a9ac-c05e78323d7a" providerId="ADAL" clId="{9191FEAF-F4D4-A645-846E-876D0BEDC323}" dt="2024-04-10T07:09:01.193" v="2" actId="115"/>
        <pc:sldMkLst>
          <pc:docMk/>
          <pc:sldMk cId="0" sldId="357"/>
        </pc:sldMkLst>
      </pc:sldChg>
      <pc:sldChg chg="modSp mod">
        <pc:chgData name="Baráth, Július" userId="aebde9b9-dccc-4475-a9ac-c05e78323d7a" providerId="ADAL" clId="{9191FEAF-F4D4-A645-846E-876D0BEDC323}" dt="2024-04-10T08:17:17.780" v="187" actId="20577"/>
        <pc:sldMkLst>
          <pc:docMk/>
          <pc:sldMk cId="0" sldId="358"/>
        </pc:sldMkLst>
      </pc:sldChg>
      <pc:sldChg chg="modSp mod">
        <pc:chgData name="Baráth, Július" userId="aebde9b9-dccc-4475-a9ac-c05e78323d7a" providerId="ADAL" clId="{9191FEAF-F4D4-A645-846E-876D0BEDC323}" dt="2024-04-10T08:34:12.232" v="533" actId="14"/>
        <pc:sldMkLst>
          <pc:docMk/>
          <pc:sldMk cId="0" sldId="359"/>
        </pc:sldMkLst>
      </pc:sldChg>
      <pc:sldChg chg="modSp mod">
        <pc:chgData name="Baráth, Július" userId="aebde9b9-dccc-4475-a9ac-c05e78323d7a" providerId="ADAL" clId="{9191FEAF-F4D4-A645-846E-876D0BEDC323}" dt="2024-04-10T07:10:51.485" v="13" actId="20577"/>
        <pc:sldMkLst>
          <pc:docMk/>
          <pc:sldMk cId="0" sldId="360"/>
        </pc:sldMkLst>
      </pc:sldChg>
      <pc:sldChg chg="modSp mod">
        <pc:chgData name="Baráth, Július" userId="aebde9b9-dccc-4475-a9ac-c05e78323d7a" providerId="ADAL" clId="{9191FEAF-F4D4-A645-846E-876D0BEDC323}" dt="2024-04-10T08:29:08.659" v="350" actId="6549"/>
        <pc:sldMkLst>
          <pc:docMk/>
          <pc:sldMk cId="0" sldId="364"/>
        </pc:sldMkLst>
      </pc:sldChg>
      <pc:sldChg chg="addSp modSp mod">
        <pc:chgData name="Baráth, Július" userId="aebde9b9-dccc-4475-a9ac-c05e78323d7a" providerId="ADAL" clId="{9191FEAF-F4D4-A645-846E-876D0BEDC323}" dt="2024-04-10T07:13:56.626" v="17" actId="1076"/>
        <pc:sldMkLst>
          <pc:docMk/>
          <pc:sldMk cId="0" sldId="374"/>
        </pc:sldMkLst>
      </pc:sldChg>
      <pc:sldChg chg="addSp delSp modSp new mod chgLayout">
        <pc:chgData name="Baráth, Július" userId="aebde9b9-dccc-4475-a9ac-c05e78323d7a" providerId="ADAL" clId="{9191FEAF-F4D4-A645-846E-876D0BEDC323}" dt="2024-04-10T07:29:09.137" v="57" actId="1076"/>
        <pc:sldMkLst>
          <pc:docMk/>
          <pc:sldMk cId="3466239317" sldId="375"/>
        </pc:sldMkLst>
      </pc:sldChg>
      <pc:sldChg chg="modSp new del mod">
        <pc:chgData name="Baráth, Július" userId="aebde9b9-dccc-4475-a9ac-c05e78323d7a" providerId="ADAL" clId="{9191FEAF-F4D4-A645-846E-876D0BEDC323}" dt="2024-04-10T07:21:08.448" v="38" actId="2696"/>
        <pc:sldMkLst>
          <pc:docMk/>
          <pc:sldMk cId="98744663" sldId="376"/>
        </pc:sldMkLst>
      </pc:sldChg>
      <pc:sldChg chg="addSp modSp new mod">
        <pc:chgData name="Baráth, Július" userId="aebde9b9-dccc-4475-a9ac-c05e78323d7a" providerId="ADAL" clId="{9191FEAF-F4D4-A645-846E-876D0BEDC323}" dt="2024-04-10T07:43:27.142" v="79"/>
        <pc:sldMkLst>
          <pc:docMk/>
          <pc:sldMk cId="3320790268" sldId="376"/>
        </pc:sldMkLst>
      </pc:sldChg>
      <pc:sldChg chg="addSp modSp new mod">
        <pc:chgData name="Baráth, Július" userId="aebde9b9-dccc-4475-a9ac-c05e78323d7a" providerId="ADAL" clId="{9191FEAF-F4D4-A645-846E-876D0BEDC323}" dt="2024-04-10T07:43:55.014" v="85" actId="1076"/>
        <pc:sldMkLst>
          <pc:docMk/>
          <pc:sldMk cId="464445010" sldId="377"/>
        </pc:sldMkLst>
      </pc:sldChg>
      <pc:sldChg chg="addSp modSp new mod">
        <pc:chgData name="Baráth, Július" userId="aebde9b9-dccc-4475-a9ac-c05e78323d7a" providerId="ADAL" clId="{9191FEAF-F4D4-A645-846E-876D0BEDC323}" dt="2024-04-10T07:46:10.972" v="98" actId="164"/>
        <pc:sldMkLst>
          <pc:docMk/>
          <pc:sldMk cId="1146992309" sldId="378"/>
        </pc:sldMkLst>
      </pc:sldChg>
    </pc:docChg>
  </pc:docChgLst>
  <pc:docChgLst>
    <pc:chgData name="Baráth, Július" userId="aebde9b9-dccc-4475-a9ac-c05e78323d7a" providerId="ADAL" clId="{9CE87323-0AF7-5449-97E2-5A02EF3AC1D4}"/>
    <pc:docChg chg="modSld">
      <pc:chgData name="Baráth, Július" userId="aebde9b9-dccc-4475-a9ac-c05e78323d7a" providerId="ADAL" clId="{9CE87323-0AF7-5449-97E2-5A02EF3AC1D4}" dt="2025-04-15T04:57:13.649" v="4" actId="20577"/>
      <pc:docMkLst>
        <pc:docMk/>
      </pc:docMkLst>
      <pc:sldChg chg="modSp mod">
        <pc:chgData name="Baráth, Július" userId="aebde9b9-dccc-4475-a9ac-c05e78323d7a" providerId="ADAL" clId="{9CE87323-0AF7-5449-97E2-5A02EF3AC1D4}" dt="2025-04-15T04:50:11.886" v="0" actId="108"/>
        <pc:sldMkLst>
          <pc:docMk/>
          <pc:sldMk cId="0" sldId="343"/>
        </pc:sldMkLst>
        <pc:spChg chg="mod">
          <ac:chgData name="Baráth, Július" userId="aebde9b9-dccc-4475-a9ac-c05e78323d7a" providerId="ADAL" clId="{9CE87323-0AF7-5449-97E2-5A02EF3AC1D4}" dt="2025-04-15T04:50:11.886" v="0" actId="108"/>
          <ac:spMkLst>
            <pc:docMk/>
            <pc:sldMk cId="0" sldId="343"/>
            <ac:spMk id="13315" creationId="{0A471A76-63AA-6EA7-0D1A-0FDFC7E57021}"/>
          </ac:spMkLst>
        </pc:spChg>
      </pc:sldChg>
      <pc:sldChg chg="modSp mod">
        <pc:chgData name="Baráth, Július" userId="aebde9b9-dccc-4475-a9ac-c05e78323d7a" providerId="ADAL" clId="{9CE87323-0AF7-5449-97E2-5A02EF3AC1D4}" dt="2025-04-15T04:57:13.649" v="4" actId="20577"/>
        <pc:sldMkLst>
          <pc:docMk/>
          <pc:sldMk cId="0" sldId="345"/>
        </pc:sldMkLst>
        <pc:spChg chg="mod">
          <ac:chgData name="Baráth, Július" userId="aebde9b9-dccc-4475-a9ac-c05e78323d7a" providerId="ADAL" clId="{9CE87323-0AF7-5449-97E2-5A02EF3AC1D4}" dt="2025-04-15T04:57:13.649" v="4" actId="20577"/>
          <ac:spMkLst>
            <pc:docMk/>
            <pc:sldMk cId="0" sldId="345"/>
            <ac:spMk id="18434" creationId="{39AB2FC3-095F-81F4-CD3D-538AB5310800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9-04-17T07:31:24.445" idx="1">
    <p:pos x="10" y="10"/>
    <p:text/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2">
            <a:extLst>
              <a:ext uri="{FF2B5EF4-FFF2-40B4-BE49-F238E27FC236}">
                <a16:creationId xmlns:a16="http://schemas.microsoft.com/office/drawing/2014/main" id="{3D9D7AFE-4A05-AD0B-578D-19B88EEEEEF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2067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571" tIns="45786" rIns="91571" bIns="45786" numCol="1" anchor="ctr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Helvetica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1139" name="Rectangle 3">
            <a:extLst>
              <a:ext uri="{FF2B5EF4-FFF2-40B4-BE49-F238E27FC236}">
                <a16:creationId xmlns:a16="http://schemas.microsoft.com/office/drawing/2014/main" id="{9FE1F5AA-9711-D25A-9528-BFE3BBBDC1F6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22738" y="0"/>
            <a:ext cx="320516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571" tIns="45786" rIns="91571" bIns="45786" numCol="1" anchor="ctr" anchorCtr="0" compatLnSpc="1">
            <a:prstTxWarp prst="textNoShape">
              <a:avLst/>
            </a:prstTxWarp>
          </a:bodyPr>
          <a:lstStyle>
            <a:lvl1pPr algn="r" defTabSz="915988">
              <a:defRPr sz="1200">
                <a:latin typeface="Helvetica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1140" name="Rectangle 4">
            <a:extLst>
              <a:ext uri="{FF2B5EF4-FFF2-40B4-BE49-F238E27FC236}">
                <a16:creationId xmlns:a16="http://schemas.microsoft.com/office/drawing/2014/main" id="{46173E1A-869C-CD9F-0300-1E191B6852EA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56700"/>
            <a:ext cx="32067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571" tIns="45786" rIns="91571" bIns="45786" numCol="1" anchor="b" anchorCtr="0" compatLnSpc="1">
            <a:prstTxWarp prst="textNoShape">
              <a:avLst/>
            </a:prstTxWarp>
          </a:bodyPr>
          <a:lstStyle>
            <a:lvl1pPr defTabSz="915988">
              <a:defRPr sz="1200">
                <a:latin typeface="Helvetica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1141" name="Rectangle 5">
            <a:extLst>
              <a:ext uri="{FF2B5EF4-FFF2-40B4-BE49-F238E27FC236}">
                <a16:creationId xmlns:a16="http://schemas.microsoft.com/office/drawing/2014/main" id="{186BAACC-DC9C-E9E7-71AC-A85887D7EE1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22738" y="9156700"/>
            <a:ext cx="3205162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571" tIns="45786" rIns="91571" bIns="45786" numCol="1" anchor="b" anchorCtr="0" compatLnSpc="1">
            <a:prstTxWarp prst="textNoShape">
              <a:avLst/>
            </a:prstTxWarp>
          </a:bodyPr>
          <a:lstStyle>
            <a:lvl1pPr algn="r" defTabSz="915988">
              <a:defRPr sz="1200" smtClean="0">
                <a:latin typeface="Helvetica" pitchFamily="2" charset="0"/>
              </a:defRPr>
            </a:lvl1pPr>
          </a:lstStyle>
          <a:p>
            <a:pPr>
              <a:defRPr/>
            </a:pPr>
            <a:fld id="{299896FA-C033-664F-8E8E-773C661B94DE}" type="slidenum">
              <a:rPr lang="en-US" altLang="sk-SK"/>
              <a:pPr>
                <a:defRPr/>
              </a:pPr>
              <a:t>‹#›</a:t>
            </a:fld>
            <a:endParaRPr lang="en-US" altLang="sk-SK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2">
            <a:extLst>
              <a:ext uri="{FF2B5EF4-FFF2-40B4-BE49-F238E27FC236}">
                <a16:creationId xmlns:a16="http://schemas.microsoft.com/office/drawing/2014/main" id="{D071DD91-FCF3-864B-1E77-9CC1B44BE0C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865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6654" tIns="48326" rIns="96654" bIns="48326" numCol="1" anchor="ctr" anchorCtr="0" compatLnSpc="1">
            <a:prstTxWarp prst="textNoShape">
              <a:avLst/>
            </a:prstTxWarp>
          </a:bodyPr>
          <a:lstStyle>
            <a:lvl1pPr defTabSz="966788">
              <a:defRPr sz="1400">
                <a:latin typeface="Helvetica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2947" name="Rectangle 3">
            <a:extLst>
              <a:ext uri="{FF2B5EF4-FFF2-40B4-BE49-F238E27FC236}">
                <a16:creationId xmlns:a16="http://schemas.microsoft.com/office/drawing/2014/main" id="{E579126B-3EBD-5A8A-C9C6-11A4D45C466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146550" y="0"/>
            <a:ext cx="316865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6654" tIns="48326" rIns="96654" bIns="48326" numCol="1" anchor="ctr" anchorCtr="0" compatLnSpc="1">
            <a:prstTxWarp prst="textNoShape">
              <a:avLst/>
            </a:prstTxWarp>
          </a:bodyPr>
          <a:lstStyle>
            <a:lvl1pPr algn="r" defTabSz="966788">
              <a:defRPr sz="1400">
                <a:latin typeface="Helvetica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84C358A-77A9-5955-F0DD-D94DF6C1CE6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2949" name="Rectangle 5">
            <a:extLst>
              <a:ext uri="{FF2B5EF4-FFF2-40B4-BE49-F238E27FC236}">
                <a16:creationId xmlns:a16="http://schemas.microsoft.com/office/drawing/2014/main" id="{99819AA5-CF41-A066-CD7A-C903448E43A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6654" tIns="48326" rIns="96654" bIns="48326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2950" name="Rectangle 6">
            <a:extLst>
              <a:ext uri="{FF2B5EF4-FFF2-40B4-BE49-F238E27FC236}">
                <a16:creationId xmlns:a16="http://schemas.microsoft.com/office/drawing/2014/main" id="{6171A8E7-B9A6-2815-C479-4E1F376FD2DC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6865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6654" tIns="48326" rIns="96654" bIns="48326" numCol="1" anchor="b" anchorCtr="0" compatLnSpc="1">
            <a:prstTxWarp prst="textNoShape">
              <a:avLst/>
            </a:prstTxWarp>
          </a:bodyPr>
          <a:lstStyle>
            <a:lvl1pPr defTabSz="966788">
              <a:defRPr sz="1400">
                <a:latin typeface="Helvetica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2951" name="Rectangle 7">
            <a:extLst>
              <a:ext uri="{FF2B5EF4-FFF2-40B4-BE49-F238E27FC236}">
                <a16:creationId xmlns:a16="http://schemas.microsoft.com/office/drawing/2014/main" id="{CC97FC2A-8371-22B8-2842-9B3DC48422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6550" y="9121775"/>
            <a:ext cx="3168650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6654" tIns="48326" rIns="96654" bIns="48326" numCol="1" anchor="b" anchorCtr="0" compatLnSpc="1">
            <a:prstTxWarp prst="textNoShape">
              <a:avLst/>
            </a:prstTxWarp>
          </a:bodyPr>
          <a:lstStyle>
            <a:lvl1pPr algn="r" defTabSz="966788">
              <a:defRPr sz="1400" smtClean="0">
                <a:latin typeface="Helvetica" pitchFamily="2" charset="0"/>
              </a:defRPr>
            </a:lvl1pPr>
          </a:lstStyle>
          <a:p>
            <a:pPr>
              <a:defRPr/>
            </a:pPr>
            <a:fld id="{84362C00-7AF2-0743-B57A-060F524756FF}" type="slidenum">
              <a:rPr lang="en-US" altLang="sk-SK"/>
              <a:pPr>
                <a:defRPr/>
              </a:pPr>
              <a:t>‹#›</a:t>
            </a:fld>
            <a:endParaRPr lang="en-US" altLang="sk-SK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charset="0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5" name="Rectangle 7">
            <a:extLst>
              <a:ext uri="{FF2B5EF4-FFF2-40B4-BE49-F238E27FC236}">
                <a16:creationId xmlns:a16="http://schemas.microsoft.com/office/drawing/2014/main" id="{7C9916B3-1E71-C5D7-0A70-93A83BAE6AA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974194B1-C901-3C42-A00D-306FA855CF8B}" type="slidenum">
              <a:rPr lang="en-US" altLang="sk-SK">
                <a:latin typeface="Helvetica" pitchFamily="2" charset="0"/>
              </a:rPr>
              <a:pPr/>
              <a:t>1</a:t>
            </a:fld>
            <a:endParaRPr lang="en-US" altLang="sk-SK">
              <a:latin typeface="Helvetica" pitchFamily="2" charset="0"/>
            </a:endParaRPr>
          </a:p>
        </p:txBody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B746EEEF-8080-D5F7-E377-64A625EF565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3A561AE-3363-4FC1-3DF0-09C5089127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sk-SK" altLang="sk-SK" dirty="0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7">
            <a:extLst>
              <a:ext uri="{FF2B5EF4-FFF2-40B4-BE49-F238E27FC236}">
                <a16:creationId xmlns:a16="http://schemas.microsoft.com/office/drawing/2014/main" id="{9415F06A-59D2-E277-B0E2-BFD8B4341C9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3C3C77EC-DA83-2443-AC1F-A8182429B24E}" type="slidenum">
              <a:rPr lang="en-US" altLang="sk-SK">
                <a:latin typeface="Helvetica" pitchFamily="2" charset="0"/>
              </a:rPr>
              <a:pPr/>
              <a:t>2</a:t>
            </a:fld>
            <a:endParaRPr lang="en-US" altLang="sk-SK">
              <a:latin typeface="Helvetica" pitchFamily="2" charset="0"/>
            </a:endParaRPr>
          </a:p>
        </p:txBody>
      </p:sp>
      <p:sp>
        <p:nvSpPr>
          <p:cNvPr id="8194" name="Rectangle 2">
            <a:extLst>
              <a:ext uri="{FF2B5EF4-FFF2-40B4-BE49-F238E27FC236}">
                <a16:creationId xmlns:a16="http://schemas.microsoft.com/office/drawing/2014/main" id="{0E290BEF-A0F4-7C35-4591-CBC6F91B254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0D9CAA9D-0D88-85E3-432D-1EA073E445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sk-SK" altLang="sk-SK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1" name="Zástupný objekt pre obrázok snímky 1">
            <a:extLst>
              <a:ext uri="{FF2B5EF4-FFF2-40B4-BE49-F238E27FC236}">
                <a16:creationId xmlns:a16="http://schemas.microsoft.com/office/drawing/2014/main" id="{0483B0BA-DB97-25AF-34A0-2A94ECE4C5B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2" name="Zástupný objekt pre poznámky 2">
            <a:extLst>
              <a:ext uri="{FF2B5EF4-FFF2-40B4-BE49-F238E27FC236}">
                <a16:creationId xmlns:a16="http://schemas.microsoft.com/office/drawing/2014/main" id="{95E403BE-0D43-C38F-C276-DCEEB2B7307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sk-SK" altLang="sk-SK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  <p:sp>
        <p:nvSpPr>
          <p:cNvPr id="56323" name="Zástupný objekt pre číslo snímky 3">
            <a:extLst>
              <a:ext uri="{FF2B5EF4-FFF2-40B4-BE49-F238E27FC236}">
                <a16:creationId xmlns:a16="http://schemas.microsoft.com/office/drawing/2014/main" id="{80131667-2DDB-3538-883E-328280C6755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EBADAEB5-F3A8-1347-B81D-9E01B4C90BF3}" type="slidenum">
              <a:rPr lang="en-US" altLang="sk-SK">
                <a:latin typeface="Helvetica" pitchFamily="2" charset="0"/>
              </a:rPr>
              <a:pPr/>
              <a:t>6</a:t>
            </a:fld>
            <a:endParaRPr lang="en-US" altLang="sk-SK">
              <a:latin typeface="Helvetica" pitchFamily="2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3" name="Rectangle 7">
            <a:extLst>
              <a:ext uri="{FF2B5EF4-FFF2-40B4-BE49-F238E27FC236}">
                <a16:creationId xmlns:a16="http://schemas.microsoft.com/office/drawing/2014/main" id="{77915A42-A27F-9EFC-ACEB-6B37F5FB237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 defTabSz="966788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fld id="{1FC3A740-622D-4F45-A689-A7DA904A7424}" type="slidenum">
              <a:rPr lang="en-US" altLang="sk-SK">
                <a:latin typeface="Helvetica" pitchFamily="2" charset="0"/>
              </a:rPr>
              <a:pPr/>
              <a:t>50</a:t>
            </a:fld>
            <a:endParaRPr lang="en-US" altLang="sk-SK">
              <a:latin typeface="Helvetica" pitchFamily="2" charset="0"/>
            </a:endParaRPr>
          </a:p>
        </p:txBody>
      </p:sp>
      <p:sp>
        <p:nvSpPr>
          <p:cNvPr id="54274" name="Rectangle 2">
            <a:extLst>
              <a:ext uri="{FF2B5EF4-FFF2-40B4-BE49-F238E27FC236}">
                <a16:creationId xmlns:a16="http://schemas.microsoft.com/office/drawing/2014/main" id="{34F7D7BD-6EC0-2479-DD3C-FEE8A0C973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5" name="Rectangle 3">
            <a:extLst>
              <a:ext uri="{FF2B5EF4-FFF2-40B4-BE49-F238E27FC236}">
                <a16:creationId xmlns:a16="http://schemas.microsoft.com/office/drawing/2014/main" id="{45D3DFE5-A522-B5A0-5028-1D770BDA4D5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sk-SK" altLang="sk-SK">
              <a:latin typeface="Times New Roman" panose="02020603050405020304" pitchFamily="18" charset="0"/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3">
            <a:extLst>
              <a:ext uri="{FF2B5EF4-FFF2-40B4-BE49-F238E27FC236}">
                <a16:creationId xmlns:a16="http://schemas.microsoft.com/office/drawing/2014/main" id="{5CF4F8FA-92FF-822A-3BF9-A5806C5C824B}"/>
              </a:ext>
            </a:extLst>
          </p:cNvPr>
          <p:cNvGrpSpPr>
            <a:grpSpLocks/>
          </p:cNvGrpSpPr>
          <p:nvPr/>
        </p:nvGrpSpPr>
        <p:grpSpPr bwMode="auto">
          <a:xfrm>
            <a:off x="198438" y="2960688"/>
            <a:ext cx="8610600" cy="201612"/>
            <a:chOff x="125" y="1865"/>
            <a:chExt cx="5424" cy="127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85F5887B-0F4D-8920-E40C-FBD1BF7464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" y="1865"/>
              <a:ext cx="1808" cy="127"/>
            </a:xfrm>
            <a:prstGeom prst="rect">
              <a:avLst/>
            </a:prstGeom>
            <a:solidFill>
              <a:srgbClr val="336699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9pPr>
            </a:lstStyle>
            <a:p>
              <a:pPr>
                <a:defRPr/>
              </a:pPr>
              <a:endParaRPr lang="sk-SK" altLang="sk-SK" sz="1800"/>
            </a:p>
          </p:txBody>
        </p:sp>
        <p:sp>
          <p:nvSpPr>
            <p:cNvPr id="4" name="Rectangle 5">
              <a:extLst>
                <a:ext uri="{FF2B5EF4-FFF2-40B4-BE49-F238E27FC236}">
                  <a16:creationId xmlns:a16="http://schemas.microsoft.com/office/drawing/2014/main" id="{55693BBF-B48D-527D-17CF-D2FE440E77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3" y="1865"/>
              <a:ext cx="1808" cy="127"/>
            </a:xfrm>
            <a:prstGeom prst="rect">
              <a:avLst/>
            </a:prstGeom>
            <a:solidFill>
              <a:srgbClr val="99CCFF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9pPr>
            </a:lstStyle>
            <a:p>
              <a:pPr>
                <a:defRPr/>
              </a:pPr>
              <a:endParaRPr lang="sk-SK" altLang="sk-SK" sz="1800"/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2BE00BCD-2CB7-FF27-5ACB-9ACF577672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1" y="1865"/>
              <a:ext cx="1808" cy="127"/>
            </a:xfrm>
            <a:prstGeom prst="rect">
              <a:avLst/>
            </a:prstGeom>
            <a:solidFill>
              <a:srgbClr val="336699"/>
            </a:solidFill>
            <a:ln>
              <a:noFill/>
            </a:ln>
          </p:spPr>
          <p:txBody>
            <a:bodyPr wrap="none" anchor="ctr"/>
            <a:lstStyle>
              <a:lvl1pPr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Verdana" pitchFamily="34" charset="0"/>
                  <a:ea typeface="ＭＳ Ｐゴシック" pitchFamily="-84" charset="-128"/>
                </a:defRPr>
              </a:lvl9pPr>
            </a:lstStyle>
            <a:p>
              <a:pPr>
                <a:defRPr/>
              </a:pPr>
              <a:endParaRPr lang="sk-SK" altLang="sk-SK" sz="1800"/>
            </a:p>
          </p:txBody>
        </p:sp>
      </p:grpSp>
      <p:sp>
        <p:nvSpPr>
          <p:cNvPr id="6" name="Text Box 7">
            <a:extLst>
              <a:ext uri="{FF2B5EF4-FFF2-40B4-BE49-F238E27FC236}">
                <a16:creationId xmlns:a16="http://schemas.microsoft.com/office/drawing/2014/main" id="{A15B875A-6924-3205-8119-6D1C8E8951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9700" y="6588125"/>
            <a:ext cx="2713038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sk-SK" sz="1000" b="1">
                <a:solidFill>
                  <a:srgbClr val="336699"/>
                </a:solidFill>
                <a:latin typeface="Helvetica" pitchFamily="-84" charset="0"/>
              </a:rPr>
              <a:t>Silberschatz, Galvin and Gagne ©2013</a:t>
            </a:r>
          </a:p>
        </p:txBody>
      </p:sp>
      <p:sp>
        <p:nvSpPr>
          <p:cNvPr id="7" name="Text Box 8">
            <a:extLst>
              <a:ext uri="{FF2B5EF4-FFF2-40B4-BE49-F238E27FC236}">
                <a16:creationId xmlns:a16="http://schemas.microsoft.com/office/drawing/2014/main" id="{7FF6B7BF-3166-1AE2-2D33-F982701C07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988" y="6613525"/>
            <a:ext cx="263842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sk-SK" sz="1000" b="1">
                <a:solidFill>
                  <a:srgbClr val="336699"/>
                </a:solidFill>
                <a:latin typeface="Helvetica" pitchFamily="-84" charset="0"/>
              </a:rPr>
              <a:t>Operating System Concepts – 9</a:t>
            </a:r>
            <a:r>
              <a:rPr lang="en-US" altLang="sk-SK" sz="1000" b="1" baseline="30000">
                <a:solidFill>
                  <a:srgbClr val="336699"/>
                </a:solidFill>
                <a:latin typeface="Helvetica" pitchFamily="-84" charset="0"/>
              </a:rPr>
              <a:t>th</a:t>
            </a:r>
            <a:r>
              <a:rPr lang="en-US" altLang="sk-SK" sz="1000" b="1">
                <a:solidFill>
                  <a:srgbClr val="336699"/>
                </a:solidFill>
                <a:latin typeface="Helvetica" pitchFamily="-84" charset="0"/>
              </a:rPr>
              <a:t> Edition</a:t>
            </a:r>
          </a:p>
        </p:txBody>
      </p:sp>
      <p:pic>
        <p:nvPicPr>
          <p:cNvPr id="8" name="Picture 9" descr="dino_4">
            <a:extLst>
              <a:ext uri="{FF2B5EF4-FFF2-40B4-BE49-F238E27FC236}">
                <a16:creationId xmlns:a16="http://schemas.microsoft.com/office/drawing/2014/main" id="{326B1705-EF2E-4D94-4B0F-A000EA367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0738" y="4157663"/>
            <a:ext cx="2062162" cy="1593850"/>
          </a:xfrm>
          <a:prstGeom prst="rect">
            <a:avLst/>
          </a:prstGeom>
          <a:noFill/>
          <a:ln w="76200">
            <a:solidFill>
              <a:srgbClr val="33669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10">
            <a:extLst>
              <a:ext uri="{FF2B5EF4-FFF2-40B4-BE49-F238E27FC236}">
                <a16:creationId xmlns:a16="http://schemas.microsoft.com/office/drawing/2014/main" id="{2A7C7FC3-571A-53AB-A939-28CB99BC98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4213" y="4016375"/>
            <a:ext cx="2336800" cy="1878013"/>
          </a:xfrm>
          <a:prstGeom prst="rect">
            <a:avLst/>
          </a:prstGeom>
          <a:noFill/>
          <a:ln w="57150" cmpd="thinThick">
            <a:solidFill>
              <a:srgbClr val="66CCFF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>
              <a:defRPr/>
            </a:pPr>
            <a:endParaRPr lang="sk-SK" altLang="sk-SK" sz="1800"/>
          </a:p>
        </p:txBody>
      </p:sp>
      <p:sp>
        <p:nvSpPr>
          <p:cNvPr id="133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85800"/>
            <a:ext cx="7772400" cy="2127250"/>
          </a:xfrm>
        </p:spPr>
        <p:txBody>
          <a:bodyPr/>
          <a:lstStyle>
            <a:lvl1pPr>
              <a:defRPr sz="43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9103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7656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6330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6450" y="1233488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97450" y="1233488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74860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3338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8790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64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81261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12444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744930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91338" y="277813"/>
            <a:ext cx="2144712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7813"/>
            <a:ext cx="6281738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1893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no_3">
            <a:extLst>
              <a:ext uri="{FF2B5EF4-FFF2-40B4-BE49-F238E27FC236}">
                <a16:creationId xmlns:a16="http://schemas.microsoft.com/office/drawing/2014/main" id="{3AA2D7EE-5C70-1956-84D0-DCFE9A2C8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50" y="0"/>
            <a:ext cx="1195388" cy="908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">
            <a:extLst>
              <a:ext uri="{FF2B5EF4-FFF2-40B4-BE49-F238E27FC236}">
                <a16:creationId xmlns:a16="http://schemas.microsoft.com/office/drawing/2014/main" id="{49EDA8DA-1D57-A120-66CF-25F2E83ED4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7813"/>
            <a:ext cx="8229600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sk-SK"/>
              <a:t>Click to edit Master title style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68E73FF5-C3A7-DDBB-A7F1-92F1F7AE58D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06450" y="1233488"/>
            <a:ext cx="8229600" cy="453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sk-SK"/>
              <a:t>Click to edit Master text styles</a:t>
            </a:r>
          </a:p>
          <a:p>
            <a:pPr lvl="1"/>
            <a:r>
              <a:rPr lang="en-US" altLang="sk-SK"/>
              <a:t>Second level</a:t>
            </a:r>
          </a:p>
          <a:p>
            <a:pPr lvl="2"/>
            <a:r>
              <a:rPr lang="en-US" altLang="sk-SK"/>
              <a:t>Third level</a:t>
            </a:r>
          </a:p>
          <a:p>
            <a:pPr lvl="3"/>
            <a:r>
              <a:rPr lang="en-US" altLang="sk-SK"/>
              <a:t>Fourth level</a:t>
            </a:r>
          </a:p>
          <a:p>
            <a:pPr lvl="4"/>
            <a:r>
              <a:rPr lang="en-US" altLang="sk-SK"/>
              <a:t>Fifth level</a:t>
            </a:r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8573D98A-646E-0F06-E94A-3BEB183339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28600" cy="2286000"/>
          </a:xfrm>
          <a:prstGeom prst="rect">
            <a:avLst/>
          </a:prstGeom>
          <a:solidFill>
            <a:srgbClr val="336699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 algn="ctr" eaLnBrk="1" hangingPunct="1">
              <a:defRPr/>
            </a:pPr>
            <a:endParaRPr lang="sk-SK" altLang="sk-SK">
              <a:latin typeface="Times New Roman" pitchFamily="18" charset="0"/>
            </a:endParaRPr>
          </a:p>
        </p:txBody>
      </p:sp>
      <p:sp>
        <p:nvSpPr>
          <p:cNvPr id="1030" name="Line 6">
            <a:extLst>
              <a:ext uri="{FF2B5EF4-FFF2-40B4-BE49-F238E27FC236}">
                <a16:creationId xmlns:a16="http://schemas.microsoft.com/office/drawing/2014/main" id="{9374AEC8-4CE7-0F1D-337B-DEFA02E55760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" y="860425"/>
            <a:ext cx="8077200" cy="0"/>
          </a:xfrm>
          <a:prstGeom prst="line">
            <a:avLst/>
          </a:prstGeom>
          <a:noFill/>
          <a:ln w="19050">
            <a:solidFill>
              <a:srgbClr val="33669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sk-SK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56B64EA8-9796-9567-9C6D-234974FC63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86000"/>
            <a:ext cx="228600" cy="2286000"/>
          </a:xfrm>
          <a:prstGeom prst="rect">
            <a:avLst/>
          </a:prstGeom>
          <a:solidFill>
            <a:srgbClr val="99CCFF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 algn="ctr" eaLnBrk="1" hangingPunct="1">
              <a:defRPr/>
            </a:pPr>
            <a:endParaRPr lang="sk-SK" altLang="sk-SK">
              <a:latin typeface="Times New Roman" pitchFamily="18" charset="0"/>
            </a:endParaRPr>
          </a:p>
        </p:txBody>
      </p:sp>
      <p:sp>
        <p:nvSpPr>
          <p:cNvPr id="1032" name="Rectangle 8">
            <a:extLst>
              <a:ext uri="{FF2B5EF4-FFF2-40B4-BE49-F238E27FC236}">
                <a16:creationId xmlns:a16="http://schemas.microsoft.com/office/drawing/2014/main" id="{8983710E-2C3C-7646-6BB5-ABE39F2D95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0"/>
            <a:ext cx="228600" cy="2286000"/>
          </a:xfrm>
          <a:prstGeom prst="rect">
            <a:avLst/>
          </a:prstGeom>
          <a:solidFill>
            <a:srgbClr val="336699"/>
          </a:solidFill>
          <a:ln>
            <a:noFill/>
          </a:ln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 algn="ctr" eaLnBrk="1" hangingPunct="1">
              <a:defRPr/>
            </a:pPr>
            <a:endParaRPr lang="sk-SK" altLang="sk-SK">
              <a:latin typeface="Times New Roman" pitchFamily="18" charset="0"/>
            </a:endParaRPr>
          </a:p>
        </p:txBody>
      </p:sp>
      <p:sp>
        <p:nvSpPr>
          <p:cNvPr id="132105" name="Text Box 9">
            <a:extLst>
              <a:ext uri="{FF2B5EF4-FFF2-40B4-BE49-F238E27FC236}">
                <a16:creationId xmlns:a16="http://schemas.microsoft.com/office/drawing/2014/main" id="{1E90A501-F283-63A6-EC53-9B645A5DBD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22750" y="6613525"/>
            <a:ext cx="5143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3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sk-SK" sz="1000" b="1">
                <a:solidFill>
                  <a:srgbClr val="006699"/>
                </a:solidFill>
                <a:latin typeface="Helvetica" pitchFamily="2" charset="0"/>
              </a:rPr>
              <a:t>16.</a:t>
            </a:r>
            <a:fld id="{B5864DC8-59CF-0441-842D-B41CF75A3104}" type="slidenum">
              <a:rPr lang="en-US" altLang="sk-SK" sz="1000" b="1" smtClean="0">
                <a:solidFill>
                  <a:srgbClr val="006699"/>
                </a:solidFill>
                <a:latin typeface="Helvetica" pitchFamily="2" charset="0"/>
              </a:rPr>
              <a:pPr algn="ctr">
                <a:spcBef>
                  <a:spcPct val="50000"/>
                </a:spcBef>
                <a:defRPr/>
              </a:pPr>
              <a:t>‹#›</a:t>
            </a:fld>
            <a:endParaRPr lang="en-US" altLang="sk-SK" sz="1000" b="1">
              <a:solidFill>
                <a:srgbClr val="006699"/>
              </a:solidFill>
              <a:latin typeface="Helvetica" pitchFamily="2" charset="0"/>
            </a:endParaRPr>
          </a:p>
        </p:txBody>
      </p:sp>
      <p:sp>
        <p:nvSpPr>
          <p:cNvPr id="132106" name="Text Box 10">
            <a:extLst>
              <a:ext uri="{FF2B5EF4-FFF2-40B4-BE49-F238E27FC236}">
                <a16:creationId xmlns:a16="http://schemas.microsoft.com/office/drawing/2014/main" id="{5738B1C2-A9E5-398C-BAAB-5C383D14B9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9700" y="6588125"/>
            <a:ext cx="2713038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en-US" altLang="sk-SK" sz="1000" b="1">
                <a:solidFill>
                  <a:srgbClr val="006699"/>
                </a:solidFill>
                <a:latin typeface="Helvetica" pitchFamily="-84" charset="0"/>
              </a:rPr>
              <a:t>Silberschatz, Galvin and Gagne ©2013</a:t>
            </a:r>
          </a:p>
        </p:txBody>
      </p:sp>
      <p:sp>
        <p:nvSpPr>
          <p:cNvPr id="132107" name="Text Box 11">
            <a:extLst>
              <a:ext uri="{FF2B5EF4-FFF2-40B4-BE49-F238E27FC236}">
                <a16:creationId xmlns:a16="http://schemas.microsoft.com/office/drawing/2014/main" id="{67A3A469-9C0F-439D-451B-69412898AC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5738" y="6621463"/>
            <a:ext cx="2635250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Verdana" pitchFamily="34" charset="0"/>
                <a:ea typeface="ＭＳ Ｐゴシック" pitchFamily="-84" charset="-128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en-US" altLang="sk-SK" sz="1000" b="1">
                <a:solidFill>
                  <a:srgbClr val="006699"/>
                </a:solidFill>
                <a:latin typeface="Helvetica" pitchFamily="-84" charset="0"/>
              </a:rPr>
              <a:t>Operating System Concepts – 9</a:t>
            </a:r>
            <a:r>
              <a:rPr lang="en-US" altLang="sk-SK" sz="1000" b="1" baseline="30000">
                <a:solidFill>
                  <a:srgbClr val="006699"/>
                </a:solidFill>
                <a:latin typeface="Helvetica" pitchFamily="-84" charset="0"/>
              </a:rPr>
              <a:t>th</a:t>
            </a:r>
            <a:r>
              <a:rPr lang="en-US" altLang="sk-SK" sz="1000" b="1">
                <a:solidFill>
                  <a:srgbClr val="006699"/>
                </a:solidFill>
                <a:latin typeface="Helvetica" pitchFamily="-84" charset="0"/>
              </a:rPr>
              <a:t> Edition</a:t>
            </a:r>
          </a:p>
        </p:txBody>
      </p:sp>
      <p:pic>
        <p:nvPicPr>
          <p:cNvPr id="1036" name="Picture 12" descr="dino_6">
            <a:extLst>
              <a:ext uri="{FF2B5EF4-FFF2-40B4-BE49-F238E27FC236}">
                <a16:creationId xmlns:a16="http://schemas.microsoft.com/office/drawing/2014/main" id="{936AA44D-DAF3-C334-6BAB-D71A71716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988" y="5849938"/>
            <a:ext cx="1284287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09" r:id="rId2"/>
    <p:sldLayoutId id="2147483810" r:id="rId3"/>
    <p:sldLayoutId id="2147483811" r:id="rId4"/>
    <p:sldLayoutId id="2147483812" r:id="rId5"/>
    <p:sldLayoutId id="2147483813" r:id="rId6"/>
    <p:sldLayoutId id="2147483814" r:id="rId7"/>
    <p:sldLayoutId id="2147483815" r:id="rId8"/>
    <p:sldLayoutId id="2147483816" r:id="rId9"/>
    <p:sldLayoutId id="2147483817" r:id="rId10"/>
    <p:sldLayoutId id="2147483818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+mj-lt"/>
          <a:ea typeface="ＭＳ Ｐゴシック" charset="-128"/>
          <a:cs typeface="ＭＳ Ｐゴシック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ＭＳ Ｐゴシック" charset="-128"/>
          <a:cs typeface="ＭＳ Ｐゴシック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ＭＳ Ｐゴシック" charset="-128"/>
          <a:cs typeface="ＭＳ Ｐゴシック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ＭＳ Ｐゴシック" charset="-128"/>
          <a:cs typeface="ＭＳ Ｐゴシック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  <a:ea typeface="ＭＳ Ｐゴシック" charset="-128"/>
          <a:cs typeface="ＭＳ Ｐゴシック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 b="1">
          <a:solidFill>
            <a:srgbClr val="006699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35000"/>
        </a:spcBef>
        <a:spcAft>
          <a:spcPct val="0"/>
        </a:spcAft>
        <a:buClr>
          <a:srgbClr val="993300"/>
        </a:buClr>
        <a:buSzPct val="90000"/>
        <a:buFont typeface="Monotype Sorts" pitchFamily="2" charset="2"/>
        <a:buChar char="n"/>
        <a:defRPr kumimoji="1">
          <a:solidFill>
            <a:schemeClr val="tx1"/>
          </a:solidFill>
          <a:latin typeface="+mn-lt"/>
          <a:ea typeface="ＭＳ Ｐゴシック" charset="-128"/>
          <a:cs typeface="ＭＳ Ｐゴシック" charset="0"/>
        </a:defRPr>
      </a:lvl1pPr>
      <a:lvl2pPr marL="742950" indent="-285750" algn="l" rtl="0" eaLnBrk="0" fontAlgn="base" hangingPunct="0">
        <a:spcBef>
          <a:spcPct val="35000"/>
        </a:spcBef>
        <a:spcAft>
          <a:spcPct val="0"/>
        </a:spcAft>
        <a:buClr>
          <a:srgbClr val="CC6600"/>
        </a:buClr>
        <a:buSzPct val="80000"/>
        <a:buFont typeface="Monotype Sorts" pitchFamily="2" charset="2"/>
        <a:buChar char="l"/>
        <a:defRPr kumimoji="1">
          <a:solidFill>
            <a:schemeClr val="tx1"/>
          </a:solidFill>
          <a:latin typeface="+mn-lt"/>
          <a:ea typeface="ＭＳ Ｐゴシック" charset="-128"/>
        </a:defRPr>
      </a:lvl2pPr>
      <a:lvl3pPr marL="1085850" indent="-228600" algn="l" rtl="0" eaLnBrk="0" fontAlgn="base" hangingPunct="0">
        <a:spcBef>
          <a:spcPct val="35000"/>
        </a:spcBef>
        <a:spcAft>
          <a:spcPct val="0"/>
        </a:spcAft>
        <a:buClr>
          <a:srgbClr val="009900"/>
        </a:buClr>
        <a:buSzPct val="75000"/>
        <a:buFont typeface="Webdings" pitchFamily="2" charset="2"/>
        <a:buChar char="4"/>
        <a:defRPr kumimoji="1">
          <a:solidFill>
            <a:schemeClr val="tx1"/>
          </a:solidFill>
          <a:latin typeface="+mn-lt"/>
          <a:ea typeface="ＭＳ Ｐゴシック" charset="-128"/>
        </a:defRPr>
      </a:lvl3pPr>
      <a:lvl4pPr marL="1428750" indent="-228600" algn="l" rtl="0" eaLnBrk="0" fontAlgn="base" hangingPunct="0">
        <a:spcBef>
          <a:spcPct val="35000"/>
        </a:spcBef>
        <a:spcAft>
          <a:spcPct val="0"/>
        </a:spcAft>
        <a:buClr>
          <a:schemeClr val="hlink"/>
        </a:buClr>
        <a:buSzPct val="75000"/>
        <a:buChar char="–"/>
        <a:defRPr kumimoji="1">
          <a:solidFill>
            <a:schemeClr val="tx1"/>
          </a:solidFill>
          <a:latin typeface="+mn-lt"/>
          <a:ea typeface="ＭＳ Ｐゴシック" charset="-128"/>
        </a:defRPr>
      </a:lvl4pPr>
      <a:lvl5pPr marL="17716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5pPr>
      <a:lvl6pPr marL="22288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6pPr>
      <a:lvl7pPr marL="26860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7pPr>
      <a:lvl8pPr marL="31432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8pPr>
      <a:lvl9pPr marL="3600450" indent="-228600" algn="l" rtl="0" eaLnBrk="0" fontAlgn="base" hangingPunct="0">
        <a:spcBef>
          <a:spcPct val="35000"/>
        </a:spcBef>
        <a:spcAft>
          <a:spcPct val="0"/>
        </a:spcAft>
        <a:buClr>
          <a:srgbClr val="FF0066"/>
        </a:buClr>
        <a:buSzPct val="75000"/>
        <a:buChar char="»"/>
        <a:defRPr kumimoji="1">
          <a:solidFill>
            <a:schemeClr val="tx1"/>
          </a:solidFill>
          <a:latin typeface="+mn-lt"/>
          <a:ea typeface="ＭＳ Ｐゴシック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Rectangle 2">
            <a:extLst>
              <a:ext uri="{FF2B5EF4-FFF2-40B4-BE49-F238E27FC236}">
                <a16:creationId xmlns:a16="http://schemas.microsoft.com/office/drawing/2014/main" id="{3F1508AD-5D00-45CF-8636-097B42F0994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38125" y="1792288"/>
            <a:ext cx="8458200" cy="1143000"/>
          </a:xfrm>
        </p:spPr>
        <p:txBody>
          <a:bodyPr/>
          <a:lstStyle/>
          <a:p>
            <a:pPr eaLnBrk="1" hangingPunct="1"/>
            <a:r>
              <a:rPr lang="en-US" altLang="sk-SK">
                <a:ea typeface="ＭＳ Ｐゴシック" panose="020B0600070205080204" pitchFamily="34" charset="-128"/>
              </a:rPr>
              <a:t>Chapter 16:  Virtual Machines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Rectangle 2">
            <a:extLst>
              <a:ext uri="{FF2B5EF4-FFF2-40B4-BE49-F238E27FC236}">
                <a16:creationId xmlns:a16="http://schemas.microsoft.com/office/drawing/2014/main" id="{08308A2E-D39E-C43C-8F38-8A598C6C2F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01713" y="277813"/>
            <a:ext cx="7685087" cy="576262"/>
          </a:xfrm>
        </p:spPr>
        <p:txBody>
          <a:bodyPr/>
          <a:lstStyle/>
          <a:p>
            <a:pPr eaLnBrk="1" hangingPunct="1"/>
            <a:r>
              <a:rPr lang="en-US" altLang="sk-SK" sz="2800">
                <a:ea typeface="ＭＳ Ｐゴシック" panose="020B0600070205080204" pitchFamily="34" charset="-128"/>
              </a:rPr>
              <a:t>Chapter 16: Virtual Machines</a:t>
            </a:r>
          </a:p>
        </p:txBody>
      </p:sp>
      <p:sp>
        <p:nvSpPr>
          <p:cNvPr id="7170" name="Rectangle 3">
            <a:extLst>
              <a:ext uri="{FF2B5EF4-FFF2-40B4-BE49-F238E27FC236}">
                <a16:creationId xmlns:a16="http://schemas.microsoft.com/office/drawing/2014/main" id="{DB79D630-C63C-8A4A-0399-0C7217F2FB1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39788" y="1290638"/>
            <a:ext cx="7351712" cy="4483100"/>
          </a:xfrm>
        </p:spPr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Overview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History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Benefits and Features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Building Blocks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Types of Virtual Machines and Their Implementations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Virtualization and Operating-System Components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Examples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Title 1">
            <a:extLst>
              <a:ext uri="{FF2B5EF4-FFF2-40B4-BE49-F238E27FC236}">
                <a16:creationId xmlns:a16="http://schemas.microsoft.com/office/drawing/2014/main" id="{A027E010-3CF8-2080-829B-CAEEEB3690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Overview</a:t>
            </a:r>
          </a:p>
        </p:txBody>
      </p:sp>
      <p:sp>
        <p:nvSpPr>
          <p:cNvPr id="9218" name="Content Placeholder 2">
            <a:extLst>
              <a:ext uri="{FF2B5EF4-FFF2-40B4-BE49-F238E27FC236}">
                <a16:creationId xmlns:a16="http://schemas.microsoft.com/office/drawing/2014/main" id="{EED285DA-1876-63CE-DFD6-8B559DC815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Fundamental idea – abstract hardware of a single computer into several different execution environments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Similar to layered approach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But layer creates virtual system (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virtual machine</a:t>
            </a:r>
            <a:r>
              <a:rPr lang="en-US" altLang="sk-SK">
                <a:ea typeface="ＭＳ Ｐゴシック" panose="020B0600070205080204" pitchFamily="34" charset="-128"/>
              </a:rPr>
              <a:t>, or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VM</a:t>
            </a:r>
            <a:r>
              <a:rPr lang="en-US" altLang="sk-SK">
                <a:ea typeface="ＭＳ Ｐゴシック" panose="020B0600070205080204" pitchFamily="34" charset="-128"/>
              </a:rPr>
              <a:t>) on which operation systems or applications can run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Several components</a:t>
            </a:r>
          </a:p>
          <a:p>
            <a:pPr lvl="1"/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Host</a:t>
            </a:r>
            <a:r>
              <a:rPr lang="en-US" altLang="sk-SK">
                <a:ea typeface="ＭＳ Ｐゴシック" panose="020B0600070205080204" pitchFamily="34" charset="-128"/>
              </a:rPr>
              <a:t> – underlying hardware system</a:t>
            </a:r>
          </a:p>
          <a:p>
            <a:pPr lvl="1"/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Virtual machine manager </a:t>
            </a:r>
            <a:r>
              <a:rPr lang="en-US" altLang="sk-SK">
                <a:ea typeface="ＭＳ Ｐゴシック" panose="020B0600070205080204" pitchFamily="34" charset="-128"/>
              </a:rPr>
              <a:t>(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VMM</a:t>
            </a:r>
            <a:r>
              <a:rPr lang="en-US" altLang="sk-SK">
                <a:ea typeface="ＭＳ Ｐゴシック" panose="020B0600070205080204" pitchFamily="34" charset="-128"/>
              </a:rPr>
              <a:t>) or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hypervisor</a:t>
            </a:r>
            <a:r>
              <a:rPr lang="en-US" altLang="sk-SK">
                <a:ea typeface="ＭＳ Ｐゴシック" panose="020B0600070205080204" pitchFamily="34" charset="-128"/>
              </a:rPr>
              <a:t> – creates and runs virtual machines by providing interface that is </a:t>
            </a:r>
            <a:r>
              <a:rPr lang="en-US" altLang="sk-SK" b="1" i="1">
                <a:ea typeface="ＭＳ Ｐゴシック" panose="020B0600070205080204" pitchFamily="34" charset="-128"/>
              </a:rPr>
              <a:t>identical</a:t>
            </a:r>
            <a:r>
              <a:rPr lang="en-US" altLang="sk-SK">
                <a:ea typeface="ＭＳ Ｐゴシック" panose="020B0600070205080204" pitchFamily="34" charset="-128"/>
              </a:rPr>
              <a:t> to the host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(Except in the case of paravirtualization)</a:t>
            </a:r>
          </a:p>
          <a:p>
            <a:pPr lvl="1"/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Guest</a:t>
            </a:r>
            <a:r>
              <a:rPr lang="en-US" altLang="sk-SK">
                <a:ea typeface="ＭＳ Ｐゴシック" panose="020B0600070205080204" pitchFamily="34" charset="-128"/>
              </a:rPr>
              <a:t> – process provided with virtual copy of the host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Usually an operating system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Single physical machine can run multiple operating systems concurrently, each in its own virtual machine</a:t>
            </a:r>
          </a:p>
          <a:p>
            <a:pPr lvl="2">
              <a:buFont typeface="Webdings" pitchFamily="2" charset="2"/>
              <a:buNone/>
            </a:pPr>
            <a:r>
              <a:rPr lang="en-US" altLang="sk-SK">
                <a:ea typeface="ＭＳ Ｐゴシック" panose="020B0600070205080204" pitchFamily="34" charset="-128"/>
              </a:rPr>
              <a:t>	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1" name="Title 1">
            <a:extLst>
              <a:ext uri="{FF2B5EF4-FFF2-40B4-BE49-F238E27FC236}">
                <a16:creationId xmlns:a16="http://schemas.microsoft.com/office/drawing/2014/main" id="{CCD32D02-FCC2-7F4D-25EC-4F19F63D85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System Models</a:t>
            </a:r>
          </a:p>
        </p:txBody>
      </p:sp>
      <p:pic>
        <p:nvPicPr>
          <p:cNvPr id="10242" name="Content Placeholder 3" descr="16_01.pdf">
            <a:extLst>
              <a:ext uri="{FF2B5EF4-FFF2-40B4-BE49-F238E27FC236}">
                <a16:creationId xmlns:a16="http://schemas.microsoft.com/office/drawing/2014/main" id="{76C3272E-91E1-D1A4-7E2F-306259C3B75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19" b="9419"/>
          <a:stretch>
            <a:fillRect/>
          </a:stretch>
        </p:blipFill>
        <p:spPr>
          <a:xfrm>
            <a:off x="965200" y="1409700"/>
            <a:ext cx="7386638" cy="4065588"/>
          </a:xfrm>
        </p:spPr>
      </p:pic>
      <p:sp>
        <p:nvSpPr>
          <p:cNvPr id="10243" name="TextBox 4">
            <a:extLst>
              <a:ext uri="{FF2B5EF4-FFF2-40B4-BE49-F238E27FC236}">
                <a16:creationId xmlns:a16="http://schemas.microsoft.com/office/drawing/2014/main" id="{977CD94F-096F-1FAF-7267-3121B60752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89013" y="5848350"/>
            <a:ext cx="30114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2" charset="2"/>
              <a:buChar char="n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rgbClr val="CC6600"/>
              </a:buClr>
              <a:buSzPct val="80000"/>
              <a:buFont typeface="Monotype Sorts" pitchFamily="2" charset="2"/>
              <a:buChar char="l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009900"/>
              </a:buClr>
              <a:buSzPct val="75000"/>
              <a:buFont typeface="Webdings" pitchFamily="2" charset="2"/>
              <a:buChar char="4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sk-SK">
                <a:latin typeface="Verdana" panose="020B0604030504040204" pitchFamily="34" charset="0"/>
              </a:rPr>
              <a:t>(a) Nonvirtual machine</a:t>
            </a:r>
          </a:p>
        </p:txBody>
      </p:sp>
      <p:sp>
        <p:nvSpPr>
          <p:cNvPr id="10244" name="TextBox 5">
            <a:extLst>
              <a:ext uri="{FF2B5EF4-FFF2-40B4-BE49-F238E27FC236}">
                <a16:creationId xmlns:a16="http://schemas.microsoft.com/office/drawing/2014/main" id="{41B7E003-2A96-7326-8FA2-7932152901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3813" y="5848350"/>
            <a:ext cx="28130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2" charset="2"/>
              <a:buChar char="n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rgbClr val="CC6600"/>
              </a:buClr>
              <a:buSzPct val="80000"/>
              <a:buFont typeface="Monotype Sorts" pitchFamily="2" charset="2"/>
              <a:buChar char="l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009900"/>
              </a:buClr>
              <a:buSzPct val="75000"/>
              <a:buFont typeface="Webdings" pitchFamily="2" charset="2"/>
              <a:buChar char="4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sk-SK">
                <a:latin typeface="Verdana" panose="020B0604030504040204" pitchFamily="34" charset="0"/>
              </a:rPr>
              <a:t>(b) Virtual machine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5" name="Ovál 1">
            <a:extLst>
              <a:ext uri="{FF2B5EF4-FFF2-40B4-BE49-F238E27FC236}">
                <a16:creationId xmlns:a16="http://schemas.microsoft.com/office/drawing/2014/main" id="{9C1D8EC6-EBD7-0B54-3744-1FECC1D09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063" y="2336800"/>
            <a:ext cx="542925" cy="1604963"/>
          </a:xfrm>
          <a:prstGeom prst="ellipse">
            <a:avLst/>
          </a:prstGeom>
          <a:solidFill>
            <a:schemeClr val="accent1"/>
          </a:solidFill>
          <a:ln w="9525" algn="ctr">
            <a:solidFill>
              <a:schemeClr val="accent1"/>
            </a:solidFill>
            <a:round/>
            <a:headEnd/>
            <a:tailEnd/>
          </a:ln>
        </p:spPr>
        <p:txBody>
          <a:bodyPr wrap="none"/>
          <a:lstStyle>
            <a:lvl1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2" charset="2"/>
              <a:buChar char="n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rgbClr val="CC6600"/>
              </a:buClr>
              <a:buSzPct val="80000"/>
              <a:buFont typeface="Monotype Sorts" pitchFamily="2" charset="2"/>
              <a:buChar char="l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009900"/>
              </a:buClr>
              <a:buSzPct val="75000"/>
              <a:buFont typeface="Webdings" pitchFamily="2" charset="2"/>
              <a:buChar char="4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endParaRPr kumimoji="0" lang="sk-SK" altLang="sk-SK">
              <a:latin typeface="Verdana" panose="020B0604030504040204" pitchFamily="34" charset="0"/>
            </a:endParaRPr>
          </a:p>
        </p:txBody>
      </p:sp>
      <p:sp>
        <p:nvSpPr>
          <p:cNvPr id="11266" name="Title 1">
            <a:extLst>
              <a:ext uri="{FF2B5EF4-FFF2-40B4-BE49-F238E27FC236}">
                <a16:creationId xmlns:a16="http://schemas.microsoft.com/office/drawing/2014/main" id="{7B06A379-B64F-47DE-564C-698DDA899F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287338"/>
            <a:ext cx="8229600" cy="576262"/>
          </a:xfrm>
        </p:spPr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Implementation of VMMs</a:t>
            </a:r>
          </a:p>
        </p:txBody>
      </p:sp>
      <p:sp>
        <p:nvSpPr>
          <p:cNvPr id="13315" name="Content Placeholder 2">
            <a:extLst>
              <a:ext uri="{FF2B5EF4-FFF2-40B4-BE49-F238E27FC236}">
                <a16:creationId xmlns:a16="http://schemas.microsoft.com/office/drawing/2014/main" id="{0A471A76-63AA-6EA7-0D1A-0FDFC7E5702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457200" y="1336675"/>
            <a:ext cx="8229600" cy="4530725"/>
          </a:xfrm>
        </p:spPr>
        <p:txBody>
          <a:bodyPr>
            <a:normAutofit fontScale="92500" lnSpcReduction="10000"/>
          </a:bodyPr>
          <a:lstStyle/>
          <a:p>
            <a:pPr>
              <a:defRPr/>
            </a:pPr>
            <a:r>
              <a:rPr lang="en-US" altLang="sk-SK" dirty="0">
                <a:ea typeface="ＭＳ Ｐゴシック" panose="020B0600070205080204" pitchFamily="34" charset="-128"/>
              </a:rPr>
              <a:t>Vary greatly, with options including:</a:t>
            </a:r>
          </a:p>
          <a:p>
            <a:pPr lvl="1">
              <a:defRPr/>
            </a:pP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Type 0 hypervisors </a:t>
            </a:r>
            <a:r>
              <a:rPr lang="en-US" altLang="sk-SK" b="1" dirty="0">
                <a:ea typeface="ＭＳ Ｐゴシック" panose="020B0600070205080204" pitchFamily="34" charset="-128"/>
              </a:rPr>
              <a:t>- </a:t>
            </a:r>
            <a:r>
              <a:rPr lang="en-US" altLang="sk-SK" dirty="0">
                <a:ea typeface="ＭＳ Ｐゴシック" panose="020B0600070205080204" pitchFamily="34" charset="-128"/>
              </a:rPr>
              <a:t>Hardware-based solutions that provide support for virtual machine creation and management via firmware</a:t>
            </a:r>
          </a:p>
          <a:p>
            <a:pPr lvl="2">
              <a:defRPr/>
            </a:pPr>
            <a:r>
              <a:rPr lang="en-US" altLang="sk-SK" sz="1600" dirty="0">
                <a:ea typeface="ＭＳ Ｐゴシック" panose="020B0600070205080204" pitchFamily="34" charset="-128"/>
              </a:rPr>
              <a:t>IBM LPARs </a:t>
            </a:r>
            <a:r>
              <a:rPr lang="en-US" altLang="sk-SK" dirty="0">
                <a:ea typeface="ＭＳ Ｐゴシック" panose="020B0600070205080204" pitchFamily="34" charset="-128"/>
              </a:rPr>
              <a:t>and Oracle </a:t>
            </a:r>
            <a:r>
              <a:rPr lang="en-US" altLang="sk-SK" sz="1600" dirty="0">
                <a:ea typeface="ＭＳ Ｐゴシック" panose="020B0600070205080204" pitchFamily="34" charset="-128"/>
              </a:rPr>
              <a:t>LDOMs </a:t>
            </a:r>
            <a:r>
              <a:rPr lang="en-US" altLang="sk-SK" dirty="0">
                <a:ea typeface="ＭＳ Ｐゴシック" panose="020B0600070205080204" pitchFamily="34" charset="-128"/>
              </a:rPr>
              <a:t>are examples</a:t>
            </a:r>
            <a:endParaRPr lang="en-US" altLang="sk-SK" sz="2800" dirty="0">
              <a:ea typeface="ＭＳ Ｐゴシック" panose="020B0600070205080204" pitchFamily="34" charset="-128"/>
            </a:endParaRPr>
          </a:p>
          <a:p>
            <a:pPr lvl="1">
              <a:defRPr/>
            </a:pP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Type 1 hypervisors </a:t>
            </a:r>
            <a:r>
              <a:rPr lang="en-US" altLang="sk-SK" b="1" dirty="0">
                <a:ea typeface="ＭＳ Ｐゴシック" panose="020B0600070205080204" pitchFamily="34" charset="-128"/>
              </a:rPr>
              <a:t>- </a:t>
            </a:r>
            <a:r>
              <a:rPr lang="en-US" altLang="sk-SK" dirty="0">
                <a:ea typeface="ＭＳ Ｐゴシック" panose="020B0600070205080204" pitchFamily="34" charset="-128"/>
              </a:rPr>
              <a:t>Operating-system-like software built to provide virtualization</a:t>
            </a:r>
          </a:p>
          <a:p>
            <a:pPr lvl="2">
              <a:defRPr/>
            </a:pPr>
            <a:r>
              <a:rPr lang="en-US" altLang="sk-SK" dirty="0">
                <a:ea typeface="ＭＳ Ｐゴシック" panose="020B0600070205080204" pitchFamily="34" charset="-128"/>
              </a:rPr>
              <a:t>Including </a:t>
            </a:r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VMware ESX</a:t>
            </a:r>
            <a:r>
              <a:rPr lang="en-US" altLang="sk-SK" dirty="0">
                <a:ea typeface="ＭＳ Ｐゴシック" panose="020B0600070205080204" pitchFamily="34" charset="-128"/>
              </a:rPr>
              <a:t>, </a:t>
            </a:r>
            <a:r>
              <a:rPr lang="en-US" altLang="sk-SK" dirty="0" err="1">
                <a:ea typeface="ＭＳ Ｐゴシック" panose="020B0600070205080204" pitchFamily="34" charset="-128"/>
              </a:rPr>
              <a:t>Joyent</a:t>
            </a:r>
            <a:r>
              <a:rPr lang="en-US" altLang="sk-SK" dirty="0">
                <a:ea typeface="ＭＳ Ｐゴシック" panose="020B0600070205080204" pitchFamily="34" charset="-128"/>
              </a:rPr>
              <a:t> </a:t>
            </a:r>
            <a:r>
              <a:rPr lang="en-US" altLang="sk-SK" dirty="0" err="1">
                <a:ea typeface="ＭＳ Ｐゴシック" panose="020B0600070205080204" pitchFamily="34" charset="-128"/>
              </a:rPr>
              <a:t>Smart</a:t>
            </a:r>
            <a:r>
              <a:rPr lang="en-US" altLang="sk-SK" sz="1600" dirty="0" err="1">
                <a:ea typeface="ＭＳ Ｐゴシック" panose="020B0600070205080204" pitchFamily="34" charset="-128"/>
              </a:rPr>
              <a:t>OS</a:t>
            </a:r>
            <a:r>
              <a:rPr lang="en-US" altLang="sk-SK" dirty="0">
                <a:ea typeface="ＭＳ Ｐゴシック" panose="020B0600070205080204" pitchFamily="34" charset="-128"/>
              </a:rPr>
              <a:t>, and </a:t>
            </a:r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Citrix </a:t>
            </a:r>
            <a:r>
              <a:rPr lang="en-US" altLang="sk-SK" dirty="0" err="1">
                <a:solidFill>
                  <a:schemeClr val="accent1"/>
                </a:solidFill>
                <a:ea typeface="ＭＳ Ｐゴシック" panose="020B0600070205080204" pitchFamily="34" charset="-128"/>
              </a:rPr>
              <a:t>XenServer</a:t>
            </a:r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 </a:t>
            </a:r>
          </a:p>
          <a:p>
            <a:pPr lvl="1">
              <a:defRPr/>
            </a:pP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Type 1 hypervisors </a:t>
            </a:r>
            <a:r>
              <a:rPr lang="en-US" altLang="sk-SK" b="1" dirty="0">
                <a:ea typeface="ＭＳ Ｐゴシック" panose="020B0600070205080204" pitchFamily="34" charset="-128"/>
              </a:rPr>
              <a:t>– </a:t>
            </a:r>
            <a:r>
              <a:rPr lang="en-US" altLang="sk-SK" dirty="0">
                <a:ea typeface="ＭＳ Ｐゴシック" panose="020B0600070205080204" pitchFamily="34" charset="-128"/>
              </a:rPr>
              <a:t>Also includes general-purpose operating systems that provide standard functions as well as </a:t>
            </a:r>
            <a:r>
              <a:rPr lang="en-US" altLang="sk-SK" sz="1600" dirty="0">
                <a:ea typeface="ＭＳ Ｐゴシック" panose="020B0600070205080204" pitchFamily="34" charset="-128"/>
              </a:rPr>
              <a:t>VMM </a:t>
            </a:r>
            <a:r>
              <a:rPr lang="en-US" altLang="sk-SK" dirty="0">
                <a:ea typeface="ＭＳ Ｐゴシック" panose="020B0600070205080204" pitchFamily="34" charset="-128"/>
              </a:rPr>
              <a:t>functions</a:t>
            </a:r>
          </a:p>
          <a:p>
            <a:pPr lvl="2">
              <a:defRPr/>
            </a:pPr>
            <a:r>
              <a:rPr lang="en-US" altLang="sk-SK" dirty="0">
                <a:ea typeface="ＭＳ Ｐゴシック" panose="020B0600070205080204" pitchFamily="34" charset="-128"/>
              </a:rPr>
              <a:t>Including Microsoft Windows Server with </a:t>
            </a:r>
            <a:r>
              <a:rPr lang="en-US" altLang="sk-SK" dirty="0" err="1">
                <a:solidFill>
                  <a:schemeClr val="accent1"/>
                </a:solidFill>
                <a:ea typeface="ＭＳ Ｐゴシック" panose="020B0600070205080204" pitchFamily="34" charset="-128"/>
              </a:rPr>
              <a:t>HyperV</a:t>
            </a:r>
            <a:r>
              <a:rPr lang="en-US" altLang="sk-SK" dirty="0">
                <a:ea typeface="ＭＳ Ｐゴシック" panose="020B0600070205080204" pitchFamily="34" charset="-128"/>
              </a:rPr>
              <a:t> and RedHat Linux with </a:t>
            </a:r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KVM</a:t>
            </a:r>
          </a:p>
          <a:p>
            <a:pPr lvl="1">
              <a:defRPr/>
            </a:pP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Type 2 hypervisors </a:t>
            </a:r>
            <a:r>
              <a:rPr lang="en-US" altLang="sk-SK" b="1" dirty="0">
                <a:ea typeface="ＭＳ Ｐゴシック" panose="020B0600070205080204" pitchFamily="34" charset="-128"/>
              </a:rPr>
              <a:t>- </a:t>
            </a:r>
            <a:r>
              <a:rPr lang="en-US" altLang="sk-SK" dirty="0">
                <a:ea typeface="ＭＳ Ｐゴシック" panose="020B0600070205080204" pitchFamily="34" charset="-128"/>
              </a:rPr>
              <a:t>Applications that run on standard operating systems but provide </a:t>
            </a:r>
            <a:r>
              <a:rPr lang="en-US" altLang="sk-SK" sz="1600" dirty="0">
                <a:ea typeface="ＭＳ Ｐゴシック" panose="020B0600070205080204" pitchFamily="34" charset="-128"/>
              </a:rPr>
              <a:t>VMM </a:t>
            </a:r>
            <a:r>
              <a:rPr lang="en-US" altLang="sk-SK" dirty="0">
                <a:ea typeface="ＭＳ Ｐゴシック" panose="020B0600070205080204" pitchFamily="34" charset="-128"/>
              </a:rPr>
              <a:t>features to guest operating systems</a:t>
            </a:r>
          </a:p>
          <a:p>
            <a:pPr lvl="2">
              <a:defRPr/>
            </a:pPr>
            <a:r>
              <a:rPr lang="en-US" altLang="sk-SK" dirty="0" err="1">
                <a:ea typeface="ＭＳ Ｐゴシック" panose="020B0600070205080204" pitchFamily="34" charset="-128"/>
              </a:rPr>
              <a:t>Includeing</a:t>
            </a:r>
            <a:r>
              <a:rPr lang="en-US" altLang="sk-SK" dirty="0">
                <a:ea typeface="ＭＳ Ｐゴシック" panose="020B0600070205080204" pitchFamily="34" charset="-128"/>
              </a:rPr>
              <a:t> </a:t>
            </a:r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VMware Workstation </a:t>
            </a:r>
            <a:r>
              <a:rPr lang="en-US" altLang="sk-SK" dirty="0">
                <a:ea typeface="ＭＳ Ｐゴシック" panose="020B0600070205080204" pitchFamily="34" charset="-128"/>
              </a:rPr>
              <a:t>and Fusion, Parallels Desktop, and </a:t>
            </a:r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Oracle VirtualBox</a:t>
            </a:r>
            <a:endParaRPr lang="en-US" altLang="sk-SK" sz="2800" dirty="0">
              <a:solidFill>
                <a:schemeClr val="accent1"/>
              </a:solidFill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Title 1">
            <a:extLst>
              <a:ext uri="{FF2B5EF4-FFF2-40B4-BE49-F238E27FC236}">
                <a16:creationId xmlns:a16="http://schemas.microsoft.com/office/drawing/2014/main" id="{385A2CCF-79C0-51C5-BA4C-A90036846A9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Implementation of VMMs (cont.)</a:t>
            </a:r>
          </a:p>
        </p:txBody>
      </p:sp>
      <p:sp>
        <p:nvSpPr>
          <p:cNvPr id="12290" name="Content Placeholder 2">
            <a:extLst>
              <a:ext uri="{FF2B5EF4-FFF2-40B4-BE49-F238E27FC236}">
                <a16:creationId xmlns:a16="http://schemas.microsoft.com/office/drawing/2014/main" id="{49CF0489-2732-7F1C-16F8-05252D0AF0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b="1" dirty="0">
                <a:ea typeface="ＭＳ Ｐゴシック" panose="020B0600070205080204" pitchFamily="34" charset="-128"/>
              </a:rPr>
              <a:t>Other variations include: </a:t>
            </a: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Paravirtualization</a:t>
            </a:r>
            <a:r>
              <a:rPr lang="en-US" altLang="sk-SK" dirty="0">
                <a:ea typeface="ＭＳ Ｐゴシック" panose="020B0600070205080204" pitchFamily="34" charset="-128"/>
              </a:rPr>
              <a:t> - Technique in which the guest operating system is modified to work in cooperation with the </a:t>
            </a:r>
            <a:r>
              <a:rPr lang="en-US" altLang="sk-SK" sz="1600" dirty="0">
                <a:ea typeface="ＭＳ Ｐゴシック" panose="020B0600070205080204" pitchFamily="34" charset="-128"/>
              </a:rPr>
              <a:t>VMM </a:t>
            </a:r>
            <a:r>
              <a:rPr lang="en-US" altLang="sk-SK" dirty="0">
                <a:ea typeface="ＭＳ Ｐゴシック" panose="020B0600070205080204" pitchFamily="34" charset="-128"/>
              </a:rPr>
              <a:t>to optimize performance </a:t>
            </a:r>
            <a:endParaRPr lang="en-US" altLang="sk-SK" sz="28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Programming-environment virtualization </a:t>
            </a:r>
            <a:r>
              <a:rPr lang="en-US" altLang="sk-SK" dirty="0">
                <a:ea typeface="ＭＳ Ｐゴシック" panose="020B0600070205080204" pitchFamily="34" charset="-128"/>
              </a:rPr>
              <a:t>- </a:t>
            </a:r>
            <a:r>
              <a:rPr lang="en-US" altLang="sk-SK" sz="1600" dirty="0">
                <a:ea typeface="ＭＳ Ｐゴシック" panose="020B0600070205080204" pitchFamily="34" charset="-128"/>
              </a:rPr>
              <a:t>VMM</a:t>
            </a:r>
            <a:r>
              <a:rPr lang="en-US" altLang="sk-SK" dirty="0">
                <a:ea typeface="ＭＳ Ｐゴシック" panose="020B0600070205080204" pitchFamily="34" charset="-128"/>
              </a:rPr>
              <a:t>s do not virtualize real hardware but instead create an optimized virtual system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Used by Oracle </a:t>
            </a:r>
            <a:r>
              <a:rPr lang="en-US" altLang="sk-SK" sz="1700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Java</a:t>
            </a:r>
            <a:r>
              <a:rPr lang="en-US" altLang="sk-SK" dirty="0">
                <a:ea typeface="ＭＳ Ｐゴシック" panose="020B0600070205080204" pitchFamily="34" charset="-128"/>
              </a:rPr>
              <a:t> and </a:t>
            </a:r>
            <a:r>
              <a:rPr lang="en-US" altLang="sk-SK" dirty="0" err="1">
                <a:ea typeface="ＭＳ Ｐゴシック" panose="020B0600070205080204" pitchFamily="34" charset="-128"/>
              </a:rPr>
              <a:t>Microsoft.Net</a:t>
            </a:r>
            <a:endParaRPr lang="en-US" altLang="sk-SK" sz="28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Emulators</a:t>
            </a:r>
            <a:r>
              <a:rPr lang="en-US" altLang="sk-SK" b="1" dirty="0">
                <a:ea typeface="ＭＳ Ｐゴシック" panose="020B0600070205080204" pitchFamily="34" charset="-128"/>
              </a:rPr>
              <a:t> – </a:t>
            </a:r>
            <a:r>
              <a:rPr lang="en-US" altLang="sk-SK" dirty="0">
                <a:ea typeface="ＭＳ Ｐゴシック" panose="020B0600070205080204" pitchFamily="34" charset="-128"/>
              </a:rPr>
              <a:t>Allow applications written for one hardware environment to run on a very different hardware environment, such as a different type of </a:t>
            </a:r>
            <a:r>
              <a:rPr lang="en-US" altLang="sk-SK" sz="1600" dirty="0">
                <a:ea typeface="ＭＳ Ｐゴシック" panose="020B0600070205080204" pitchFamily="34" charset="-128"/>
              </a:rPr>
              <a:t>CPU</a:t>
            </a:r>
            <a:endParaRPr lang="en-US" altLang="sk-SK" sz="2800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Application containment </a:t>
            </a:r>
            <a:r>
              <a:rPr lang="en-US" altLang="sk-SK" dirty="0">
                <a:ea typeface="ＭＳ Ｐゴシック" panose="020B0600070205080204" pitchFamily="34" charset="-128"/>
              </a:rPr>
              <a:t>- Not virtualization at all but rather provides virtualization-like features by segregating applications from the operating system, making them more secure, manageable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Including Oracle Solaris Zones, </a:t>
            </a:r>
            <a:r>
              <a:rPr lang="en-US" altLang="sk-SK" sz="1600" dirty="0">
                <a:ea typeface="ＭＳ Ｐゴシック" panose="020B0600070205080204" pitchFamily="34" charset="-128"/>
              </a:rPr>
              <a:t>BSD </a:t>
            </a:r>
            <a:r>
              <a:rPr lang="en-US" altLang="sk-SK" dirty="0">
                <a:ea typeface="ＭＳ Ｐゴシック" panose="020B0600070205080204" pitchFamily="34" charset="-128"/>
              </a:rPr>
              <a:t>Jails, and </a:t>
            </a:r>
            <a:r>
              <a:rPr lang="en-US" altLang="sk-SK" sz="1600" dirty="0">
                <a:ea typeface="ＭＳ Ｐゴシック" panose="020B0600070205080204" pitchFamily="34" charset="-128"/>
              </a:rPr>
              <a:t>IBM AIX WPARs, open-source </a:t>
            </a:r>
            <a:r>
              <a:rPr lang="en-US" altLang="sk-SK" sz="1700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Docker 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Much variation due to breadth, depth and importance of virtualization in modern computing</a:t>
            </a:r>
          </a:p>
          <a:p>
            <a:pPr lvl="1"/>
            <a:endParaRPr lang="en-US" altLang="sk-SK" dirty="0">
              <a:ea typeface="ＭＳ Ｐゴシック" panose="020B0600070205080204" pitchFamily="34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3" name="Title 1">
            <a:extLst>
              <a:ext uri="{FF2B5EF4-FFF2-40B4-BE49-F238E27FC236}">
                <a16:creationId xmlns:a16="http://schemas.microsoft.com/office/drawing/2014/main" id="{C554E79C-A508-DB50-3DBF-5DBCC6C968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History</a:t>
            </a:r>
          </a:p>
        </p:txBody>
      </p:sp>
      <p:sp>
        <p:nvSpPr>
          <p:cNvPr id="13314" name="Content Placeholder 2">
            <a:extLst>
              <a:ext uri="{FF2B5EF4-FFF2-40B4-BE49-F238E27FC236}">
                <a16:creationId xmlns:a16="http://schemas.microsoft.com/office/drawing/2014/main" id="{6C1BE81F-14CF-6E69-2E5F-A4E1D2BD41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First appeared in IBM mainframes in 1972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Allowed multiple users to share a batch-oriented system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Formal definition of virtualization helped move it beyond IBM</a:t>
            </a:r>
          </a:p>
          <a:p>
            <a:pPr lvl="1"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A </a:t>
            </a:r>
            <a:r>
              <a:rPr lang="en-US" altLang="sk-SK" sz="1600">
                <a:ea typeface="ＭＳ Ｐゴシック" panose="020B0600070205080204" pitchFamily="34" charset="-128"/>
              </a:rPr>
              <a:t>VMM </a:t>
            </a:r>
            <a:r>
              <a:rPr lang="en-US" altLang="sk-SK">
                <a:ea typeface="ＭＳ Ｐゴシック" panose="020B0600070205080204" pitchFamily="34" charset="-128"/>
              </a:rPr>
              <a:t>provides an environment for programs that is essentially identical to the original machine</a:t>
            </a:r>
          </a:p>
          <a:p>
            <a:pPr lvl="1"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Programs running within that environment show only minor performance decreases</a:t>
            </a:r>
          </a:p>
          <a:p>
            <a:pPr lvl="1"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The </a:t>
            </a:r>
            <a:r>
              <a:rPr lang="en-US" altLang="sk-SK" sz="1600">
                <a:ea typeface="ＭＳ Ｐゴシック" panose="020B0600070205080204" pitchFamily="34" charset="-128"/>
              </a:rPr>
              <a:t>VMM </a:t>
            </a:r>
            <a:r>
              <a:rPr lang="en-US" altLang="sk-SK">
                <a:ea typeface="ＭＳ Ｐゴシック" panose="020B0600070205080204" pitchFamily="34" charset="-128"/>
              </a:rPr>
              <a:t>is in complete control of system resources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In late 1990s Intel CPUs fast enough for researchers to try virtualizing on general purpose PCs</a:t>
            </a:r>
          </a:p>
          <a:p>
            <a:pPr lvl="1"/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Xen</a:t>
            </a:r>
            <a:r>
              <a:rPr lang="en-US" altLang="sk-SK">
                <a:ea typeface="ＭＳ Ｐゴシック" panose="020B0600070205080204" pitchFamily="34" charset="-128"/>
              </a:rPr>
              <a:t> and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VMware</a:t>
            </a:r>
            <a:r>
              <a:rPr lang="en-US" altLang="sk-SK">
                <a:ea typeface="ＭＳ Ｐゴシック" panose="020B0600070205080204" pitchFamily="34" charset="-128"/>
              </a:rPr>
              <a:t> created technologies, still used today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Virtualization has expanded to many OSes, CPUs, VMMs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7" name="Title 1">
            <a:extLst>
              <a:ext uri="{FF2B5EF4-FFF2-40B4-BE49-F238E27FC236}">
                <a16:creationId xmlns:a16="http://schemas.microsoft.com/office/drawing/2014/main" id="{991AE944-9AF7-9342-F08A-0CA3E0775F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Benefits and Features</a:t>
            </a:r>
          </a:p>
        </p:txBody>
      </p:sp>
      <p:sp>
        <p:nvSpPr>
          <p:cNvPr id="14338" name="Content Placeholder 2">
            <a:extLst>
              <a:ext uri="{FF2B5EF4-FFF2-40B4-BE49-F238E27FC236}">
                <a16:creationId xmlns:a16="http://schemas.microsoft.com/office/drawing/2014/main" id="{1A0FB7D4-77A1-8469-0DA4-84D12220BD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806450" y="1241237"/>
            <a:ext cx="8229600" cy="4530725"/>
          </a:xfrm>
        </p:spPr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Host system protected from VMs, VMs protected from each other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I.e. A virus less likely to spread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Sharing is provided though via shared file system volume, network communication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Freeze,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suspend</a:t>
            </a:r>
            <a:r>
              <a:rPr lang="en-US" altLang="sk-SK" dirty="0">
                <a:ea typeface="ＭＳ Ｐゴシック" panose="020B0600070205080204" pitchFamily="34" charset="-128"/>
              </a:rPr>
              <a:t>, running VM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Then can move or copy somewhere else and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resume</a:t>
            </a: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Snapshot</a:t>
            </a:r>
            <a:r>
              <a:rPr lang="en-US" altLang="sk-SK" dirty="0">
                <a:ea typeface="ＭＳ Ｐゴシック" panose="020B0600070205080204" pitchFamily="34" charset="-128"/>
              </a:rPr>
              <a:t> of a given state, able to restore back to that state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Some VMMs allow multiple snapshots per VM</a:t>
            </a: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Clone</a:t>
            </a:r>
            <a:r>
              <a:rPr lang="en-US" altLang="sk-SK" dirty="0">
                <a:ea typeface="ＭＳ Ｐゴシック" panose="020B0600070205080204" pitchFamily="34" charset="-128"/>
              </a:rPr>
              <a:t> by creating copy and running both original and copy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Great for OS research, better system development efficiency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Run multiple, different OSes on a single machine</a:t>
            </a:r>
          </a:p>
          <a:p>
            <a:pPr lvl="1"/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Consolidation</a:t>
            </a:r>
            <a:r>
              <a:rPr lang="en-US" altLang="sk-SK" dirty="0">
                <a:ea typeface="ＭＳ Ｐゴシック" panose="020B0600070205080204" pitchFamily="34" charset="-128"/>
              </a:rPr>
              <a:t>, app dev,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6E564C67-F82C-6CAF-57DB-EE492ABBC6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Benefits and Features (cont.)</a:t>
            </a:r>
          </a:p>
        </p:txBody>
      </p:sp>
      <p:sp>
        <p:nvSpPr>
          <p:cNvPr id="15362" name="Content Placeholder 2">
            <a:extLst>
              <a:ext uri="{FF2B5EF4-FFF2-40B4-BE49-F238E27FC236}">
                <a16:creationId xmlns:a16="http://schemas.microsoft.com/office/drawing/2014/main" id="{C4FEA25A-3BBE-7F83-553E-84A88F31C3F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Templating</a:t>
            </a:r>
            <a:r>
              <a:rPr lang="en-US" altLang="sk-SK" dirty="0">
                <a:ea typeface="ＭＳ Ｐゴシック" panose="020B0600070205080204" pitchFamily="34" charset="-128"/>
              </a:rPr>
              <a:t> – create an OS + application VM, provide it to customers, use it to create multiple instances of that combination</a:t>
            </a:r>
          </a:p>
          <a:p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Live migration </a:t>
            </a:r>
            <a:r>
              <a:rPr lang="en-US" altLang="sk-SK" dirty="0">
                <a:ea typeface="ＭＳ Ｐゴシック" panose="020B0600070205080204" pitchFamily="34" charset="-128"/>
              </a:rPr>
              <a:t>– move a running VM from one host to another!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No interruption of user access</a:t>
            </a:r>
          </a:p>
          <a:p>
            <a:endParaRPr lang="en-US" altLang="sk-SK" dirty="0">
              <a:ea typeface="ＭＳ Ｐゴシック" panose="020B0600070205080204" pitchFamily="34" charset="-128"/>
            </a:endParaRPr>
          </a:p>
          <a:p>
            <a:r>
              <a:rPr lang="en-US" altLang="sk-SK" sz="2800" dirty="0">
                <a:ea typeface="ＭＳ Ｐゴシック" panose="020B0600070205080204" pitchFamily="34" charset="-128"/>
              </a:rPr>
              <a:t>All those features taken together -&gt; </a:t>
            </a:r>
            <a:r>
              <a:rPr lang="en-US" altLang="sk-SK" sz="2800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cloud computing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Using APIs, programs tell cloud infrastructure (servers, networking, storage) to create new guests, VMs, virtual desktops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Title 1">
            <a:extLst>
              <a:ext uri="{FF2B5EF4-FFF2-40B4-BE49-F238E27FC236}">
                <a16:creationId xmlns:a16="http://schemas.microsoft.com/office/drawing/2014/main" id="{44B5F878-3C3C-BA8E-A151-3BA7937D11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Building Blocks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AA1013B4-C0A4-878A-1947-9E36657EB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Generally difficult to provide an </a:t>
            </a:r>
            <a:r>
              <a:rPr lang="en-US" b="1" i="1" dirty="0">
                <a:ea typeface="ＭＳ Ｐゴシック" charset="0"/>
              </a:rPr>
              <a:t>exact</a:t>
            </a:r>
            <a:r>
              <a:rPr lang="en-US" dirty="0">
                <a:ea typeface="ＭＳ Ｐゴシック" charset="0"/>
              </a:rPr>
              <a:t> duplicate of underlying machine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Especially if only dual-mode operation available on CPU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But getting easier over time as CPU features and support for VMM improves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Most VMMs implement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  <a:cs typeface="ＭＳ Ｐゴシック" charset="0"/>
              </a:rPr>
              <a:t>virtual CPU </a:t>
            </a:r>
            <a:r>
              <a:rPr lang="en-US" dirty="0">
                <a:ea typeface="ＭＳ Ｐゴシック" charset="0"/>
              </a:rPr>
              <a:t>(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  <a:cs typeface="ＭＳ Ｐゴシック" charset="0"/>
              </a:rPr>
              <a:t>VCPU</a:t>
            </a:r>
            <a:r>
              <a:rPr lang="en-US" dirty="0">
                <a:ea typeface="ＭＳ Ｐゴシック" charset="0"/>
              </a:rPr>
              <a:t>) to represent state of CPU per guest as guest believes it to be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When guest context switched onto CPU by VMM, information from VCPU loaded and stored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Several techniques, as described in next slides</a:t>
            </a: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>
            <a:extLst>
              <a:ext uri="{FF2B5EF4-FFF2-40B4-BE49-F238E27FC236}">
                <a16:creationId xmlns:a16="http://schemas.microsoft.com/office/drawing/2014/main" id="{A97CDF96-CF8A-1C6B-586A-3DBC494902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Building Block – Trap and Emulate</a:t>
            </a:r>
          </a:p>
        </p:txBody>
      </p:sp>
      <p:sp>
        <p:nvSpPr>
          <p:cNvPr id="17410" name="Content Placeholder 2">
            <a:extLst>
              <a:ext uri="{FF2B5EF4-FFF2-40B4-BE49-F238E27FC236}">
                <a16:creationId xmlns:a16="http://schemas.microsoft.com/office/drawing/2014/main" id="{ED103210-8F12-066C-2960-1FB044EC86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Dual mode CPU means guest executes in user mode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Kernel runs in kernel mode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Not safe to let guest kernel run in kernel mode too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So VM needs two modes </a:t>
            </a:r>
            <a:r>
              <a:rPr lang="en-US" altLang="sk-SK" b="1" dirty="0">
                <a:ea typeface="ＭＳ Ｐゴシック" panose="020B0600070205080204" pitchFamily="34" charset="-128"/>
              </a:rPr>
              <a:t>– virtual user mode </a:t>
            </a:r>
            <a:r>
              <a:rPr lang="en-US" altLang="sk-SK" dirty="0">
                <a:ea typeface="ＭＳ Ｐゴシック" panose="020B0600070205080204" pitchFamily="34" charset="-128"/>
              </a:rPr>
              <a:t>and </a:t>
            </a:r>
            <a:r>
              <a:rPr lang="en-US" altLang="sk-SK" b="1" dirty="0">
                <a:ea typeface="ＭＳ Ｐゴシック" panose="020B0600070205080204" pitchFamily="34" charset="-128"/>
              </a:rPr>
              <a:t>virtual kernel mode</a:t>
            </a:r>
          </a:p>
          <a:p>
            <a:pPr lvl="2"/>
            <a:r>
              <a:rPr lang="en-US" altLang="sk-SK" u="sng" dirty="0">
                <a:ea typeface="ＭＳ Ｐゴシック" panose="020B0600070205080204" pitchFamily="34" charset="-128"/>
              </a:rPr>
              <a:t>Both of which run in real user mode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Actions in guest that usually cause switch to kernel mode must cause switch to virtual kernel mode</a:t>
            </a:r>
          </a:p>
        </p:txBody>
      </p:sp>
      <p:sp>
        <p:nvSpPr>
          <p:cNvPr id="2" name="Šípka doprava 1">
            <a:extLst>
              <a:ext uri="{FF2B5EF4-FFF2-40B4-BE49-F238E27FC236}">
                <a16:creationId xmlns:a16="http://schemas.microsoft.com/office/drawing/2014/main" id="{C901EC8D-95E2-6553-6F48-8DEF76926136}"/>
              </a:ext>
            </a:extLst>
          </p:cNvPr>
          <p:cNvSpPr/>
          <p:nvPr/>
        </p:nvSpPr>
        <p:spPr bwMode="auto">
          <a:xfrm>
            <a:off x="305377" y="2382981"/>
            <a:ext cx="1002145" cy="304800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k-S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Title 1">
            <a:extLst>
              <a:ext uri="{FF2B5EF4-FFF2-40B4-BE49-F238E27FC236}">
                <a16:creationId xmlns:a16="http://schemas.microsoft.com/office/drawing/2014/main" id="{B902378A-6774-F235-BD0D-B6EE8FAE9F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Trap-and-Emulate (cont.)</a:t>
            </a:r>
          </a:p>
        </p:txBody>
      </p:sp>
      <p:sp>
        <p:nvSpPr>
          <p:cNvPr id="18434" name="Content Placeholder 2">
            <a:extLst>
              <a:ext uri="{FF2B5EF4-FFF2-40B4-BE49-F238E27FC236}">
                <a16:creationId xmlns:a16="http://schemas.microsoft.com/office/drawing/2014/main" id="{39AB2FC3-095F-81F4-CD3D-538AB531080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How does switch from virtual user mode to virtual kernel mode occur?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Attempting a privileged instruction in user mode causes an error -&gt; trap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VMM gains control, analyzes error, executes operation as attempted by guest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Returns control to guest in user mode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Known as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 trap-and-emulate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Most virtualization products use this at least in part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User mode code in guest runs at same speed as if not a guest</a:t>
            </a:r>
          </a:p>
          <a:p>
            <a:r>
              <a:rPr lang="en-US" altLang="sk-SK" dirty="0">
                <a:solidFill>
                  <a:schemeClr val="accent1"/>
                </a:solidFill>
                <a:ea typeface="ＭＳ Ｐゴシック" panose="020B0600070205080204" pitchFamily="34" charset="-128"/>
              </a:rPr>
              <a:t>But kernel mode privilege mode code runs slower due to trap-and-emulate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Especially a problem when multiple guests running, each needing trap-and-emulate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CPUs adding hardware support, more CPU modes to improve virtualization performance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Title 1">
            <a:extLst>
              <a:ext uri="{FF2B5EF4-FFF2-40B4-BE49-F238E27FC236}">
                <a16:creationId xmlns:a16="http://schemas.microsoft.com/office/drawing/2014/main" id="{17E8705F-2D99-B8BD-76BE-3A503B87DA9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Trap-and-Emulate Virtualization Implementation</a:t>
            </a:r>
          </a:p>
        </p:txBody>
      </p:sp>
      <p:pic>
        <p:nvPicPr>
          <p:cNvPr id="19458" name="Content Placeholder 3" descr="16_02.pdf">
            <a:extLst>
              <a:ext uri="{FF2B5EF4-FFF2-40B4-BE49-F238E27FC236}">
                <a16:creationId xmlns:a16="http://schemas.microsoft.com/office/drawing/2014/main" id="{594E1D1F-4EC9-F254-3189-178D5E39BD4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562" r="-11562"/>
          <a:stretch>
            <a:fillRect/>
          </a:stretch>
        </p:blipFill>
        <p:spPr>
          <a:xfrm>
            <a:off x="904875" y="1517650"/>
            <a:ext cx="7540625" cy="4151313"/>
          </a:xfr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Title 1">
            <a:extLst>
              <a:ext uri="{FF2B5EF4-FFF2-40B4-BE49-F238E27FC236}">
                <a16:creationId xmlns:a16="http://schemas.microsoft.com/office/drawing/2014/main" id="{8D5E8F13-0539-93A5-7959-C5F4094FB0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Building Block – Binary Translation</a:t>
            </a:r>
          </a:p>
        </p:txBody>
      </p:sp>
      <p:sp>
        <p:nvSpPr>
          <p:cNvPr id="20482" name="Content Placeholder 2">
            <a:extLst>
              <a:ext uri="{FF2B5EF4-FFF2-40B4-BE49-F238E27FC236}">
                <a16:creationId xmlns:a16="http://schemas.microsoft.com/office/drawing/2014/main" id="{5902BCB6-81D7-A5E2-8D51-8B46E50E16DA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Some CPUs don</a:t>
            </a:r>
            <a:r>
              <a:rPr lang="en-US" altLang="en-US">
                <a:ea typeface="ＭＳ Ｐゴシック" panose="020B0600070205080204" pitchFamily="34" charset="-128"/>
              </a:rPr>
              <a:t>’</a:t>
            </a:r>
            <a:r>
              <a:rPr lang="en-US" altLang="sk-SK">
                <a:ea typeface="ＭＳ Ｐゴシック" panose="020B0600070205080204" pitchFamily="34" charset="-128"/>
              </a:rPr>
              <a:t>t have clean separation between privileged and nonprivileged instructions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Earlier Intel x86 CPUs are among them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Earliest Intel CPU designed for a calculator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Backward compatibility means difficult to improve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Consider Intel x86 </a:t>
            </a:r>
            <a:r>
              <a:rPr lang="en-US" altLang="sk-SK" b="1">
                <a:latin typeface="Courier New" panose="02070309020205020404" pitchFamily="49" charset="0"/>
                <a:ea typeface="ＭＳ Ｐゴシック" panose="020B0600070205080204" pitchFamily="34" charset="-128"/>
                <a:cs typeface="Courier New" panose="02070309020205020404" pitchFamily="49" charset="0"/>
              </a:rPr>
              <a:t>popf</a:t>
            </a:r>
            <a:r>
              <a:rPr lang="en-US" altLang="sk-SK">
                <a:ea typeface="ＭＳ Ｐゴシック" panose="020B0600070205080204" pitchFamily="34" charset="-128"/>
              </a:rPr>
              <a:t> instruction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Loads CPU flags register from contents of the stack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If CPU in privileged mode -&gt; all flags replaced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If CPU in user mode -&gt; on some flags replaced</a:t>
            </a:r>
          </a:p>
          <a:p>
            <a:pPr lvl="3"/>
            <a:r>
              <a:rPr lang="en-US" altLang="sk-SK">
                <a:ea typeface="ＭＳ Ｐゴシック" panose="020B0600070205080204" pitchFamily="34" charset="-128"/>
              </a:rPr>
              <a:t>No trap is generated</a:t>
            </a:r>
          </a:p>
          <a:p>
            <a:pPr lvl="2"/>
            <a:endParaRPr lang="en-US" altLang="sk-SK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Title 1">
            <a:extLst>
              <a:ext uri="{FF2B5EF4-FFF2-40B4-BE49-F238E27FC236}">
                <a16:creationId xmlns:a16="http://schemas.microsoft.com/office/drawing/2014/main" id="{8CE5292B-0A71-4B71-B326-83AF255C538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Binary Translation (cont.)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255F4FF3-0509-7B55-88B4-0AD3BC330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Other similar problem instructions we will call </a:t>
            </a:r>
            <a:r>
              <a:rPr lang="en-US" b="1" i="1" dirty="0">
                <a:ea typeface="ＭＳ Ｐゴシック" charset="0"/>
              </a:rPr>
              <a:t>special instructions</a:t>
            </a:r>
            <a:endParaRPr lang="en-US" b="1" dirty="0">
              <a:ea typeface="ＭＳ Ｐゴシック" charset="0"/>
            </a:endParaRP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Caused trap-and-emulate method considered impossible until 1998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Binary translation solves the problem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Basics are simple, but implementation very complex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</a:rPr>
              <a:t>If guest VCPU is in user mode, guest can run instructions natively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</a:rPr>
              <a:t>If guest VCPU in kernel mode (guest believes it is in kernel mode)</a:t>
            </a:r>
          </a:p>
          <a:p>
            <a:pPr marL="1143000" lvl="2" indent="-3429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</a:rPr>
              <a:t>VMM examines every instruction guest is about to execute by reading a few instructions ahead of program counter</a:t>
            </a:r>
          </a:p>
          <a:p>
            <a:pPr marL="1143000" lvl="2" indent="-3429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</a:rPr>
              <a:t>Non-special-instructions run natively</a:t>
            </a:r>
          </a:p>
          <a:p>
            <a:pPr marL="1143000" lvl="2" indent="-342900">
              <a:buFont typeface="+mj-lt"/>
              <a:buAutoNum type="arabicPeriod"/>
              <a:defRPr/>
            </a:pPr>
            <a:r>
              <a:rPr lang="en-US" b="1" dirty="0">
                <a:ea typeface="ＭＳ Ｐゴシック" charset="0"/>
              </a:rPr>
              <a:t>Special instructions translated into new set of instructions that perform equivalent task</a:t>
            </a:r>
            <a:r>
              <a:rPr lang="en-US" dirty="0">
                <a:ea typeface="ＭＳ Ｐゴシック" charset="0"/>
              </a:rPr>
              <a:t> (for example changing the flags in the VCPU)</a:t>
            </a: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Title 1">
            <a:extLst>
              <a:ext uri="{FF2B5EF4-FFF2-40B4-BE49-F238E27FC236}">
                <a16:creationId xmlns:a16="http://schemas.microsoft.com/office/drawing/2014/main" id="{3DFE5C5C-1968-9A60-7B21-4A9804EE77A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Binary Translation (cont.)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9D97DF75-9E70-46BA-95A5-F9E1E9BA4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425" y="1244600"/>
            <a:ext cx="8229600" cy="4530725"/>
          </a:xfrm>
        </p:spPr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Implemented by translation of code within VMM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Code reads native instructions dynamically from guest, on demand, generates native binary code that executes in place of original code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Performance of this method would be poor without optimizations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Products like VMware use caching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Translate once, and when guest executes code containing special instruction cached translation used instead of translating again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Testing showed booting Windows XP as guest caused 950,000 translations, at 3 microseconds each, or 3 second (5 %) slowdown over native</a:t>
            </a:r>
          </a:p>
          <a:p>
            <a:pPr lvl="1">
              <a:buFont typeface="Monotype Sorts" charset="0"/>
              <a:buChar char="l"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r>
              <a:rPr lang="en-US" dirty="0">
                <a:ea typeface="ＭＳ Ｐゴシック" panose="020B0600070205080204" pitchFamily="34" charset="-128"/>
              </a:rPr>
              <a:t>Problem of binary translation solved via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VT-x</a:t>
            </a:r>
            <a:r>
              <a:rPr lang="en-US" altLang="sk-SK" dirty="0">
                <a:ea typeface="ＭＳ Ｐゴシック" panose="020B0600070205080204" pitchFamily="34" charset="-128"/>
              </a:rPr>
              <a:t> instructions added to Intel CPUs</a:t>
            </a: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>
            <a:extLst>
              <a:ext uri="{FF2B5EF4-FFF2-40B4-BE49-F238E27FC236}">
                <a16:creationId xmlns:a16="http://schemas.microsoft.com/office/drawing/2014/main" id="{13287C56-D458-D2A0-66FE-8B3234FC212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Binary Translation Virtualization Implementation</a:t>
            </a:r>
          </a:p>
        </p:txBody>
      </p:sp>
      <p:pic>
        <p:nvPicPr>
          <p:cNvPr id="23554" name="Content Placeholder 3" descr="16_03.pdf">
            <a:extLst>
              <a:ext uri="{FF2B5EF4-FFF2-40B4-BE49-F238E27FC236}">
                <a16:creationId xmlns:a16="http://schemas.microsoft.com/office/drawing/2014/main" id="{972289DA-C625-D4DB-23E0-001C4A1F52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1771" r="-11771"/>
          <a:stretch>
            <a:fillRect/>
          </a:stretch>
        </p:blipFill>
        <p:spPr>
          <a:xfrm>
            <a:off x="1076325" y="1350963"/>
            <a:ext cx="7545388" cy="4154487"/>
          </a:xfrm>
        </p:spPr>
      </p:pic>
      <p:sp>
        <p:nvSpPr>
          <p:cNvPr id="23555" name="Čiarová bublina 1 1">
            <a:extLst>
              <a:ext uri="{FF2B5EF4-FFF2-40B4-BE49-F238E27FC236}">
                <a16:creationId xmlns:a16="http://schemas.microsoft.com/office/drawing/2014/main" id="{021DFB1A-C78F-92BF-5B23-42F8A6309229}"/>
              </a:ext>
            </a:extLst>
          </p:cNvPr>
          <p:cNvSpPr>
            <a:spLocks/>
          </p:cNvSpPr>
          <p:nvPr/>
        </p:nvSpPr>
        <p:spPr bwMode="auto">
          <a:xfrm flipH="1">
            <a:off x="1260475" y="1976438"/>
            <a:ext cx="1030288" cy="514350"/>
          </a:xfrm>
          <a:prstGeom prst="borderCallout1">
            <a:avLst>
              <a:gd name="adj1" fmla="val 18750"/>
              <a:gd name="adj2" fmla="val -8333"/>
              <a:gd name="adj3" fmla="val 220662"/>
              <a:gd name="adj4" fmla="val -148597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/>
          <a:lstStyle>
            <a:lvl1pPr>
              <a:spcBef>
                <a:spcPct val="35000"/>
              </a:spcBef>
              <a:buClr>
                <a:srgbClr val="993300"/>
              </a:buClr>
              <a:buSzPct val="90000"/>
              <a:buFont typeface="Monotype Sorts" pitchFamily="2" charset="2"/>
              <a:buChar char="n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35000"/>
              </a:spcBef>
              <a:buClr>
                <a:srgbClr val="CC6600"/>
              </a:buClr>
              <a:buSzPct val="80000"/>
              <a:buFont typeface="Monotype Sorts" pitchFamily="2" charset="2"/>
              <a:buChar char="l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35000"/>
              </a:spcBef>
              <a:buClr>
                <a:srgbClr val="009900"/>
              </a:buClr>
              <a:buSzPct val="75000"/>
              <a:buFont typeface="Webdings" pitchFamily="2" charset="2"/>
              <a:buChar char="4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35000"/>
              </a:spcBef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35000"/>
              </a:spcBef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Helvetica" pitchFamily="2" charset="0"/>
                <a:ea typeface="ＭＳ Ｐゴシック" panose="020B0600070205080204" pitchFamily="34" charset="-128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kumimoji="0" lang="sk-SK" altLang="sk-SK">
                <a:latin typeface="Verdana" panose="020B0604030504040204" pitchFamily="34" charset="0"/>
              </a:rPr>
              <a:t>No trap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Title 1">
            <a:extLst>
              <a:ext uri="{FF2B5EF4-FFF2-40B4-BE49-F238E27FC236}">
                <a16:creationId xmlns:a16="http://schemas.microsoft.com/office/drawing/2014/main" id="{A87FF3B3-BB8C-0961-E38A-9ECEE8F661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Nested Page Tables</a:t>
            </a:r>
          </a:p>
        </p:txBody>
      </p:sp>
      <p:sp>
        <p:nvSpPr>
          <p:cNvPr id="24578" name="Content Placeholder 2">
            <a:extLst>
              <a:ext uri="{FF2B5EF4-FFF2-40B4-BE49-F238E27FC236}">
                <a16:creationId xmlns:a16="http://schemas.microsoft.com/office/drawing/2014/main" id="{B4400930-85F5-5A0D-D973-27F9B6852FD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Memory management another general challenge to VMM implementations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How can VMM keep page-table state for both guests believing they control the page tables and VMM that does control the tables?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Common method (for trap-and-emulate and binary translation) is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nested page</a:t>
            </a:r>
            <a:r>
              <a:rPr lang="en-US" altLang="sk-SK" dirty="0">
                <a:ea typeface="ＭＳ Ｐゴシック" panose="020B0600070205080204" pitchFamily="34" charset="-128"/>
              </a:rPr>
              <a:t>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tables</a:t>
            </a:r>
            <a:r>
              <a:rPr lang="en-US" altLang="sk-SK" dirty="0">
                <a:ea typeface="ＭＳ Ｐゴシック" panose="020B0600070205080204" pitchFamily="34" charset="-128"/>
              </a:rPr>
              <a:t> (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NPTs</a:t>
            </a:r>
            <a:r>
              <a:rPr lang="en-US" altLang="sk-SK" dirty="0">
                <a:ea typeface="ＭＳ Ｐゴシック" panose="020B0600070205080204" pitchFamily="34" charset="-128"/>
              </a:rPr>
              <a:t>) 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Each guest maintains page tables to translate virtual to physical addresses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VMM maintains per guest NPTs to represent guest</a:t>
            </a:r>
            <a:r>
              <a:rPr lang="en-US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sk-SK" dirty="0">
                <a:ea typeface="ＭＳ Ｐゴシック" panose="020B0600070205080204" pitchFamily="34" charset="-128"/>
              </a:rPr>
              <a:t>s page-table state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Just as VCPU stores guest CPU state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When guest on CPU -&gt; VMM makes that guest</a:t>
            </a:r>
            <a:r>
              <a:rPr lang="en-US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sk-SK" dirty="0">
                <a:ea typeface="ＭＳ Ｐゴシック" panose="020B0600070205080204" pitchFamily="34" charset="-128"/>
              </a:rPr>
              <a:t>s NPTs the active system page tables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Guest tries to change page table -&gt; VMM makes equivalent change to NPTs and its own page tables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Can </a:t>
            </a:r>
            <a:r>
              <a:rPr lang="en-US" altLang="sk-SK" u="sng" dirty="0">
                <a:ea typeface="ＭＳ Ｐゴシック" panose="020B0600070205080204" pitchFamily="34" charset="-128"/>
              </a:rPr>
              <a:t>cause many more TLB misses </a:t>
            </a:r>
            <a:r>
              <a:rPr lang="en-US" altLang="sk-SK" dirty="0">
                <a:ea typeface="ＭＳ Ｐゴシック" panose="020B0600070205080204" pitchFamily="34" charset="-128"/>
              </a:rPr>
              <a:t>-&gt; much slower performance</a:t>
            </a:r>
          </a:p>
          <a:p>
            <a:pPr lvl="1"/>
            <a:endParaRPr lang="en-US" altLang="sk-SK" dirty="0">
              <a:ea typeface="ＭＳ Ｐゴシック" panose="020B0600070205080204" pitchFamily="34" charset="-128"/>
            </a:endParaRPr>
          </a:p>
          <a:p>
            <a:pPr lvl="1"/>
            <a:endParaRPr lang="en-US" altLang="sk-SK" dirty="0">
              <a:ea typeface="ＭＳ Ｐゴシック" panose="020B0600070205080204" pitchFamily="34" charset="-128"/>
            </a:endParaRPr>
          </a:p>
          <a:p>
            <a:pPr lvl="2"/>
            <a:endParaRPr lang="en-US" altLang="sk-SK" dirty="0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 dirty="0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>
            <a:extLst>
              <a:ext uri="{FF2B5EF4-FFF2-40B4-BE49-F238E27FC236}">
                <a16:creationId xmlns:a16="http://schemas.microsoft.com/office/drawing/2014/main" id="{13FD7147-FD8A-D73A-EC49-36473585A4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 sz="2800">
                <a:ea typeface="ＭＳ Ｐゴシック" panose="020B0600070205080204" pitchFamily="34" charset="-128"/>
              </a:rPr>
              <a:t>Building Blocks – Hardware Assistance</a:t>
            </a:r>
          </a:p>
        </p:txBody>
      </p:sp>
      <p:sp>
        <p:nvSpPr>
          <p:cNvPr id="25602" name="Content Placeholder 2">
            <a:extLst>
              <a:ext uri="{FF2B5EF4-FFF2-40B4-BE49-F238E27FC236}">
                <a16:creationId xmlns:a16="http://schemas.microsoft.com/office/drawing/2014/main" id="{C932231D-95C7-3623-5E09-EE7804FC24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All virtualization needs some HW support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More support -&gt; more feature rich, stable, better performance of guests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Intel added new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VT-x</a:t>
            </a:r>
            <a:r>
              <a:rPr lang="en-US" altLang="sk-SK" dirty="0">
                <a:ea typeface="ＭＳ Ｐゴシック" panose="020B0600070205080204" pitchFamily="34" charset="-128"/>
              </a:rPr>
              <a:t> instructions in 2005 and AMD the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AMD-V </a:t>
            </a:r>
            <a:r>
              <a:rPr lang="en-US" altLang="sk-SK" dirty="0">
                <a:ea typeface="ＭＳ Ｐゴシック" panose="020B0600070205080204" pitchFamily="34" charset="-128"/>
              </a:rPr>
              <a:t>instructions in 2006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CPUs with these instructions </a:t>
            </a:r>
            <a:r>
              <a:rPr lang="en-US" altLang="sk-SK" b="1" dirty="0">
                <a:ea typeface="ＭＳ Ｐゴシック" panose="020B0600070205080204" pitchFamily="34" charset="-128"/>
              </a:rPr>
              <a:t>remove need for binary translation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Generally define more CPU modes – </a:t>
            </a:r>
            <a:r>
              <a:rPr lang="en-US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sk-SK" dirty="0">
                <a:ea typeface="ＭＳ Ｐゴシック" panose="020B0600070205080204" pitchFamily="34" charset="-128"/>
              </a:rPr>
              <a:t>guest</a:t>
            </a:r>
            <a:r>
              <a:rPr lang="en-US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sk-SK" dirty="0">
                <a:ea typeface="ＭＳ Ｐゴシック" panose="020B0600070205080204" pitchFamily="34" charset="-128"/>
              </a:rPr>
              <a:t> and </a:t>
            </a:r>
            <a:r>
              <a:rPr lang="en-US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sk-SK" dirty="0">
                <a:ea typeface="ＭＳ Ｐゴシック" panose="020B0600070205080204" pitchFamily="34" charset="-128"/>
              </a:rPr>
              <a:t>host</a:t>
            </a:r>
            <a:r>
              <a:rPr lang="en-US" altLang="en-US" dirty="0">
                <a:ea typeface="ＭＳ Ｐゴシック" panose="020B0600070205080204" pitchFamily="34" charset="-128"/>
              </a:rPr>
              <a:t>”</a:t>
            </a:r>
            <a:endParaRPr lang="en-US" altLang="sk-SK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VMM can enable host mode, define characteristics of each guest VM, switch to guest mode and guest(s) on CPU(s)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In guest mode, guest OS thinks it is running natively, sees devices (as defined by VMM for that guest) 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Access to virtualized device, </a:t>
            </a:r>
            <a:r>
              <a:rPr lang="en-US" altLang="sk-SK" dirty="0" err="1">
                <a:ea typeface="ＭＳ Ｐゴシック" panose="020B0600070205080204" pitchFamily="34" charset="-128"/>
              </a:rPr>
              <a:t>priv</a:t>
            </a:r>
            <a:r>
              <a:rPr lang="en-US" altLang="sk-SK" dirty="0">
                <a:ea typeface="ＭＳ Ｐゴシック" panose="020B0600070205080204" pitchFamily="34" charset="-128"/>
              </a:rPr>
              <a:t> instructions cause trap to VMM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CPU maintains VCPU, context switches it as needed</a:t>
            </a:r>
          </a:p>
          <a:p>
            <a:r>
              <a:rPr lang="en-US" altLang="sk-SK" u="sng" dirty="0">
                <a:ea typeface="ＭＳ Ｐゴシック" panose="020B0600070205080204" pitchFamily="34" charset="-128"/>
              </a:rPr>
              <a:t>HW support for Nested Page Tables, DMA, interrupts as well over time</a:t>
            </a:r>
          </a:p>
          <a:p>
            <a:pPr lvl="1"/>
            <a:endParaRPr lang="en-US" altLang="sk-SK" dirty="0">
              <a:ea typeface="ＭＳ Ｐゴシック" panose="020B0600070205080204" pitchFamily="34" charset="-128"/>
            </a:endParaRPr>
          </a:p>
          <a:p>
            <a:pPr lvl="2"/>
            <a:endParaRPr lang="en-US" altLang="sk-SK" dirty="0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 dirty="0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>
            <a:extLst>
              <a:ext uri="{FF2B5EF4-FFF2-40B4-BE49-F238E27FC236}">
                <a16:creationId xmlns:a16="http://schemas.microsoft.com/office/drawing/2014/main" id="{A893CD56-D7AE-E340-860E-14C547B89F4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Nested Page Tables</a:t>
            </a:r>
          </a:p>
        </p:txBody>
      </p:sp>
      <p:pic>
        <p:nvPicPr>
          <p:cNvPr id="26626" name="Content Placeholder 3" descr="16_04.pdf">
            <a:extLst>
              <a:ext uri="{FF2B5EF4-FFF2-40B4-BE49-F238E27FC236}">
                <a16:creationId xmlns:a16="http://schemas.microsoft.com/office/drawing/2014/main" id="{431FD52F-C635-152B-3BDF-554AC33278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65543" r="-65543"/>
          <a:stretch>
            <a:fillRect/>
          </a:stretch>
        </p:blipFill>
        <p:spPr>
          <a:xfrm>
            <a:off x="515938" y="958850"/>
            <a:ext cx="8275637" cy="5513388"/>
          </a:xfr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>
            <a:extLst>
              <a:ext uri="{FF2B5EF4-FFF2-40B4-BE49-F238E27FC236}">
                <a16:creationId xmlns:a16="http://schemas.microsoft.com/office/drawing/2014/main" id="{4DFA79C4-8C21-340B-B7FE-849D0F9E2D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Types of Virtual Machines and Implementations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8972175D-DB36-2074-5E16-E4AAF845F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Many variations as well as HW details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Assume VMMs take advantage of HW features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HW features can simplify implementation, improve performance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Whatever the type, a VM has a lifecycle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Created by VMM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Resources assigned to it (number of cores, amount of memory, networking details, storage details)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In type 0 hypervisor, resources usually dedicated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Other types dedicate or share resources, or a mix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When no longer needed, VM can be deleted, freeing resources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Steps simpler, faster than with a physical machine install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Can lead to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virtual machine sprawl </a:t>
            </a:r>
            <a:r>
              <a:rPr lang="en-US" dirty="0">
                <a:ea typeface="ＭＳ Ｐゴシック" charset="0"/>
              </a:rPr>
              <a:t>with lots of VMs, history and state difficult to track</a:t>
            </a:r>
          </a:p>
          <a:p>
            <a:pPr lvl="1">
              <a:buFont typeface="Monotype Sorts" charset="0"/>
              <a:buChar char="l"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itle 1">
            <a:extLst>
              <a:ext uri="{FF2B5EF4-FFF2-40B4-BE49-F238E27FC236}">
                <a16:creationId xmlns:a16="http://schemas.microsoft.com/office/drawing/2014/main" id="{606335A6-B741-B35D-AD64-C3F0AFDB5D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Types of VMs – Type 0 Hypervisor</a:t>
            </a:r>
          </a:p>
        </p:txBody>
      </p:sp>
      <p:sp>
        <p:nvSpPr>
          <p:cNvPr id="28674" name="Content Placeholder 2">
            <a:extLst>
              <a:ext uri="{FF2B5EF4-FFF2-40B4-BE49-F238E27FC236}">
                <a16:creationId xmlns:a16="http://schemas.microsoft.com/office/drawing/2014/main" id="{E2914D63-07A3-F455-8185-2D60DCBE3C9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Old idea, under many names by HW manufacturers</a:t>
            </a:r>
          </a:p>
          <a:p>
            <a:pPr lvl="1"/>
            <a:r>
              <a:rPr lang="en-US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sk-SK" dirty="0">
                <a:ea typeface="ＭＳ Ｐゴシック" panose="020B0600070205080204" pitchFamily="34" charset="-128"/>
              </a:rPr>
              <a:t>partitions</a:t>
            </a:r>
            <a:r>
              <a:rPr lang="en-US" altLang="en-US" dirty="0">
                <a:ea typeface="ＭＳ Ｐゴシック" panose="020B0600070205080204" pitchFamily="34" charset="-128"/>
              </a:rPr>
              <a:t>”</a:t>
            </a:r>
            <a:r>
              <a:rPr lang="en-US" altLang="sk-SK" dirty="0">
                <a:ea typeface="ＭＳ Ｐゴシック" panose="020B0600070205080204" pitchFamily="34" charset="-128"/>
              </a:rPr>
              <a:t>, </a:t>
            </a:r>
            <a:r>
              <a:rPr lang="en-US" altLang="en-US" dirty="0">
                <a:ea typeface="ＭＳ Ｐゴシック" panose="020B0600070205080204" pitchFamily="34" charset="-128"/>
              </a:rPr>
              <a:t>“</a:t>
            </a:r>
            <a:r>
              <a:rPr lang="en-US" altLang="sk-SK" dirty="0">
                <a:ea typeface="ＭＳ Ｐゴシック" panose="020B0600070205080204" pitchFamily="34" charset="-128"/>
              </a:rPr>
              <a:t>domains</a:t>
            </a:r>
            <a:r>
              <a:rPr lang="en-US" altLang="en-US" dirty="0">
                <a:ea typeface="ＭＳ Ｐゴシック" panose="020B0600070205080204" pitchFamily="34" charset="-128"/>
              </a:rPr>
              <a:t>”</a:t>
            </a:r>
            <a:endParaRPr lang="en-US" altLang="sk-SK" dirty="0">
              <a:ea typeface="ＭＳ Ｐゴシック" panose="020B0600070205080204" pitchFamily="34" charset="-128"/>
            </a:endParaRP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A HW feature implemented by firmware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OS need to nothing special, </a:t>
            </a:r>
            <a:r>
              <a:rPr lang="en-US" altLang="sk-SK" u="sng" dirty="0">
                <a:ea typeface="ＭＳ Ｐゴシック" panose="020B0600070205080204" pitchFamily="34" charset="-128"/>
              </a:rPr>
              <a:t>VMM is in firmware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Smaller feature set than other types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Each guest has dedicated HW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I/O a challenge as difficult to have enough devices, controllers to dedicate to each guest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Sometimes VMM implements a </a:t>
            </a:r>
            <a:r>
              <a:rPr lang="en-US" altLang="sk-SK" b="1" dirty="0">
                <a:solidFill>
                  <a:srgbClr val="3366FF"/>
                </a:solidFill>
                <a:ea typeface="ＭＳ Ｐゴシック" panose="020B0600070205080204" pitchFamily="34" charset="-128"/>
              </a:rPr>
              <a:t>control partition </a:t>
            </a:r>
            <a:r>
              <a:rPr lang="en-US" altLang="sk-SK" dirty="0">
                <a:ea typeface="ＭＳ Ｐゴシック" panose="020B0600070205080204" pitchFamily="34" charset="-128"/>
              </a:rPr>
              <a:t>running daemons that other guests communicate with for shared I/O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Can provide virtualization-within-virtualization (guest itself can be a VMM with guests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Other types have difficulty doing this</a:t>
            </a:r>
          </a:p>
          <a:p>
            <a:pPr lvl="1"/>
            <a:endParaRPr lang="en-US" altLang="sk-SK" dirty="0">
              <a:ea typeface="ＭＳ Ｐゴシック" panose="020B0600070205080204" pitchFamily="34" charset="-128"/>
            </a:endParaRPr>
          </a:p>
          <a:p>
            <a:pPr lvl="2"/>
            <a:endParaRPr lang="en-US" altLang="sk-SK" dirty="0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 dirty="0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Title 1">
            <a:extLst>
              <a:ext uri="{FF2B5EF4-FFF2-40B4-BE49-F238E27FC236}">
                <a16:creationId xmlns:a16="http://schemas.microsoft.com/office/drawing/2014/main" id="{8037B59F-63F3-6A3A-2E4F-5B02EBC37D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Type 0 Hypervisor</a:t>
            </a:r>
          </a:p>
        </p:txBody>
      </p:sp>
      <p:pic>
        <p:nvPicPr>
          <p:cNvPr id="29698" name="Content Placeholder 3" descr="16_05.pdf">
            <a:extLst>
              <a:ext uri="{FF2B5EF4-FFF2-40B4-BE49-F238E27FC236}">
                <a16:creationId xmlns:a16="http://schemas.microsoft.com/office/drawing/2014/main" id="{59E66596-F113-878F-7C82-98799C4D8CE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0861" b="-10861"/>
          <a:stretch>
            <a:fillRect/>
          </a:stretch>
        </p:blipFill>
        <p:spPr>
          <a:xfrm>
            <a:off x="1468438" y="2132013"/>
            <a:ext cx="6388100" cy="3517900"/>
          </a:xfr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>
            <a:extLst>
              <a:ext uri="{FF2B5EF4-FFF2-40B4-BE49-F238E27FC236}">
                <a16:creationId xmlns:a16="http://schemas.microsoft.com/office/drawing/2014/main" id="{69A24CCC-AE1B-F1D0-EDB2-C64D3BFBAD3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 dirty="0">
                <a:ea typeface="ＭＳ Ｐゴシック" panose="020B0600070205080204" pitchFamily="34" charset="-128"/>
              </a:rPr>
              <a:t>Types of VMs – Type 1 Hypervisor</a:t>
            </a:r>
          </a:p>
        </p:txBody>
      </p:sp>
      <p:sp>
        <p:nvSpPr>
          <p:cNvPr id="30722" name="Content Placeholder 2">
            <a:extLst>
              <a:ext uri="{FF2B5EF4-FFF2-40B4-BE49-F238E27FC236}">
                <a16:creationId xmlns:a16="http://schemas.microsoft.com/office/drawing/2014/main" id="{CD3D4915-E361-61B3-D000-39117C85C8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sz="1600" dirty="0">
                <a:ea typeface="ＭＳ Ｐゴシック" panose="020B0600070205080204" pitchFamily="34" charset="-128"/>
              </a:rPr>
              <a:t>Commonly found in company datacenters (known as </a:t>
            </a:r>
            <a:r>
              <a:rPr lang="en-US" altLang="sk-SK" sz="1600" b="1" dirty="0">
                <a:ea typeface="ＭＳ Ｐゴシック" panose="020B0600070205080204" pitchFamily="34" charset="-128"/>
              </a:rPr>
              <a:t>bare-metal</a:t>
            </a:r>
            <a:r>
              <a:rPr lang="en-US" altLang="sk-SK" sz="1600" dirty="0">
                <a:ea typeface="ＭＳ Ｐゴシック" panose="020B0600070205080204" pitchFamily="34" charset="-128"/>
              </a:rPr>
              <a:t> or </a:t>
            </a:r>
            <a:r>
              <a:rPr lang="en-US" altLang="sk-SK" sz="1600" b="1" dirty="0">
                <a:ea typeface="ＭＳ Ｐゴシック" panose="020B0600070205080204" pitchFamily="34" charset="-128"/>
              </a:rPr>
              <a:t>native </a:t>
            </a:r>
            <a:r>
              <a:rPr lang="en-US" altLang="sk-SK" sz="1600" b="1" dirty="0" err="1">
                <a:ea typeface="ＭＳ Ｐゴシック" panose="020B0600070205080204" pitchFamily="34" charset="-128"/>
              </a:rPr>
              <a:t>hyperv</a:t>
            </a:r>
            <a:r>
              <a:rPr lang="en-US" altLang="sk-SK" sz="1600" b="1" dirty="0">
                <a:ea typeface="ＭＳ Ｐゴシック" panose="020B0600070205080204" pitchFamily="34" charset="-128"/>
              </a:rPr>
              <a:t>.</a:t>
            </a:r>
            <a:r>
              <a:rPr lang="en-US" altLang="sk-SK" sz="1600" dirty="0">
                <a:ea typeface="ＭＳ Ｐゴシック" panose="020B0600070205080204" pitchFamily="34" charset="-128"/>
              </a:rPr>
              <a:t>)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In a sense becoming </a:t>
            </a:r>
            <a:r>
              <a:rPr lang="en-US" altLang="en-US" sz="1600" dirty="0">
                <a:ea typeface="ＭＳ Ｐゴシック" panose="020B0600070205080204" pitchFamily="34" charset="-128"/>
              </a:rPr>
              <a:t>“</a:t>
            </a:r>
            <a:r>
              <a:rPr lang="en-US" altLang="sk-SK" sz="1600" dirty="0">
                <a:ea typeface="ＭＳ Ｐゴシック" panose="020B0600070205080204" pitchFamily="34" charset="-128"/>
              </a:rPr>
              <a:t>datacenter operating systems</a:t>
            </a:r>
            <a:r>
              <a:rPr lang="en-US" altLang="en-US" sz="1600" dirty="0">
                <a:ea typeface="ＭＳ Ｐゴシック" panose="020B0600070205080204" pitchFamily="34" charset="-128"/>
              </a:rPr>
              <a:t>”</a:t>
            </a:r>
            <a:endParaRPr lang="en-US" altLang="sk-SK" sz="1600" dirty="0">
              <a:ea typeface="ＭＳ Ｐゴシック" panose="020B0600070205080204" pitchFamily="34" charset="-128"/>
            </a:endParaRPr>
          </a:p>
          <a:p>
            <a:pPr lvl="2"/>
            <a:r>
              <a:rPr lang="en-US" altLang="sk-SK" sz="1600" dirty="0">
                <a:ea typeface="ＭＳ Ｐゴシック" panose="020B0600070205080204" pitchFamily="34" charset="-128"/>
              </a:rPr>
              <a:t>Datacenter managers control and manage OSes in new, sophisticated ways by controlling the Type 1 hypervisor</a:t>
            </a:r>
          </a:p>
          <a:p>
            <a:pPr lvl="2"/>
            <a:r>
              <a:rPr lang="en-US" altLang="sk-SK" sz="1600" dirty="0">
                <a:ea typeface="ＭＳ Ｐゴシック" panose="020B0600070205080204" pitchFamily="34" charset="-128"/>
              </a:rPr>
              <a:t>Consolidation of multiple OSes and apps onto less HW</a:t>
            </a:r>
          </a:p>
          <a:p>
            <a:pPr lvl="2"/>
            <a:r>
              <a:rPr lang="en-US" altLang="sk-SK" sz="1600" dirty="0">
                <a:ea typeface="ＭＳ Ｐゴシック" panose="020B0600070205080204" pitchFamily="34" charset="-128"/>
              </a:rPr>
              <a:t>Move guests between systems to balance performance</a:t>
            </a:r>
          </a:p>
          <a:p>
            <a:pPr lvl="2"/>
            <a:r>
              <a:rPr lang="en-US" altLang="sk-SK" sz="1600" dirty="0">
                <a:ea typeface="ＭＳ Ｐゴシック" panose="020B0600070205080204" pitchFamily="34" charset="-128"/>
              </a:rPr>
              <a:t>Snapshots and cloning</a:t>
            </a:r>
          </a:p>
          <a:p>
            <a:r>
              <a:rPr lang="en-US" altLang="sk-SK" sz="1600" dirty="0">
                <a:ea typeface="ＭＳ Ｐゴシック" panose="020B0600070205080204" pitchFamily="34" charset="-128"/>
              </a:rPr>
              <a:t>Special purpose operating systems that run natively on HW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Rather than providing system call interface, create run and manage guest OSes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Can run on Type 0 hypervisors but not on other Type 1s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Run in kernel mode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Guests generally don</a:t>
            </a:r>
            <a:r>
              <a:rPr lang="en-US" altLang="en-US" sz="1600" dirty="0">
                <a:ea typeface="ＭＳ Ｐゴシック" panose="020B0600070205080204" pitchFamily="34" charset="-128"/>
              </a:rPr>
              <a:t>’</a:t>
            </a:r>
            <a:r>
              <a:rPr lang="en-US" altLang="sk-SK" sz="1600" dirty="0">
                <a:ea typeface="ＭＳ Ｐゴシック" panose="020B0600070205080204" pitchFamily="34" charset="-128"/>
              </a:rPr>
              <a:t>t know they are running in a VM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Implement device drivers for host HW because no other component can</a:t>
            </a:r>
          </a:p>
          <a:p>
            <a:pPr lvl="1"/>
            <a:r>
              <a:rPr lang="en-US" altLang="sk-SK" sz="1600" dirty="0">
                <a:ea typeface="ＭＳ Ｐゴシック" panose="020B0600070205080204" pitchFamily="34" charset="-128"/>
              </a:rPr>
              <a:t>Also provide other traditional OS services like CPU and memory management</a:t>
            </a:r>
          </a:p>
          <a:p>
            <a:pPr lvl="2"/>
            <a:endParaRPr lang="en-US" altLang="sk-SK" sz="1600" dirty="0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 sz="1600" dirty="0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Title 1">
            <a:extLst>
              <a:ext uri="{FF2B5EF4-FFF2-40B4-BE49-F238E27FC236}">
                <a16:creationId xmlns:a16="http://schemas.microsoft.com/office/drawing/2014/main" id="{D9CFCFAC-573A-C7E1-B338-BE0CA0940D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 dirty="0">
                <a:ea typeface="ＭＳ Ｐゴシック" panose="020B0600070205080204" pitchFamily="34" charset="-128"/>
              </a:rPr>
              <a:t>Types of VMs – Type 1 Hypervisor (cont.)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70C2E9EB-87A5-1CE9-DE33-9E0FC1F3C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sz="1600" dirty="0">
                <a:ea typeface="ＭＳ Ｐゴシック" charset="0"/>
              </a:rPr>
              <a:t>Another variation is a general purpose OS that also provides VMM functionality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RedHat Enterprise Linux with </a:t>
            </a:r>
            <a:r>
              <a:rPr lang="en-US" dirty="0"/>
              <a:t>KVM</a:t>
            </a:r>
            <a:r>
              <a:rPr lang="en-US" sz="1600" dirty="0">
                <a:ea typeface="ＭＳ Ｐゴシック" charset="0"/>
              </a:rPr>
              <a:t>, Windows with </a:t>
            </a:r>
            <a:r>
              <a:rPr lang="en-US" dirty="0"/>
              <a:t>Hyper-V</a:t>
            </a:r>
            <a:r>
              <a:rPr lang="en-US" sz="1600" dirty="0">
                <a:ea typeface="ＭＳ Ｐゴシック" charset="0"/>
              </a:rPr>
              <a:t>, Oracle Solaris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Perform normal duties as well as VMM duties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Typically </a:t>
            </a:r>
            <a:r>
              <a:rPr lang="en-US" sz="1600" u="sng" dirty="0">
                <a:ea typeface="ＭＳ Ｐゴシック" charset="0"/>
              </a:rPr>
              <a:t>less feature rich than dedicated Type 1 hypervisors </a:t>
            </a:r>
          </a:p>
          <a:p>
            <a:pPr lvl="1">
              <a:buFont typeface="Monotype Sorts" charset="0"/>
              <a:buChar char="l"/>
              <a:defRPr/>
            </a:pPr>
            <a:endParaRPr lang="en-US" sz="1600" dirty="0">
              <a:ea typeface="ＭＳ Ｐゴシック" charset="0"/>
            </a:endParaRPr>
          </a:p>
          <a:p>
            <a:pPr>
              <a:buFont typeface="Monotype Sorts" charset="0"/>
              <a:buChar char="n"/>
              <a:defRPr/>
            </a:pPr>
            <a:r>
              <a:rPr lang="en-US" sz="1600" dirty="0">
                <a:ea typeface="ＭＳ Ｐゴシック" charset="0"/>
              </a:rPr>
              <a:t>In many ways, treat guests </a:t>
            </a:r>
            <a:r>
              <a:rPr lang="en-US" sz="1600" dirty="0" err="1">
                <a:ea typeface="ＭＳ Ｐゴシック" charset="0"/>
              </a:rPr>
              <a:t>OSes</a:t>
            </a:r>
            <a:r>
              <a:rPr lang="en-US" sz="1600" dirty="0">
                <a:ea typeface="ＭＳ Ｐゴシック" charset="0"/>
              </a:rPr>
              <a:t> as just another process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Albeit with special handling when guest tries to execute special instructions</a:t>
            </a:r>
          </a:p>
          <a:p>
            <a:pPr lvl="1">
              <a:buFont typeface="Monotype Sorts" charset="0"/>
              <a:buChar char="l"/>
              <a:defRPr/>
            </a:pPr>
            <a:endParaRPr lang="en-US" sz="1600" dirty="0">
              <a:ea typeface="ＭＳ Ｐゴシック" charset="0"/>
            </a:endParaRPr>
          </a:p>
          <a:p>
            <a:pPr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Type 1 hypervisors 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 err="1">
                <a:ea typeface="ＭＳ Ｐゴシック" charset="0"/>
              </a:rPr>
              <a:t>Vmware</a:t>
            </a:r>
            <a:r>
              <a:rPr lang="en-US" sz="1600" dirty="0">
                <a:ea typeface="ＭＳ Ｐゴシック" charset="0"/>
              </a:rPr>
              <a:t> </a:t>
            </a:r>
            <a:r>
              <a:rPr lang="en-US" sz="1600" dirty="0" err="1">
                <a:ea typeface="ＭＳ Ｐゴシック" charset="0"/>
              </a:rPr>
              <a:t>ESXi</a:t>
            </a:r>
            <a:endParaRPr lang="en-US" sz="1600" dirty="0">
              <a:ea typeface="ＭＳ Ｐゴシック" charset="0"/>
            </a:endParaRP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Citrix Hypervisor (also known as </a:t>
            </a:r>
            <a:r>
              <a:rPr lang="en-US" sz="1600" dirty="0" err="1">
                <a:ea typeface="ＭＳ Ｐゴシック" charset="0"/>
              </a:rPr>
              <a:t>XenServer</a:t>
            </a:r>
            <a:r>
              <a:rPr lang="en-US" sz="1600" dirty="0">
                <a:ea typeface="ＭＳ Ｐゴシック" charset="0"/>
              </a:rPr>
              <a:t>)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Microsoft Hyper-V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sz="1600" dirty="0">
                <a:ea typeface="ＭＳ Ｐゴシック" charset="0"/>
              </a:rPr>
              <a:t>KVM </a:t>
            </a:r>
            <a:r>
              <a:rPr lang="sk-SK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 Linux-</a:t>
            </a:r>
            <a:r>
              <a:rPr lang="sk-SK" sz="16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based</a:t>
            </a:r>
            <a:r>
              <a:rPr lang="sk-SK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 type-1 </a:t>
            </a:r>
            <a:r>
              <a:rPr lang="sk-SK" sz="16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hypervisor</a:t>
            </a:r>
            <a:endParaRPr lang="sk-SK" sz="16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Inter"/>
            </a:endParaRPr>
          </a:p>
          <a:p>
            <a:pPr lvl="2">
              <a:buFont typeface="Monotype Sorts" charset="0"/>
              <a:buChar char="l"/>
              <a:defRPr/>
            </a:pPr>
            <a:r>
              <a:rPr lang="sk-SK" sz="1600" i="0" dirty="0" err="1">
                <a:solidFill>
                  <a:srgbClr val="06243A"/>
                </a:solidFill>
                <a:effectLst/>
                <a:highlight>
                  <a:srgbClr val="FFFFFF"/>
                </a:highlight>
                <a:latin typeface="Inter"/>
              </a:rPr>
              <a:t>Red</a:t>
            </a:r>
            <a:r>
              <a:rPr lang="sk-SK" sz="1600" i="0" dirty="0">
                <a:solidFill>
                  <a:srgbClr val="06243A"/>
                </a:solidFill>
                <a:effectLst/>
                <a:highlight>
                  <a:srgbClr val="FFFFFF"/>
                </a:highlight>
                <a:latin typeface="Inter"/>
              </a:rPr>
              <a:t> </a:t>
            </a:r>
            <a:r>
              <a:rPr lang="sk-SK" sz="1600" i="0" dirty="0" err="1">
                <a:solidFill>
                  <a:srgbClr val="06243A"/>
                </a:solidFill>
                <a:effectLst/>
                <a:highlight>
                  <a:srgbClr val="FFFFFF"/>
                </a:highlight>
                <a:latin typeface="Inter"/>
              </a:rPr>
              <a:t>Hat</a:t>
            </a:r>
            <a:r>
              <a:rPr lang="sk-SK" sz="1600" i="0" dirty="0">
                <a:solidFill>
                  <a:srgbClr val="06243A"/>
                </a:solidFill>
                <a:effectLst/>
                <a:highlight>
                  <a:srgbClr val="FFFFFF"/>
                </a:highlight>
                <a:latin typeface="Inter"/>
              </a:rPr>
              <a:t> Enterprise </a:t>
            </a:r>
            <a:r>
              <a:rPr lang="sk-SK" sz="1600" i="0" dirty="0" err="1">
                <a:solidFill>
                  <a:srgbClr val="06243A"/>
                </a:solidFill>
                <a:effectLst/>
                <a:highlight>
                  <a:srgbClr val="FFFFFF"/>
                </a:highlight>
                <a:latin typeface="Inter"/>
              </a:rPr>
              <a:t>Virtualization</a:t>
            </a:r>
            <a:r>
              <a:rPr lang="sk-SK" sz="1600" i="0" dirty="0">
                <a:solidFill>
                  <a:srgbClr val="06243A"/>
                </a:solidFill>
                <a:effectLst/>
                <a:highlight>
                  <a:srgbClr val="FFFFFF"/>
                </a:highlight>
                <a:latin typeface="Inter"/>
              </a:rPr>
              <a:t> (RHEV) </a:t>
            </a:r>
            <a:r>
              <a:rPr lang="sk-SK" sz="16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is</a:t>
            </a:r>
            <a:r>
              <a:rPr lang="sk-SK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 a </a:t>
            </a:r>
            <a:r>
              <a:rPr lang="sk-SK" sz="16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commercial</a:t>
            </a:r>
            <a:r>
              <a:rPr lang="sk-SK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 </a:t>
            </a:r>
            <a:r>
              <a:rPr lang="sk-SK" sz="16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implementation</a:t>
            </a:r>
            <a:r>
              <a:rPr lang="sk-SK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 of </a:t>
            </a:r>
            <a:r>
              <a:rPr lang="sk-SK" sz="1600" b="0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the</a:t>
            </a:r>
            <a:r>
              <a:rPr lang="sk-SK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Inter"/>
              </a:rPr>
              <a:t> KVM </a:t>
            </a:r>
            <a:endParaRPr lang="sk-SK" sz="1600" b="1" i="0" dirty="0">
              <a:solidFill>
                <a:srgbClr val="06243A"/>
              </a:solidFill>
              <a:effectLst/>
              <a:highlight>
                <a:srgbClr val="FFFFFF"/>
              </a:highlight>
              <a:latin typeface="Inter"/>
            </a:endParaRPr>
          </a:p>
          <a:p>
            <a:pPr marL="857250" lvl="2" indent="0">
              <a:buNone/>
              <a:defRPr/>
            </a:pPr>
            <a:endParaRPr lang="en-US" sz="1600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sz="1600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sz="1600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850A6B22-C5CE-EEA5-14A9-39839791FCA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 dirty="0">
                <a:ea typeface="ＭＳ Ｐゴシック" panose="020B0600070205080204" pitchFamily="34" charset="-128"/>
              </a:rPr>
              <a:t>Types of VMs – Type 2 Hypervisor</a:t>
            </a:r>
          </a:p>
        </p:txBody>
      </p:sp>
      <p:sp>
        <p:nvSpPr>
          <p:cNvPr id="32770" name="Content Placeholder 2">
            <a:extLst>
              <a:ext uri="{FF2B5EF4-FFF2-40B4-BE49-F238E27FC236}">
                <a16:creationId xmlns:a16="http://schemas.microsoft.com/office/drawing/2014/main" id="{726AB493-D4C5-27A4-2006-BB054FA4B8C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Less interesting from an OS perspective 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Very little OS involvement in virtualization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VMM is simply another process, run and managed by host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Even the host doesn</a:t>
            </a:r>
            <a:r>
              <a:rPr lang="en-US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sk-SK" dirty="0">
                <a:ea typeface="ＭＳ Ｐゴシック" panose="020B0600070205080204" pitchFamily="34" charset="-128"/>
              </a:rPr>
              <a:t>t know they are a VMM running guests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Tend to have poorer overall performance because can</a:t>
            </a:r>
            <a:r>
              <a:rPr lang="en-US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sk-SK" dirty="0">
                <a:ea typeface="ＭＳ Ｐゴシック" panose="020B0600070205080204" pitchFamily="34" charset="-128"/>
              </a:rPr>
              <a:t>t take advantage of some HW features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But also a benefit because require no changes to host OS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Student could have Type 2 hypervisor on native host, run multiple guests, all on standard host OS such as Windows, Linux, MacOS</a:t>
            </a:r>
          </a:p>
          <a:p>
            <a:r>
              <a:rPr lang="en-US" altLang="sk-SK" dirty="0"/>
              <a:t>Type 2 hypervisors</a:t>
            </a:r>
          </a:p>
          <a:p>
            <a:pPr lvl="1"/>
            <a:r>
              <a:rPr lang="en-US" altLang="sk-SK" dirty="0"/>
              <a:t>Oracle VM VirtualBox</a:t>
            </a:r>
          </a:p>
          <a:p>
            <a:pPr lvl="1"/>
            <a:r>
              <a:rPr lang="en-US" altLang="sk-SK" dirty="0" err="1"/>
              <a:t>Vmware</a:t>
            </a:r>
            <a:r>
              <a:rPr lang="en-US" altLang="sk-SK" dirty="0"/>
              <a:t> workstation Pro/</a:t>
            </a:r>
            <a:r>
              <a:rPr lang="en-US" altLang="sk-SK" dirty="0" err="1"/>
              <a:t>Wmware</a:t>
            </a:r>
            <a:r>
              <a:rPr lang="en-US" altLang="sk-SK" dirty="0"/>
              <a:t> Fusion</a:t>
            </a:r>
          </a:p>
          <a:p>
            <a:pPr lvl="1"/>
            <a:r>
              <a:rPr lang="en-US" altLang="sk-SK" dirty="0"/>
              <a:t>Windows Virtual PC</a:t>
            </a:r>
          </a:p>
          <a:p>
            <a:pPr lvl="1"/>
            <a:r>
              <a:rPr lang="en-US" altLang="sk-SK" dirty="0"/>
              <a:t>Parallels Desktop</a:t>
            </a:r>
          </a:p>
          <a:p>
            <a:pPr lvl="1"/>
            <a:r>
              <a:rPr lang="en-US" altLang="sk-SK" dirty="0"/>
              <a:t>QEMU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Title 1">
            <a:extLst>
              <a:ext uri="{FF2B5EF4-FFF2-40B4-BE49-F238E27FC236}">
                <a16:creationId xmlns:a16="http://schemas.microsoft.com/office/drawing/2014/main" id="{5BDDD334-43A6-5E29-48A5-5A9FB5FFEA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 dirty="0">
                <a:ea typeface="ＭＳ Ｐゴシック" panose="020B0600070205080204" pitchFamily="34" charset="-128"/>
              </a:rPr>
              <a:t>Types of VMs – Paravirtualization (obsolete)</a:t>
            </a:r>
          </a:p>
        </p:txBody>
      </p:sp>
      <p:sp>
        <p:nvSpPr>
          <p:cNvPr id="33794" name="Content Placeholder 2">
            <a:extLst>
              <a:ext uri="{FF2B5EF4-FFF2-40B4-BE49-F238E27FC236}">
                <a16:creationId xmlns:a16="http://schemas.microsoft.com/office/drawing/2014/main" id="{AEE53818-E5ED-44BB-22BE-A25C439218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dirty="0">
                <a:ea typeface="ＭＳ Ｐゴシック" panose="020B0600070205080204" pitchFamily="34" charset="-128"/>
              </a:rPr>
              <a:t>Does not fit the definition of virtualization – </a:t>
            </a:r>
            <a:r>
              <a:rPr lang="en-US" altLang="sk-SK" b="1" dirty="0">
                <a:ea typeface="ＭＳ Ｐゴシック" panose="020B0600070205080204" pitchFamily="34" charset="-128"/>
              </a:rPr>
              <a:t>VMM not presenting an exact duplication of underlying hardware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But still useful!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VMM provides services that </a:t>
            </a:r>
            <a:r>
              <a:rPr lang="en-US" altLang="sk-SK" b="1" dirty="0">
                <a:ea typeface="ＭＳ Ｐゴシック" panose="020B0600070205080204" pitchFamily="34" charset="-128"/>
              </a:rPr>
              <a:t>guest must be modified to use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Leads to increased performance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Less needed as hardware support for VMs grows</a:t>
            </a:r>
          </a:p>
          <a:p>
            <a:r>
              <a:rPr lang="en-US" altLang="sk-SK" dirty="0">
                <a:ea typeface="ＭＳ Ｐゴシック" panose="020B0600070205080204" pitchFamily="34" charset="-128"/>
              </a:rPr>
              <a:t>Xen, leader in </a:t>
            </a:r>
            <a:r>
              <a:rPr lang="en-US" altLang="sk-SK" dirty="0" err="1">
                <a:ea typeface="ＭＳ Ｐゴシック" panose="020B0600070205080204" pitchFamily="34" charset="-128"/>
              </a:rPr>
              <a:t>paravirtualized</a:t>
            </a:r>
            <a:r>
              <a:rPr lang="en-US" altLang="sk-SK" dirty="0">
                <a:ea typeface="ＭＳ Ｐゴシック" panose="020B0600070205080204" pitchFamily="34" charset="-128"/>
              </a:rPr>
              <a:t> space, adds several techniques 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For example, clean and simple device abstractions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Efficient I/O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Good communication between guest and VMM about device I/O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Each device has circular buffer shared by guest and VMM via shared memory</a:t>
            </a:r>
          </a:p>
          <a:p>
            <a:pPr lvl="2"/>
            <a:endParaRPr lang="en-US" altLang="sk-SK" dirty="0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 dirty="0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7" name="Title 1">
            <a:extLst>
              <a:ext uri="{FF2B5EF4-FFF2-40B4-BE49-F238E27FC236}">
                <a16:creationId xmlns:a16="http://schemas.microsoft.com/office/drawing/2014/main" id="{528DA442-AD3C-1423-88BA-4F83EDD40E1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Xen I/O via Shared Circular Buffer</a:t>
            </a:r>
          </a:p>
        </p:txBody>
      </p:sp>
      <p:pic>
        <p:nvPicPr>
          <p:cNvPr id="34818" name="Content Placeholder 3" descr="16_06.pdf">
            <a:extLst>
              <a:ext uri="{FF2B5EF4-FFF2-40B4-BE49-F238E27FC236}">
                <a16:creationId xmlns:a16="http://schemas.microsoft.com/office/drawing/2014/main" id="{667C160B-E5F3-583E-0887-E02D59560A7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73" r="-5573"/>
          <a:stretch>
            <a:fillRect/>
          </a:stretch>
        </p:blipFill>
        <p:spPr>
          <a:xfrm>
            <a:off x="655638" y="1296988"/>
            <a:ext cx="8229600" cy="4530725"/>
          </a:xfr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1" name="Title 1">
            <a:extLst>
              <a:ext uri="{FF2B5EF4-FFF2-40B4-BE49-F238E27FC236}">
                <a16:creationId xmlns:a16="http://schemas.microsoft.com/office/drawing/2014/main" id="{72FCCC03-CA22-F61B-D52D-5C3F67333A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000">
                <a:ea typeface="ＭＳ Ｐゴシック" panose="020B0600070205080204" pitchFamily="34" charset="-128"/>
              </a:rPr>
              <a:t>Types of VMs – Paravirtualization (cont.)</a:t>
            </a:r>
          </a:p>
        </p:txBody>
      </p:sp>
      <p:sp>
        <p:nvSpPr>
          <p:cNvPr id="35842" name="Content Placeholder 2">
            <a:extLst>
              <a:ext uri="{FF2B5EF4-FFF2-40B4-BE49-F238E27FC236}">
                <a16:creationId xmlns:a16="http://schemas.microsoft.com/office/drawing/2014/main" id="{64CACF9A-5106-9037-8044-342B9514FE3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altLang="sk-SK">
                <a:ea typeface="ＭＳ Ｐゴシック" panose="020B0600070205080204" pitchFamily="34" charset="-128"/>
              </a:rPr>
              <a:t>Memory management does not include nested page tables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Each guest has own read-only tables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Guest uses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hypercall</a:t>
            </a:r>
            <a:r>
              <a:rPr lang="en-US" altLang="sk-SK">
                <a:ea typeface="ＭＳ Ｐゴシック" panose="020B0600070205080204" pitchFamily="34" charset="-128"/>
              </a:rPr>
              <a:t> (call to hypervisor) when page-table changes needed</a:t>
            </a:r>
          </a:p>
          <a:p>
            <a:r>
              <a:rPr lang="en-US" altLang="sk-SK" b="1">
                <a:ea typeface="ＭＳ Ｐゴシック" panose="020B0600070205080204" pitchFamily="34" charset="-128"/>
              </a:rPr>
              <a:t>Paravirtualization allowed virtualization of older x86 CPUs </a:t>
            </a:r>
            <a:r>
              <a:rPr lang="en-US" altLang="sk-SK">
                <a:ea typeface="ＭＳ Ｐゴシック" panose="020B0600070205080204" pitchFamily="34" charset="-128"/>
              </a:rPr>
              <a:t>(and others) without binary translation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Guest had to be modified to use run on paravirtualized VMM</a:t>
            </a:r>
          </a:p>
          <a:p>
            <a:r>
              <a:rPr lang="en-US" altLang="sk-SK">
                <a:solidFill>
                  <a:schemeClr val="accent1"/>
                </a:solidFill>
                <a:ea typeface="ＭＳ Ｐゴシック" panose="020B0600070205080204" pitchFamily="34" charset="-128"/>
              </a:rPr>
              <a:t>But on modern CPUs Xen no longer requires guest modification -&gt; no longer paravirtualization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>
            <a:extLst>
              <a:ext uri="{FF2B5EF4-FFF2-40B4-BE49-F238E27FC236}">
                <a16:creationId xmlns:a16="http://schemas.microsoft.com/office/drawing/2014/main" id="{E4D6B1DA-0908-D4E2-B3BE-516634EBB7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000">
                <a:ea typeface="ＭＳ Ｐゴシック" panose="020B0600070205080204" pitchFamily="34" charset="-128"/>
              </a:rPr>
              <a:t>Types of VMs – Programming Environment Virtualization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AFF55694-8DE0-F39C-5BCF-FEB6E2B3E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Also not-really-virtualization but using same techniques, providing similar features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Programming language is designed to run within custom-built virtualized environment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For example Oracle Java has many features that depend on running in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Java Virtual Machine</a:t>
            </a:r>
            <a:r>
              <a:rPr lang="en-US" dirty="0">
                <a:ea typeface="ＭＳ Ｐゴシック" charset="0"/>
              </a:rPr>
              <a:t> (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JVM</a:t>
            </a:r>
            <a:r>
              <a:rPr lang="en-US" dirty="0">
                <a:ea typeface="ＭＳ Ｐゴシック" charset="0"/>
              </a:rPr>
              <a:t>)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In this case virtualization is defined as providing APIs that define a set of features made available to a language and programs written in that language to provide an improved execution environment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JVM compiled to run on many systems (including some smart phones even)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Programs written in Java run in the JVM no matter the underlying system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Similar to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interpreted languages</a:t>
            </a:r>
          </a:p>
          <a:p>
            <a:pPr lvl="1">
              <a:buFont typeface="Monotype Sorts" charset="0"/>
              <a:buChar char="l"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89" name="Title 1">
            <a:extLst>
              <a:ext uri="{FF2B5EF4-FFF2-40B4-BE49-F238E27FC236}">
                <a16:creationId xmlns:a16="http://schemas.microsoft.com/office/drawing/2014/main" id="{B0F768C2-C32C-ABC8-F08D-110E69F6216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Types of VMs – Emulation</a:t>
            </a:r>
          </a:p>
        </p:txBody>
      </p:sp>
      <p:sp>
        <p:nvSpPr>
          <p:cNvPr id="37890" name="Content Placeholder 2">
            <a:extLst>
              <a:ext uri="{FF2B5EF4-FFF2-40B4-BE49-F238E27FC236}">
                <a16:creationId xmlns:a16="http://schemas.microsoft.com/office/drawing/2014/main" id="{E1DBB3FC-1700-1C9E-4CDC-D04403E9EF3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Another (older) way for running one operating system on a different operating system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Virtualization requires underlying CPU to be same as guest was compiled for</a:t>
            </a:r>
          </a:p>
          <a:p>
            <a:pPr lvl="1"/>
            <a:r>
              <a:rPr lang="en-US" altLang="sk-SK">
                <a:solidFill>
                  <a:schemeClr val="accent1"/>
                </a:solidFill>
                <a:ea typeface="ＭＳ Ｐゴシック" panose="020B0600070205080204" pitchFamily="34" charset="-128"/>
              </a:rPr>
              <a:t>Emulation allows guest to run on different CPU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Necessary to translate all guest instructions from guest CPU to native CPU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Emulation, not virtualization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Useful when host system has one architecture, guest compiled for other architecture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Company replacing outdated servers with new servers containing different CPU architecture, but still want to run old applications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Performance challenge – order of magnitude slower than native code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New machines faster than older machines so can reduce slowdown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Very popular – especially in gaming where old consoles emulated on new</a:t>
            </a:r>
          </a:p>
          <a:p>
            <a:pPr lvl="1"/>
            <a:endParaRPr lang="en-US" altLang="sk-SK">
              <a:ea typeface="ＭＳ Ｐゴシック" panose="020B0600070205080204" pitchFamily="34" charset="-128"/>
            </a:endParaRPr>
          </a:p>
          <a:p>
            <a:pPr lvl="2"/>
            <a:endParaRPr lang="en-US" altLang="sk-SK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Title 1">
            <a:extLst>
              <a:ext uri="{FF2B5EF4-FFF2-40B4-BE49-F238E27FC236}">
                <a16:creationId xmlns:a16="http://schemas.microsoft.com/office/drawing/2014/main" id="{989D08BD-65B3-EACA-DB0E-2D4E88E7DEB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52450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Types of VMs – Application Containment</a:t>
            </a:r>
          </a:p>
        </p:txBody>
      </p:sp>
      <p:sp>
        <p:nvSpPr>
          <p:cNvPr id="38914" name="Content Placeholder 2">
            <a:extLst>
              <a:ext uri="{FF2B5EF4-FFF2-40B4-BE49-F238E27FC236}">
                <a16:creationId xmlns:a16="http://schemas.microsoft.com/office/drawing/2014/main" id="{C109145F-2001-2B10-03C8-AAD6E54BC3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Some goals of virtualization are </a:t>
            </a:r>
            <a:r>
              <a:rPr lang="en-US" altLang="sk-SK">
                <a:solidFill>
                  <a:schemeClr val="accent1"/>
                </a:solidFill>
                <a:ea typeface="ＭＳ Ｐゴシック" panose="020B0600070205080204" pitchFamily="34" charset="-128"/>
              </a:rPr>
              <a:t>segregation of apps, performance and resource management</a:t>
            </a:r>
            <a:r>
              <a:rPr lang="en-US" altLang="sk-SK">
                <a:ea typeface="ＭＳ Ｐゴシック" panose="020B0600070205080204" pitchFamily="34" charset="-128"/>
              </a:rPr>
              <a:t>, easy start, stop, move, and management of them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Can do those things without full-fledged virtualization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If applications compiled for the host operating system, don</a:t>
            </a:r>
            <a:r>
              <a:rPr lang="en-US" altLang="en-US">
                <a:ea typeface="ＭＳ Ｐゴシック" panose="020B0600070205080204" pitchFamily="34" charset="-128"/>
              </a:rPr>
              <a:t>’</a:t>
            </a:r>
            <a:r>
              <a:rPr lang="en-US" altLang="sk-SK">
                <a:ea typeface="ＭＳ Ｐゴシック" panose="020B0600070205080204" pitchFamily="34" charset="-128"/>
              </a:rPr>
              <a:t>t need full virtualization to meet these goals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Oracle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containers</a:t>
            </a:r>
            <a:r>
              <a:rPr lang="en-US" altLang="sk-SK">
                <a:ea typeface="ＭＳ Ｐゴシック" panose="020B0600070205080204" pitchFamily="34" charset="-128"/>
              </a:rPr>
              <a:t> /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zones</a:t>
            </a:r>
            <a:r>
              <a:rPr lang="en-US" altLang="sk-SK">
                <a:ea typeface="ＭＳ Ｐゴシック" panose="020B0600070205080204" pitchFamily="34" charset="-128"/>
              </a:rPr>
              <a:t> for example create virtual layer between OS and apps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Only one kernel running – host OS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OS and devices are virtualized, providing resources within zone with impression that they are only processes on system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Each zone has its own applications; networking stack, addresses, and ports; user accounts, etc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CPU and memory resources divided between zones</a:t>
            </a:r>
          </a:p>
          <a:p>
            <a:pPr lvl="2"/>
            <a:r>
              <a:rPr lang="en-US" altLang="sk-SK">
                <a:ea typeface="ＭＳ Ｐゴシック" panose="020B0600070205080204" pitchFamily="34" charset="-128"/>
              </a:rPr>
              <a:t>Zone can have its own scheduler to use those resources</a:t>
            </a:r>
          </a:p>
          <a:p>
            <a:pPr lvl="1">
              <a:buFont typeface="Monotype Sorts" pitchFamily="2" charset="2"/>
              <a:buNone/>
            </a:pPr>
            <a:endParaRPr lang="en-US" altLang="sk-SK">
              <a:ea typeface="ＭＳ Ｐゴシック" panose="020B0600070205080204" pitchFamily="34" charset="-128"/>
            </a:endParaRPr>
          </a:p>
          <a:p>
            <a:pPr lvl="2"/>
            <a:endParaRPr lang="en-US" altLang="sk-SK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Title 1">
            <a:extLst>
              <a:ext uri="{FF2B5EF4-FFF2-40B4-BE49-F238E27FC236}">
                <a16:creationId xmlns:a16="http://schemas.microsoft.com/office/drawing/2014/main" id="{7FDD2B8E-7288-874A-5B77-42AE115603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Solaris 10 with Two Zones</a:t>
            </a:r>
          </a:p>
        </p:txBody>
      </p:sp>
      <p:pic>
        <p:nvPicPr>
          <p:cNvPr id="39938" name="Content Placeholder 3" descr="16_07.pdf">
            <a:extLst>
              <a:ext uri="{FF2B5EF4-FFF2-40B4-BE49-F238E27FC236}">
                <a16:creationId xmlns:a16="http://schemas.microsoft.com/office/drawing/2014/main" id="{A119F58E-4E43-96FF-58A0-4725DF47AE2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8374" r="-38374"/>
          <a:stretch>
            <a:fillRect/>
          </a:stretch>
        </p:blipFill>
        <p:spPr>
          <a:xfrm>
            <a:off x="615950" y="1503363"/>
            <a:ext cx="8229600" cy="4530725"/>
          </a:xfr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1" name="Title 1">
            <a:extLst>
              <a:ext uri="{FF2B5EF4-FFF2-40B4-BE49-F238E27FC236}">
                <a16:creationId xmlns:a16="http://schemas.microsoft.com/office/drawing/2014/main" id="{6E9A3EBE-BFE1-243E-6528-80E046B21E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Virtualization and Operating-System Components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5B3E6C8B-C0DD-ADCC-4DC2-779E87D96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endParaRPr lang="en-US" dirty="0">
              <a:ea typeface="ＭＳ Ｐゴシック" charset="0"/>
            </a:endParaRP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Now look at operating system aspects of virtualization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CPU scheduling, memory management, I/O, storage, and unique VM migration feature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How do VMMs schedule CPU use when guests believe they have dedicated CPUs?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How can memory management work when many guests require large amounts of memory?</a:t>
            </a:r>
          </a:p>
          <a:p>
            <a:pPr marL="857250" lvl="2" indent="0">
              <a:buFont typeface="Webding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marL="457200" lvl="1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1">
            <a:extLst>
              <a:ext uri="{FF2B5EF4-FFF2-40B4-BE49-F238E27FC236}">
                <a16:creationId xmlns:a16="http://schemas.microsoft.com/office/drawing/2014/main" id="{B25EDA91-9925-D511-9FB3-53E0675FA9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OS Component – CPU Scheduling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6D1AD75D-7DAB-BC26-CB02-3A659C81C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Even single-CPU systems act like multiprocessor ones when virtualized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One or more virtual CPUs per guest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Generally VMM has one or more physical CPUs and number of threads to run on them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Guests configured with certain number of VCPUs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Can be adjusted throughout life of VM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When enough CPUs for all guests -&gt; VMM can allocate dedicated CPUs, each guest much like native operating system managing its CPUs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Usually not enough CPUs -&gt; CPU </a:t>
            </a:r>
            <a:r>
              <a:rPr lang="en-US" b="1" dirty="0" err="1">
                <a:solidFill>
                  <a:srgbClr val="3366FF"/>
                </a:solidFill>
                <a:ea typeface="ＭＳ Ｐゴシック" charset="0"/>
                <a:cs typeface="ＭＳ Ｐゴシック" charset="0"/>
              </a:rPr>
              <a:t>overcommitment</a:t>
            </a:r>
            <a:endParaRPr lang="en-US" b="1" dirty="0">
              <a:solidFill>
                <a:srgbClr val="3366FF"/>
              </a:solidFill>
              <a:ea typeface="ＭＳ Ｐゴシック" charset="0"/>
              <a:cs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VMM can use standard scheduling algorithms to put threads on CPUs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Some add fairness aspect</a:t>
            </a: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>
            <a:extLst>
              <a:ext uri="{FF2B5EF4-FFF2-40B4-BE49-F238E27FC236}">
                <a16:creationId xmlns:a16="http://schemas.microsoft.com/office/drawing/2014/main" id="{1C198BAD-5281-EDE8-D908-BC37A35646C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OS Component – CPU Scheduling (cont.)</a:t>
            </a:r>
          </a:p>
        </p:txBody>
      </p:sp>
      <p:sp>
        <p:nvSpPr>
          <p:cNvPr id="43010" name="Content Placeholder 2">
            <a:extLst>
              <a:ext uri="{FF2B5EF4-FFF2-40B4-BE49-F238E27FC236}">
                <a16:creationId xmlns:a16="http://schemas.microsoft.com/office/drawing/2014/main" id="{514859F2-D828-4DEF-9DA8-1E3179D199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 b="1" dirty="0">
                <a:ea typeface="ＭＳ Ｐゴシック" panose="020B0600070205080204" pitchFamily="34" charset="-128"/>
              </a:rPr>
              <a:t>Cycle stealing </a:t>
            </a:r>
            <a:r>
              <a:rPr lang="en-US" altLang="sk-SK" dirty="0">
                <a:ea typeface="ＭＳ Ｐゴシック" panose="020B0600070205080204" pitchFamily="34" charset="-128"/>
              </a:rPr>
              <a:t>by VMM and </a:t>
            </a:r>
            <a:r>
              <a:rPr lang="en-US" altLang="sk-SK" b="1" dirty="0">
                <a:ea typeface="ＭＳ Ｐゴシック" panose="020B0600070205080204" pitchFamily="34" charset="-128"/>
              </a:rPr>
              <a:t>oversubscription</a:t>
            </a:r>
            <a:r>
              <a:rPr lang="en-US" altLang="sk-SK" dirty="0">
                <a:ea typeface="ＭＳ Ｐゴシック" panose="020B0600070205080204" pitchFamily="34" charset="-128"/>
              </a:rPr>
              <a:t> of CPUs means guests don</a:t>
            </a:r>
            <a:r>
              <a:rPr lang="en-US" altLang="en-US" dirty="0">
                <a:ea typeface="ＭＳ Ｐゴシック" panose="020B0600070205080204" pitchFamily="34" charset="-128"/>
              </a:rPr>
              <a:t>’</a:t>
            </a:r>
            <a:r>
              <a:rPr lang="en-US" altLang="sk-SK" dirty="0">
                <a:ea typeface="ＭＳ Ｐゴシック" panose="020B0600070205080204" pitchFamily="34" charset="-128"/>
              </a:rPr>
              <a:t>t get CPU cycles they expect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Consider timesharing scheduler in a guest trying to schedule 100ms time slices -&gt; each may take 100ms, 1 second, or longer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Poor response times for users of guest</a:t>
            </a:r>
          </a:p>
          <a:p>
            <a:pPr lvl="2"/>
            <a:r>
              <a:rPr lang="en-US" altLang="sk-SK" dirty="0">
                <a:ea typeface="ＭＳ Ｐゴシック" panose="020B0600070205080204" pitchFamily="34" charset="-128"/>
              </a:rPr>
              <a:t>Time-of-day clocks incorrect</a:t>
            </a:r>
          </a:p>
          <a:p>
            <a:pPr lvl="1"/>
            <a:r>
              <a:rPr lang="en-US" altLang="sk-SK" dirty="0">
                <a:ea typeface="ＭＳ Ｐゴシック" panose="020B0600070205080204" pitchFamily="34" charset="-128"/>
              </a:rPr>
              <a:t>Some VMMs provide application to run in each guest to fix time-of-day and </a:t>
            </a:r>
            <a:r>
              <a:rPr lang="en-US" altLang="sk-SK" b="1" dirty="0">
                <a:ea typeface="ＭＳ Ｐゴシック" panose="020B0600070205080204" pitchFamily="34" charset="-128"/>
              </a:rPr>
              <a:t>provide other integration features</a:t>
            </a:r>
          </a:p>
        </p:txBody>
      </p:sp>
      <p:sp>
        <p:nvSpPr>
          <p:cNvPr id="2" name="Šípka doprava 1">
            <a:extLst>
              <a:ext uri="{FF2B5EF4-FFF2-40B4-BE49-F238E27FC236}">
                <a16:creationId xmlns:a16="http://schemas.microsoft.com/office/drawing/2014/main" id="{EE3688B8-220B-060F-5E38-D05C15DE8D31}"/>
              </a:ext>
            </a:extLst>
          </p:cNvPr>
          <p:cNvSpPr/>
          <p:nvPr/>
        </p:nvSpPr>
        <p:spPr bwMode="auto">
          <a:xfrm>
            <a:off x="671513" y="2761672"/>
            <a:ext cx="889432" cy="212436"/>
          </a:xfrm>
          <a:prstGeom prst="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k-SK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4DCEA5E-E70E-CC01-145F-DD1F71E687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OS Component – Memory Management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D05A30D-CAD0-C98A-B283-9397F6905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Also suffers from oversubscription -&gt; requires extra management efficiency from VMM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For example, VMware ESX guests have a configured amount of physical memory, then ESX uses 3 methods of memory management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</a:rPr>
              <a:t>Double-paging, in which the guest page table indicates a page is in a physical frame but the VMM moves some of those pages to backing store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dirty="0">
                <a:ea typeface="ＭＳ Ｐゴシック" charset="0"/>
              </a:rPr>
              <a:t>Install a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  <a:cs typeface="ＭＳ Ｐゴシック" charset="0"/>
              </a:rPr>
              <a:t>pseudo-device driver </a:t>
            </a:r>
            <a:r>
              <a:rPr lang="en-US" dirty="0">
                <a:ea typeface="ＭＳ Ｐゴシック" charset="0"/>
              </a:rPr>
              <a:t>in each guest (it looks like a device driver to the guest kernel but really just adds kernel-mode code to the guest) </a:t>
            </a:r>
          </a:p>
          <a:p>
            <a:pPr marL="1143000" lvl="2" indent="-342900">
              <a:buFont typeface="Webdings" charset="0"/>
              <a:buChar char="4"/>
              <a:defRPr/>
            </a:pPr>
            <a:r>
              <a:rPr lang="en-US" b="1" dirty="0">
                <a:solidFill>
                  <a:srgbClr val="3366FF"/>
                </a:solidFill>
                <a:ea typeface="ＭＳ Ｐゴシック" charset="0"/>
                <a:cs typeface="ＭＳ Ｐゴシック" charset="0"/>
              </a:rPr>
              <a:t>Balloon</a:t>
            </a:r>
            <a:r>
              <a:rPr lang="en-US" dirty="0">
                <a:ea typeface="ＭＳ Ｐゴシック" charset="0"/>
              </a:rPr>
              <a:t> memory manager communicates with VMM and is told to allocate or </a:t>
            </a:r>
            <a:r>
              <a:rPr lang="en-US" dirty="0" err="1">
                <a:ea typeface="ＭＳ Ｐゴシック" charset="0"/>
              </a:rPr>
              <a:t>deallocate</a:t>
            </a:r>
            <a:r>
              <a:rPr lang="en-US" dirty="0">
                <a:ea typeface="ＭＳ Ｐゴシック" charset="0"/>
              </a:rPr>
              <a:t> memory to decrease or increase physical memory use of guest, causing guest OS to free or have more memory available</a:t>
            </a:r>
          </a:p>
          <a:p>
            <a:pPr marL="800100" lvl="1" indent="-342900">
              <a:buFont typeface="+mj-lt"/>
              <a:buAutoNum type="arabicPeriod"/>
              <a:defRPr/>
            </a:pPr>
            <a:r>
              <a:rPr lang="en-US" dirty="0" err="1">
                <a:ea typeface="ＭＳ Ｐゴシック" charset="0"/>
              </a:rPr>
              <a:t>Deduplication</a:t>
            </a:r>
            <a:r>
              <a:rPr lang="en-US" dirty="0">
                <a:ea typeface="ＭＳ Ｐゴシック" charset="0"/>
              </a:rPr>
              <a:t> by VMM determining if same page loaded more than once, memory mapping the same page into multiple guests</a:t>
            </a:r>
          </a:p>
          <a:p>
            <a:pPr marL="800100" lvl="1" indent="-342900">
              <a:buFont typeface="+mj-lt"/>
              <a:buAutoNum type="arabicPeriod"/>
              <a:defRPr/>
            </a:pPr>
            <a:endParaRPr lang="en-US" dirty="0">
              <a:ea typeface="ＭＳ Ｐゴシック" charset="0"/>
            </a:endParaRPr>
          </a:p>
          <a:p>
            <a:pPr marL="457200" lvl="1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7" name="Title 1">
            <a:extLst>
              <a:ext uri="{FF2B5EF4-FFF2-40B4-BE49-F238E27FC236}">
                <a16:creationId xmlns:a16="http://schemas.microsoft.com/office/drawing/2014/main" id="{5F1C0F46-D4EE-D1DF-0FD9-DB3502600A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OS Component – I/O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DE9FD9E1-EBC9-1F35-9836-EF94A0F62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Easier for VMMs to integrate with guests because I/O has lots of variation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Already somewhat segregated / flexible via device drivers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u="sng" dirty="0">
                <a:ea typeface="ＭＳ Ｐゴシック" charset="0"/>
              </a:rPr>
              <a:t>VMM can provide new devices and device drivers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But overall I/O is complicated for VMMs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Many short paths for I/O in standard </a:t>
            </a:r>
            <a:r>
              <a:rPr lang="en-US" dirty="0" err="1">
                <a:ea typeface="ＭＳ Ｐゴシック" charset="0"/>
              </a:rPr>
              <a:t>OSes</a:t>
            </a:r>
            <a:r>
              <a:rPr lang="en-US" dirty="0">
                <a:ea typeface="ＭＳ Ｐゴシック" charset="0"/>
              </a:rPr>
              <a:t> for improved performance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Less hypervisor needs to do for I/O for guests, the better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Possibilities include direct device access, DMA pass-through, direct interrupt delivery 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Again, HW support needed for these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Networking also complex as VMM and guests all need network access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VMM can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bridge</a:t>
            </a:r>
            <a:r>
              <a:rPr lang="en-US" dirty="0">
                <a:ea typeface="ＭＳ Ｐゴシック" charset="0"/>
              </a:rPr>
              <a:t> guest to network (allowing direct access)</a:t>
            </a:r>
          </a:p>
          <a:p>
            <a:pPr lvl="1">
              <a:buFont typeface="Monotype Sorts" charset="0"/>
              <a:buChar char="l"/>
              <a:defRPr/>
            </a:pPr>
            <a:r>
              <a:rPr lang="en-US" dirty="0">
                <a:ea typeface="ＭＳ Ｐゴシック" charset="0"/>
              </a:rPr>
              <a:t>And / or provide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network address translation </a:t>
            </a:r>
            <a:r>
              <a:rPr lang="en-US" dirty="0">
                <a:ea typeface="ＭＳ Ｐゴシック" charset="0"/>
              </a:rPr>
              <a:t>(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NAT</a:t>
            </a:r>
            <a:r>
              <a:rPr lang="en-US" dirty="0">
                <a:ea typeface="ＭＳ Ｐゴシック" charset="0"/>
              </a:rPr>
              <a:t>)</a:t>
            </a:r>
          </a:p>
          <a:p>
            <a:pPr lvl="2">
              <a:buFont typeface="Webdings" charset="0"/>
              <a:buChar char="4"/>
              <a:defRPr/>
            </a:pPr>
            <a:r>
              <a:rPr lang="en-US" dirty="0">
                <a:ea typeface="ＭＳ Ｐゴシック" charset="0"/>
              </a:rPr>
              <a:t>NAT address local to machine on which guest is running, VMM provides address translation to guest to hide its address</a:t>
            </a: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>
            <a:extLst>
              <a:ext uri="{FF2B5EF4-FFF2-40B4-BE49-F238E27FC236}">
                <a16:creationId xmlns:a16="http://schemas.microsoft.com/office/drawing/2014/main" id="{2BF321BF-584F-53C8-2B85-9D77C2A2F2D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OS Component – Storage Management</a:t>
            </a:r>
          </a:p>
        </p:txBody>
      </p:sp>
      <p:sp>
        <p:nvSpPr>
          <p:cNvPr id="46082" name="Content Placeholder 2">
            <a:extLst>
              <a:ext uri="{FF2B5EF4-FFF2-40B4-BE49-F238E27FC236}">
                <a16:creationId xmlns:a16="http://schemas.microsoft.com/office/drawing/2014/main" id="{2CF04D7C-020E-B1B7-D42A-C40AF80EB94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Both boot disk and general data access need  be provided by VMM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Need to support potentially dozens of guests per VMM (so standard disk partitioning not sufficient)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Type 1 – storage guest root disks and config information within file system provided by VMM as a 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disk image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Type 2 – store as files in file system provided by host OS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Duplicate file -&gt; create new guest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Move file to another system -&gt; move guest</a:t>
            </a:r>
          </a:p>
          <a:p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Physical-to-virtual </a:t>
            </a:r>
            <a:r>
              <a:rPr lang="en-US" altLang="sk-SK">
                <a:ea typeface="ＭＳ Ｐゴシック" panose="020B0600070205080204" pitchFamily="34" charset="-128"/>
              </a:rPr>
              <a:t>(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P-to-V</a:t>
            </a:r>
            <a:r>
              <a:rPr lang="en-US" altLang="sk-SK">
                <a:ea typeface="ＭＳ Ｐゴシック" panose="020B0600070205080204" pitchFamily="34" charset="-128"/>
              </a:rPr>
              <a:t>) convert native disk blocks into VMM format</a:t>
            </a:r>
          </a:p>
          <a:p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Virtual-to-physical </a:t>
            </a:r>
            <a:r>
              <a:rPr lang="en-US" altLang="sk-SK">
                <a:ea typeface="ＭＳ Ｐゴシック" panose="020B0600070205080204" pitchFamily="34" charset="-128"/>
              </a:rPr>
              <a:t>(</a:t>
            </a:r>
            <a:r>
              <a:rPr lang="en-US" altLang="sk-SK" b="1">
                <a:solidFill>
                  <a:srgbClr val="3366FF"/>
                </a:solidFill>
                <a:ea typeface="ＭＳ Ｐゴシック" panose="020B0600070205080204" pitchFamily="34" charset="-128"/>
              </a:rPr>
              <a:t>V-to-P</a:t>
            </a:r>
            <a:r>
              <a:rPr lang="en-US" altLang="sk-SK">
                <a:ea typeface="ＭＳ Ｐゴシック" panose="020B0600070205080204" pitchFamily="34" charset="-128"/>
              </a:rPr>
              <a:t>) convert from virtual format to native or disk format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VMM also needs to provide access to network attached storage (just networking) and other disk images, disk partitions, disks, etc</a:t>
            </a:r>
          </a:p>
          <a:p>
            <a:pPr marL="457200" lvl="1" indent="0">
              <a:buFont typeface="Monotype Sorts" pitchFamily="2" charset="2"/>
              <a:buNone/>
            </a:pPr>
            <a:endParaRPr lang="en-US" altLang="sk-SK">
              <a:ea typeface="ＭＳ Ｐゴシック" panose="020B0600070205080204" pitchFamily="34" charset="-128"/>
            </a:endParaRPr>
          </a:p>
          <a:p>
            <a:pPr lvl="2"/>
            <a:endParaRPr lang="en-US" altLang="sk-SK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Title 1">
            <a:extLst>
              <a:ext uri="{FF2B5EF4-FFF2-40B4-BE49-F238E27FC236}">
                <a16:creationId xmlns:a16="http://schemas.microsoft.com/office/drawing/2014/main" id="{0EFE07F9-3E9D-0851-C334-F0407DFC28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OS Component – Live Migration</a:t>
            </a:r>
          </a:p>
        </p:txBody>
      </p:sp>
      <p:sp>
        <p:nvSpPr>
          <p:cNvPr id="47106" name="Content Placeholder 2">
            <a:extLst>
              <a:ext uri="{FF2B5EF4-FFF2-40B4-BE49-F238E27FC236}">
                <a16:creationId xmlns:a16="http://schemas.microsoft.com/office/drawing/2014/main" id="{D17C0D1A-39CF-DA64-FE64-B1A483A9999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Taking advantage of VMM features leads to new functionality not found on general operating systems such as live migration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Running guest can be moved between systems, without interrupting user access to the guest or its apps</a:t>
            </a:r>
          </a:p>
          <a:p>
            <a:r>
              <a:rPr lang="en-US" altLang="sk-SK">
                <a:ea typeface="ＭＳ Ｐゴシック" panose="020B0600070205080204" pitchFamily="34" charset="-128"/>
              </a:rPr>
              <a:t>Very useful for resource management, maintenance downtime windows, etc</a:t>
            </a:r>
          </a:p>
          <a:p>
            <a:pPr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The source VMM establishes a connection with the target VMM</a:t>
            </a:r>
          </a:p>
          <a:p>
            <a:pPr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The target creates a new guest by creating a new VCPU, etc </a:t>
            </a:r>
          </a:p>
          <a:p>
            <a:pPr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The source sends all read-only guest memory pages to the target</a:t>
            </a:r>
          </a:p>
          <a:p>
            <a:pPr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The source sends all read-write pages to the target, marking them as clean </a:t>
            </a:r>
          </a:p>
          <a:p>
            <a:pPr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The source repeats step 4, as during that step some pages were probably modified by the guest and are now dirty</a:t>
            </a:r>
          </a:p>
          <a:p>
            <a:pPr>
              <a:buFont typeface="Arial" panose="020B0604020202020204" pitchFamily="34" charset="0"/>
              <a:buAutoNum type="arabicPeriod"/>
            </a:pPr>
            <a:r>
              <a:rPr lang="en-US" altLang="sk-SK">
                <a:ea typeface="ＭＳ Ｐゴシック" panose="020B0600070205080204" pitchFamily="34" charset="-128"/>
              </a:rPr>
              <a:t>When cycle of steps 4 and 5 becomes very short, source VMM freezes guest, sends VCPU</a:t>
            </a:r>
            <a:r>
              <a:rPr lang="en-US" altLang="en-US">
                <a:ea typeface="ＭＳ Ｐゴシック" panose="020B0600070205080204" pitchFamily="34" charset="-128"/>
              </a:rPr>
              <a:t>’</a:t>
            </a:r>
            <a:r>
              <a:rPr lang="en-US" altLang="sk-SK">
                <a:ea typeface="ＭＳ Ｐゴシック" panose="020B0600070205080204" pitchFamily="34" charset="-128"/>
              </a:rPr>
              <a:t>s final state, sends other state details, sends final dirty pages, and tells target to start running the guest</a:t>
            </a:r>
          </a:p>
          <a:p>
            <a:pPr lvl="1"/>
            <a:r>
              <a:rPr lang="en-US" altLang="sk-SK">
                <a:ea typeface="ＭＳ Ｐゴシック" panose="020B0600070205080204" pitchFamily="34" charset="-128"/>
              </a:rPr>
              <a:t>Once target acknowledges that guest running, source terminates guest</a:t>
            </a:r>
          </a:p>
          <a:p>
            <a:pPr lvl="2"/>
            <a:endParaRPr lang="en-US" altLang="sk-SK">
              <a:ea typeface="ＭＳ Ｐゴシック" panose="020B0600070205080204" pitchFamily="34" charset="-128"/>
            </a:endParaRPr>
          </a:p>
          <a:p>
            <a:pPr>
              <a:buFont typeface="Monotype Sorts" pitchFamily="2" charset="2"/>
              <a:buNone/>
            </a:pPr>
            <a:endParaRPr lang="en-US" altLang="sk-SK">
              <a:latin typeface="Courier New" panose="02070309020205020404" pitchFamily="49" charset="0"/>
              <a:ea typeface="ＭＳ Ｐゴシック" panose="020B0600070205080204" pitchFamily="34" charset="-128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Title 1">
            <a:extLst>
              <a:ext uri="{FF2B5EF4-FFF2-40B4-BE49-F238E27FC236}">
                <a16:creationId xmlns:a16="http://schemas.microsoft.com/office/drawing/2014/main" id="{B58B65B2-0FC8-4918-C4DD-ED31F8C890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63575" y="277813"/>
            <a:ext cx="8229600" cy="576262"/>
          </a:xfrm>
        </p:spPr>
        <p:txBody>
          <a:bodyPr/>
          <a:lstStyle/>
          <a:p>
            <a:r>
              <a:rPr lang="en-US" altLang="sk-SK" sz="2800">
                <a:ea typeface="ＭＳ Ｐゴシック" panose="020B0600070205080204" pitchFamily="34" charset="-128"/>
              </a:rPr>
              <a:t>Live Migration of Guest Between Servers</a:t>
            </a:r>
          </a:p>
        </p:txBody>
      </p:sp>
      <p:pic>
        <p:nvPicPr>
          <p:cNvPr id="48130" name="Content Placeholder 3" descr="16_08.pdf">
            <a:extLst>
              <a:ext uri="{FF2B5EF4-FFF2-40B4-BE49-F238E27FC236}">
                <a16:creationId xmlns:a16="http://schemas.microsoft.com/office/drawing/2014/main" id="{5162EC0D-4418-F379-672D-7A0467B7F2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7900" b="-17900"/>
          <a:stretch>
            <a:fillRect/>
          </a:stretch>
        </p:blipFill>
        <p:spPr>
          <a:xfrm>
            <a:off x="679450" y="1233488"/>
            <a:ext cx="8229600" cy="4530725"/>
          </a:xfr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>
            <a:extLst>
              <a:ext uri="{FF2B5EF4-FFF2-40B4-BE49-F238E27FC236}">
                <a16:creationId xmlns:a16="http://schemas.microsoft.com/office/drawing/2014/main" id="{C14DA66D-8C19-6E52-9747-A59AB7B018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Examples - VMware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84C2715E-3BB3-9564-FE6A-771622347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endParaRPr lang="en-US" dirty="0">
              <a:ea typeface="ＭＳ Ｐゴシック" charset="0"/>
            </a:endParaRP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VMware Workstation runs on x86, provides VMM for guests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Runs as application on other native, installed host operating system -&gt; Type 2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Lots of guests possible, including Windows, Linux, </a:t>
            </a:r>
            <a:r>
              <a:rPr lang="en-US" dirty="0" err="1">
                <a:ea typeface="ＭＳ Ｐゴシック" charset="0"/>
              </a:rPr>
              <a:t>etc</a:t>
            </a:r>
            <a:r>
              <a:rPr lang="en-US" dirty="0">
                <a:ea typeface="ＭＳ Ｐゴシック" charset="0"/>
              </a:rPr>
              <a:t> all runnable concurrently (as resources allow)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Virtualization layer abstracts underlying HW, providing guest with is own virtual CPUs, memory, disk drives, network interfaces, </a:t>
            </a:r>
            <a:r>
              <a:rPr lang="en-US" dirty="0" err="1">
                <a:ea typeface="ＭＳ Ｐゴシック" charset="0"/>
              </a:rPr>
              <a:t>etc</a:t>
            </a:r>
            <a:endParaRPr lang="en-US" dirty="0">
              <a:ea typeface="ＭＳ Ｐゴシック" charset="0"/>
            </a:endParaRP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Physical disks can be provided to guests, or virtual physical disks (just files within host file system)</a:t>
            </a: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marL="457200" lvl="1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1">
            <a:extLst>
              <a:ext uri="{FF2B5EF4-FFF2-40B4-BE49-F238E27FC236}">
                <a16:creationId xmlns:a16="http://schemas.microsoft.com/office/drawing/2014/main" id="{06976D6C-F2E1-5505-4F57-7488B1697E4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VMware Workstation Architecture</a:t>
            </a:r>
          </a:p>
        </p:txBody>
      </p:sp>
      <p:pic>
        <p:nvPicPr>
          <p:cNvPr id="50178" name="Content Placeholder 3" descr="16_09.pdf">
            <a:extLst>
              <a:ext uri="{FF2B5EF4-FFF2-40B4-BE49-F238E27FC236}">
                <a16:creationId xmlns:a16="http://schemas.microsoft.com/office/drawing/2014/main" id="{643729F2-43EE-9734-F6E4-03F630F1C51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153" r="-14153"/>
          <a:stretch>
            <a:fillRect/>
          </a:stretch>
        </p:blipFill>
        <p:spPr>
          <a:xfrm>
            <a:off x="663575" y="1328738"/>
            <a:ext cx="8229600" cy="4530725"/>
          </a:xfr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>
            <a:extLst>
              <a:ext uri="{FF2B5EF4-FFF2-40B4-BE49-F238E27FC236}">
                <a16:creationId xmlns:a16="http://schemas.microsoft.com/office/drawing/2014/main" id="{400BD26A-8781-3053-5837-90B1829FE7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71513" y="277813"/>
            <a:ext cx="8229600" cy="576262"/>
          </a:xfrm>
        </p:spPr>
        <p:txBody>
          <a:bodyPr/>
          <a:lstStyle/>
          <a:p>
            <a:r>
              <a:rPr lang="en-US" altLang="sk-SK" sz="2400">
                <a:ea typeface="ＭＳ Ｐゴシック" panose="020B0600070205080204" pitchFamily="34" charset="-128"/>
              </a:rPr>
              <a:t>Examples – Java Virtual Machine</a:t>
            </a:r>
          </a:p>
        </p:txBody>
      </p:sp>
      <p:sp>
        <p:nvSpPr>
          <p:cNvPr id="40962" name="Content Placeholder 2">
            <a:extLst>
              <a:ext uri="{FF2B5EF4-FFF2-40B4-BE49-F238E27FC236}">
                <a16:creationId xmlns:a16="http://schemas.microsoft.com/office/drawing/2014/main" id="{06561D8A-219A-D420-4454-1AEA864488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Example of programming-environment virtualization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Very popular language / application environment invented by Sun Microsystems in 1995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Write once, run anywhere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Includes language specification (Java), API library, Java virtual machine (JVM)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Java objects specified by class construct, Java program is one or more objects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Each Java object compiled into architecture-neutral </a:t>
            </a:r>
            <a:r>
              <a:rPr lang="en-US" b="1" dirty="0" err="1">
                <a:solidFill>
                  <a:srgbClr val="3366FF"/>
                </a:solidFill>
                <a:ea typeface="ＭＳ Ｐゴシック" charset="0"/>
              </a:rPr>
              <a:t>bytecode</a:t>
            </a:r>
            <a:r>
              <a:rPr lang="en-US" dirty="0">
                <a:ea typeface="ＭＳ Ｐゴシック" charset="0"/>
              </a:rPr>
              <a:t> output (</a:t>
            </a:r>
            <a:r>
              <a:rPr lang="en-US" b="1" dirty="0">
                <a:latin typeface="Courier New"/>
                <a:ea typeface="ＭＳ Ｐゴシック" charset="0"/>
                <a:cs typeface="Courier New"/>
              </a:rPr>
              <a:t>.class</a:t>
            </a:r>
            <a:r>
              <a:rPr lang="en-US" dirty="0">
                <a:ea typeface="ＭＳ Ｐゴシック" charset="0"/>
              </a:rPr>
              <a:t>) which JVM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class loader </a:t>
            </a:r>
            <a:r>
              <a:rPr lang="en-US" dirty="0">
                <a:ea typeface="ＭＳ Ｐゴシック" charset="0"/>
              </a:rPr>
              <a:t>loads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JVM compiled per architecture, reads </a:t>
            </a:r>
            <a:r>
              <a:rPr lang="en-US" dirty="0" err="1">
                <a:ea typeface="ＭＳ Ｐゴシック" charset="0"/>
              </a:rPr>
              <a:t>bytecode</a:t>
            </a:r>
            <a:r>
              <a:rPr lang="en-US" dirty="0">
                <a:ea typeface="ＭＳ Ｐゴシック" charset="0"/>
              </a:rPr>
              <a:t> and executes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Includes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garbage collection </a:t>
            </a:r>
            <a:r>
              <a:rPr lang="en-US" dirty="0">
                <a:ea typeface="ＭＳ Ｐゴシック" charset="0"/>
              </a:rPr>
              <a:t>to reclaim memory no longer in use</a:t>
            </a:r>
          </a:p>
          <a:p>
            <a:pPr>
              <a:buFont typeface="Monotype Sorts" charset="0"/>
              <a:buChar char="n"/>
              <a:defRPr/>
            </a:pPr>
            <a:r>
              <a:rPr lang="en-US" dirty="0">
                <a:ea typeface="ＭＳ Ｐゴシック" charset="0"/>
              </a:rPr>
              <a:t>Made faster by 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just-in-time </a:t>
            </a:r>
            <a:r>
              <a:rPr lang="en-US" dirty="0">
                <a:ea typeface="ＭＳ Ｐゴシック" charset="0"/>
              </a:rPr>
              <a:t>(</a:t>
            </a:r>
            <a:r>
              <a:rPr lang="en-US" b="1" dirty="0">
                <a:solidFill>
                  <a:srgbClr val="3366FF"/>
                </a:solidFill>
                <a:ea typeface="ＭＳ Ｐゴシック" charset="0"/>
              </a:rPr>
              <a:t>JIT</a:t>
            </a:r>
            <a:r>
              <a:rPr lang="en-US" dirty="0">
                <a:ea typeface="ＭＳ Ｐゴシック" charset="0"/>
              </a:rPr>
              <a:t>) compiler that turns </a:t>
            </a:r>
            <a:r>
              <a:rPr lang="en-US" dirty="0" err="1">
                <a:ea typeface="ＭＳ Ｐゴシック" charset="0"/>
              </a:rPr>
              <a:t>bytecodes</a:t>
            </a:r>
            <a:r>
              <a:rPr lang="en-US" dirty="0">
                <a:ea typeface="ＭＳ Ｐゴシック" charset="0"/>
              </a:rPr>
              <a:t> into native code and caches them</a:t>
            </a: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marL="457200" lvl="1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</a:endParaRPr>
          </a:p>
          <a:p>
            <a:pPr lvl="2">
              <a:buFont typeface="Webdings" charset="0"/>
              <a:buChar char="4"/>
              <a:defRPr/>
            </a:pPr>
            <a:endParaRPr lang="en-US" dirty="0">
              <a:ea typeface="ＭＳ Ｐゴシック" charset="0"/>
            </a:endParaRP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latin typeface="Courier New"/>
              <a:ea typeface="ＭＳ Ｐゴシック" charset="0"/>
              <a:cs typeface="Courier Ne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>
            <a:extLst>
              <a:ext uri="{FF2B5EF4-FFF2-40B4-BE49-F238E27FC236}">
                <a16:creationId xmlns:a16="http://schemas.microsoft.com/office/drawing/2014/main" id="{8BA53612-727A-ED42-8F9C-7F2A0632F88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sk-SK">
                <a:ea typeface="ＭＳ Ｐゴシック" panose="020B0600070205080204" pitchFamily="34" charset="-128"/>
              </a:rPr>
              <a:t>The Java Virtual Machine</a:t>
            </a:r>
          </a:p>
        </p:txBody>
      </p:sp>
      <p:pic>
        <p:nvPicPr>
          <p:cNvPr id="52226" name="Content Placeholder 3" descr="16_10.pdf">
            <a:extLst>
              <a:ext uri="{FF2B5EF4-FFF2-40B4-BE49-F238E27FC236}">
                <a16:creationId xmlns:a16="http://schemas.microsoft.com/office/drawing/2014/main" id="{72BC667D-01C4-1BF4-400A-D484D7FB5B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8986" b="-8986"/>
          <a:stretch>
            <a:fillRect/>
          </a:stretch>
        </p:blipFill>
        <p:spPr>
          <a:xfrm>
            <a:off x="663575" y="1455738"/>
            <a:ext cx="8229600" cy="4530725"/>
          </a:xfr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ADD29E3-C8B8-D8C3-746D-1CC96A765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576262"/>
          </a:xfrm>
        </p:spPr>
        <p:txBody>
          <a:bodyPr/>
          <a:lstStyle/>
          <a:p>
            <a:r>
              <a:rPr lang="sk-SK" dirty="0"/>
              <a:t>Úvod do </a:t>
            </a:r>
            <a:r>
              <a:rPr lang="sk-SK" dirty="0" err="1"/>
              <a:t>Dockeru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4F8D0DE8-86D5-B8BF-521B-15EB8B290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6450" y="1233488"/>
            <a:ext cx="8229600" cy="4530725"/>
          </a:xfrm>
        </p:spPr>
        <p:txBody>
          <a:bodyPr>
            <a:normAutofit/>
          </a:bodyPr>
          <a:lstStyle/>
          <a:p>
            <a:r>
              <a:rPr lang="sk-SK" dirty="0"/>
              <a:t>Definícia </a:t>
            </a:r>
            <a:r>
              <a:rPr lang="sk-SK" dirty="0" err="1"/>
              <a:t>Dockeru</a:t>
            </a:r>
            <a:r>
              <a:rPr lang="sk-SK" dirty="0"/>
              <a:t>: </a:t>
            </a:r>
            <a:r>
              <a:rPr lang="sk-SK" dirty="0" err="1"/>
              <a:t>Docker</a:t>
            </a:r>
            <a:r>
              <a:rPr lang="sk-SK" dirty="0"/>
              <a:t> je </a:t>
            </a:r>
            <a:r>
              <a:rPr lang="sk-SK" dirty="0" err="1"/>
              <a:t>open-source</a:t>
            </a:r>
            <a:r>
              <a:rPr lang="sk-SK" dirty="0"/>
              <a:t> platforma používaná na automatizáciu nasadenia, škálovanie a izoláciu aplikácií pomocou kontajnerov.</a:t>
            </a:r>
          </a:p>
          <a:p>
            <a:r>
              <a:rPr lang="sk-SK" dirty="0"/>
              <a:t>Výhody použitia </a:t>
            </a:r>
            <a:r>
              <a:rPr lang="sk-SK" dirty="0" err="1"/>
              <a:t>Dockeru</a:t>
            </a:r>
            <a:r>
              <a:rPr lang="sk-SK" dirty="0"/>
              <a:t>: Portabilita, reprodukovateľnosť, izolácia a ďalšie.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pic>
        <p:nvPicPr>
          <p:cNvPr id="1028" name="Picture 4" descr="Create a Docker application with Python easily - Example">
            <a:extLst>
              <a:ext uri="{FF2B5EF4-FFF2-40B4-BE49-F238E27FC236}">
                <a16:creationId xmlns:a16="http://schemas.microsoft.com/office/drawing/2014/main" id="{05FD5BF5-3DB0-E760-3741-5E43CAC70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8172" y="2919614"/>
            <a:ext cx="5985862" cy="277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2393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827708-F65E-3093-7006-6BD418269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buNone/>
            </a:pPr>
            <a:r>
              <a:rPr lang="sk-SK" b="1" dirty="0"/>
              <a:t>Architektúra </a:t>
            </a:r>
            <a:r>
              <a:rPr lang="sk-SK" b="1" dirty="0" err="1"/>
              <a:t>Dockeru</a:t>
            </a:r>
            <a:endParaRPr lang="sk-SK" b="1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E16EF9FA-BE46-916C-965C-ECBA3A3C0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Popis </a:t>
            </a:r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Engine</a:t>
            </a:r>
            <a:r>
              <a:rPr lang="sk-SK" dirty="0"/>
              <a:t>: </a:t>
            </a:r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Engine</a:t>
            </a:r>
            <a:r>
              <a:rPr lang="sk-SK" dirty="0"/>
              <a:t> je klient-serverová aplikácia, ktorá pozostáva z </a:t>
            </a:r>
            <a:r>
              <a:rPr lang="sk-SK" dirty="0" err="1"/>
              <a:t>Docker</a:t>
            </a:r>
            <a:r>
              <a:rPr lang="sk-SK" dirty="0"/>
              <a:t> démona, REST API a CLI.</a:t>
            </a:r>
          </a:p>
          <a:p>
            <a:r>
              <a:rPr lang="sk-SK" dirty="0"/>
              <a:t>Komponenty </a:t>
            </a:r>
            <a:r>
              <a:rPr lang="sk-SK" dirty="0" err="1"/>
              <a:t>Dockeru</a:t>
            </a:r>
            <a:r>
              <a:rPr lang="sk-SK" dirty="0"/>
              <a:t>: </a:t>
            </a:r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Images</a:t>
            </a:r>
            <a:r>
              <a:rPr lang="sk-SK" dirty="0"/>
              <a:t>, </a:t>
            </a:r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Containers</a:t>
            </a:r>
            <a:r>
              <a:rPr lang="sk-SK" dirty="0"/>
              <a:t>, </a:t>
            </a:r>
            <a:r>
              <a:rPr lang="sk-SK" dirty="0" err="1"/>
              <a:t>Dockerfile</a:t>
            </a:r>
            <a:r>
              <a:rPr lang="sk-SK" dirty="0"/>
              <a:t> a </a:t>
            </a:r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Compose</a:t>
            </a:r>
            <a:r>
              <a:rPr lang="sk-SK" dirty="0"/>
              <a:t>.</a:t>
            </a:r>
          </a:p>
          <a:p>
            <a:endParaRPr lang="sk-SK" dirty="0"/>
          </a:p>
        </p:txBody>
      </p:sp>
      <p:pic>
        <p:nvPicPr>
          <p:cNvPr id="2050" name="Picture 2" descr="Docker Nedir? Nasıl Kullanılır? | ceaksan | Web Analisti &amp; Veri Bilimi ...">
            <a:extLst>
              <a:ext uri="{FF2B5EF4-FFF2-40B4-BE49-F238E27FC236}">
                <a16:creationId xmlns:a16="http://schemas.microsoft.com/office/drawing/2014/main" id="{6408AEA4-02CD-C8EF-B9ED-B41429033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9176" y="2937749"/>
            <a:ext cx="5755135" cy="3363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07902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381C8D6-022E-AF50-F216-23F4170B8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b="1" dirty="0" err="1"/>
              <a:t>Docker</a:t>
            </a:r>
            <a:r>
              <a:rPr lang="sk-SK" b="1" dirty="0"/>
              <a:t> </a:t>
            </a:r>
            <a:r>
              <a:rPr lang="sk-SK" b="1" dirty="0" err="1"/>
              <a:t>Images</a:t>
            </a:r>
            <a:r>
              <a:rPr lang="sk-SK" b="1" dirty="0"/>
              <a:t> a </a:t>
            </a:r>
            <a:r>
              <a:rPr lang="sk-SK" b="1" dirty="0" err="1"/>
              <a:t>Docker</a:t>
            </a:r>
            <a:r>
              <a:rPr lang="sk-SK" b="1" dirty="0"/>
              <a:t> </a:t>
            </a:r>
            <a:r>
              <a:rPr lang="sk-SK" b="1" dirty="0" err="1"/>
              <a:t>Containers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106DB20-6B71-823A-D542-EA54D3153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Images</a:t>
            </a:r>
            <a:r>
              <a:rPr lang="sk-SK" dirty="0"/>
              <a:t>: Sú to </a:t>
            </a:r>
            <a:r>
              <a:rPr lang="sk-SK" dirty="0" err="1"/>
              <a:t>read-only</a:t>
            </a:r>
            <a:r>
              <a:rPr lang="sk-SK" dirty="0"/>
              <a:t> šablóny obsahujúce inštrukcie pre vytvorenie </a:t>
            </a:r>
            <a:r>
              <a:rPr lang="sk-SK" dirty="0" err="1"/>
              <a:t>Docker</a:t>
            </a:r>
            <a:r>
              <a:rPr lang="sk-SK" dirty="0"/>
              <a:t> kontajnera.</a:t>
            </a:r>
          </a:p>
          <a:p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Containers</a:t>
            </a:r>
            <a:r>
              <a:rPr lang="sk-SK" dirty="0"/>
              <a:t>: Sú to bežiace inštancie </a:t>
            </a:r>
            <a:r>
              <a:rPr lang="sk-SK" dirty="0" err="1"/>
              <a:t>Docker</a:t>
            </a:r>
            <a:r>
              <a:rPr lang="sk-SK" dirty="0"/>
              <a:t> Image. Kontajnery izolujú softvér od jeho okolia.</a:t>
            </a:r>
          </a:p>
          <a:p>
            <a:pPr marL="0" indent="0">
              <a:buNone/>
            </a:pPr>
            <a:endParaRPr lang="sk-SK" dirty="0"/>
          </a:p>
        </p:txBody>
      </p:sp>
      <p:pic>
        <p:nvPicPr>
          <p:cNvPr id="3074" name="Picture 2" descr="Docker 101">
            <a:extLst>
              <a:ext uri="{FF2B5EF4-FFF2-40B4-BE49-F238E27FC236}">
                <a16:creationId xmlns:a16="http://schemas.microsoft.com/office/drawing/2014/main" id="{AF185D8C-A720-F8BC-B9E7-F47C18C6D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2577" y="2732395"/>
            <a:ext cx="5640935" cy="3173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44450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D04C828-B2B7-521B-B46A-71DA638EB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b="1" dirty="0" err="1"/>
              <a:t>Dockerfile</a:t>
            </a:r>
            <a:r>
              <a:rPr lang="sk-SK" b="1" dirty="0"/>
              <a:t> a </a:t>
            </a:r>
            <a:r>
              <a:rPr lang="sk-SK" b="1" dirty="0" err="1"/>
              <a:t>Docker</a:t>
            </a:r>
            <a:r>
              <a:rPr lang="sk-SK" b="1" dirty="0"/>
              <a:t> </a:t>
            </a:r>
            <a:r>
              <a:rPr lang="sk-SK" b="1" dirty="0" err="1"/>
              <a:t>Compose</a:t>
            </a:r>
            <a:endParaRPr lang="sk-SK" dirty="0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5269CABA-3B69-D68C-8A0D-332588E5D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 err="1"/>
              <a:t>Dockerfile</a:t>
            </a:r>
            <a:r>
              <a:rPr lang="sk-SK" dirty="0"/>
              <a:t>: Je textový súbor, ktorý obsahuje všetky príkazy potrebné na zostavenie </a:t>
            </a:r>
            <a:r>
              <a:rPr lang="sk-SK" dirty="0" err="1"/>
              <a:t>Docker</a:t>
            </a:r>
            <a:r>
              <a:rPr lang="sk-SK" dirty="0"/>
              <a:t> Image.</a:t>
            </a:r>
          </a:p>
          <a:p>
            <a:r>
              <a:rPr lang="sk-SK" dirty="0" err="1"/>
              <a:t>Docker</a:t>
            </a:r>
            <a:r>
              <a:rPr lang="sk-SK" dirty="0"/>
              <a:t> </a:t>
            </a:r>
            <a:r>
              <a:rPr lang="sk-SK" dirty="0" err="1"/>
              <a:t>Compose</a:t>
            </a:r>
            <a:r>
              <a:rPr lang="sk-SK" dirty="0"/>
              <a:t>: Je nástroj na definovanie a spustenie viacnásobných </a:t>
            </a:r>
            <a:r>
              <a:rPr lang="sk-SK" dirty="0" err="1"/>
              <a:t>Docker</a:t>
            </a:r>
            <a:r>
              <a:rPr lang="sk-SK" dirty="0"/>
              <a:t> kontajnerov.</a:t>
            </a:r>
          </a:p>
          <a:p>
            <a:endParaRPr lang="sk-SK" dirty="0"/>
          </a:p>
        </p:txBody>
      </p:sp>
      <p:grpSp>
        <p:nvGrpSpPr>
          <p:cNvPr id="5" name="Skupina 4">
            <a:extLst>
              <a:ext uri="{FF2B5EF4-FFF2-40B4-BE49-F238E27FC236}">
                <a16:creationId xmlns:a16="http://schemas.microsoft.com/office/drawing/2014/main" id="{3EDFA7C7-3467-48DC-0B9E-E26C806D27E2}"/>
              </a:ext>
            </a:extLst>
          </p:cNvPr>
          <p:cNvGrpSpPr/>
          <p:nvPr/>
        </p:nvGrpSpPr>
        <p:grpSpPr>
          <a:xfrm>
            <a:off x="806450" y="2820040"/>
            <a:ext cx="7376672" cy="3128590"/>
            <a:chOff x="806450" y="2820040"/>
            <a:chExt cx="7376672" cy="3128590"/>
          </a:xfrm>
        </p:grpSpPr>
        <p:pic>
          <p:nvPicPr>
            <p:cNvPr id="4098" name="Picture 2" descr="Docker AWS EC2 deploy">
              <a:extLst>
                <a:ext uri="{FF2B5EF4-FFF2-40B4-BE49-F238E27FC236}">
                  <a16:creationId xmlns:a16="http://schemas.microsoft.com/office/drawing/2014/main" id="{DFB01718-19B1-2E5A-031C-C7276DFFF0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450" y="2828912"/>
              <a:ext cx="7376672" cy="31197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Pravouholník 3">
              <a:extLst>
                <a:ext uri="{FF2B5EF4-FFF2-40B4-BE49-F238E27FC236}">
                  <a16:creationId xmlns:a16="http://schemas.microsoft.com/office/drawing/2014/main" id="{2D8BB6F1-9F12-7543-22C2-C94A5219FF97}"/>
                </a:ext>
              </a:extLst>
            </p:cNvPr>
            <p:cNvSpPr/>
            <p:nvPr/>
          </p:nvSpPr>
          <p:spPr bwMode="auto">
            <a:xfrm>
              <a:off x="6900262" y="2820040"/>
              <a:ext cx="1068081" cy="338098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solidFill>
                <a:schemeClr val="bg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sk-S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Verdana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469923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49" name="Rectangle 2">
            <a:extLst>
              <a:ext uri="{FF2B5EF4-FFF2-40B4-BE49-F238E27FC236}">
                <a16:creationId xmlns:a16="http://schemas.microsoft.com/office/drawing/2014/main" id="{72E73E6B-B05B-EFD8-EDD1-DF810769EE8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altLang="sk-SK">
                <a:ea typeface="ＭＳ Ｐゴシック" panose="020B0600070205080204" pitchFamily="34" charset="-128"/>
              </a:rPr>
              <a:t>End of Chapter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s-8">
  <a:themeElements>
    <a:clrScheme name="os-8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os-8">
      <a:majorFont>
        <a:latin typeface="Arial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Verdana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Verdana" charset="0"/>
          </a:defRPr>
        </a:defPPr>
      </a:lstStyle>
    </a:lnDef>
  </a:objectDefaults>
  <a:extraClrSchemeLst>
    <a:extraClrScheme>
      <a:clrScheme name="os-8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s-8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s-8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s-8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OS8</Template>
  <TotalTime>6795</TotalTime>
  <Words>3780</Words>
  <Application>Microsoft Macintosh PowerPoint</Application>
  <PresentationFormat>Prezentácia na obrazovke (4:3)</PresentationFormat>
  <Paragraphs>387</Paragraphs>
  <Slides>50</Slides>
  <Notes>4</Notes>
  <HiddenSlides>0</HiddenSlides>
  <MMClips>0</MMClips>
  <ScaleCrop>false</ScaleCrop>
  <HeadingPairs>
    <vt:vector size="6" baseType="variant">
      <vt:variant>
        <vt:lpstr>Použité písma</vt:lpstr>
      </vt:variant>
      <vt:variant>
        <vt:i4>9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50</vt:i4>
      </vt:variant>
    </vt:vector>
  </HeadingPairs>
  <TitlesOfParts>
    <vt:vector size="60" baseType="lpstr">
      <vt:lpstr>ＭＳ Ｐゴシック</vt:lpstr>
      <vt:lpstr>Arial</vt:lpstr>
      <vt:lpstr>Courier New</vt:lpstr>
      <vt:lpstr>Helvetica</vt:lpstr>
      <vt:lpstr>Inter</vt:lpstr>
      <vt:lpstr>Monotype Sorts</vt:lpstr>
      <vt:lpstr>Times New Roman</vt:lpstr>
      <vt:lpstr>Verdana</vt:lpstr>
      <vt:lpstr>Webdings</vt:lpstr>
      <vt:lpstr>os-8</vt:lpstr>
      <vt:lpstr>Chapter 16:  Virtual Machines</vt:lpstr>
      <vt:lpstr>Chapter 16: Virtual Machines</vt:lpstr>
      <vt:lpstr>Overview</vt:lpstr>
      <vt:lpstr>System Models</vt:lpstr>
      <vt:lpstr>Implementation of VMMs</vt:lpstr>
      <vt:lpstr>Implementation of VMMs (cont.)</vt:lpstr>
      <vt:lpstr>History</vt:lpstr>
      <vt:lpstr>Benefits and Features</vt:lpstr>
      <vt:lpstr>Benefits and Features (cont.)</vt:lpstr>
      <vt:lpstr>Building Blocks</vt:lpstr>
      <vt:lpstr>Building Block – Trap and Emulate</vt:lpstr>
      <vt:lpstr>Trap-and-Emulate (cont.)</vt:lpstr>
      <vt:lpstr>Trap-and-Emulate Virtualization Implementation</vt:lpstr>
      <vt:lpstr>Building Block – Binary Translation</vt:lpstr>
      <vt:lpstr>Binary Translation (cont.)</vt:lpstr>
      <vt:lpstr>Binary Translation (cont.)</vt:lpstr>
      <vt:lpstr>Binary Translation Virtualization Implementation</vt:lpstr>
      <vt:lpstr>Nested Page Tables</vt:lpstr>
      <vt:lpstr>Building Blocks – Hardware Assistance</vt:lpstr>
      <vt:lpstr>Nested Page Tables</vt:lpstr>
      <vt:lpstr>Types of Virtual Machines and Implementations</vt:lpstr>
      <vt:lpstr>Types of VMs – Type 0 Hypervisor</vt:lpstr>
      <vt:lpstr>Type 0 Hypervisor</vt:lpstr>
      <vt:lpstr>Types of VMs – Type 1 Hypervisor</vt:lpstr>
      <vt:lpstr>Types of VMs – Type 1 Hypervisor (cont.)</vt:lpstr>
      <vt:lpstr>Types of VMs – Type 2 Hypervisor</vt:lpstr>
      <vt:lpstr>Types of VMs – Paravirtualization (obsolete)</vt:lpstr>
      <vt:lpstr>Xen I/O via Shared Circular Buffer</vt:lpstr>
      <vt:lpstr>Types of VMs – Paravirtualization (cont.)</vt:lpstr>
      <vt:lpstr>Types of VMs – Programming Environment Virtualization</vt:lpstr>
      <vt:lpstr>Types of VMs – Emulation</vt:lpstr>
      <vt:lpstr>Types of VMs – Application Containment</vt:lpstr>
      <vt:lpstr>Solaris 10 with Two Zones</vt:lpstr>
      <vt:lpstr>Virtualization and Operating-System Components</vt:lpstr>
      <vt:lpstr>OS Component – CPU Scheduling</vt:lpstr>
      <vt:lpstr>OS Component – CPU Scheduling (cont.)</vt:lpstr>
      <vt:lpstr>OS Component – Memory Management</vt:lpstr>
      <vt:lpstr>OS Component – I/O</vt:lpstr>
      <vt:lpstr>OS Component – Storage Management</vt:lpstr>
      <vt:lpstr>OS Component – Live Migration</vt:lpstr>
      <vt:lpstr>Live Migration of Guest Between Servers</vt:lpstr>
      <vt:lpstr>Examples - VMware</vt:lpstr>
      <vt:lpstr>VMware Workstation Architecture</vt:lpstr>
      <vt:lpstr>Examples – Java Virtual Machine</vt:lpstr>
      <vt:lpstr>The Java Virtual Machine</vt:lpstr>
      <vt:lpstr>Úvod do Dockeru</vt:lpstr>
      <vt:lpstr>Architektúra Dockeru</vt:lpstr>
      <vt:lpstr>Docker Images a Docker Containers</vt:lpstr>
      <vt:lpstr>Dockerfile a Docker Compose</vt:lpstr>
      <vt:lpstr>End of Chapter 16</vt:lpstr>
    </vt:vector>
  </TitlesOfParts>
  <Company>Lucent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Marilyn Turnamian</dc:creator>
  <cp:lastModifiedBy>Július Baráth</cp:lastModifiedBy>
  <cp:revision>195</cp:revision>
  <cp:lastPrinted>2001-07-05T20:31:09Z</cp:lastPrinted>
  <dcterms:created xsi:type="dcterms:W3CDTF">1999-08-24T14:34:23Z</dcterms:created>
  <dcterms:modified xsi:type="dcterms:W3CDTF">2025-04-15T04:57:16Z</dcterms:modified>
</cp:coreProperties>
</file>