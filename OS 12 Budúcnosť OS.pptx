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webextensions/webextension1.xml" ContentType="application/vnd.ms-office.webextension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webextensions/webextension2.xml" ContentType="application/vnd.ms-office.webextension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84" r:id="rId2"/>
    <p:sldId id="257" r:id="rId3"/>
    <p:sldId id="258" r:id="rId4"/>
    <p:sldId id="259" r:id="rId5"/>
    <p:sldId id="260" r:id="rId6"/>
    <p:sldId id="293" r:id="rId7"/>
    <p:sldId id="261" r:id="rId8"/>
    <p:sldId id="282" r:id="rId9"/>
    <p:sldId id="283" r:id="rId10"/>
    <p:sldId id="286" r:id="rId11"/>
    <p:sldId id="294" r:id="rId12"/>
    <p:sldId id="262" r:id="rId13"/>
    <p:sldId id="272" r:id="rId14"/>
    <p:sldId id="271" r:id="rId15"/>
    <p:sldId id="264" r:id="rId16"/>
    <p:sldId id="273" r:id="rId17"/>
    <p:sldId id="274" r:id="rId18"/>
    <p:sldId id="265" r:id="rId19"/>
    <p:sldId id="275" r:id="rId20"/>
    <p:sldId id="276" r:id="rId21"/>
    <p:sldId id="267" r:id="rId22"/>
    <p:sldId id="287" r:id="rId23"/>
    <p:sldId id="288" r:id="rId24"/>
    <p:sldId id="289" r:id="rId25"/>
    <p:sldId id="290" r:id="rId26"/>
    <p:sldId id="291" r:id="rId27"/>
    <p:sldId id="277" r:id="rId28"/>
    <p:sldId id="278" r:id="rId29"/>
    <p:sldId id="266" r:id="rId30"/>
    <p:sldId id="279" r:id="rId31"/>
    <p:sldId id="280" r:id="rId32"/>
    <p:sldId id="268" r:id="rId33"/>
    <p:sldId id="281" r:id="rId34"/>
    <p:sldId id="263" r:id="rId35"/>
    <p:sldId id="285" r:id="rId36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38" autoAdjust="0"/>
    <p:restoredTop sz="95721"/>
  </p:normalViewPr>
  <p:slideViewPr>
    <p:cSldViewPr snapToGrid="0">
      <p:cViewPr varScale="1">
        <p:scale>
          <a:sx n="128" d="100"/>
          <a:sy n="128" d="100"/>
        </p:scale>
        <p:origin x="176" y="1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áth, Július" userId="aebde9b9-dccc-4475-a9ac-c05e78323d7a" providerId="ADAL" clId="{4A0811C8-ED2F-505E-B787-C8270CED5046}"/>
    <pc:docChg chg="modSld">
      <pc:chgData name="Baráth, Július" userId="aebde9b9-dccc-4475-a9ac-c05e78323d7a" providerId="ADAL" clId="{4A0811C8-ED2F-505E-B787-C8270CED5046}" dt="2026-04-29T05:43:46.886" v="21" actId="20577"/>
      <pc:docMkLst>
        <pc:docMk/>
      </pc:docMkLst>
      <pc:sldChg chg="modSp mod">
        <pc:chgData name="Baráth, Július" userId="aebde9b9-dccc-4475-a9ac-c05e78323d7a" providerId="ADAL" clId="{4A0811C8-ED2F-505E-B787-C8270CED5046}" dt="2026-04-29T05:43:46.886" v="21" actId="20577"/>
        <pc:sldMkLst>
          <pc:docMk/>
          <pc:sldMk cId="3948804769" sldId="261"/>
        </pc:sldMkLst>
        <pc:spChg chg="mod">
          <ac:chgData name="Baráth, Július" userId="aebde9b9-dccc-4475-a9ac-c05e78323d7a" providerId="ADAL" clId="{4A0811C8-ED2F-505E-B787-C8270CED5046}" dt="2026-04-29T05:43:46.886" v="21" actId="20577"/>
          <ac:spMkLst>
            <pc:docMk/>
            <pc:sldMk cId="3948804769" sldId="261"/>
            <ac:spMk id="3" creationId="{899B1360-237D-9838-0240-786EA0D1AF7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0F1E12-F430-5B4E-B0D4-F2630604BF05}" type="datetimeFigureOut">
              <a:rPr lang="sk-SK" smtClean="0"/>
              <a:t>29.4.2026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54A0DC-F9B3-9047-B86B-DC087FCF1E5F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82670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4A0DC-F9B3-9047-B86B-DC087FCF1E5F}" type="slidenum">
              <a:rPr lang="sk-SK" smtClean="0"/>
              <a:t>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20701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4A0DC-F9B3-9047-B86B-DC087FCF1E5F}" type="slidenum">
              <a:rPr lang="sk-SK" smtClean="0"/>
              <a:t>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454434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4A0DC-F9B3-9047-B86B-DC087FCF1E5F}" type="slidenum">
              <a:rPr lang="sk-SK" smtClean="0"/>
              <a:t>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07412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4A0DC-F9B3-9047-B86B-DC087FCF1E5F}" type="slidenum">
              <a:rPr lang="sk-SK" smtClean="0"/>
              <a:t>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744389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4A0DC-F9B3-9047-B86B-DC087FCF1E5F}" type="slidenum">
              <a:rPr lang="sk-SK" smtClean="0"/>
              <a:t>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60491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884C3-0810-A573-45EF-B2DA25CCE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7BB1B6E1-E4ED-AD3B-F44B-9CF53D4F0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1B34FCFF-CC07-F71F-D23C-B3D7387EA2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4EF0632C-2A14-F35F-5EB5-92EAF94F1A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4A0DC-F9B3-9047-B86B-DC087FCF1E5F}" type="slidenum">
              <a:rPr lang="sk-SK" smtClean="0"/>
              <a:t>6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0060477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4A0DC-F9B3-9047-B86B-DC087FCF1E5F}" type="slidenum">
              <a:rPr lang="sk-SK" smtClean="0"/>
              <a:t>7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617326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4A0DC-F9B3-9047-B86B-DC087FCF1E5F}" type="slidenum">
              <a:rPr lang="sk-SK" smtClean="0"/>
              <a:t>8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216292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4A0DC-F9B3-9047-B86B-DC087FCF1E5F}" type="slidenum">
              <a:rPr lang="sk-SK" smtClean="0"/>
              <a:t>9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124514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4A0DC-F9B3-9047-B86B-DC087FCF1E5F}" type="slidenum">
              <a:rPr lang="sk-SK" smtClean="0"/>
              <a:t>10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2686305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4A0DC-F9B3-9047-B86B-DC087FCF1E5F}" type="slidenum">
              <a:rPr lang="sk-SK" smtClean="0"/>
              <a:t>12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249303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4A0DC-F9B3-9047-B86B-DC087FCF1E5F}" type="slidenum">
              <a:rPr lang="sk-SK" smtClean="0"/>
              <a:t>13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666085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4A0DC-F9B3-9047-B86B-DC087FCF1E5F}" type="slidenum">
              <a:rPr lang="sk-SK" smtClean="0"/>
              <a:t>14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416810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4A0DC-F9B3-9047-B86B-DC087FCF1E5F}" type="slidenum">
              <a:rPr lang="sk-SK" smtClean="0"/>
              <a:t>15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353382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4A0DC-F9B3-9047-B86B-DC087FCF1E5F}" type="slidenum">
              <a:rPr lang="sk-SK" smtClean="0"/>
              <a:t>16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708654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4A0DC-F9B3-9047-B86B-DC087FCF1E5F}" type="slidenum">
              <a:rPr lang="sk-SK" smtClean="0"/>
              <a:t>17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367159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4A0DC-F9B3-9047-B86B-DC087FCF1E5F}" type="slidenum">
              <a:rPr lang="sk-SK" smtClean="0"/>
              <a:t>18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1361381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4A0DC-F9B3-9047-B86B-DC087FCF1E5F}" type="slidenum">
              <a:rPr lang="sk-SK" smtClean="0"/>
              <a:t>19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877527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4A0DC-F9B3-9047-B86B-DC087FCF1E5F}" type="slidenum">
              <a:rPr lang="sk-SK" smtClean="0"/>
              <a:t>20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450778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4A0DC-F9B3-9047-B86B-DC087FCF1E5F}" type="slidenum">
              <a:rPr lang="sk-SK" smtClean="0"/>
              <a:t>21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1432340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4A0DC-F9B3-9047-B86B-DC087FCF1E5F}" type="slidenum">
              <a:rPr lang="sk-SK" smtClean="0"/>
              <a:t>26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4590980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4A0DC-F9B3-9047-B86B-DC087FCF1E5F}" type="slidenum">
              <a:rPr lang="sk-SK" smtClean="0"/>
              <a:t>27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239374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4A0DC-F9B3-9047-B86B-DC087FCF1E5F}" type="slidenum">
              <a:rPr lang="sk-SK" smtClean="0"/>
              <a:t>28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092935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4A0DC-F9B3-9047-B86B-DC087FCF1E5F}" type="slidenum">
              <a:rPr lang="sk-SK" smtClean="0"/>
              <a:t>29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242086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4A0DC-F9B3-9047-B86B-DC087FCF1E5F}" type="slidenum">
              <a:rPr lang="sk-SK" smtClean="0"/>
              <a:t>30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1169439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4A0DC-F9B3-9047-B86B-DC087FCF1E5F}" type="slidenum">
              <a:rPr lang="sk-SK" smtClean="0"/>
              <a:t>31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324836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4A0DC-F9B3-9047-B86B-DC087FCF1E5F}" type="slidenum">
              <a:rPr lang="sk-SK" smtClean="0"/>
              <a:t>32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955775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4A0DC-F9B3-9047-B86B-DC087FCF1E5F}" type="slidenum">
              <a:rPr lang="sk-SK" smtClean="0"/>
              <a:t>33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314918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4A0DC-F9B3-9047-B86B-DC087FCF1E5F}" type="slidenum">
              <a:rPr lang="sk-SK" smtClean="0"/>
              <a:t>34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72270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Upravte štýly predlohy textu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Upravte štýl predlohy podnadpisov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29.4.2026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9203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29.4.2026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25025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29.4.2026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9707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obsah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symbol dátum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29.4.2026</a:t>
            </a:fld>
            <a:endParaRPr lang="sk-SK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symbol čísla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66611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4" name="Zástupný symbol obsah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symbol tex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6" name="Zástupný symbol obsah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symbol dátum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29.4.2026</a:t>
            </a:fld>
            <a:endParaRPr lang="sk-SK"/>
          </a:p>
        </p:txBody>
      </p:sp>
      <p:sp>
        <p:nvSpPr>
          <p:cNvPr id="8" name="Zástupný symbol päty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symbol čísla snímky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50720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dátum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29.4.2026</a:t>
            </a:fld>
            <a:endParaRPr lang="sk-SK"/>
          </a:p>
        </p:txBody>
      </p:sp>
      <p:sp>
        <p:nvSpPr>
          <p:cNvPr id="4" name="Zástupný symbol päty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symbol čísla snímky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126593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dátum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29.4.2026</a:t>
            </a:fld>
            <a:endParaRPr lang="sk-SK"/>
          </a:p>
        </p:txBody>
      </p:sp>
      <p:sp>
        <p:nvSpPr>
          <p:cNvPr id="3" name="Zástupný symbol päty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202979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tex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5" name="Zástupný symbol dátum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29.4.2026</a:t>
            </a:fld>
            <a:endParaRPr lang="sk-SK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symbol čísla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908768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obrázka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symbol tex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5" name="Zástupný symbol dátum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29.4.2026</a:t>
            </a:fld>
            <a:endParaRPr lang="sk-SK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symbol čísla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13177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zvislého text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29.4.2026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402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zvislého text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55F0-49D3-47F0-9F7C-B48EBAF4ED8F}" type="datetimeFigureOut">
              <a:rPr lang="sk-SK" smtClean="0"/>
              <a:t>29.4.2026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68980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nadpi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8E55F0-49D3-47F0-9F7C-B48EBAF4ED8F}" type="datetimeFigureOut">
              <a:rPr lang="sk-SK" smtClean="0"/>
              <a:t>29.4.2026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D1342B-065B-40C6-A6BB-D997923519A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85243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ollev.com/juliusbarath742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11/relationships/webextension" Target="../webextensions/webextension1.xml"/><Relationship Id="rId4" Type="http://schemas.openxmlformats.org/officeDocument/2006/relationships/hyperlink" Target="https://pollev.com/juliusbarath742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ollev.com/juliusbarath742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ollev.com/juliusbarath742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3748B55-320C-88B0-ADC5-63F2DACED4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Budúcnosť operačných systémov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D732AD1-3940-66AE-1E25-963D6A645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 fontScale="92500" lnSpcReduction="10000"/>
          </a:bodyPr>
          <a:lstStyle/>
          <a:p>
            <a:pPr algn="ctr" rtl="0" fontAlgn="base"/>
            <a:r>
              <a:rPr lang="sk-SK" dirty="0"/>
              <a:t>doc. Ing. Július BARÁTH, PhD.​</a:t>
            </a:r>
          </a:p>
          <a:p>
            <a:pPr algn="ctr" rtl="0" fontAlgn="base"/>
            <a:r>
              <a:rPr lang="sk-SK" dirty="0"/>
              <a:t>Katedra Informatiky </a:t>
            </a:r>
            <a:r>
              <a:rPr lang="en-US" dirty="0"/>
              <a:t>​</a:t>
            </a:r>
          </a:p>
          <a:p>
            <a:pPr algn="ctr" rtl="0" fontAlgn="base"/>
            <a:r>
              <a:rPr lang="sk-SK" dirty="0"/>
              <a:t>Akadémia ozbrojených síl,​</a:t>
            </a:r>
          </a:p>
          <a:p>
            <a:pPr algn="ctr" rtl="0" fontAlgn="base"/>
            <a:r>
              <a:rPr lang="sk-SK" dirty="0"/>
              <a:t>e-mail: </a:t>
            </a:r>
            <a:r>
              <a:rPr lang="sk-SK" dirty="0" err="1"/>
              <a:t>julius.barath@aos.sk</a:t>
            </a:r>
            <a:r>
              <a:rPr lang="en-US" dirty="0"/>
              <a:t>​</a:t>
            </a:r>
          </a:p>
          <a:p>
            <a:endParaRPr lang="sk-SK" dirty="0"/>
          </a:p>
        </p:txBody>
      </p:sp>
      <p:pic>
        <p:nvPicPr>
          <p:cNvPr id="5" name="Grafický objekt 4">
            <a:extLst>
              <a:ext uri="{FF2B5EF4-FFF2-40B4-BE49-F238E27FC236}">
                <a16:creationId xmlns:a16="http://schemas.microsoft.com/office/drawing/2014/main" id="{01DC4B13-C1AB-9165-E7DF-B5A9C47A95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6722" y="5599044"/>
            <a:ext cx="838200" cy="838200"/>
          </a:xfrm>
          <a:prstGeom prst="rect">
            <a:avLst/>
          </a:prstGeom>
        </p:spPr>
      </p:pic>
      <p:sp>
        <p:nvSpPr>
          <p:cNvPr id="4" name="BlokTextu 3">
            <a:extLst>
              <a:ext uri="{FF2B5EF4-FFF2-40B4-BE49-F238E27FC236}">
                <a16:creationId xmlns:a16="http://schemas.microsoft.com/office/drawing/2014/main" id="{E615117F-6E77-F13B-4E64-5DCD3BC37603}"/>
              </a:ext>
            </a:extLst>
          </p:cNvPr>
          <p:cNvSpPr txBox="1"/>
          <p:nvPr/>
        </p:nvSpPr>
        <p:spPr>
          <a:xfrm>
            <a:off x="1676400" y="5735637"/>
            <a:ext cx="786938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4800" dirty="0">
                <a:hlinkClick r:id="rId4"/>
              </a:rPr>
              <a:t>PollEv.com​/juliusbarath742</a:t>
            </a:r>
            <a:endParaRPr lang="sk-SK" sz="4800" dirty="0"/>
          </a:p>
        </p:txBody>
      </p:sp>
    </p:spTree>
    <p:extLst>
      <p:ext uri="{BB962C8B-B14F-4D97-AF65-F5344CB8AC3E}">
        <p14:creationId xmlns:p14="http://schemas.microsoft.com/office/powerpoint/2010/main" val="931880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7A9F6B1-DC0D-824A-16D8-1CFDA7CD1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sk-SK" dirty="0"/>
              <a:t>Kľúčové trendy a inovácie v OS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5DD7A1D-1AE7-0C26-2C4B-D73206BCA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sk-SK" dirty="0"/>
              <a:t>Inteligentní asistenti a hlasové ovládanie</a:t>
            </a:r>
          </a:p>
          <a:p>
            <a:r>
              <a:rPr lang="sk-SK" dirty="0"/>
              <a:t>Integrácia s umelou inteligenciou</a:t>
            </a:r>
          </a:p>
          <a:p>
            <a:r>
              <a:rPr lang="sk-SK" dirty="0"/>
              <a:t>Integrácia Internetu vecí (</a:t>
            </a:r>
            <a:r>
              <a:rPr lang="sk-SK" dirty="0" err="1"/>
              <a:t>IoT</a:t>
            </a:r>
            <a:r>
              <a:rPr lang="sk-SK" dirty="0"/>
              <a:t>)</a:t>
            </a:r>
          </a:p>
          <a:p>
            <a:r>
              <a:rPr lang="sk-SK" dirty="0"/>
              <a:t>Podpora rozšírenej a virtuálnej reality (AR/VR)</a:t>
            </a:r>
          </a:p>
          <a:p>
            <a:r>
              <a:rPr lang="sk-SK" dirty="0"/>
              <a:t>Zlepšené používateľské rozhranie a skúsenosti</a:t>
            </a:r>
          </a:p>
          <a:p>
            <a:r>
              <a:rPr lang="sk-SK" dirty="0"/>
              <a:t>Integrácia kvantového počítania</a:t>
            </a:r>
          </a:p>
          <a:p>
            <a:r>
              <a:rPr lang="sk-SK" dirty="0"/>
              <a:t>Kontinuálne a bezproblémové aktualizácie</a:t>
            </a:r>
          </a:p>
          <a:p>
            <a:r>
              <a:rPr lang="sk-SK" dirty="0"/>
              <a:t>Bezpečnosť a súkromie</a:t>
            </a:r>
          </a:p>
          <a:p>
            <a:r>
              <a:rPr lang="sk-SK" dirty="0"/>
              <a:t>Energetická efektívnosť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56135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8308980-E1FC-804C-4A25-418D6CF2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sk-SK" dirty="0"/>
              <a:t>Inteligentní asistenti a hlasové ovládanie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AFF1A04-8AC6-F81C-6397-A733D9A54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sk-SK"/>
              <a:t>Inteligentní asistenti sú softvérové aplikácie, ktoré reagujú na hlasové príkazy a vykonávajú úlohy.</a:t>
            </a:r>
          </a:p>
          <a:p>
            <a:pPr lvl="1"/>
            <a:r>
              <a:rPr lang="sk-SK"/>
              <a:t>Výber jazykov</a:t>
            </a:r>
          </a:p>
          <a:p>
            <a:pPr lvl="1"/>
            <a:r>
              <a:rPr lang="sk-SK"/>
              <a:t>Kľúčové slová</a:t>
            </a:r>
          </a:p>
          <a:p>
            <a:r>
              <a:rPr lang="sk-SK"/>
              <a:t>Hlasové ovládanie umožňuje používateľom komunikovať s počítačom prirodzene pomocou hlasu.</a:t>
            </a:r>
          </a:p>
          <a:p>
            <a:pPr lvl="1"/>
            <a:r>
              <a:rPr lang="sk-SK"/>
              <a:t>Rozpoznávanie prirodzene hovoreného slova</a:t>
            </a:r>
          </a:p>
          <a:p>
            <a:pPr lvl="1"/>
            <a:r>
              <a:rPr lang="sk-SK"/>
              <a:t>Rozli</a:t>
            </a:r>
            <a:r>
              <a:rPr lang="sk-SK" i="1"/>
              <a:t>šovanie pokynov od inej (súkromnej komunikácie)</a:t>
            </a: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43367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4B06A34-5464-8D5B-1F27-934E763E0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sk-SK" dirty="0"/>
              <a:t> Funkcie inteligentných asistentov 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F11E068-1C78-68CB-1EB1-9D919C6F6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b="1" dirty="0"/>
              <a:t>Rozpoznávanie hlasu: </a:t>
            </a:r>
            <a:r>
              <a:rPr lang="sk-SK" dirty="0"/>
              <a:t>Asistenti rozpoznávajú hlasové príkazy a prekladajú ich na text.</a:t>
            </a:r>
          </a:p>
          <a:p>
            <a:pPr lvl="1"/>
            <a:r>
              <a:rPr lang="sk-SK" dirty="0"/>
              <a:t>Schopnosť obsluhy vyjadriť sa</a:t>
            </a:r>
          </a:p>
          <a:p>
            <a:pPr marL="457200" lvl="1" indent="0">
              <a:buNone/>
            </a:pPr>
            <a:endParaRPr lang="sk-SK" dirty="0"/>
          </a:p>
          <a:p>
            <a:r>
              <a:rPr lang="sk-SK" b="1" dirty="0"/>
              <a:t>Akcie a odpovede: </a:t>
            </a:r>
            <a:r>
              <a:rPr lang="sk-SK" dirty="0"/>
              <a:t>Asistenti vykonávajú požadované úlohy a poskytujú odpovede na otázky. </a:t>
            </a:r>
          </a:p>
        </p:txBody>
      </p:sp>
    </p:spTree>
    <p:extLst>
      <p:ext uri="{BB962C8B-B14F-4D97-AF65-F5344CB8AC3E}">
        <p14:creationId xmlns:p14="http://schemas.microsoft.com/office/powerpoint/2010/main" val="3804899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795C608-B422-22C3-0457-DD5F53594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sk-SK" dirty="0"/>
              <a:t>Príklady inteligentných asistentov 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AE00030-5FB6-AFB4-15F4-071003628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4351338"/>
          </a:xfrm>
        </p:spPr>
        <p:txBody>
          <a:bodyPr/>
          <a:lstStyle/>
          <a:p>
            <a:r>
              <a:rPr lang="sk-SK" dirty="0" err="1"/>
              <a:t>Siri</a:t>
            </a:r>
            <a:r>
              <a:rPr lang="sk-SK" dirty="0"/>
              <a:t> (Apple): Pre </a:t>
            </a:r>
            <a:r>
              <a:rPr lang="sk-SK" dirty="0" err="1"/>
              <a:t>iOS</a:t>
            </a:r>
            <a:r>
              <a:rPr lang="sk-SK" dirty="0"/>
              <a:t> a </a:t>
            </a:r>
            <a:r>
              <a:rPr lang="sk-SK" dirty="0" err="1"/>
              <a:t>macOS</a:t>
            </a:r>
            <a:r>
              <a:rPr lang="sk-SK" dirty="0"/>
              <a:t>. </a:t>
            </a:r>
          </a:p>
          <a:p>
            <a:r>
              <a:rPr lang="sk-SK" dirty="0"/>
              <a:t>Google </a:t>
            </a:r>
            <a:r>
              <a:rPr lang="sk-SK" dirty="0" err="1"/>
              <a:t>Assistant</a:t>
            </a:r>
            <a:r>
              <a:rPr lang="sk-SK" dirty="0"/>
              <a:t>: Pre Android a webové prehliadače. </a:t>
            </a:r>
          </a:p>
          <a:p>
            <a:r>
              <a:rPr lang="sk-SK" dirty="0"/>
              <a:t>Amazon Alexa: Pre inteligentné reproduktory a domáce zariadenia. </a:t>
            </a: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5A3E5477-39AC-BF5C-F0DF-621DFE225567}"/>
              </a:ext>
            </a:extLst>
          </p:cNvPr>
          <p:cNvSpPr txBox="1"/>
          <p:nvPr/>
        </p:nvSpPr>
        <p:spPr>
          <a:xfrm>
            <a:off x="6813997" y="4865350"/>
            <a:ext cx="51118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8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diskusia?</a:t>
            </a:r>
            <a:endParaRPr lang="sk-SK" sz="8800" dirty="0">
              <a:solidFill>
                <a:srgbClr val="C00000"/>
              </a:solidFill>
            </a:endParaRPr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D68E2AB2-778E-FCD2-5B66-3C808EB101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2252" y="2934166"/>
            <a:ext cx="3793348" cy="384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000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8E42E-B00F-C786-35D5-F1BBFDBA7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2F5F785-041B-B089-66A4-F98C314BFF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Budúcnosť operačných systémov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9D900B4-7723-DBF1-302B-C33B9B2F69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 fontScale="92500" lnSpcReduction="10000"/>
          </a:bodyPr>
          <a:lstStyle/>
          <a:p>
            <a:pPr algn="ctr" rtl="0" fontAlgn="base"/>
            <a:r>
              <a:rPr lang="sk-SK" dirty="0"/>
              <a:t>doc. Ing. Július BARÁTH, PhD.​</a:t>
            </a:r>
          </a:p>
          <a:p>
            <a:pPr algn="ctr" rtl="0" fontAlgn="base"/>
            <a:r>
              <a:rPr lang="sk-SK" dirty="0"/>
              <a:t>Katedra Informatiky </a:t>
            </a:r>
            <a:r>
              <a:rPr lang="en-US" dirty="0"/>
              <a:t>​</a:t>
            </a:r>
          </a:p>
          <a:p>
            <a:pPr algn="ctr" rtl="0" fontAlgn="base"/>
            <a:r>
              <a:rPr lang="sk-SK" dirty="0"/>
              <a:t>Akadémia ozbrojených síl,​</a:t>
            </a:r>
          </a:p>
          <a:p>
            <a:pPr algn="ctr" rtl="0" fontAlgn="base"/>
            <a:r>
              <a:rPr lang="sk-SK" dirty="0"/>
              <a:t>e-mail: </a:t>
            </a:r>
            <a:r>
              <a:rPr lang="sk-SK" dirty="0" err="1"/>
              <a:t>julius.barath@aos.sk</a:t>
            </a:r>
            <a:r>
              <a:rPr lang="en-US" dirty="0"/>
              <a:t>​</a:t>
            </a:r>
          </a:p>
          <a:p>
            <a:endParaRPr lang="sk-SK" dirty="0"/>
          </a:p>
        </p:txBody>
      </p:sp>
      <p:pic>
        <p:nvPicPr>
          <p:cNvPr id="5" name="Grafický objekt 4">
            <a:extLst>
              <a:ext uri="{FF2B5EF4-FFF2-40B4-BE49-F238E27FC236}">
                <a16:creationId xmlns:a16="http://schemas.microsoft.com/office/drawing/2014/main" id="{3455B28B-6B12-9310-C9B0-AE4EE4450E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6722" y="5599044"/>
            <a:ext cx="838200" cy="838200"/>
          </a:xfrm>
          <a:prstGeom prst="rect">
            <a:avLst/>
          </a:prstGeom>
        </p:spPr>
      </p:pic>
      <p:sp>
        <p:nvSpPr>
          <p:cNvPr id="4" name="BlokTextu 3">
            <a:extLst>
              <a:ext uri="{FF2B5EF4-FFF2-40B4-BE49-F238E27FC236}">
                <a16:creationId xmlns:a16="http://schemas.microsoft.com/office/drawing/2014/main" id="{59FBF81E-BBE4-F6CB-E1C8-1C063A2DC4D8}"/>
              </a:ext>
            </a:extLst>
          </p:cNvPr>
          <p:cNvSpPr txBox="1"/>
          <p:nvPr/>
        </p:nvSpPr>
        <p:spPr>
          <a:xfrm>
            <a:off x="1676400" y="5735637"/>
            <a:ext cx="786938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4800" dirty="0">
                <a:hlinkClick r:id="rId4"/>
              </a:rPr>
              <a:t>PollEv.com​/juliusbarath742</a:t>
            </a:r>
            <a:endParaRPr lang="sk-SK" sz="4800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6" name="Doplnok 5">
                <a:extLst>
                  <a:ext uri="{FF2B5EF4-FFF2-40B4-BE49-F238E27FC236}">
                    <a16:creationId xmlns:a16="http://schemas.microsoft.com/office/drawing/2014/main" id="{DF3592DB-667E-3DBC-E125-7408EFDF633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6" name="Doplnok 5">
                <a:extLst>
                  <a:ext uri="{FF2B5EF4-FFF2-40B4-BE49-F238E27FC236}">
                    <a16:creationId xmlns:a16="http://schemas.microsoft.com/office/drawing/2014/main" id="{DF3592DB-667E-3DBC-E125-7408EFDF633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040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83572D-2592-2C2F-28A6-F5E9FB5F6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lvl="0"/>
            <a:r>
              <a:rPr lang="sk-SK" dirty="0"/>
              <a:t>Integrácia s umelou inteligenciou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99B1360-237D-9838-0240-786EA0D1A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sk-SK" dirty="0"/>
              <a:t>Vlastné </a:t>
            </a:r>
            <a:r>
              <a:rPr lang="sk-SK" dirty="0" err="1"/>
              <a:t>chatboty</a:t>
            </a:r>
            <a:r>
              <a:rPr lang="sk-SK" dirty="0"/>
              <a:t>: V roku 2024-26 sú technologické spoločnosti, ktoré investovali veľa do generatívnej umelej inteligencie, pod tlakom dokázať, že dokážu zarábať na svojich produktoch. </a:t>
            </a:r>
          </a:p>
          <a:p>
            <a:endParaRPr lang="sk-SK" dirty="0"/>
          </a:p>
          <a:p>
            <a:r>
              <a:rPr lang="sk-SK" dirty="0"/>
              <a:t>Google a </a:t>
            </a:r>
            <a:r>
              <a:rPr lang="sk-SK" dirty="0" err="1"/>
              <a:t>OpenAI</a:t>
            </a:r>
            <a:r>
              <a:rPr lang="sk-SK" dirty="0"/>
              <a:t> sa snažia ísť touto cestou: obaja vyvíjajú používateľsky prívetivé platformy, ktoré ľuďom umožňujú </a:t>
            </a:r>
            <a:r>
              <a:rPr lang="sk-SK"/>
              <a:t>prispôsobiť veľké </a:t>
            </a:r>
            <a:r>
              <a:rPr lang="sk-SK" dirty="0"/>
              <a:t>jazykové modely a vytvárať vlastné mini </a:t>
            </a:r>
            <a:r>
              <a:rPr lang="sk-SK" dirty="0" err="1"/>
              <a:t>chatboty</a:t>
            </a:r>
            <a:r>
              <a:rPr lang="sk-SK" dirty="0"/>
              <a:t>, ktoré vyhovujú ich konkrétnym potrebám. </a:t>
            </a:r>
          </a:p>
          <a:p>
            <a:endParaRPr lang="sk-SK" dirty="0"/>
          </a:p>
          <a:p>
            <a:r>
              <a:rPr lang="sk-SK" dirty="0"/>
              <a:t>Microsoft </a:t>
            </a:r>
            <a:r>
              <a:rPr lang="sk-SK" dirty="0" err="1"/>
              <a:t>Copilot</a:t>
            </a:r>
            <a:r>
              <a:rPr lang="sk-SK" dirty="0"/>
              <a:t>: </a:t>
            </a:r>
            <a:r>
              <a:rPr lang="sk-SK" b="0" i="0" dirty="0">
                <a:solidFill>
                  <a:srgbClr val="5C5C5C"/>
                </a:solidFill>
                <a:effectLst/>
                <a:highlight>
                  <a:srgbClr val="FFFFFF"/>
                </a:highlight>
                <a:latin typeface="din-2014"/>
              </a:rPr>
              <a:t>inteligentný AI asistent, integrovaný do Office 365</a:t>
            </a:r>
            <a:endParaRPr lang="sk-SK" dirty="0"/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948804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944B0C-3638-0AC4-2C11-9FF08CBBB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sk-SK" dirty="0"/>
              <a:t>Integrácia s umelou inteligenciou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1205C71-F807-130C-6DDD-D40964D9D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sk-SK" b="1" dirty="0" err="1"/>
              <a:t>Prompt</a:t>
            </a:r>
            <a:r>
              <a:rPr lang="sk-SK" b="1" dirty="0"/>
              <a:t>-to-OS (P2OS): </a:t>
            </a:r>
            <a:r>
              <a:rPr lang="sk-SK" dirty="0"/>
              <a:t>Tento ambiciózny koncept predstavuje revolučný prístup k interakcii medzi človekom a počítačom, ktorý mení tradičné chápanie operačného systému. Používateľské požiadavky sú spracované ekosystémom generatívnych modelov umelej inteligencie, ktoré sa bezproblémovo integrujú do tradičných softvérových aplikácií alebo ich dokonca nahradzujú. </a:t>
            </a:r>
          </a:p>
          <a:p>
            <a:endParaRPr lang="sk-SK" dirty="0"/>
          </a:p>
          <a:p>
            <a:r>
              <a:rPr lang="sk-SK" b="1" dirty="0"/>
              <a:t>Inteligentné </a:t>
            </a:r>
            <a:r>
              <a:rPr lang="sk-SK" b="1" dirty="0" err="1"/>
              <a:t>asistenty</a:t>
            </a:r>
            <a:r>
              <a:rPr lang="sk-SK" b="1" dirty="0"/>
              <a:t>, </a:t>
            </a:r>
            <a:r>
              <a:rPr lang="sk-SK" b="1" dirty="0" err="1"/>
              <a:t>IoT</a:t>
            </a:r>
            <a:r>
              <a:rPr lang="sk-SK" b="1" dirty="0"/>
              <a:t> integrácia, podpora AR/VR</a:t>
            </a:r>
            <a:r>
              <a:rPr lang="sk-SK" dirty="0"/>
              <a:t>, vylepšená bezpečnosť a súkromie, kompatibilita medzi platformami, </a:t>
            </a:r>
            <a:r>
              <a:rPr lang="sk-SK" dirty="0" err="1"/>
              <a:t>edge</a:t>
            </a:r>
            <a:r>
              <a:rPr lang="sk-SK" dirty="0"/>
              <a:t> </a:t>
            </a:r>
            <a:r>
              <a:rPr lang="sk-SK" dirty="0" err="1"/>
              <a:t>computing</a:t>
            </a:r>
            <a:r>
              <a:rPr lang="sk-SK" dirty="0"/>
              <a:t> a strojové učenie sú medzi kľúčovými trendmi a inováciami, ktoré ovplyvňujú budúcnosť operačných systémov. </a:t>
            </a:r>
          </a:p>
        </p:txBody>
      </p:sp>
    </p:spTree>
    <p:extLst>
      <p:ext uri="{BB962C8B-B14F-4D97-AF65-F5344CB8AC3E}">
        <p14:creationId xmlns:p14="http://schemas.microsoft.com/office/powerpoint/2010/main" val="2982881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9E65587-9500-C3E1-8D9C-729994A48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Dopady AI na bezpečnosť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1719550-D639-2C82-5945-41704533E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rtl="0" fontAlgn="base"/>
            <a:r>
              <a:rPr lang="sk-SK" sz="2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Vylepšená detekcia a reakcia na hrozby</a:t>
            </a:r>
            <a:r>
              <a:rPr lang="sk-SK" sz="2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Integrácia AI do kybernetickej bezpečnosti sľubuje vylepšené schopnosti v detekcii a reakcii na neustále sa vyvíjajúce kybernetické hrozby. Bezpečnostné opatrenia využívajúce AI teraz zahŕňajú prediktívnu analýzu, kde AI predvída kybernetické útoky. </a:t>
            </a:r>
          </a:p>
          <a:p>
            <a:pPr rtl="0" fontAlgn="base"/>
            <a:r>
              <a:rPr lang="sk-SK" sz="2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Etické dilemy a výzvy</a:t>
            </a:r>
            <a:r>
              <a:rPr lang="sk-SK" sz="2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Existuje obava z potenciálneho zneužitia technológie zlomyseľnými aktérmi, čo zdôrazňuje kritickú oblasť zamerania: potrebu robustných, etických usmernení a nepretržitého dohľadu nad aplikáciou AI v rámci bezpečnostných rámcov. </a:t>
            </a:r>
          </a:p>
        </p:txBody>
      </p:sp>
    </p:spTree>
    <p:extLst>
      <p:ext uri="{BB962C8B-B14F-4D97-AF65-F5344CB8AC3E}">
        <p14:creationId xmlns:p14="http://schemas.microsoft.com/office/powerpoint/2010/main" val="3679702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27D272-19EB-C84B-AA70-C7C2AF20E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Dopady AI na bezpečnosť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2D7E7B2-6376-0A0A-E4DD-8B2E85095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rtl="0" fontAlgn="base"/>
            <a:r>
              <a:rPr lang="sk-SK" sz="2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Výzva v oblasti talentov</a:t>
            </a:r>
            <a:r>
              <a:rPr lang="sk-SK" sz="2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Rozdiel medzi túžbou po rýchlom zavedení a realitou dostupnosti talentov zdôrazňuje urgentnú potrebu cielených vzdelávacích a školiacich programov na výchovu pracovnej sily, ktorá je schopná zvládnuť zložitosti AI v kybernetickej bezpečnosti. </a:t>
            </a:r>
          </a:p>
          <a:p>
            <a:pPr rtl="0" fontAlgn="base"/>
            <a:r>
              <a:rPr lang="sk-SK" sz="2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Riziko nadmerného spoliehania sa na automatizované systémy</a:t>
            </a:r>
            <a:r>
              <a:rPr lang="sk-SK" sz="2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Existuje potenciálne riziko nadmerného spoliehania sa na automatizované systémy, čo môže viesť k zanedbaniu ľudského dohľadu a kontroly. </a:t>
            </a:r>
          </a:p>
          <a:p>
            <a:pPr rtl="0" fontAlgn="base"/>
            <a:r>
              <a:rPr lang="sk-SK" sz="2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Využitie AI v riadení bezpečnosti dát</a:t>
            </a:r>
            <a:r>
              <a:rPr lang="sk-SK" sz="2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AI sa čoraz viac využíva pri riadení bezpečnosti dát naprieč ekonomickými sektormi. </a:t>
            </a:r>
          </a:p>
          <a:p>
            <a:endParaRPr lang="sk-SK" dirty="0"/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69A7A8D3-9862-5954-E8CC-7DA3435C0142}"/>
              </a:ext>
            </a:extLst>
          </p:cNvPr>
          <p:cNvSpPr txBox="1"/>
          <p:nvPr/>
        </p:nvSpPr>
        <p:spPr>
          <a:xfrm>
            <a:off x="7080161" y="5588625"/>
            <a:ext cx="51118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8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diskusia?</a:t>
            </a:r>
            <a:endParaRPr lang="sk-SK" sz="8800" dirty="0">
              <a:solidFill>
                <a:srgbClr val="C00000"/>
              </a:solidFill>
            </a:endParaRP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576C40D7-2E57-2C40-AC63-775C24DA46C9}"/>
              </a:ext>
            </a:extLst>
          </p:cNvPr>
          <p:cNvSpPr txBox="1"/>
          <p:nvPr/>
        </p:nvSpPr>
        <p:spPr>
          <a:xfrm>
            <a:off x="5721927" y="113264"/>
            <a:ext cx="62622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4000" dirty="0">
                <a:hlinkClick r:id="rId3"/>
              </a:rPr>
              <a:t>PollEv.com​/juliusbarath742</a:t>
            </a:r>
            <a:endParaRPr lang="sk-SK" sz="4000" dirty="0"/>
          </a:p>
        </p:txBody>
      </p:sp>
    </p:spTree>
    <p:extLst>
      <p:ext uri="{BB962C8B-B14F-4D97-AF65-F5344CB8AC3E}">
        <p14:creationId xmlns:p14="http://schemas.microsoft.com/office/powerpoint/2010/main" val="641753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Doplnok 1">
                <a:extLst>
                  <a:ext uri="{FF2B5EF4-FFF2-40B4-BE49-F238E27FC236}">
                    <a16:creationId xmlns:a16="http://schemas.microsoft.com/office/drawing/2014/main" id="{5F2DEB6D-0C12-7C4A-2C18-9D41D5A0876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Doplnok 1">
                <a:extLst>
                  <a:ext uri="{FF2B5EF4-FFF2-40B4-BE49-F238E27FC236}">
                    <a16:creationId xmlns:a16="http://schemas.microsoft.com/office/drawing/2014/main" id="{5F2DEB6D-0C12-7C4A-2C18-9D41D5A0876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4716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04AC1F-5BE9-0156-EF59-BDC253827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k-SK" dirty="0"/>
              <a:t>Integrácia Internetu vecí (</a:t>
            </a:r>
            <a:r>
              <a:rPr lang="sk-SK" dirty="0" err="1"/>
              <a:t>IoT</a:t>
            </a:r>
            <a:r>
              <a:rPr lang="sk-SK" dirty="0"/>
              <a:t>)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D2FC53F-F5D6-F643-F8FB-AB6A46E09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lvl="0"/>
            <a:r>
              <a:rPr lang="sk-SK" dirty="0"/>
              <a:t>Internet vecí (</a:t>
            </a:r>
            <a:r>
              <a:rPr lang="sk-SK" dirty="0" err="1"/>
              <a:t>IoT</a:t>
            </a:r>
            <a:r>
              <a:rPr lang="sk-SK" dirty="0"/>
              <a:t>) je sieť fyzických a elektronických zariadení, ktoré vzájomne komunikujú a vymieňajú si dáta. </a:t>
            </a:r>
          </a:p>
          <a:p>
            <a:pPr lvl="0"/>
            <a:endParaRPr lang="sk-SK" dirty="0"/>
          </a:p>
          <a:p>
            <a:pPr lvl="0"/>
            <a:r>
              <a:rPr lang="sk-SK" dirty="0"/>
              <a:t>Každý </a:t>
            </a:r>
            <a:r>
              <a:rPr lang="sk-SK" dirty="0" err="1"/>
              <a:t>IoT</a:t>
            </a:r>
            <a:r>
              <a:rPr lang="sk-SK" dirty="0"/>
              <a:t> produkt má vlastný softvér (operačný systém), senzory a podporu pre sieťovú konektivitu (napr. WiFi, USB, Bluetooth). </a:t>
            </a:r>
          </a:p>
        </p:txBody>
      </p:sp>
    </p:spTree>
    <p:extLst>
      <p:ext uri="{BB962C8B-B14F-4D97-AF65-F5344CB8AC3E}">
        <p14:creationId xmlns:p14="http://schemas.microsoft.com/office/powerpoint/2010/main" val="3269311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AE00AD-CF75-9F0F-183F-E26EF10A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lvl="0"/>
            <a:r>
              <a:rPr lang="sk-SK" dirty="0"/>
              <a:t>2. Aplikácie Internetu vecí 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EE5A793-F0B7-9E7B-2546-EE2E20898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sk-SK" b="1" dirty="0"/>
              <a:t>Zdravotníctvo: </a:t>
            </a:r>
            <a:r>
              <a:rPr lang="sk-SK" dirty="0"/>
              <a:t>Monitorovanie pacientov, inteligentné zariadenia v nemocniciach. </a:t>
            </a:r>
          </a:p>
          <a:p>
            <a:pPr lvl="0"/>
            <a:r>
              <a:rPr lang="sk-SK" b="1" dirty="0"/>
              <a:t>Osobná a sociálna oblasť: </a:t>
            </a:r>
            <a:r>
              <a:rPr lang="sk-SK" dirty="0" err="1"/>
              <a:t>Smart</a:t>
            </a:r>
            <a:r>
              <a:rPr lang="sk-SK" dirty="0"/>
              <a:t> hodinky, sledovanie aktivity, inteligentné domácnosti. </a:t>
            </a:r>
          </a:p>
          <a:p>
            <a:pPr lvl="0"/>
            <a:r>
              <a:rPr lang="sk-SK" b="1" dirty="0"/>
              <a:t>Preprava a logistika: </a:t>
            </a:r>
            <a:r>
              <a:rPr lang="sk-SK" dirty="0"/>
              <a:t>Sledovanie nákladov, optimalizácia trás. </a:t>
            </a:r>
          </a:p>
          <a:p>
            <a:pPr lvl="0"/>
            <a:r>
              <a:rPr lang="sk-SK" b="1" dirty="0"/>
              <a:t>Inteligentné mestá: </a:t>
            </a:r>
            <a:r>
              <a:rPr lang="sk-SK" dirty="0"/>
              <a:t>Monitorovanie dopravy, osvetlenia, odpadového hospodárstva. </a:t>
            </a:r>
          </a:p>
          <a:p>
            <a:pPr lvl="0"/>
            <a:r>
              <a:rPr lang="sk-SK" b="1" dirty="0"/>
              <a:t>Inteligentné budovy: </a:t>
            </a:r>
            <a:r>
              <a:rPr lang="sk-SK" dirty="0"/>
              <a:t>Riadenie klimatizácie, bezpečnostné systémy. </a:t>
            </a:r>
          </a:p>
        </p:txBody>
      </p:sp>
    </p:spTree>
    <p:extLst>
      <p:ext uri="{BB962C8B-B14F-4D97-AF65-F5344CB8AC3E}">
        <p14:creationId xmlns:p14="http://schemas.microsoft.com/office/powerpoint/2010/main" val="425500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322726D-1529-507F-4B95-1DDAABBB6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k-SK" dirty="0"/>
              <a:t>3. Výzvy a budúcnosť 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498D19E-5D4D-AE78-4FC7-01CF74517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lvl="0"/>
            <a:r>
              <a:rPr lang="sk-SK" b="1" dirty="0"/>
              <a:t>Bezpečnosť: </a:t>
            </a:r>
            <a:r>
              <a:rPr lang="sk-SK" dirty="0" err="1"/>
              <a:t>IoT</a:t>
            </a:r>
            <a:r>
              <a:rPr lang="sk-SK" dirty="0"/>
              <a:t> zariadenia musia byť dobre zabezpečené pred hrozbami. </a:t>
            </a:r>
          </a:p>
          <a:p>
            <a:pPr lvl="0"/>
            <a:r>
              <a:rPr lang="sk-SK" b="1" dirty="0"/>
              <a:t>Škálovateľnosť: </a:t>
            </a:r>
            <a:r>
              <a:rPr lang="sk-SK" dirty="0"/>
              <a:t>Ako rastie počet zariadení, je potrebné zvládnuť ich správu. </a:t>
            </a:r>
          </a:p>
          <a:p>
            <a:pPr lvl="0"/>
            <a:r>
              <a:rPr lang="sk-SK" b="1" dirty="0"/>
              <a:t>Integrácia s </a:t>
            </a:r>
            <a:r>
              <a:rPr lang="sk-SK" b="1" dirty="0" err="1"/>
              <a:t>cloudom</a:t>
            </a:r>
            <a:r>
              <a:rPr lang="sk-SK" b="1" dirty="0"/>
              <a:t> a kvantovým počítaním: </a:t>
            </a:r>
            <a:r>
              <a:rPr lang="sk-SK" dirty="0"/>
              <a:t>Budúcnosť </a:t>
            </a:r>
            <a:r>
              <a:rPr lang="sk-SK" dirty="0" err="1"/>
              <a:t>IoT</a:t>
            </a:r>
            <a:r>
              <a:rPr lang="sk-SK" dirty="0"/>
              <a:t> zahŕňa aj tieto technológie. </a:t>
            </a: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77BB135C-129F-819B-AC41-AE6760EFA236}"/>
              </a:ext>
            </a:extLst>
          </p:cNvPr>
          <p:cNvSpPr txBox="1"/>
          <p:nvPr/>
        </p:nvSpPr>
        <p:spPr>
          <a:xfrm>
            <a:off x="6813997" y="4865350"/>
            <a:ext cx="51118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8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diskusia?</a:t>
            </a:r>
            <a:endParaRPr lang="sk-SK" sz="8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386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02DF8A-3A5D-0249-BD29-140E1B915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k-SK" dirty="0"/>
              <a:t>Podpora rozšírenej a virtuálnej reality (AR/VR)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2E1F90E-711D-6A4B-977E-DA948AF02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sk-SK" dirty="0"/>
              <a:t>AR pridáva virtuálny obsah do existujúceho prostredia. </a:t>
            </a:r>
          </a:p>
          <a:p>
            <a:endParaRPr lang="sk-SK" dirty="0"/>
          </a:p>
          <a:p>
            <a:r>
              <a:rPr lang="sk-SK" dirty="0"/>
              <a:t>Používa sa napríklad na filtre v aplikáciách ako Instagram. </a:t>
            </a:r>
          </a:p>
          <a:p>
            <a:endParaRPr lang="sk-SK" dirty="0"/>
          </a:p>
          <a:p>
            <a:r>
              <a:rPr lang="sk-SK" dirty="0"/>
              <a:t>Umožňuje úpravu farieb, jasu a kontrastu v reálnom čase. </a:t>
            </a:r>
          </a:p>
        </p:txBody>
      </p:sp>
    </p:spTree>
    <p:extLst>
      <p:ext uri="{BB962C8B-B14F-4D97-AF65-F5344CB8AC3E}">
        <p14:creationId xmlns:p14="http://schemas.microsoft.com/office/powerpoint/2010/main" val="3391756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1B26AAB-6213-7D16-5570-147141FD9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sk-SK" dirty="0"/>
              <a:t>2. Podpora rozšírenej a virtuálnej reality (AR/VR) 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9B31E61-9F6E-9D6C-FB31-A657CB9EB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VR je úplne umelo vytvorená realita.</a:t>
            </a:r>
          </a:p>
          <a:p>
            <a:endParaRPr lang="sk-SK" dirty="0"/>
          </a:p>
          <a:p>
            <a:r>
              <a:rPr lang="sk-SK" dirty="0"/>
              <a:t>Stimuluje sluch a zrak používateľa. </a:t>
            </a:r>
          </a:p>
          <a:p>
            <a:endParaRPr lang="sk-SK" dirty="0"/>
          </a:p>
          <a:p>
            <a:r>
              <a:rPr lang="sk-SK" dirty="0"/>
              <a:t>Vyžaduje špeciálne okuliare alebo headsety. </a:t>
            </a:r>
          </a:p>
        </p:txBody>
      </p:sp>
    </p:spTree>
    <p:extLst>
      <p:ext uri="{BB962C8B-B14F-4D97-AF65-F5344CB8AC3E}">
        <p14:creationId xmlns:p14="http://schemas.microsoft.com/office/powerpoint/2010/main" val="2868611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C68141F-BBBC-5B20-1232-5F0764C28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sk-SK" dirty="0"/>
              <a:t>3. Podpora rozšírenej a virtuálnej reality (AR/VR)  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ED0D977-12D0-3D39-D98B-2CA790AE7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Rozšírená a virtuálna realita sa stávajú bežnejšími. </a:t>
            </a:r>
          </a:p>
          <a:p>
            <a:endParaRPr lang="sk-SK" dirty="0"/>
          </a:p>
          <a:p>
            <a:r>
              <a:rPr lang="sk-SK" dirty="0"/>
              <a:t>Využívajú sa v hernom priemysle, ale aj v architektúre, medicíne a vojenskom sektore. </a:t>
            </a: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D65D2050-13B3-3B9D-80AF-D43E3EDEA977}"/>
              </a:ext>
            </a:extLst>
          </p:cNvPr>
          <p:cNvSpPr txBox="1"/>
          <p:nvPr/>
        </p:nvSpPr>
        <p:spPr>
          <a:xfrm>
            <a:off x="6813997" y="4865350"/>
            <a:ext cx="51118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8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diskusia?</a:t>
            </a:r>
            <a:endParaRPr lang="sk-SK" sz="8800" dirty="0">
              <a:solidFill>
                <a:srgbClr val="C00000"/>
              </a:solidFill>
            </a:endParaRP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696867B8-F72D-AE66-BB63-208BD4237AF1}"/>
              </a:ext>
            </a:extLst>
          </p:cNvPr>
          <p:cNvSpPr txBox="1"/>
          <p:nvPr/>
        </p:nvSpPr>
        <p:spPr>
          <a:xfrm>
            <a:off x="1357746" y="415746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4000" b="1" i="0" dirty="0">
                <a:solidFill>
                  <a:srgbClr val="007ACC"/>
                </a:solidFill>
                <a:effectLst/>
                <a:latin typeface="source-sans-pro"/>
                <a:hlinkClick r:id="rId3"/>
              </a:rPr>
              <a:t>PollEv.com​/juliusbarath742</a:t>
            </a:r>
            <a:endParaRPr lang="sk-SK" sz="4000" dirty="0"/>
          </a:p>
        </p:txBody>
      </p:sp>
    </p:spTree>
    <p:extLst>
      <p:ext uri="{BB962C8B-B14F-4D97-AF65-F5344CB8AC3E}">
        <p14:creationId xmlns:p14="http://schemas.microsoft.com/office/powerpoint/2010/main" val="425246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C9BB57D-332C-F18F-D7E1-EF387EFC1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0" eaLnBrk="1" latinLnBrk="0" hangingPunct="1"/>
            <a:r>
              <a:rPr lang="sk-SK" sz="4400" kern="1200" dirty="0">
                <a:solidFill>
                  <a:schemeClr val="tx1"/>
                </a:solidFill>
                <a:effectLst/>
              </a:rPr>
              <a:t>Zlepšené používateľské rozhranie a skúsenosti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820D18C-DA74-CEEC-D19A-7651CBB0E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rtl="0" fontAlgn="base"/>
            <a:r>
              <a:rPr lang="sk-SK" sz="2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Intuitívne rozhranie je jednoduché na používanie a rýchlo sa naučí. </a:t>
            </a:r>
          </a:p>
          <a:p>
            <a:pPr rtl="0" fontAlgn="base"/>
            <a:endParaRPr lang="sk-SK" sz="2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sk-SK" sz="2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Zahrnuje konzistentné prvky, prirodzené gestá a jednoduché navigačné schémy. </a:t>
            </a:r>
          </a:p>
        </p:txBody>
      </p:sp>
    </p:spTree>
    <p:extLst>
      <p:ext uri="{BB962C8B-B14F-4D97-AF65-F5344CB8AC3E}">
        <p14:creationId xmlns:p14="http://schemas.microsoft.com/office/powerpoint/2010/main" val="1830443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2C7C412-EFB3-A7C6-6959-D8ED25304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lvl="0"/>
            <a:r>
              <a:rPr lang="sk-SK" dirty="0"/>
              <a:t>2.  Zlepšené používateľské rozhranie a skúsenosti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E0CEF9E-5297-DEBC-5CAC-8301554B2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sk-SK" dirty="0"/>
              <a:t>Používateľské rozhranie by malo byť konzistentné v celom systéme.</a:t>
            </a:r>
          </a:p>
          <a:p>
            <a:endParaRPr lang="sk-SK" dirty="0"/>
          </a:p>
          <a:p>
            <a:r>
              <a:rPr lang="sk-SK" dirty="0"/>
              <a:t>To zahŕňa rovnaký dizajn, farby, typografické prvky a umiestnenie ovládacích prvkov. </a:t>
            </a:r>
          </a:p>
        </p:txBody>
      </p:sp>
    </p:spTree>
    <p:extLst>
      <p:ext uri="{BB962C8B-B14F-4D97-AF65-F5344CB8AC3E}">
        <p14:creationId xmlns:p14="http://schemas.microsoft.com/office/powerpoint/2010/main" val="3484314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8D0D11-53A7-A559-1505-6046DC442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lvl="0"/>
            <a:r>
              <a:rPr lang="sk-SK" dirty="0"/>
              <a:t>3. Zlepšené používateľské rozhranie a skúsenosti  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93C64AB-0F86-894E-BDF3-E931DADA3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sk-SK" dirty="0"/>
              <a:t>Priateľské rozhranie je ľahko ovládateľné a poskytuje jasné usmernenia. </a:t>
            </a:r>
          </a:p>
          <a:p>
            <a:endParaRPr lang="sk-SK" dirty="0"/>
          </a:p>
          <a:p>
            <a:r>
              <a:rPr lang="sk-SK" dirty="0"/>
              <a:t>Zabezpečuje, aby používateľ nemal problémy s vykonávaním úloh. </a:t>
            </a:r>
          </a:p>
          <a:p>
            <a:endParaRPr lang="sk-SK" dirty="0"/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374A4AED-49EA-344C-168E-EEDFD93919FA}"/>
              </a:ext>
            </a:extLst>
          </p:cNvPr>
          <p:cNvSpPr txBox="1"/>
          <p:nvPr/>
        </p:nvSpPr>
        <p:spPr>
          <a:xfrm>
            <a:off x="6813997" y="4865350"/>
            <a:ext cx="51118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8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diskusia?</a:t>
            </a:r>
            <a:endParaRPr lang="sk-SK" sz="8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59651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BB00BBF-DCEE-6190-0A58-5FF89CDFA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 eaLnBrk="1" latinLnBrk="0" hangingPunct="1"/>
            <a:r>
              <a:rPr lang="sk-SK" sz="4400" kern="1200" dirty="0">
                <a:solidFill>
                  <a:schemeClr val="tx1"/>
                </a:solidFill>
                <a:effectLst/>
              </a:rPr>
              <a:t>Integrácia kvantového počítania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D2C19A8-62E5-CFDA-3C4D-2D2F99433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sk-SK" dirty="0"/>
              <a:t>Kvantový počítač je stroj, ktorý vykonáva výpočty na základe zákonov kvantovej mechaniky, čo je správanie častíc na subatomárnej úrovni.</a:t>
            </a:r>
            <a:endParaRPr lang="sk-SK" sz="2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endParaRPr lang="sk-SK" dirty="0"/>
          </a:p>
          <a:p>
            <a:pPr rtl="0" fontAlgn="base"/>
            <a:r>
              <a:rPr lang="sk-SK" sz="2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Kvantové počítače pracujú s </a:t>
            </a:r>
            <a:r>
              <a:rPr lang="sk-SK" sz="28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qubitmi</a:t>
            </a:r>
            <a:r>
              <a:rPr lang="sk-SK" sz="2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namiesto klasických bitov. </a:t>
            </a:r>
          </a:p>
          <a:p>
            <a:pPr rtl="0" fontAlgn="base"/>
            <a:endParaRPr lang="sk-SK" sz="2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sk-SK" sz="28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Qubity</a:t>
            </a:r>
            <a:r>
              <a:rPr lang="sk-SK" sz="2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môžu existovať v </a:t>
            </a:r>
            <a:r>
              <a:rPr lang="sk-SK" sz="2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superpozícii</a:t>
            </a:r>
            <a:r>
              <a:rPr lang="sk-SK" sz="2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čo umožňuje paralelné výpočty a spracovanie obrovského množstva údajov naraz. </a:t>
            </a:r>
          </a:p>
        </p:txBody>
      </p:sp>
    </p:spTree>
    <p:extLst>
      <p:ext uri="{BB962C8B-B14F-4D97-AF65-F5344CB8AC3E}">
        <p14:creationId xmlns:p14="http://schemas.microsoft.com/office/powerpoint/2010/main" val="40158851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 descr="Obrázok, na ktorom je text, snímka obrazovky, kruh, písmo&#10;&#10;Automaticky generovaný popis">
            <a:extLst>
              <a:ext uri="{FF2B5EF4-FFF2-40B4-BE49-F238E27FC236}">
                <a16:creationId xmlns:a16="http://schemas.microsoft.com/office/drawing/2014/main" id="{AC2B5190-1717-198C-2E39-C90CC64BA6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911" y="-1"/>
            <a:ext cx="8657744" cy="6554829"/>
          </a:xfrm>
          <a:prstGeom prst="rect">
            <a:avLst/>
          </a:prstGeom>
        </p:spPr>
      </p:pic>
      <p:sp>
        <p:nvSpPr>
          <p:cNvPr id="5" name="BlokTextu 4">
            <a:extLst>
              <a:ext uri="{FF2B5EF4-FFF2-40B4-BE49-F238E27FC236}">
                <a16:creationId xmlns:a16="http://schemas.microsoft.com/office/drawing/2014/main" id="{EAE62944-D247-3ACC-DC36-5EA5B40E73B8}"/>
              </a:ext>
            </a:extLst>
          </p:cNvPr>
          <p:cNvSpPr txBox="1"/>
          <p:nvPr/>
        </p:nvSpPr>
        <p:spPr>
          <a:xfrm>
            <a:off x="0" y="6350307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dirty="0" err="1"/>
              <a:t>https</a:t>
            </a:r>
            <a:r>
              <a:rPr lang="sk-SK" dirty="0"/>
              <a:t>://</a:t>
            </a:r>
            <a:r>
              <a:rPr lang="sk-SK" dirty="0" err="1"/>
              <a:t>www.eecis.udel.edu</a:t>
            </a:r>
            <a:r>
              <a:rPr lang="sk-SK" dirty="0"/>
              <a:t>/~</a:t>
            </a:r>
            <a:r>
              <a:rPr lang="sk-SK" dirty="0" err="1"/>
              <a:t>saunders</a:t>
            </a:r>
            <a:r>
              <a:rPr lang="sk-SK" dirty="0"/>
              <a:t>/</a:t>
            </a:r>
            <a:r>
              <a:rPr lang="sk-SK" dirty="0" err="1"/>
              <a:t>courses</a:t>
            </a:r>
            <a:r>
              <a:rPr lang="sk-SK" dirty="0"/>
              <a:t>/879-03s/</a:t>
            </a:r>
            <a:r>
              <a:rPr lang="sk-SK" dirty="0" err="1"/>
              <a:t>quantumComputers.ppt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5306922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 descr="Obrázok, na ktorom je text, snímka obrazovky, písmo&#10;&#10;Automaticky generovaný popis">
            <a:extLst>
              <a:ext uri="{FF2B5EF4-FFF2-40B4-BE49-F238E27FC236}">
                <a16:creationId xmlns:a16="http://schemas.microsoft.com/office/drawing/2014/main" id="{2B00DD49-35AE-5C41-B819-E7BEE01224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911" y="0"/>
            <a:ext cx="9058178" cy="6858000"/>
          </a:xfrm>
          <a:prstGeom prst="rect">
            <a:avLst/>
          </a:prstGeom>
        </p:spPr>
      </p:pic>
      <p:sp>
        <p:nvSpPr>
          <p:cNvPr id="4" name="BlokTextu 3">
            <a:extLst>
              <a:ext uri="{FF2B5EF4-FFF2-40B4-BE49-F238E27FC236}">
                <a16:creationId xmlns:a16="http://schemas.microsoft.com/office/drawing/2014/main" id="{C0C422F1-7C12-C347-A1CD-F6BF048B1997}"/>
              </a:ext>
            </a:extLst>
          </p:cNvPr>
          <p:cNvSpPr txBox="1"/>
          <p:nvPr/>
        </p:nvSpPr>
        <p:spPr>
          <a:xfrm>
            <a:off x="482138" y="6350924"/>
            <a:ext cx="8312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 err="1"/>
              <a:t>https</a:t>
            </a:r>
            <a:r>
              <a:rPr lang="sk-SK" dirty="0"/>
              <a:t>://</a:t>
            </a:r>
            <a:r>
              <a:rPr lang="sk-SK" dirty="0" err="1"/>
              <a:t>www.eecis.udel.edu</a:t>
            </a:r>
            <a:r>
              <a:rPr lang="sk-SK" dirty="0"/>
              <a:t>/~</a:t>
            </a:r>
            <a:r>
              <a:rPr lang="sk-SK" dirty="0" err="1"/>
              <a:t>saunders</a:t>
            </a:r>
            <a:r>
              <a:rPr lang="sk-SK" dirty="0"/>
              <a:t>/</a:t>
            </a:r>
            <a:r>
              <a:rPr lang="sk-SK" dirty="0" err="1"/>
              <a:t>courses</a:t>
            </a:r>
            <a:r>
              <a:rPr lang="sk-SK" dirty="0"/>
              <a:t>/879-03s/</a:t>
            </a:r>
            <a:r>
              <a:rPr lang="sk-SK" dirty="0" err="1"/>
              <a:t>quantumComputers.ppt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4510641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 descr="Obrázok, na ktorom je text, snímka obrazovky, kruh, písmo&#10;&#10;Automaticky generovaný popis">
            <a:extLst>
              <a:ext uri="{FF2B5EF4-FFF2-40B4-BE49-F238E27FC236}">
                <a16:creationId xmlns:a16="http://schemas.microsoft.com/office/drawing/2014/main" id="{637FFB58-7E05-9094-E5B4-5816052172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911" y="0"/>
            <a:ext cx="9058178" cy="6858000"/>
          </a:xfrm>
          <a:prstGeom prst="rect">
            <a:avLst/>
          </a:prstGeom>
        </p:spPr>
      </p:pic>
      <p:sp>
        <p:nvSpPr>
          <p:cNvPr id="5" name="BlokTextu 4">
            <a:extLst>
              <a:ext uri="{FF2B5EF4-FFF2-40B4-BE49-F238E27FC236}">
                <a16:creationId xmlns:a16="http://schemas.microsoft.com/office/drawing/2014/main" id="{328EA608-277E-13AF-FFDC-65121FE2783C}"/>
              </a:ext>
            </a:extLst>
          </p:cNvPr>
          <p:cNvSpPr txBox="1"/>
          <p:nvPr/>
        </p:nvSpPr>
        <p:spPr>
          <a:xfrm>
            <a:off x="665018" y="6318704"/>
            <a:ext cx="84207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dirty="0" err="1"/>
              <a:t>https</a:t>
            </a:r>
            <a:r>
              <a:rPr lang="sk-SK" dirty="0"/>
              <a:t>://</a:t>
            </a:r>
            <a:r>
              <a:rPr lang="sk-SK" dirty="0" err="1"/>
              <a:t>www.eecis.udel.edu</a:t>
            </a:r>
            <a:r>
              <a:rPr lang="sk-SK" dirty="0"/>
              <a:t>/~</a:t>
            </a:r>
            <a:r>
              <a:rPr lang="sk-SK" dirty="0" err="1"/>
              <a:t>saunders</a:t>
            </a:r>
            <a:r>
              <a:rPr lang="sk-SK" dirty="0"/>
              <a:t>/</a:t>
            </a:r>
            <a:r>
              <a:rPr lang="sk-SK" dirty="0" err="1"/>
              <a:t>courses</a:t>
            </a:r>
            <a:r>
              <a:rPr lang="sk-SK" dirty="0"/>
              <a:t>/879-03s/</a:t>
            </a:r>
            <a:r>
              <a:rPr lang="sk-SK" dirty="0" err="1"/>
              <a:t>quantumComputers.ppt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1246650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 descr="Obrázok, na ktorom je text, snímka obrazovky, písmo, číslo&#10;&#10;Automaticky generovaný popis">
            <a:extLst>
              <a:ext uri="{FF2B5EF4-FFF2-40B4-BE49-F238E27FC236}">
                <a16:creationId xmlns:a16="http://schemas.microsoft.com/office/drawing/2014/main" id="{DDB9D7AF-82CF-7C9B-B6AE-2AC056CEA2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736" y="-109330"/>
            <a:ext cx="9106631" cy="6894684"/>
          </a:xfrm>
          <a:prstGeom prst="rect">
            <a:avLst/>
          </a:prstGeom>
        </p:spPr>
      </p:pic>
      <p:sp>
        <p:nvSpPr>
          <p:cNvPr id="5" name="BlokTextu 4">
            <a:extLst>
              <a:ext uri="{FF2B5EF4-FFF2-40B4-BE49-F238E27FC236}">
                <a16:creationId xmlns:a16="http://schemas.microsoft.com/office/drawing/2014/main" id="{A2F6F27A-52FA-8C62-9A9C-2F7FD6D85FED}"/>
              </a:ext>
            </a:extLst>
          </p:cNvPr>
          <p:cNvSpPr txBox="1"/>
          <p:nvPr/>
        </p:nvSpPr>
        <p:spPr>
          <a:xfrm>
            <a:off x="369194" y="6416022"/>
            <a:ext cx="9152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dirty="0" err="1"/>
              <a:t>https</a:t>
            </a:r>
            <a:r>
              <a:rPr lang="sk-SK" dirty="0"/>
              <a:t>://</a:t>
            </a:r>
            <a:r>
              <a:rPr lang="sk-SK" dirty="0" err="1"/>
              <a:t>www.eecis.udel.edu</a:t>
            </a:r>
            <a:r>
              <a:rPr lang="sk-SK" dirty="0"/>
              <a:t>/~</a:t>
            </a:r>
            <a:r>
              <a:rPr lang="sk-SK" dirty="0" err="1"/>
              <a:t>saunders</a:t>
            </a:r>
            <a:r>
              <a:rPr lang="sk-SK" dirty="0"/>
              <a:t>/</a:t>
            </a:r>
            <a:r>
              <a:rPr lang="sk-SK" dirty="0" err="1"/>
              <a:t>courses</a:t>
            </a:r>
            <a:r>
              <a:rPr lang="sk-SK" dirty="0"/>
              <a:t>/879-03s/</a:t>
            </a:r>
            <a:r>
              <a:rPr lang="sk-SK" dirty="0" err="1"/>
              <a:t>quantumComputers.ppt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2374551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 descr="Obrázok, na ktorom je text, snímka obrazovky, písmo&#10;&#10;Automaticky generovaný popis">
            <a:extLst>
              <a:ext uri="{FF2B5EF4-FFF2-40B4-BE49-F238E27FC236}">
                <a16:creationId xmlns:a16="http://schemas.microsoft.com/office/drawing/2014/main" id="{BD72D652-67EA-1986-BA22-6C7E82959C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911" y="-1"/>
            <a:ext cx="9048080" cy="6850355"/>
          </a:xfrm>
          <a:prstGeom prst="rect">
            <a:avLst/>
          </a:prstGeom>
        </p:spPr>
      </p:pic>
      <p:sp>
        <p:nvSpPr>
          <p:cNvPr id="4" name="BlokTextu 3">
            <a:extLst>
              <a:ext uri="{FF2B5EF4-FFF2-40B4-BE49-F238E27FC236}">
                <a16:creationId xmlns:a16="http://schemas.microsoft.com/office/drawing/2014/main" id="{277A50D6-101A-8C89-1F8F-B3052C909ECE}"/>
              </a:ext>
            </a:extLst>
          </p:cNvPr>
          <p:cNvSpPr txBox="1"/>
          <p:nvPr/>
        </p:nvSpPr>
        <p:spPr>
          <a:xfrm>
            <a:off x="399011" y="6488668"/>
            <a:ext cx="9152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dirty="0" err="1"/>
              <a:t>https</a:t>
            </a:r>
            <a:r>
              <a:rPr lang="sk-SK" dirty="0"/>
              <a:t>://</a:t>
            </a:r>
            <a:r>
              <a:rPr lang="sk-SK" dirty="0" err="1"/>
              <a:t>www.eecis.udel.edu</a:t>
            </a:r>
            <a:r>
              <a:rPr lang="sk-SK" dirty="0"/>
              <a:t>/~</a:t>
            </a:r>
            <a:r>
              <a:rPr lang="sk-SK" dirty="0" err="1"/>
              <a:t>saunders</a:t>
            </a:r>
            <a:r>
              <a:rPr lang="sk-SK" dirty="0"/>
              <a:t>/</a:t>
            </a:r>
            <a:r>
              <a:rPr lang="sk-SK" dirty="0" err="1"/>
              <a:t>courses</a:t>
            </a:r>
            <a:r>
              <a:rPr lang="sk-SK" dirty="0"/>
              <a:t>/879-03s/</a:t>
            </a:r>
            <a:r>
              <a:rPr lang="sk-SK" dirty="0" err="1"/>
              <a:t>quantumComputers.ppt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6914771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7762BC8-C3DF-F554-2D60-3EABDA708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lvl="0"/>
            <a:r>
              <a:rPr lang="sk-SK" dirty="0"/>
              <a:t>2.  Integrácia kvantového počítania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D6CBAC6-CE95-4E4A-9F2A-4BB149636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sk-SK" b="1" dirty="0" err="1"/>
              <a:t>Faktorizácia</a:t>
            </a:r>
            <a:r>
              <a:rPr lang="sk-SK" b="1" dirty="0"/>
              <a:t> veľkých čísel: </a:t>
            </a:r>
            <a:r>
              <a:rPr lang="sk-SK" dirty="0"/>
              <a:t>Kvantové počítače môžu rýchlo </a:t>
            </a:r>
            <a:r>
              <a:rPr lang="sk-SK" dirty="0" err="1"/>
              <a:t>faktorizovať</a:t>
            </a:r>
            <a:r>
              <a:rPr lang="sk-SK" dirty="0"/>
              <a:t> veľké čísla, čo je dôležité pre kryptografiu. </a:t>
            </a:r>
          </a:p>
          <a:p>
            <a:endParaRPr lang="sk-SK" dirty="0"/>
          </a:p>
          <a:p>
            <a:r>
              <a:rPr lang="sk-SK" b="1" dirty="0"/>
              <a:t>Optimalizácia: </a:t>
            </a:r>
            <a:r>
              <a:rPr lang="sk-SK" dirty="0"/>
              <a:t>Kvantové algoritmy môžu nájsť optimálne riešenia vo veľkých súboroch údajov. </a:t>
            </a:r>
          </a:p>
          <a:p>
            <a:endParaRPr lang="sk-SK" dirty="0"/>
          </a:p>
          <a:p>
            <a:r>
              <a:rPr lang="sk-SK" b="1" dirty="0"/>
              <a:t>Simulácia molekulárnych systémov: </a:t>
            </a:r>
            <a:r>
              <a:rPr lang="sk-SK" dirty="0"/>
              <a:t>Kvantové počítače môžu presnejšie modelovať chemické reakcie. </a:t>
            </a:r>
          </a:p>
        </p:txBody>
      </p:sp>
    </p:spTree>
    <p:extLst>
      <p:ext uri="{BB962C8B-B14F-4D97-AF65-F5344CB8AC3E}">
        <p14:creationId xmlns:p14="http://schemas.microsoft.com/office/powerpoint/2010/main" val="16436638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BD4C2C7-0A77-A4F4-289B-4CC147123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lvl="0"/>
            <a:r>
              <a:rPr lang="sk-SK" dirty="0"/>
              <a:t>3.  Integrácia kvantového počítania  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D3FD648-E4EF-1BE7-D667-413CBD723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sk-SK" b="1" dirty="0"/>
              <a:t>Integrácia s operačnými systémami: </a:t>
            </a:r>
            <a:r>
              <a:rPr lang="sk-SK" dirty="0"/>
              <a:t>Budúce operačné systémy budú musieť podporovať kvantové algoritmy a spravovať kvantové výpočtové zdroje. </a:t>
            </a:r>
          </a:p>
          <a:p>
            <a:endParaRPr lang="sk-SK" dirty="0"/>
          </a:p>
          <a:p>
            <a:r>
              <a:rPr lang="sk-SK" b="1" dirty="0"/>
              <a:t>Rozvoj európskych kvantových výpočtových zdrojov: </a:t>
            </a:r>
            <a:r>
              <a:rPr lang="sk-SK" dirty="0"/>
              <a:t>Kvantové počítače budú prepojené so superpočítačmi a umožnia riešiť nové typy problémov. </a:t>
            </a: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44AA1C30-4CDC-09EA-CC22-764F77ECFC30}"/>
              </a:ext>
            </a:extLst>
          </p:cNvPr>
          <p:cNvSpPr txBox="1"/>
          <p:nvPr/>
        </p:nvSpPr>
        <p:spPr>
          <a:xfrm>
            <a:off x="6813997" y="4865350"/>
            <a:ext cx="51118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8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diskusia?</a:t>
            </a:r>
            <a:endParaRPr lang="sk-SK" sz="8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22047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72286B-8583-3032-222E-029BF8D28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k-SK"/>
              <a:t>Kontinuálne aktualizácie a bezproblémové aktualizácie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55D6679-1E1E-2D75-83F0-09C4ABB22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sk-SK" b="1" dirty="0"/>
              <a:t>Nové funkcie: </a:t>
            </a:r>
            <a:r>
              <a:rPr lang="sk-SK" dirty="0"/>
              <a:t>Aktualizácie prinášajú nové funkcie, zlepšenie výkonu a príjemnejší vzhľad. </a:t>
            </a:r>
          </a:p>
          <a:p>
            <a:endParaRPr lang="sk-SK" dirty="0"/>
          </a:p>
          <a:p>
            <a:r>
              <a:rPr lang="sk-SK" b="1" dirty="0"/>
              <a:t>Opravy chýb: </a:t>
            </a:r>
            <a:r>
              <a:rPr lang="sk-SK" dirty="0"/>
              <a:t>Aktualizácie opravujú chyby v operačných systémoch, softvéroch a aplikáciách, ktoré by mohli byť zneužité hackermi. </a:t>
            </a:r>
          </a:p>
        </p:txBody>
      </p:sp>
    </p:spTree>
    <p:extLst>
      <p:ext uri="{BB962C8B-B14F-4D97-AF65-F5344CB8AC3E}">
        <p14:creationId xmlns:p14="http://schemas.microsoft.com/office/powerpoint/2010/main" val="41163829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A67AA5-8A31-5069-F36B-B9D6A7066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lvl="0"/>
            <a:r>
              <a:rPr lang="sk-SK"/>
              <a:t>2. Kontinuálne aktualizácie a bezproblémové aktualizácie  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FD5BE2D-7CDE-E860-ACF3-619DA907D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sk-SK" b="1"/>
              <a:t>Zabezpečenie: </a:t>
            </a:r>
            <a:r>
              <a:rPr lang="sk-SK"/>
              <a:t>Aktualizácie zahrňujú bezpečnostné záplaty na ochranu pred hrozbami. </a:t>
            </a:r>
          </a:p>
          <a:p>
            <a:endParaRPr lang="sk-SK"/>
          </a:p>
          <a:p>
            <a:r>
              <a:rPr lang="sk-SK" b="1"/>
              <a:t>Stabilita: </a:t>
            </a:r>
            <a:r>
              <a:rPr lang="sk-SK"/>
              <a:t>Aktualizácie zlepšujú stabilitu systému a minimalizujú chyby. </a:t>
            </a:r>
          </a:p>
        </p:txBody>
      </p:sp>
    </p:spTree>
    <p:extLst>
      <p:ext uri="{BB962C8B-B14F-4D97-AF65-F5344CB8AC3E}">
        <p14:creationId xmlns:p14="http://schemas.microsoft.com/office/powerpoint/2010/main" val="29258031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03FA90A-EE90-0238-41F2-60C6C9824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lvl="0"/>
            <a:r>
              <a:rPr lang="sk-SK" dirty="0"/>
              <a:t>3.  Kontinuálne a </a:t>
            </a:r>
            <a:r>
              <a:rPr lang="sk-SK"/>
              <a:t>bezproblémové aktualizácie 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9AD59C3-84C9-D4CF-8FD2-428724AD7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sk-SK" b="1" dirty="0"/>
              <a:t>Inteligentné aktualizácie: </a:t>
            </a:r>
            <a:r>
              <a:rPr lang="sk-SK" dirty="0"/>
              <a:t>Operačné systémy budú automaticky vykonávať aktualizácie v pozadí, aby používateľ nemusel manuálne zasahovať. </a:t>
            </a:r>
          </a:p>
          <a:p>
            <a:endParaRPr lang="sk-SK" dirty="0"/>
          </a:p>
          <a:p>
            <a:r>
              <a:rPr lang="sk-SK" b="1" dirty="0"/>
              <a:t>Kontinuálna optimalizácia: </a:t>
            </a:r>
            <a:r>
              <a:rPr lang="sk-SK" dirty="0"/>
              <a:t>Aktualizácie budú prichádzať častejšie a zlepšovať používateľskú skúsenosť. </a:t>
            </a:r>
          </a:p>
          <a:p>
            <a:endParaRPr lang="sk-SK" dirty="0"/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7254BFEA-E368-A3D0-7C33-F3E47A9A0FD1}"/>
              </a:ext>
            </a:extLst>
          </p:cNvPr>
          <p:cNvSpPr txBox="1"/>
          <p:nvPr/>
        </p:nvSpPr>
        <p:spPr>
          <a:xfrm>
            <a:off x="6813997" y="4865350"/>
            <a:ext cx="51118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8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diskusia?</a:t>
            </a:r>
            <a:endParaRPr lang="sk-SK" sz="8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02405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531CBB-8F31-A56A-3C41-B64D84346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 eaLnBrk="1" latinLnBrk="0" hangingPunct="1"/>
            <a:r>
              <a:rPr lang="sk-SK" sz="44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Bezpečnosť a súkromie</a:t>
            </a:r>
            <a:endParaRPr lang="sk-SK" dirty="0">
              <a:effectLst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3DA087C-D46A-19B7-2786-9F207FA93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sk-SK" dirty="0"/>
              <a:t>S rastúcim počtom kybernetických útokov a obavami o súkromie sa bezpečnosť stáva prioritou. Operačné systémy budú musieť poskytnúť robustné riešenia na ochranu dát a sietí. </a:t>
            </a:r>
          </a:p>
          <a:p>
            <a:r>
              <a:rPr lang="sk-SK" b="1" dirty="0"/>
              <a:t>Zaznamenávame pokrok v oblasti kybernetickej bezpečnosti, ale prístup musí byť rozšírený:</a:t>
            </a:r>
            <a:r>
              <a:rPr lang="sk-SK" dirty="0"/>
              <a:t> Verejné a súkromné investície do bezpečnostných technológií, ako aj širšie snahy o boj proti kybernetickej kriminalite, obranu kritických infraštruktúr a zvyšovanie verejného povedomia o kybernetickej bezpečnosti, by mali do roku 2030 priniesť hmatateľné výsledky. </a:t>
            </a:r>
          </a:p>
          <a:p>
            <a:endParaRPr lang="sk-SK" dirty="0"/>
          </a:p>
          <a:p>
            <a:r>
              <a:rPr lang="sk-SK" b="1" dirty="0"/>
              <a:t>Zhoršujúca sa kríza dôvery online: </a:t>
            </a:r>
            <a:r>
              <a:rPr lang="sk-SK" dirty="0"/>
              <a:t>Erózia dôvery online sa pravdepodobne prehĺbi a bude naďalej podkopávať </a:t>
            </a:r>
            <a:r>
              <a:rPr lang="sk-SK" dirty="0" err="1"/>
              <a:t>offline</a:t>
            </a:r>
            <a:r>
              <a:rPr lang="sk-SK" dirty="0"/>
              <a:t> vzťahy a inštitúcie. </a:t>
            </a:r>
          </a:p>
        </p:txBody>
      </p:sp>
    </p:spTree>
    <p:extLst>
      <p:ext uri="{BB962C8B-B14F-4D97-AF65-F5344CB8AC3E}">
        <p14:creationId xmlns:p14="http://schemas.microsoft.com/office/powerpoint/2010/main" val="3136003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4DE3CB-D226-F94A-FF54-5CC9B728B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Bezpečnosť a súkromie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6528BE8-AFF5-1B90-9179-9486AC3F1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sk-SK" b="1" dirty="0"/>
              <a:t>Generatívna </a:t>
            </a:r>
            <a:r>
              <a:rPr lang="sk-SK" b="1" dirty="0" err="1"/>
              <a:t>umelelá</a:t>
            </a:r>
            <a:r>
              <a:rPr lang="sk-SK" b="1" dirty="0"/>
              <a:t> inteligencia (</a:t>
            </a:r>
            <a:r>
              <a:rPr lang="sk-SK" b="1" dirty="0" err="1"/>
              <a:t>GenAI</a:t>
            </a:r>
            <a:r>
              <a:rPr lang="sk-SK" b="1" dirty="0"/>
              <a:t>) ako hlavná schopnosť: </a:t>
            </a:r>
            <a:r>
              <a:rPr lang="sk-SK" dirty="0"/>
              <a:t>Bezpečnostní lídri musia byť pripravení na rýchly vývoj </a:t>
            </a:r>
            <a:r>
              <a:rPr lang="sk-SK" dirty="0" err="1"/>
              <a:t>GenAI</a:t>
            </a:r>
            <a:r>
              <a:rPr lang="sk-SK" dirty="0"/>
              <a:t>, pretože aplikácie veľkých jazykových modelov, ako je </a:t>
            </a:r>
            <a:r>
              <a:rPr lang="sk-SK" dirty="0" err="1"/>
              <a:t>ChatGPT</a:t>
            </a:r>
            <a:r>
              <a:rPr lang="sk-SK" dirty="0"/>
              <a:t> a </a:t>
            </a:r>
            <a:r>
              <a:rPr lang="sk-SK" dirty="0" err="1"/>
              <a:t>Gemini</a:t>
            </a:r>
            <a:r>
              <a:rPr lang="sk-SK" dirty="0"/>
              <a:t>, sú len začiatkom narušenia bezpečnosti a súkromia. </a:t>
            </a:r>
          </a:p>
          <a:p>
            <a:endParaRPr lang="sk-SK" dirty="0"/>
          </a:p>
          <a:p>
            <a:r>
              <a:rPr lang="sk-SK" b="1" dirty="0"/>
              <a:t>Rastúci tlak na kybernetickú bezpečnosť: </a:t>
            </a:r>
            <a:r>
              <a:rPr lang="sk-SK" dirty="0"/>
              <a:t>Prieskum </a:t>
            </a:r>
            <a:r>
              <a:rPr lang="sk-SK" dirty="0" err="1"/>
              <a:t>Gartner</a:t>
            </a:r>
            <a:r>
              <a:rPr lang="sk-SK" dirty="0"/>
              <a:t> Top </a:t>
            </a:r>
            <a:r>
              <a:rPr lang="sk-SK" dirty="0" err="1"/>
              <a:t>Trends</a:t>
            </a:r>
            <a:r>
              <a:rPr lang="sk-SK" dirty="0"/>
              <a:t> in </a:t>
            </a:r>
            <a:r>
              <a:rPr lang="sk-SK" dirty="0" err="1"/>
              <a:t>Cybersecurity</a:t>
            </a:r>
            <a:r>
              <a:rPr lang="sk-SK" dirty="0"/>
              <a:t> 2024 identifikuje rastúci tlak z nasledujúcich oblastí: vznik generatívnej umelej inteligencie (</a:t>
            </a:r>
            <a:r>
              <a:rPr lang="sk-SK" dirty="0" err="1"/>
              <a:t>GenAI</a:t>
            </a:r>
            <a:r>
              <a:rPr lang="sk-SK" dirty="0"/>
              <a:t>) ako hlavnej schopnosti, pokračujúca medzera medzi dodávkou a dopytom po bezpečnostných talentoch, neúprosný rast adopcie </a:t>
            </a:r>
            <a:r>
              <a:rPr lang="sk-SK" dirty="0" err="1"/>
              <a:t>cloudu</a:t>
            </a:r>
            <a:r>
              <a:rPr lang="sk-SK" dirty="0"/>
              <a:t>, ktorý mení zloženie digitálnych ekosystémov. </a:t>
            </a: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BF36E8CA-61AC-3E08-7606-75C017AC2EF4}"/>
              </a:ext>
            </a:extLst>
          </p:cNvPr>
          <p:cNvSpPr txBox="1"/>
          <p:nvPr/>
        </p:nvSpPr>
        <p:spPr>
          <a:xfrm>
            <a:off x="6891270" y="5411450"/>
            <a:ext cx="51118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8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diskusia?</a:t>
            </a:r>
            <a:endParaRPr lang="sk-SK" sz="8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143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3395ED4-CBBB-F997-3D61-F35D67135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0" eaLnBrk="1" latinLnBrk="0" hangingPunct="1"/>
            <a:r>
              <a:rPr lang="sk-SK" sz="44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Energetická efektívnosť</a:t>
            </a:r>
            <a:endParaRPr lang="sk-SK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2E1A933-6E3C-CC7B-64B4-90D64C010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rtl="0" fontAlgn="base"/>
            <a:r>
              <a:rPr lang="sk-SK" sz="2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Zlepšenie energetického výkonu</a:t>
            </a:r>
            <a:r>
              <a:rPr lang="sk-SK" sz="2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Energetická efektívnosť je označovaná ako “prvé palivo” v prechodoch na čistú energiu, pretože poskytuje niektoré z najrýchlejších a nákladovo efektívnych možností zmiernenia emisií CO2, zatiaľ čo znižuje energetické účty a posilňuje energetickú bezpečnosť. </a:t>
            </a:r>
          </a:p>
          <a:p>
            <a:pPr rtl="0" fontAlgn="base"/>
            <a:r>
              <a:rPr lang="sk-SK" sz="2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Vývoj softvéru zameraný na energetickú efektívnosť</a:t>
            </a:r>
            <a:r>
              <a:rPr lang="sk-SK" sz="2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Keďže je to softvér, ktorý riadi hardvér, rozhodnutia prijaté počas návrhu softvéru môžu mať významný vplyv na spotrebu energie systému. </a:t>
            </a:r>
          </a:p>
          <a:p>
            <a:pPr rtl="0" fontAlgn="base"/>
            <a:r>
              <a:rPr lang="sk-SK" sz="2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Integrácia energeticky efektívnych technológií</a:t>
            </a:r>
            <a:r>
              <a:rPr lang="sk-SK" sz="2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Investície do nových energeticky efektívnych budov, zariadení a vozidiel. </a:t>
            </a:r>
          </a:p>
          <a:p>
            <a:pPr rtl="0" fontAlgn="base"/>
            <a:r>
              <a:rPr lang="sk-SK" sz="2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Zmenené vzorce mobility majú obrovský vplyv na dopyt po energii a jej intenzitu</a:t>
            </a:r>
            <a:r>
              <a:rPr lang="sk-SK" sz="2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Obmedzenia cestovania a lockdowny majú veľký vplyv na diaľkovú a mestskú dopravu. </a:t>
            </a:r>
          </a:p>
          <a:p>
            <a:endParaRPr lang="sk-SK" dirty="0"/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CB2ECB28-4F94-8EF9-B608-44FFFD49BD96}"/>
              </a:ext>
            </a:extLst>
          </p:cNvPr>
          <p:cNvSpPr txBox="1"/>
          <p:nvPr/>
        </p:nvSpPr>
        <p:spPr>
          <a:xfrm>
            <a:off x="7080161" y="5411450"/>
            <a:ext cx="51118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8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diskusia?</a:t>
            </a:r>
            <a:endParaRPr lang="sk-SK" sz="8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23263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960B79-185D-4B92-9D91-C80EE639A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Ďakujem za pozornosť.</a:t>
            </a:r>
          </a:p>
        </p:txBody>
      </p:sp>
      <p:pic>
        <p:nvPicPr>
          <p:cNvPr id="1026" name="Picture 2" descr="Obrázok, na ktorom je oblečenie, osoba, muž, mobilný telefón&#10;&#10;Popis vygenerovaný s veľmi vysokou spoľahlivosťou">
            <a:extLst>
              <a:ext uri="{FF2B5EF4-FFF2-40B4-BE49-F238E27FC236}">
                <a16:creationId xmlns:a16="http://schemas.microsoft.com/office/drawing/2014/main" id="{B0F8F51E-B2CD-27E2-A290-42DEBAD1B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0832" y="830369"/>
            <a:ext cx="3434205" cy="5662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BlokTextu 3">
            <a:extLst>
              <a:ext uri="{FF2B5EF4-FFF2-40B4-BE49-F238E27FC236}">
                <a16:creationId xmlns:a16="http://schemas.microsoft.com/office/drawing/2014/main" id="{7627A2E0-A70D-1560-1E78-94019BBEAC7B}"/>
              </a:ext>
            </a:extLst>
          </p:cNvPr>
          <p:cNvSpPr txBox="1"/>
          <p:nvPr/>
        </p:nvSpPr>
        <p:spPr>
          <a:xfrm>
            <a:off x="3523013" y="3244334"/>
            <a:ext cx="257298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4400" b="0" i="0" dirty="0">
                <a:solidFill>
                  <a:srgbClr val="000000"/>
                </a:solidFill>
                <a:effectLst/>
                <a:latin typeface="Times"/>
              </a:rPr>
              <a:t> Otázky?</a:t>
            </a:r>
            <a:endParaRPr lang="sk-SK" sz="4400" dirty="0"/>
          </a:p>
        </p:txBody>
      </p:sp>
    </p:spTree>
    <p:extLst>
      <p:ext uri="{BB962C8B-B14F-4D97-AF65-F5344CB8AC3E}">
        <p14:creationId xmlns:p14="http://schemas.microsoft.com/office/powerpoint/2010/main" val="1507712031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webextensions/webextension1.xml><?xml version="1.0" encoding="utf-8"?>
<we:webextension xmlns:we="http://schemas.microsoft.com/office/webextensions/webextension/2010/11" id="{3AC57CA6-C478-374A-B308-8B2C32E365B6}">
  <we:reference id="wa104218073" version="3.0.0.1" store="sk-SK" storeType="OMEX"/>
  <we:alternateReferences>
    <we:reference id="wa104218073" version="3.0.0.1" store="wa104218073" storeType="OMEX"/>
  </we:alternateReferences>
  <we:properties>
    <we:property name="appSlideData" value="{&quot;slideId&quot;:284,&quot;confidenceLevel&quot;:2}"/>
    <we:property name="url" value="&quot;multiple_choice_poll/AytmdkNxiLZBoBr10IGv9&quot;"/>
  </we:properties>
  <we:bindings/>
  <we:snapshot xmlns:r="http://schemas.openxmlformats.org/officeDocument/2006/relationships" r:embed="rId1"/>
</we:webextension>
</file>

<file path=ppt/webextensions/webextension2.xml><?xml version="1.0" encoding="utf-8"?>
<we:webextension xmlns:we="http://schemas.microsoft.com/office/webextensions/webextension/2010/11" id="{CF259C9D-5AA0-3944-A3B7-F451342A0AB1}">
  <we:reference id="wa104218073" version="3.0.0.1" store="sk-SK" storeType="OMEX"/>
  <we:alternateReferences>
    <we:reference id="WA104218073" version="3.0.0.1" store="" storeType="OMEX"/>
  </we:alternateReferences>
  <we:properties>
    <we:property name="appSlideData" value="{&quot;slideId&quot;:294,&quot;confidenceLevel&quot;:2}"/>
    <we:property name="url" value="&quot;free_text_poll/DzPNEzCYcEc2uXhGkR8Cw&quot;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1626</Words>
  <Application>Microsoft Macintosh PowerPoint</Application>
  <PresentationFormat>Širokouhlá</PresentationFormat>
  <Paragraphs>186</Paragraphs>
  <Slides>35</Slides>
  <Notes>29</Notes>
  <HiddenSlides>0</HiddenSlides>
  <MMClips>0</MMClips>
  <ScaleCrop>false</ScaleCrop>
  <HeadingPairs>
    <vt:vector size="6" baseType="variant">
      <vt:variant>
        <vt:lpstr>Použité písma</vt:lpstr>
      </vt:variant>
      <vt:variant>
        <vt:i4>6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35</vt:i4>
      </vt:variant>
    </vt:vector>
  </HeadingPairs>
  <TitlesOfParts>
    <vt:vector size="42" baseType="lpstr">
      <vt:lpstr>Aptos</vt:lpstr>
      <vt:lpstr>Aptos Display</vt:lpstr>
      <vt:lpstr>Arial</vt:lpstr>
      <vt:lpstr>din-2014</vt:lpstr>
      <vt:lpstr>source-sans-pro</vt:lpstr>
      <vt:lpstr>Times</vt:lpstr>
      <vt:lpstr>Motív Office</vt:lpstr>
      <vt:lpstr>Budúcnosť operačných systémov</vt:lpstr>
      <vt:lpstr>Kľúčové trendy a inovácie v OS</vt:lpstr>
      <vt:lpstr>Inteligentní asistenti a hlasové ovládanie</vt:lpstr>
      <vt:lpstr> Funkcie inteligentných asistentov </vt:lpstr>
      <vt:lpstr>Príklady inteligentných asistentov </vt:lpstr>
      <vt:lpstr>Budúcnosť operačných systémov</vt:lpstr>
      <vt:lpstr>Integrácia s umelou inteligenciou</vt:lpstr>
      <vt:lpstr>Integrácia s umelou inteligenciou</vt:lpstr>
      <vt:lpstr>Dopady AI na bezpečnosť</vt:lpstr>
      <vt:lpstr>Dopady AI na bezpečnosť</vt:lpstr>
      <vt:lpstr>Prezentácia programu PowerPoint</vt:lpstr>
      <vt:lpstr>Integrácia Internetu vecí (IoT)</vt:lpstr>
      <vt:lpstr>2. Aplikácie Internetu vecí </vt:lpstr>
      <vt:lpstr>3. Výzvy a budúcnosť </vt:lpstr>
      <vt:lpstr>Podpora rozšírenej a virtuálnej reality (AR/VR)</vt:lpstr>
      <vt:lpstr>2. Podpora rozšírenej a virtuálnej reality (AR/VR) </vt:lpstr>
      <vt:lpstr>3. Podpora rozšírenej a virtuálnej reality (AR/VR)  </vt:lpstr>
      <vt:lpstr>Zlepšené používateľské rozhranie a skúsenosti</vt:lpstr>
      <vt:lpstr>2.  Zlepšené používateľské rozhranie a skúsenosti</vt:lpstr>
      <vt:lpstr>3. Zlepšené používateľské rozhranie a skúsenosti  </vt:lpstr>
      <vt:lpstr>Integrácia kvantového počítania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2.  Integrácia kvantového počítania</vt:lpstr>
      <vt:lpstr>3.  Integrácia kvantového počítania  </vt:lpstr>
      <vt:lpstr>Kontinuálne aktualizácie a bezproblémové aktualizácie</vt:lpstr>
      <vt:lpstr>2. Kontinuálne aktualizácie a bezproblémové aktualizácie  </vt:lpstr>
      <vt:lpstr>3.  Kontinuálne a bezproblémové aktualizácie </vt:lpstr>
      <vt:lpstr>Bezpečnosť a súkromie</vt:lpstr>
      <vt:lpstr>Bezpečnosť a súkromie</vt:lpstr>
      <vt:lpstr>Energetická efektívnosť</vt:lpstr>
      <vt:lpstr>Ďakujem za pozornosť.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Baráth, Július</cp:lastModifiedBy>
  <cp:revision>1</cp:revision>
  <dcterms:created xsi:type="dcterms:W3CDTF">2024-04-16T07:32:29Z</dcterms:created>
  <dcterms:modified xsi:type="dcterms:W3CDTF">2026-04-29T05:43:49Z</dcterms:modified>
</cp:coreProperties>
</file>