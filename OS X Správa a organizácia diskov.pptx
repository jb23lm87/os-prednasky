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s/comment1.xml" ContentType="application/vnd.openxmlformats-officedocument.presentationml.comment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8" r:id="rId3"/>
    <p:sldId id="257" r:id="rId4"/>
    <p:sldId id="258" r:id="rId5"/>
    <p:sldId id="259" r:id="rId6"/>
    <p:sldId id="260" r:id="rId7"/>
    <p:sldId id="305" r:id="rId8"/>
    <p:sldId id="299" r:id="rId9"/>
    <p:sldId id="300" r:id="rId10"/>
    <p:sldId id="301"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91" r:id="rId32"/>
    <p:sldId id="292" r:id="rId33"/>
    <p:sldId id="293" r:id="rId34"/>
    <p:sldId id="297" r:id="rId35"/>
    <p:sldId id="296" r:id="rId36"/>
    <p:sldId id="302" r:id="rId37"/>
    <p:sldId id="303" r:id="rId38"/>
    <p:sldId id="306" r:id="rId39"/>
    <p:sldId id="307" r:id="rId40"/>
    <p:sldId id="308" r:id="rId41"/>
    <p:sldId id="309" r:id="rId42"/>
    <p:sldId id="310" r:id="rId43"/>
    <p:sldId id="311" r:id="rId44"/>
    <p:sldId id="312" r:id="rId45"/>
    <p:sldId id="313" r:id="rId46"/>
    <p:sldId id="282" r:id="rId47"/>
    <p:sldId id="283" r:id="rId48"/>
    <p:sldId id="284" r:id="rId49"/>
    <p:sldId id="285" r:id="rId50"/>
    <p:sldId id="286" r:id="rId51"/>
    <p:sldId id="287" r:id="rId52"/>
    <p:sldId id="288" r:id="rId53"/>
    <p:sldId id="289" r:id="rId54"/>
    <p:sldId id="290" r:id="rId55"/>
    <p:sldId id="314" r:id="rId56"/>
    <p:sldId id="315" r:id="rId57"/>
    <p:sldId id="281" r:id="rId58"/>
  </p:sldIdLst>
  <p:sldSz cx="12192000" cy="6858000"/>
  <p:notesSz cx="6858000" cy="9144000"/>
  <p:defaultText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lius Barath" initials="JB" lastIdx="1" clrIdx="0">
    <p:extLst>
      <p:ext uri="{19B8F6BF-5375-455C-9EA6-DF929625EA0E}">
        <p15:presenceInfo xmlns:p15="http://schemas.microsoft.com/office/powerpoint/2012/main" userId="4b64e023f8dee50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A959E2-40BA-76BC-7ED9-7FCD7B81F296}" v="5" dt="2022-02-11T09:08:33.1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84" y="-1512"/>
      </p:cViewPr>
      <p:guideLst>
        <p:guide orient="horz" pos="2160"/>
        <p:guide pos="3840"/>
      </p:guideLst>
    </p:cSldViewPr>
  </p:slideViewPr>
  <p:notesTextViewPr>
    <p:cViewPr>
      <p:scale>
        <a:sx n="1" d="1"/>
        <a:sy n="1" d="1"/>
      </p:scale>
      <p:origin x="0" y="0"/>
    </p:cViewPr>
  </p:notesTextViewPr>
  <p:sorterViewPr>
    <p:cViewPr>
      <p:scale>
        <a:sx n="100" d="100"/>
        <a:sy n="100" d="100"/>
      </p:scale>
      <p:origin x="0" y="969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úlius Baráth" userId="S::julius.barath@aos.sk::e650c4ab-697e-4750-bd58-c1531aabce95" providerId="AD" clId="Web-{19A959E2-40BA-76BC-7ED9-7FCD7B81F296}"/>
    <pc:docChg chg="modSld">
      <pc:chgData name="Július Baráth" userId="S::julius.barath@aos.sk::e650c4ab-697e-4750-bd58-c1531aabce95" providerId="AD" clId="Web-{19A959E2-40BA-76BC-7ED9-7FCD7B81F296}" dt="2022-02-11T09:08:32.939" v="3" actId="20577"/>
      <pc:docMkLst>
        <pc:docMk/>
      </pc:docMkLst>
      <pc:sldChg chg="modSp">
        <pc:chgData name="Július Baráth" userId="S::julius.barath@aos.sk::e650c4ab-697e-4750-bd58-c1531aabce95" providerId="AD" clId="Web-{19A959E2-40BA-76BC-7ED9-7FCD7B81F296}" dt="2022-02-11T09:08:32.939" v="3" actId="20577"/>
        <pc:sldMkLst>
          <pc:docMk/>
          <pc:sldMk cId="3943893310" sldId="256"/>
        </pc:sldMkLst>
        <pc:spChg chg="mod">
          <ac:chgData name="Július Baráth" userId="S::julius.barath@aos.sk::e650c4ab-697e-4750-bd58-c1531aabce95" providerId="AD" clId="Web-{19A959E2-40BA-76BC-7ED9-7FCD7B81F296}" dt="2022-02-11T09:08:32.939" v="3" actId="20577"/>
          <ac:spMkLst>
            <pc:docMk/>
            <pc:sldMk cId="3943893310" sldId="256"/>
            <ac:spMk id="159747" creationId="{00000000-0000-0000-0000-000000000000}"/>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13-05-29T11:18:05.564" idx="1">
    <p:pos x="2294" y="455"/>
    <p:text>http://www.ntfs.com/ntfs-encrypted.htm</p:text>
    <p:extLst>
      <p:ext uri="{C676402C-5697-4E1C-873F-D02D1690AC5C}">
        <p15:threadingInfo xmlns:p15="http://schemas.microsoft.com/office/powerpoint/2012/main" timeZoneBias="-120"/>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7.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sk-SK"/>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k-SK"/>
          </a:p>
        </p:txBody>
      </p:sp>
      <p:sp>
        <p:nvSpPr>
          <p:cNvPr id="4" name="Date Placeholder 3"/>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657800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3987834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sk-SK"/>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2324402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5" name="Date Placeholder 4"/>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3867150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sk-SK"/>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7" name="Date Placeholder 6"/>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8" name="Footer Placeholder 7"/>
          <p:cNvSpPr>
            <a:spLocks noGrp="1"/>
          </p:cNvSpPr>
          <p:nvPr>
            <p:ph type="ftr" sz="quarter" idx="11"/>
          </p:nvPr>
        </p:nvSpPr>
        <p:spPr/>
        <p:txBody>
          <a:bodyPr/>
          <a:lstStyle/>
          <a:p>
            <a:endParaRPr lang="sk-SK"/>
          </a:p>
        </p:txBody>
      </p:sp>
      <p:sp>
        <p:nvSpPr>
          <p:cNvPr id="9" name="Slide Number Placeholder 8"/>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3268752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Date Placeholder 2"/>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4" name="Footer Placeholder 3"/>
          <p:cNvSpPr>
            <a:spLocks noGrp="1"/>
          </p:cNvSpPr>
          <p:nvPr>
            <p:ph type="ftr" sz="quarter" idx="11"/>
          </p:nvPr>
        </p:nvSpPr>
        <p:spPr/>
        <p:txBody>
          <a:bodyPr/>
          <a:lstStyle/>
          <a:p>
            <a:endParaRPr lang="sk-SK"/>
          </a:p>
        </p:txBody>
      </p:sp>
      <p:sp>
        <p:nvSpPr>
          <p:cNvPr id="5" name="Slide Number Placeholder 4"/>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549004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3" name="Footer Placeholder 2"/>
          <p:cNvSpPr>
            <a:spLocks noGrp="1"/>
          </p:cNvSpPr>
          <p:nvPr>
            <p:ph type="ftr" sz="quarter" idx="11"/>
          </p:nvPr>
        </p:nvSpPr>
        <p:spPr/>
        <p:txBody>
          <a:bodyPr/>
          <a:lstStyle/>
          <a:p>
            <a:endParaRPr lang="sk-SK"/>
          </a:p>
        </p:txBody>
      </p:sp>
      <p:sp>
        <p:nvSpPr>
          <p:cNvPr id="4" name="Slide Number Placeholder 3"/>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546803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k-SK"/>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28906427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k-SK"/>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k-SK"/>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6" name="Footer Placeholder 5"/>
          <p:cNvSpPr>
            <a:spLocks noGrp="1"/>
          </p:cNvSpPr>
          <p:nvPr>
            <p:ph type="ftr" sz="quarter" idx="11"/>
          </p:nvPr>
        </p:nvSpPr>
        <p:spPr/>
        <p:txBody>
          <a:bodyPr/>
          <a:lstStyle/>
          <a:p>
            <a:endParaRPr lang="sk-SK"/>
          </a:p>
        </p:txBody>
      </p:sp>
      <p:sp>
        <p:nvSpPr>
          <p:cNvPr id="7" name="Slide Number Placeholder 6"/>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586192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k-SK"/>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3555829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sk-SK"/>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10"/>
          </p:nvPr>
        </p:nvSpPr>
        <p:spPr/>
        <p:txBody>
          <a:bodyPr/>
          <a:lstStyle/>
          <a:p>
            <a:fld id="{05640E1E-9FBA-4C2D-AF0F-3A28E01D0AD0}" type="datetimeFigureOut">
              <a:rPr lang="sk-SK" smtClean="0"/>
              <a:pPr/>
              <a:t>11. 2. 2022</a:t>
            </a:fld>
            <a:endParaRPr lang="sk-SK"/>
          </a:p>
        </p:txBody>
      </p:sp>
      <p:sp>
        <p:nvSpPr>
          <p:cNvPr id="5" name="Footer Placeholder 4"/>
          <p:cNvSpPr>
            <a:spLocks noGrp="1"/>
          </p:cNvSpPr>
          <p:nvPr>
            <p:ph type="ftr" sz="quarter" idx="11"/>
          </p:nvPr>
        </p:nvSpPr>
        <p:spPr/>
        <p:txBody>
          <a:bodyPr/>
          <a:lstStyle/>
          <a:p>
            <a:endParaRPr lang="sk-SK"/>
          </a:p>
        </p:txBody>
      </p:sp>
      <p:sp>
        <p:nvSpPr>
          <p:cNvPr id="6" name="Slide Number Placeholder 5"/>
          <p:cNvSpPr>
            <a:spLocks noGrp="1"/>
          </p:cNvSpPr>
          <p:nvPr>
            <p:ph type="sldNum" sz="quarter" idx="12"/>
          </p:nvPr>
        </p:nvSpPr>
        <p:spPr/>
        <p:txBody>
          <a:bodyPr/>
          <a:lstStyle/>
          <a:p>
            <a:fld id="{1B3C6E1B-3D2E-458D-B629-27313F4E492B}" type="slidenum">
              <a:rPr lang="sk-SK" smtClean="0"/>
              <a:pPr/>
              <a:t>‹#›</a:t>
            </a:fld>
            <a:endParaRPr lang="sk-SK"/>
          </a:p>
        </p:txBody>
      </p:sp>
    </p:spTree>
    <p:extLst>
      <p:ext uri="{BB962C8B-B14F-4D97-AF65-F5344CB8AC3E}">
        <p14:creationId xmlns:p14="http://schemas.microsoft.com/office/powerpoint/2010/main" val="2647374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Nadpis, text a obsah">
    <p:spTree>
      <p:nvGrpSpPr>
        <p:cNvPr id="1" name=""/>
        <p:cNvGrpSpPr/>
        <p:nvPr/>
      </p:nvGrpSpPr>
      <p:grpSpPr>
        <a:xfrm>
          <a:off x="0" y="0"/>
          <a:ext cx="0" cy="0"/>
          <a:chOff x="0" y="0"/>
          <a:chExt cx="0" cy="0"/>
        </a:xfrm>
      </p:grpSpPr>
      <p:sp>
        <p:nvSpPr>
          <p:cNvPr id="2" name="Nadpis 1"/>
          <p:cNvSpPr>
            <a:spLocks noGrp="1"/>
          </p:cNvSpPr>
          <p:nvPr>
            <p:ph type="title"/>
          </p:nvPr>
        </p:nvSpPr>
        <p:spPr>
          <a:xfrm>
            <a:off x="609600" y="274638"/>
            <a:ext cx="10972800" cy="1143000"/>
          </a:xfrm>
        </p:spPr>
        <p:txBody>
          <a:bodyPr/>
          <a:lstStyle/>
          <a:p>
            <a:r>
              <a:rPr lang="sk-SK"/>
              <a:t>Kliknite sem a upravte štýl predlohy nadpisov.</a:t>
            </a:r>
          </a:p>
        </p:txBody>
      </p:sp>
      <p:sp>
        <p:nvSpPr>
          <p:cNvPr id="3" name="Zástupný symbol textu 2"/>
          <p:cNvSpPr>
            <a:spLocks noGrp="1"/>
          </p:cNvSpPr>
          <p:nvPr>
            <p:ph type="body" sz="half" idx="1"/>
          </p:nvPr>
        </p:nvSpPr>
        <p:spPr>
          <a:xfrm>
            <a:off x="609600" y="1600200"/>
            <a:ext cx="5384800" cy="45339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4" name="Zástupný symbol obsahu 3"/>
          <p:cNvSpPr>
            <a:spLocks noGrp="1"/>
          </p:cNvSpPr>
          <p:nvPr>
            <p:ph sz="half" idx="2"/>
          </p:nvPr>
        </p:nvSpPr>
        <p:spPr>
          <a:xfrm>
            <a:off x="6197600" y="1600200"/>
            <a:ext cx="5384800" cy="4533900"/>
          </a:xfrm>
        </p:spPr>
        <p:txBody>
          <a:bodyPr/>
          <a:lstStyle/>
          <a:p>
            <a:pPr lvl="0"/>
            <a:r>
              <a:rPr lang="sk-SK"/>
              <a:t>Kliknite sem a upravte štýly predlohy textu.</a:t>
            </a:r>
          </a:p>
          <a:p>
            <a:pPr lvl="1"/>
            <a:r>
              <a:rPr lang="sk-SK"/>
              <a:t>Druhá úroveň</a:t>
            </a:r>
          </a:p>
          <a:p>
            <a:pPr lvl="2"/>
            <a:r>
              <a:rPr lang="sk-SK"/>
              <a:t>Tretia úroveň</a:t>
            </a:r>
          </a:p>
          <a:p>
            <a:pPr lvl="3"/>
            <a:r>
              <a:rPr lang="sk-SK"/>
              <a:t>Štvrtá úroveň</a:t>
            </a:r>
          </a:p>
          <a:p>
            <a:pPr lvl="4"/>
            <a:r>
              <a:rPr lang="sk-SK"/>
              <a:t>Piata úroveň</a:t>
            </a:r>
          </a:p>
        </p:txBody>
      </p:sp>
      <p:sp>
        <p:nvSpPr>
          <p:cNvPr id="5" name="Rectangle 218"/>
          <p:cNvSpPr>
            <a:spLocks noGrp="1" noChangeArrowheads="1"/>
          </p:cNvSpPr>
          <p:nvPr>
            <p:ph type="sldNum" sz="quarter" idx="10"/>
          </p:nvPr>
        </p:nvSpPr>
        <p:spPr>
          <a:ln/>
        </p:spPr>
        <p:txBody>
          <a:bodyPr/>
          <a:lstStyle>
            <a:lvl1pPr>
              <a:defRPr/>
            </a:lvl1pPr>
          </a:lstStyle>
          <a:p>
            <a:fld id="{1F8CF183-2A10-480C-BB13-A865EAA7FA7F}" type="slidenum">
              <a:rPr lang="sk-SK"/>
              <a:pPr/>
              <a:t>‹#›</a:t>
            </a:fld>
            <a:endParaRPr lang="sk-SK"/>
          </a:p>
        </p:txBody>
      </p:sp>
      <p:sp>
        <p:nvSpPr>
          <p:cNvPr id="6" name="Rectangle 219"/>
          <p:cNvSpPr>
            <a:spLocks noGrp="1" noChangeArrowheads="1"/>
          </p:cNvSpPr>
          <p:nvPr>
            <p:ph type="dt" sz="half" idx="11"/>
          </p:nvPr>
        </p:nvSpPr>
        <p:spPr>
          <a:ln/>
        </p:spPr>
        <p:txBody>
          <a:bodyPr/>
          <a:lstStyle>
            <a:lvl1pPr>
              <a:defRPr/>
            </a:lvl1pPr>
          </a:lstStyle>
          <a:p>
            <a:pPr>
              <a:defRPr/>
            </a:pPr>
            <a:endParaRPr lang="sk-SK"/>
          </a:p>
        </p:txBody>
      </p:sp>
      <p:sp>
        <p:nvSpPr>
          <p:cNvPr id="7" name="Rectangle 220"/>
          <p:cNvSpPr>
            <a:spLocks noGrp="1" noChangeArrowheads="1"/>
          </p:cNvSpPr>
          <p:nvPr>
            <p:ph type="ftr" sz="quarter" idx="12"/>
          </p:nvPr>
        </p:nvSpPr>
        <p:spPr>
          <a:ln/>
        </p:spPr>
        <p:txBody>
          <a:bodyPr/>
          <a:lstStyle>
            <a:lvl1pPr>
              <a:defRPr/>
            </a:lvl1pPr>
          </a:lstStyle>
          <a:p>
            <a:pPr>
              <a:defRPr/>
            </a:pPr>
            <a:endParaRPr lang="sk-SK"/>
          </a:p>
        </p:txBody>
      </p:sp>
    </p:spTree>
    <p:extLst>
      <p:ext uri="{BB962C8B-B14F-4D97-AF65-F5344CB8AC3E}">
        <p14:creationId xmlns:p14="http://schemas.microsoft.com/office/powerpoint/2010/main" val="4183704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sk-SK"/>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sk-SK"/>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40E1E-9FBA-4C2D-AF0F-3A28E01D0AD0}" type="datetimeFigureOut">
              <a:rPr lang="sk-SK" smtClean="0"/>
              <a:pPr/>
              <a:t>11. 2. 2022</a:t>
            </a:fld>
            <a:endParaRPr lang="sk-SK"/>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k-SK"/>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3C6E1B-3D2E-458D-B629-27313F4E492B}" type="slidenum">
              <a:rPr lang="sk-SK" smtClean="0"/>
              <a:pPr/>
              <a:t>‹#›</a:t>
            </a:fld>
            <a:endParaRPr lang="sk-SK"/>
          </a:p>
        </p:txBody>
      </p:sp>
    </p:spTree>
    <p:extLst>
      <p:ext uri="{BB962C8B-B14F-4D97-AF65-F5344CB8AC3E}">
        <p14:creationId xmlns:p14="http://schemas.microsoft.com/office/powerpoint/2010/main" val="994081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k-S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http://www.ntfs.com/images/recover-hard-drive-sectors-and-clusters.gif" TargetMode="External"/><Relationship Id="rId2" Type="http://schemas.openxmlformats.org/officeDocument/2006/relationships/image" Target="../media/image1.gif"/><Relationship Id="rId1" Type="http://schemas.openxmlformats.org/officeDocument/2006/relationships/slideLayout" Target="../slideLayouts/slideLayout2.xml"/><Relationship Id="rId5" Type="http://schemas.openxmlformats.org/officeDocument/2006/relationships/image" Target="http://www.ntfs.com/images/recover-hard-drive.gif" TargetMode="External"/><Relationship Id="rId4" Type="http://schemas.openxmlformats.org/officeDocument/2006/relationships/image" Target="../media/image2.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www.pr.com/press-release/31464"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1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p:txBody>
          <a:bodyPr/>
          <a:lstStyle/>
          <a:p>
            <a:r>
              <a:rPr lang="sk-SK"/>
              <a:t>Správa a organizácia diskov</a:t>
            </a:r>
            <a:endParaRPr lang="sk-SK" dirty="0"/>
          </a:p>
        </p:txBody>
      </p:sp>
      <p:sp>
        <p:nvSpPr>
          <p:cNvPr id="159747" name="Rectangle 3"/>
          <p:cNvSpPr>
            <a:spLocks noGrp="1" noChangeArrowheads="1"/>
          </p:cNvSpPr>
          <p:nvPr>
            <p:ph type="subTitle" idx="1"/>
          </p:nvPr>
        </p:nvSpPr>
        <p:spPr/>
        <p:txBody>
          <a:bodyPr vert="horz" lIns="91440" tIns="45720" rIns="91440" bIns="45720" rtlCol="0" anchor="t">
            <a:normAutofit lnSpcReduction="10000"/>
          </a:bodyPr>
          <a:lstStyle/>
          <a:p>
            <a:r>
              <a:rPr lang="sk-SK" dirty="0"/>
              <a:t>doc. Ing. Július BARÁTH, PhD.</a:t>
            </a:r>
          </a:p>
          <a:p>
            <a:r>
              <a:rPr lang="sk-SK" dirty="0"/>
              <a:t>Katedra Informatiky</a:t>
            </a:r>
            <a:endParaRPr lang="sk-SK" dirty="0">
              <a:cs typeface="Calibri"/>
            </a:endParaRPr>
          </a:p>
          <a:p>
            <a:r>
              <a:rPr lang="sk-SK" dirty="0"/>
              <a:t>Akadémia ozbrojených síl,</a:t>
            </a:r>
            <a:endParaRPr lang="sk-SK" dirty="0">
              <a:cs typeface="Calibri"/>
            </a:endParaRPr>
          </a:p>
          <a:p>
            <a:r>
              <a:rPr lang="sk-SK" dirty="0"/>
              <a:t>e-mail: julius.barath@aos.sk</a:t>
            </a:r>
            <a:endParaRPr lang="sk-SK" dirty="0">
              <a:cs typeface="Calibri"/>
            </a:endParaRPr>
          </a:p>
          <a:p>
            <a:endParaRPr lang="sk-SK" dirty="0"/>
          </a:p>
        </p:txBody>
      </p:sp>
    </p:spTree>
    <p:extLst>
      <p:ext uri="{BB962C8B-B14F-4D97-AF65-F5344CB8AC3E}">
        <p14:creationId xmlns:p14="http://schemas.microsoft.com/office/powerpoint/2010/main" val="39438933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File Systems</a:t>
            </a:r>
          </a:p>
        </p:txBody>
      </p:sp>
      <p:sp>
        <p:nvSpPr>
          <p:cNvPr id="10243" name="Rectangle 3"/>
          <p:cNvSpPr>
            <a:spLocks noGrp="1" noChangeArrowheads="1"/>
          </p:cNvSpPr>
          <p:nvPr>
            <p:ph type="body" idx="1"/>
          </p:nvPr>
        </p:nvSpPr>
        <p:spPr/>
        <p:txBody>
          <a:bodyPr/>
          <a:lstStyle/>
          <a:p>
            <a:endParaRPr lang="en-US"/>
          </a:p>
          <a:p>
            <a:r>
              <a:rPr lang="en-US"/>
              <a:t>The operating system keeps track of data (documents, pictures, etc.) by placing it into a file. </a:t>
            </a:r>
          </a:p>
          <a:p>
            <a:r>
              <a:rPr lang="en-US"/>
              <a:t>To store and retrieve files:</a:t>
            </a:r>
          </a:p>
          <a:p>
            <a:pPr lvl="1"/>
            <a:r>
              <a:rPr lang="en-US"/>
              <a:t> Disk divided into tracks</a:t>
            </a:r>
          </a:p>
          <a:p>
            <a:pPr lvl="1"/>
            <a:r>
              <a:rPr lang="en-US"/>
              <a:t>Tracks are divided into sectors</a:t>
            </a:r>
          </a:p>
          <a:p>
            <a:pPr lvl="1"/>
            <a:r>
              <a:rPr lang="en-US"/>
              <a:t> Sectors grouped into clusters</a:t>
            </a:r>
          </a:p>
          <a:p>
            <a:pPr lvl="2"/>
            <a:r>
              <a:rPr lang="en-US"/>
              <a:t>Number of sectors in a cluster is determined by</a:t>
            </a:r>
          </a:p>
          <a:p>
            <a:pPr lvl="3"/>
            <a:r>
              <a:rPr lang="en-US"/>
              <a:t>Size of the hard drive</a:t>
            </a:r>
          </a:p>
          <a:p>
            <a:pPr lvl="3"/>
            <a:r>
              <a:rPr lang="en-US"/>
              <a:t>File allocation system – FAT, FAT32, NTFS</a:t>
            </a:r>
          </a:p>
          <a:p>
            <a:pPr lvl="1"/>
            <a:endParaRPr lang="en-US"/>
          </a:p>
        </p:txBody>
      </p:sp>
    </p:spTree>
    <p:extLst>
      <p:ext uri="{BB962C8B-B14F-4D97-AF65-F5344CB8AC3E}">
        <p14:creationId xmlns:p14="http://schemas.microsoft.com/office/powerpoint/2010/main" val="2729369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sk-SK"/>
              <a:t>Fyzická organizácia dát</a:t>
            </a:r>
          </a:p>
        </p:txBody>
      </p:sp>
      <p:sp>
        <p:nvSpPr>
          <p:cNvPr id="114691" name="Rectangle 3"/>
          <p:cNvSpPr>
            <a:spLocks noGrp="1" noChangeArrowheads="1"/>
          </p:cNvSpPr>
          <p:nvPr>
            <p:ph type="body" idx="1"/>
          </p:nvPr>
        </p:nvSpPr>
        <p:spPr/>
        <p:txBody>
          <a:bodyPr>
            <a:normAutofit fontScale="92500"/>
          </a:bodyPr>
          <a:lstStyle/>
          <a:p>
            <a:r>
              <a:rPr lang="sk-SK"/>
              <a:t>blok -logická časť definovaná pre efektívnu prácu s PZ</a:t>
            </a:r>
          </a:p>
          <a:p>
            <a:pPr lvl="1"/>
            <a:r>
              <a:rPr lang="sk-SK"/>
              <a:t>s pevnou alebo premenlivou dĺžkou</a:t>
            </a:r>
          </a:p>
          <a:p>
            <a:pPr lvl="1"/>
            <a:r>
              <a:rPr lang="sk-SK"/>
              <a:t>s nedefinovanou dĺžkou</a:t>
            </a:r>
          </a:p>
          <a:p>
            <a:r>
              <a:rPr lang="sk-SK"/>
              <a:t>premenlivá dĺžka - dĺžka explicitne vyjadrená v hlavičke bloku</a:t>
            </a:r>
          </a:p>
          <a:p>
            <a:r>
              <a:rPr lang="sk-SK"/>
              <a:t>nedefinovaná dĺžka - bloky oddelené oddeľovačmi (CR, LF alebo STX, ETX)</a:t>
            </a:r>
          </a:p>
          <a:p>
            <a:r>
              <a:rPr lang="sk-SK"/>
              <a:t>delenie PZ</a:t>
            </a:r>
          </a:p>
          <a:p>
            <a:pPr lvl="1"/>
            <a:r>
              <a:rPr lang="sk-SK"/>
              <a:t>znakové (páska, tel. linka)</a:t>
            </a:r>
          </a:p>
          <a:p>
            <a:pPr lvl="1"/>
            <a:r>
              <a:rPr lang="sk-SK"/>
              <a:t>blokové (disk, magnetická páska, ...)</a:t>
            </a:r>
          </a:p>
          <a:p>
            <a:r>
              <a:rPr lang="sk-SK"/>
              <a:t>Sekvenčné PZ - bloky nie sú adresovateľné</a:t>
            </a:r>
          </a:p>
          <a:p>
            <a:r>
              <a:rPr lang="sk-SK"/>
              <a:t>PZ s priamym prístupom - bloky priamo adresovateľné</a:t>
            </a:r>
            <a:endParaRPr lang="sk-SK" dirty="0"/>
          </a:p>
        </p:txBody>
      </p:sp>
      <p:sp>
        <p:nvSpPr>
          <p:cNvPr id="12292" name="Zástupný symbol čísla snímky 5"/>
          <p:cNvSpPr>
            <a:spLocks noGrp="1"/>
          </p:cNvSpPr>
          <p:nvPr>
            <p:ph type="sldNum" sz="quarter" idx="11"/>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4BF433D-9CC6-4303-B6B9-3321F376C6AA}" type="slidenum">
              <a:rPr lang="sk-SK" smtClean="0"/>
              <a:pPr/>
              <a:t>3</a:t>
            </a:fld>
            <a:endParaRPr lang="sk-SK"/>
          </a:p>
        </p:txBody>
      </p:sp>
    </p:spTree>
    <p:extLst>
      <p:ext uri="{BB962C8B-B14F-4D97-AF65-F5344CB8AC3E}">
        <p14:creationId xmlns:p14="http://schemas.microsoft.com/office/powerpoint/2010/main" val="1223503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sk-SK"/>
              <a:t>Zväzok</a:t>
            </a:r>
          </a:p>
        </p:txBody>
      </p:sp>
      <p:sp>
        <p:nvSpPr>
          <p:cNvPr id="116739" name="Rectangle 3"/>
          <p:cNvSpPr>
            <a:spLocks noGrp="1" noChangeArrowheads="1"/>
          </p:cNvSpPr>
          <p:nvPr>
            <p:ph type="body" idx="1"/>
          </p:nvPr>
        </p:nvSpPr>
        <p:spPr/>
        <p:txBody>
          <a:bodyPr/>
          <a:lstStyle/>
          <a:p>
            <a:r>
              <a:rPr lang="sk-SK"/>
              <a:t>Médium umiestňované do PZ naraz (cievka - magnetická páska, disketa)</a:t>
            </a:r>
          </a:p>
          <a:p>
            <a:pPr lvl="1"/>
            <a:r>
              <a:rPr lang="sk-SK"/>
              <a:t>emulovanie viacerých zväzkov na veľkom médiu (diskové polia, spravované programovo) - backup, oddelenie používateľov</a:t>
            </a:r>
          </a:p>
          <a:p>
            <a:pPr lvl="1"/>
            <a:r>
              <a:rPr lang="sk-SK"/>
              <a:t>riadiaci blok zväzku - identifikácia v OS</a:t>
            </a:r>
          </a:p>
          <a:p>
            <a:r>
              <a:rPr lang="sk-SK"/>
              <a:t>Súbor</a:t>
            </a:r>
          </a:p>
          <a:p>
            <a:pPr lvl="1"/>
            <a:r>
              <a:rPr lang="sk-SK"/>
              <a:t>dátový objekt uchovávaný na vonkajších pamäťových médiách PS</a:t>
            </a:r>
          </a:p>
          <a:p>
            <a:pPr lvl="1"/>
            <a:r>
              <a:rPr lang="sk-SK"/>
              <a:t>meno - identifikácia súboru</a:t>
            </a:r>
          </a:p>
          <a:p>
            <a:pPr lvl="1"/>
            <a:r>
              <a:rPr lang="sk-SK"/>
              <a:t>systém ovládania súborov - časť OS - definovanie, štrukturovanie, operácie (vyhľadávanie, copy, rename ...)</a:t>
            </a:r>
            <a:endParaRPr lang="sk-SK" dirty="0"/>
          </a:p>
        </p:txBody>
      </p:sp>
      <p:sp>
        <p:nvSpPr>
          <p:cNvPr id="13314" name="Zástupný symbol čísla snímky 5"/>
          <p:cNvSpPr>
            <a:spLocks noGrp="1"/>
          </p:cNvSpPr>
          <p:nvPr>
            <p:ph type="sldNum" sz="quarter" idx="11"/>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1C85D87-952F-4921-9C8E-7FD00B590A9B}" type="slidenum">
              <a:rPr lang="sk-SK" smtClean="0"/>
              <a:pPr/>
              <a:t>4</a:t>
            </a:fld>
            <a:endParaRPr lang="sk-SK"/>
          </a:p>
        </p:txBody>
      </p:sp>
    </p:spTree>
    <p:extLst>
      <p:ext uri="{BB962C8B-B14F-4D97-AF65-F5344CB8AC3E}">
        <p14:creationId xmlns:p14="http://schemas.microsoft.com/office/powerpoint/2010/main" val="2497991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sk-SK"/>
              <a:t>Súbory na magnetickej páske</a:t>
            </a:r>
          </a:p>
        </p:txBody>
      </p:sp>
      <p:sp>
        <p:nvSpPr>
          <p:cNvPr id="14340" name="Rectangle 3"/>
          <p:cNvSpPr>
            <a:spLocks noGrp="1" noChangeArrowheads="1"/>
          </p:cNvSpPr>
          <p:nvPr>
            <p:ph type="body" idx="1"/>
          </p:nvPr>
        </p:nvSpPr>
        <p:spPr/>
        <p:txBody>
          <a:bodyPr/>
          <a:lstStyle/>
          <a:p>
            <a:r>
              <a:rPr lang="sk-SK"/>
              <a:t>zväčša sa len číslujú (hustota ukladania 800-1600 bitov/palec)</a:t>
            </a:r>
          </a:p>
          <a:p>
            <a:r>
              <a:rPr lang="sk-SK"/>
              <a:t>zápis slabík paralelne alebo sériovo (kazety)</a:t>
            </a:r>
          </a:p>
          <a:p>
            <a:r>
              <a:rPr lang="sk-SK"/>
              <a:t>súbory oddeľované súborovou značkou, začiatok a koniec pásky BOT, EOT</a:t>
            </a:r>
          </a:p>
          <a:p>
            <a:r>
              <a:rPr lang="sk-SK"/>
              <a:t>Linear Tape-Open ultrim - prenosová rýchlosť 30MB/s, kapacita 200GB - 500TB (Chip 10/00)</a:t>
            </a:r>
          </a:p>
          <a:p>
            <a:r>
              <a:rPr lang="sk-SK"/>
              <a:t>Typy zápisov:</a:t>
            </a:r>
          </a:p>
          <a:p>
            <a:pPr lvl="1"/>
            <a:r>
              <a:rPr lang="sk-SK"/>
              <a:t> DTL, S-DTL (110GB na pásku), LTO, lineárny posuv pásky</a:t>
            </a:r>
          </a:p>
          <a:p>
            <a:pPr lvl="1"/>
            <a:r>
              <a:rPr lang="sk-SK"/>
              <a:t> AIT-3 a Mammoth-2 špirálový pohyb hlavy, (PC Magazine 3/02), </a:t>
            </a:r>
          </a:p>
        </p:txBody>
      </p:sp>
      <p:sp>
        <p:nvSpPr>
          <p:cNvPr id="14338" name="Zástupný symbol čísla snímky 5"/>
          <p:cNvSpPr>
            <a:spLocks noGrp="1"/>
          </p:cNvSpPr>
          <p:nvPr>
            <p:ph type="sldNum" sz="quarter" idx="11"/>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59C3640-BE95-42D3-A8B7-CE07655DEA5D}" type="slidenum">
              <a:rPr lang="sk-SK" smtClean="0"/>
              <a:pPr/>
              <a:t>5</a:t>
            </a:fld>
            <a:endParaRPr lang="sk-SK"/>
          </a:p>
        </p:txBody>
      </p:sp>
    </p:spTree>
    <p:extLst>
      <p:ext uri="{BB962C8B-B14F-4D97-AF65-F5344CB8AC3E}">
        <p14:creationId xmlns:p14="http://schemas.microsoft.com/office/powerpoint/2010/main" val="350216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sk-SK"/>
              <a:t>Dáta na diskoch</a:t>
            </a:r>
          </a:p>
        </p:txBody>
      </p:sp>
      <p:sp>
        <p:nvSpPr>
          <p:cNvPr id="15364" name="Rectangle 3"/>
          <p:cNvSpPr>
            <a:spLocks noGrp="1" noChangeArrowheads="1"/>
          </p:cNvSpPr>
          <p:nvPr>
            <p:ph sz="half" idx="1"/>
          </p:nvPr>
        </p:nvSpPr>
        <p:spPr/>
        <p:txBody>
          <a:bodyPr/>
          <a:lstStyle/>
          <a:p>
            <a:pPr lvl="1"/>
            <a:r>
              <a:rPr lang="sk-SK" dirty="0"/>
              <a:t>disk tvorený kotúčmi s magnetickou vrstvou, hlavičky</a:t>
            </a:r>
          </a:p>
          <a:p>
            <a:pPr lvl="1"/>
            <a:r>
              <a:rPr lang="sk-SK" dirty="0"/>
              <a:t>stopa, sektor</a:t>
            </a:r>
          </a:p>
          <a:p>
            <a:pPr lvl="1"/>
            <a:r>
              <a:rPr lang="sk-SK" dirty="0"/>
              <a:t>súbory a adresáre</a:t>
            </a:r>
          </a:p>
          <a:p>
            <a:pPr lvl="1"/>
            <a:r>
              <a:rPr lang="sk-SK" dirty="0"/>
              <a:t>blok X sektor, 1 blok = 2,4 sektory</a:t>
            </a:r>
          </a:p>
          <a:p>
            <a:pPr lvl="1"/>
            <a:r>
              <a:rPr lang="sk-SK" dirty="0"/>
              <a:t>blok - rýchlosť prístupu</a:t>
            </a:r>
          </a:p>
          <a:p>
            <a:pPr lvl="1"/>
            <a:endParaRPr lang="sk-SK" dirty="0"/>
          </a:p>
          <a:p>
            <a:pPr lvl="1"/>
            <a:r>
              <a:rPr lang="sk-SK" dirty="0"/>
              <a:t>FAT32</a:t>
            </a:r>
          </a:p>
          <a:p>
            <a:pPr lvl="2"/>
            <a:r>
              <a:rPr lang="sk-SK" dirty="0"/>
              <a:t>Premenlivá veľkosť sektora</a:t>
            </a:r>
          </a:p>
        </p:txBody>
      </p:sp>
      <p:sp>
        <p:nvSpPr>
          <p:cNvPr id="15362" name="Zástupný symbol čísla snímky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9FA706A-9E9E-469B-9CA6-0D5CBA56A22E}" type="slidenum">
              <a:rPr lang="sk-SK" sz="1400"/>
              <a:pPr/>
              <a:t>6</a:t>
            </a:fld>
            <a:endParaRPr lang="sk-SK" sz="1400"/>
          </a:p>
        </p:txBody>
      </p:sp>
      <p:grpSp>
        <p:nvGrpSpPr>
          <p:cNvPr id="75" name="Group 2"/>
          <p:cNvGrpSpPr>
            <a:grpSpLocks noChangeAspect="1"/>
          </p:cNvGrpSpPr>
          <p:nvPr/>
        </p:nvGrpSpPr>
        <p:grpSpPr bwMode="auto">
          <a:xfrm>
            <a:off x="6019800" y="1825625"/>
            <a:ext cx="5678290" cy="3417888"/>
            <a:chOff x="2436" y="1670"/>
            <a:chExt cx="7106" cy="4320"/>
          </a:xfrm>
        </p:grpSpPr>
        <p:sp>
          <p:nvSpPr>
            <p:cNvPr id="76" name="AutoShape 3"/>
            <p:cNvSpPr>
              <a:spLocks noChangeAspect="1" noChangeArrowheads="1" noTextEdit="1"/>
            </p:cNvSpPr>
            <p:nvPr/>
          </p:nvSpPr>
          <p:spPr bwMode="auto">
            <a:xfrm>
              <a:off x="2436" y="1670"/>
              <a:ext cx="7106" cy="432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sk-SK"/>
            </a:p>
          </p:txBody>
        </p:sp>
        <p:grpSp>
          <p:nvGrpSpPr>
            <p:cNvPr id="77" name="Group 4"/>
            <p:cNvGrpSpPr>
              <a:grpSpLocks/>
            </p:cNvGrpSpPr>
            <p:nvPr/>
          </p:nvGrpSpPr>
          <p:grpSpPr bwMode="auto">
            <a:xfrm>
              <a:off x="2862" y="1949"/>
              <a:ext cx="3695" cy="1674"/>
              <a:chOff x="2862" y="1949"/>
              <a:chExt cx="3695" cy="1674"/>
            </a:xfrm>
          </p:grpSpPr>
          <p:grpSp>
            <p:nvGrpSpPr>
              <p:cNvPr id="96" name="Group 5"/>
              <p:cNvGrpSpPr>
                <a:grpSpLocks/>
              </p:cNvGrpSpPr>
              <p:nvPr/>
            </p:nvGrpSpPr>
            <p:grpSpPr bwMode="auto">
              <a:xfrm>
                <a:off x="2862" y="1949"/>
                <a:ext cx="1707" cy="1674"/>
                <a:chOff x="5278" y="2506"/>
                <a:chExt cx="1706" cy="1675"/>
              </a:xfrm>
            </p:grpSpPr>
            <p:grpSp>
              <p:nvGrpSpPr>
                <p:cNvPr id="101" name="Group 6"/>
                <p:cNvGrpSpPr>
                  <a:grpSpLocks/>
                </p:cNvGrpSpPr>
                <p:nvPr/>
              </p:nvGrpSpPr>
              <p:grpSpPr bwMode="auto">
                <a:xfrm>
                  <a:off x="5278" y="2506"/>
                  <a:ext cx="1706" cy="1675"/>
                  <a:chOff x="3431" y="2645"/>
                  <a:chExt cx="1705" cy="1673"/>
                </a:xfrm>
              </p:grpSpPr>
              <p:sp>
                <p:nvSpPr>
                  <p:cNvPr id="105" name="Oval 7"/>
                  <p:cNvSpPr>
                    <a:spLocks noChangeArrowheads="1"/>
                  </p:cNvSpPr>
                  <p:nvPr/>
                </p:nvSpPr>
                <p:spPr bwMode="auto">
                  <a:xfrm>
                    <a:off x="3431" y="2645"/>
                    <a:ext cx="1705" cy="1673"/>
                  </a:xfrm>
                  <a:prstGeom prst="ellipse">
                    <a:avLst/>
                  </a:prstGeom>
                  <a:solidFill>
                    <a:srgbClr val="C0C0C0"/>
                  </a:solidFill>
                  <a:ln w="9525">
                    <a:solidFill>
                      <a:srgbClr val="000000"/>
                    </a:solidFill>
                    <a:round/>
                    <a:headEnd/>
                    <a:tailEnd/>
                  </a:ln>
                </p:spPr>
                <p:txBody>
                  <a:bodyPr/>
                  <a:lstStyle/>
                  <a:p>
                    <a:endParaRPr lang="sk-SK"/>
                  </a:p>
                </p:txBody>
              </p:sp>
              <p:grpSp>
                <p:nvGrpSpPr>
                  <p:cNvPr id="106" name="Group 8"/>
                  <p:cNvGrpSpPr>
                    <a:grpSpLocks/>
                  </p:cNvGrpSpPr>
                  <p:nvPr/>
                </p:nvGrpSpPr>
                <p:grpSpPr bwMode="auto">
                  <a:xfrm>
                    <a:off x="3573" y="2785"/>
                    <a:ext cx="1422" cy="1393"/>
                    <a:chOff x="6273" y="2785"/>
                    <a:chExt cx="1422" cy="1393"/>
                  </a:xfrm>
                </p:grpSpPr>
                <p:sp>
                  <p:nvSpPr>
                    <p:cNvPr id="107" name="Oval 9"/>
                    <p:cNvSpPr>
                      <a:spLocks noChangeArrowheads="1"/>
                    </p:cNvSpPr>
                    <p:nvPr/>
                  </p:nvSpPr>
                  <p:spPr bwMode="auto">
                    <a:xfrm>
                      <a:off x="6273" y="2785"/>
                      <a:ext cx="1422" cy="1393"/>
                    </a:xfrm>
                    <a:prstGeom prst="ellipse">
                      <a:avLst/>
                    </a:prstGeom>
                    <a:solidFill>
                      <a:srgbClr val="FFFFFF"/>
                    </a:solidFill>
                    <a:ln w="9525">
                      <a:solidFill>
                        <a:srgbClr val="000000"/>
                      </a:solidFill>
                      <a:round/>
                      <a:headEnd/>
                      <a:tailEnd/>
                    </a:ln>
                  </p:spPr>
                  <p:txBody>
                    <a:bodyPr/>
                    <a:lstStyle/>
                    <a:p>
                      <a:endParaRPr lang="sk-SK"/>
                    </a:p>
                  </p:txBody>
                </p:sp>
                <p:sp>
                  <p:nvSpPr>
                    <p:cNvPr id="108" name="Oval 10"/>
                    <p:cNvSpPr>
                      <a:spLocks noChangeArrowheads="1"/>
                    </p:cNvSpPr>
                    <p:nvPr/>
                  </p:nvSpPr>
                  <p:spPr bwMode="auto">
                    <a:xfrm>
                      <a:off x="6415" y="2924"/>
                      <a:ext cx="1139" cy="1116"/>
                    </a:xfrm>
                    <a:prstGeom prst="ellipse">
                      <a:avLst/>
                    </a:prstGeom>
                    <a:solidFill>
                      <a:srgbClr val="C0C0C0"/>
                    </a:solidFill>
                    <a:ln w="9525">
                      <a:solidFill>
                        <a:srgbClr val="000000"/>
                      </a:solidFill>
                      <a:round/>
                      <a:headEnd/>
                      <a:tailEnd/>
                    </a:ln>
                  </p:spPr>
                  <p:txBody>
                    <a:bodyPr/>
                    <a:lstStyle/>
                    <a:p>
                      <a:endParaRPr lang="sk-SK"/>
                    </a:p>
                  </p:txBody>
                </p:sp>
              </p:grpSp>
            </p:grpSp>
            <p:grpSp>
              <p:nvGrpSpPr>
                <p:cNvPr id="102" name="Group 11"/>
                <p:cNvGrpSpPr>
                  <a:grpSpLocks/>
                </p:cNvGrpSpPr>
                <p:nvPr/>
              </p:nvGrpSpPr>
              <p:grpSpPr bwMode="auto">
                <a:xfrm>
                  <a:off x="5705" y="2924"/>
                  <a:ext cx="852" cy="834"/>
                  <a:chOff x="3857" y="2924"/>
                  <a:chExt cx="852" cy="834"/>
                </a:xfrm>
              </p:grpSpPr>
              <p:sp>
                <p:nvSpPr>
                  <p:cNvPr id="103" name="Oval 12"/>
                  <p:cNvSpPr>
                    <a:spLocks noChangeArrowheads="1"/>
                  </p:cNvSpPr>
                  <p:nvPr/>
                </p:nvSpPr>
                <p:spPr bwMode="auto">
                  <a:xfrm>
                    <a:off x="3857" y="2924"/>
                    <a:ext cx="852" cy="834"/>
                  </a:xfrm>
                  <a:prstGeom prst="ellipse">
                    <a:avLst/>
                  </a:prstGeom>
                  <a:solidFill>
                    <a:srgbClr val="FFFFFF"/>
                  </a:solidFill>
                  <a:ln w="9525">
                    <a:solidFill>
                      <a:srgbClr val="000000"/>
                    </a:solidFill>
                    <a:round/>
                    <a:headEnd/>
                    <a:tailEnd/>
                  </a:ln>
                </p:spPr>
                <p:txBody>
                  <a:bodyPr/>
                  <a:lstStyle/>
                  <a:p>
                    <a:endParaRPr lang="sk-SK"/>
                  </a:p>
                </p:txBody>
              </p:sp>
              <p:sp>
                <p:nvSpPr>
                  <p:cNvPr id="104" name="Oval 13"/>
                  <p:cNvSpPr>
                    <a:spLocks noChangeArrowheads="1"/>
                  </p:cNvSpPr>
                  <p:nvPr/>
                </p:nvSpPr>
                <p:spPr bwMode="auto">
                  <a:xfrm>
                    <a:off x="3999" y="3064"/>
                    <a:ext cx="569" cy="557"/>
                  </a:xfrm>
                  <a:prstGeom prst="ellipse">
                    <a:avLst/>
                  </a:prstGeom>
                  <a:solidFill>
                    <a:srgbClr val="C0C0C0"/>
                  </a:solidFill>
                  <a:ln w="9525">
                    <a:solidFill>
                      <a:srgbClr val="000000"/>
                    </a:solidFill>
                    <a:round/>
                    <a:headEnd/>
                    <a:tailEnd/>
                  </a:ln>
                </p:spPr>
                <p:txBody>
                  <a:bodyPr/>
                  <a:lstStyle/>
                  <a:p>
                    <a:endParaRPr lang="sk-SK"/>
                  </a:p>
                </p:txBody>
              </p:sp>
            </p:grpSp>
          </p:grpSp>
          <p:sp>
            <p:nvSpPr>
              <p:cNvPr id="97" name="Text Box 14"/>
              <p:cNvSpPr txBox="1">
                <a:spLocks noChangeArrowheads="1"/>
              </p:cNvSpPr>
              <p:nvPr/>
            </p:nvSpPr>
            <p:spPr bwMode="auto">
              <a:xfrm>
                <a:off x="5278" y="2088"/>
                <a:ext cx="1279" cy="418"/>
              </a:xfrm>
              <a:prstGeom prst="rect">
                <a:avLst/>
              </a:prstGeom>
              <a:solidFill>
                <a:srgbClr val="FFFFFF"/>
              </a:solidFill>
              <a:ln w="9525">
                <a:solidFill>
                  <a:srgbClr val="000000"/>
                </a:solidFill>
                <a:miter lim="800000"/>
                <a:headEnd/>
                <a:tailEnd/>
              </a:ln>
            </p:spPr>
            <p:txBody>
              <a:bodyPr lIns="83338" tIns="41669" rIns="83338" bIns="41669"/>
              <a:lstStyle>
                <a:lvl1pPr defTabSz="833438">
                  <a:defRPr>
                    <a:solidFill>
                      <a:schemeClr val="tx1"/>
                    </a:solidFill>
                    <a:latin typeface="Arial" panose="020B0604020202020204" pitchFamily="34" charset="0"/>
                  </a:defRPr>
                </a:lvl1pPr>
                <a:lvl2pPr marL="415925" defTabSz="833438">
                  <a:defRPr>
                    <a:solidFill>
                      <a:schemeClr val="tx1"/>
                    </a:solidFill>
                    <a:latin typeface="Arial" panose="020B0604020202020204" pitchFamily="34" charset="0"/>
                  </a:defRPr>
                </a:lvl2pPr>
                <a:lvl3pPr marL="833438" defTabSz="833438">
                  <a:defRPr>
                    <a:solidFill>
                      <a:schemeClr val="tx1"/>
                    </a:solidFill>
                    <a:latin typeface="Arial" panose="020B0604020202020204" pitchFamily="34" charset="0"/>
                  </a:defRPr>
                </a:lvl3pPr>
                <a:lvl4pPr marL="1249363" defTabSz="833438">
                  <a:defRPr>
                    <a:solidFill>
                      <a:schemeClr val="tx1"/>
                    </a:solidFill>
                    <a:latin typeface="Arial" panose="020B0604020202020204" pitchFamily="34" charset="0"/>
                  </a:defRPr>
                </a:lvl4pPr>
                <a:lvl5pPr marL="1666875" defTabSz="833438">
                  <a:defRPr>
                    <a:solidFill>
                      <a:schemeClr val="tx1"/>
                    </a:solidFill>
                    <a:latin typeface="Arial" panose="020B0604020202020204" pitchFamily="34" charset="0"/>
                  </a:defRPr>
                </a:lvl5pPr>
                <a:lvl6pPr marL="2124075" defTabSz="833438" fontAlgn="base">
                  <a:spcBef>
                    <a:spcPct val="0"/>
                  </a:spcBef>
                  <a:spcAft>
                    <a:spcPct val="0"/>
                  </a:spcAft>
                  <a:defRPr>
                    <a:solidFill>
                      <a:schemeClr val="tx1"/>
                    </a:solidFill>
                    <a:latin typeface="Arial" panose="020B0604020202020204" pitchFamily="34" charset="0"/>
                  </a:defRPr>
                </a:lvl6pPr>
                <a:lvl7pPr marL="2581275" defTabSz="833438" fontAlgn="base">
                  <a:spcBef>
                    <a:spcPct val="0"/>
                  </a:spcBef>
                  <a:spcAft>
                    <a:spcPct val="0"/>
                  </a:spcAft>
                  <a:defRPr>
                    <a:solidFill>
                      <a:schemeClr val="tx1"/>
                    </a:solidFill>
                    <a:latin typeface="Arial" panose="020B0604020202020204" pitchFamily="34" charset="0"/>
                  </a:defRPr>
                </a:lvl7pPr>
                <a:lvl8pPr marL="3038475" defTabSz="833438" fontAlgn="base">
                  <a:spcBef>
                    <a:spcPct val="0"/>
                  </a:spcBef>
                  <a:spcAft>
                    <a:spcPct val="0"/>
                  </a:spcAft>
                  <a:defRPr>
                    <a:solidFill>
                      <a:schemeClr val="tx1"/>
                    </a:solidFill>
                    <a:latin typeface="Arial" panose="020B0604020202020204" pitchFamily="34" charset="0"/>
                  </a:defRPr>
                </a:lvl8pPr>
                <a:lvl9pPr marL="3495675" defTabSz="833438" fontAlgn="base">
                  <a:spcBef>
                    <a:spcPct val="0"/>
                  </a:spcBef>
                  <a:spcAft>
                    <a:spcPct val="0"/>
                  </a:spcAft>
                  <a:defRPr>
                    <a:solidFill>
                      <a:schemeClr val="tx1"/>
                    </a:solidFill>
                    <a:latin typeface="Arial" panose="020B0604020202020204" pitchFamily="34" charset="0"/>
                  </a:defRPr>
                </a:lvl9pPr>
              </a:lstStyle>
              <a:p>
                <a:pPr algn="ctr"/>
                <a:r>
                  <a:rPr lang="sk-SK" sz="1600" b="1" dirty="0">
                    <a:cs typeface="Times New Roman" panose="02020603050405020304" pitchFamily="18" charset="0"/>
                  </a:rPr>
                  <a:t>stopy</a:t>
                </a:r>
                <a:endParaRPr lang="en-US" sz="1600" dirty="0"/>
              </a:p>
            </p:txBody>
          </p:sp>
          <p:sp>
            <p:nvSpPr>
              <p:cNvPr id="98" name="Line 15"/>
              <p:cNvSpPr>
                <a:spLocks noChangeShapeType="1"/>
              </p:cNvSpPr>
              <p:nvPr/>
            </p:nvSpPr>
            <p:spPr bwMode="auto">
              <a:xfrm flipH="1">
                <a:off x="4284" y="2227"/>
                <a:ext cx="99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sk-SK"/>
              </a:p>
            </p:txBody>
          </p:sp>
          <p:sp>
            <p:nvSpPr>
              <p:cNvPr id="99" name="Line 16"/>
              <p:cNvSpPr>
                <a:spLocks noChangeShapeType="1"/>
              </p:cNvSpPr>
              <p:nvPr/>
            </p:nvSpPr>
            <p:spPr bwMode="auto">
              <a:xfrm flipH="1">
                <a:off x="4284" y="2227"/>
                <a:ext cx="993" cy="2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sk-SK"/>
              </a:p>
            </p:txBody>
          </p:sp>
          <p:sp>
            <p:nvSpPr>
              <p:cNvPr id="100" name="Line 17"/>
              <p:cNvSpPr>
                <a:spLocks noChangeShapeType="1"/>
              </p:cNvSpPr>
              <p:nvPr/>
            </p:nvSpPr>
            <p:spPr bwMode="auto">
              <a:xfrm flipH="1">
                <a:off x="3999" y="2227"/>
                <a:ext cx="1279" cy="69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sk-SK"/>
              </a:p>
            </p:txBody>
          </p:sp>
        </p:grpSp>
        <p:sp>
          <p:nvSpPr>
            <p:cNvPr id="78" name="Oval 18"/>
            <p:cNvSpPr>
              <a:spLocks noChangeArrowheads="1"/>
            </p:cNvSpPr>
            <p:nvPr/>
          </p:nvSpPr>
          <p:spPr bwMode="auto">
            <a:xfrm>
              <a:off x="5847" y="3621"/>
              <a:ext cx="2132" cy="2091"/>
            </a:xfrm>
            <a:prstGeom prst="ellipse">
              <a:avLst/>
            </a:prstGeom>
            <a:solidFill>
              <a:srgbClr val="C0C0C0"/>
            </a:solidFill>
            <a:ln w="9525">
              <a:solidFill>
                <a:srgbClr val="000000"/>
              </a:solidFill>
              <a:round/>
              <a:headEnd/>
              <a:tailEnd/>
            </a:ln>
          </p:spPr>
          <p:txBody>
            <a:bodyPr/>
            <a:lstStyle/>
            <a:p>
              <a:endParaRPr lang="sk-SK"/>
            </a:p>
          </p:txBody>
        </p:sp>
        <p:sp>
          <p:nvSpPr>
            <p:cNvPr id="79" name="Oval 19"/>
            <p:cNvSpPr>
              <a:spLocks noChangeArrowheads="1"/>
            </p:cNvSpPr>
            <p:nvPr/>
          </p:nvSpPr>
          <p:spPr bwMode="auto">
            <a:xfrm>
              <a:off x="6273" y="4039"/>
              <a:ext cx="1279" cy="1255"/>
            </a:xfrm>
            <a:prstGeom prst="ellipse">
              <a:avLst/>
            </a:prstGeom>
            <a:solidFill>
              <a:srgbClr val="FFFFFF"/>
            </a:solidFill>
            <a:ln w="9525">
              <a:solidFill>
                <a:srgbClr val="000000"/>
              </a:solidFill>
              <a:round/>
              <a:headEnd/>
              <a:tailEnd/>
            </a:ln>
          </p:spPr>
          <p:txBody>
            <a:bodyPr/>
            <a:lstStyle/>
            <a:p>
              <a:endParaRPr lang="sk-SK"/>
            </a:p>
          </p:txBody>
        </p:sp>
        <p:sp>
          <p:nvSpPr>
            <p:cNvPr id="80" name="Text Box 20"/>
            <p:cNvSpPr txBox="1">
              <a:spLocks noChangeArrowheads="1"/>
            </p:cNvSpPr>
            <p:nvPr/>
          </p:nvSpPr>
          <p:spPr bwMode="auto">
            <a:xfrm>
              <a:off x="7552" y="2645"/>
              <a:ext cx="1762" cy="837"/>
            </a:xfrm>
            <a:prstGeom prst="rect">
              <a:avLst/>
            </a:prstGeom>
            <a:solidFill>
              <a:srgbClr val="FFFFFF"/>
            </a:solidFill>
            <a:ln w="9525">
              <a:solidFill>
                <a:srgbClr val="000000"/>
              </a:solidFill>
              <a:miter lim="800000"/>
              <a:headEnd/>
              <a:tailEnd/>
            </a:ln>
          </p:spPr>
          <p:txBody>
            <a:bodyPr lIns="83338" tIns="41669" rIns="83338" bIns="41669"/>
            <a:lstStyle>
              <a:lvl1pPr defTabSz="833438">
                <a:defRPr>
                  <a:solidFill>
                    <a:schemeClr val="tx1"/>
                  </a:solidFill>
                  <a:latin typeface="Arial" panose="020B0604020202020204" pitchFamily="34" charset="0"/>
                </a:defRPr>
              </a:lvl1pPr>
              <a:lvl2pPr marL="415925" defTabSz="833438">
                <a:defRPr>
                  <a:solidFill>
                    <a:schemeClr val="tx1"/>
                  </a:solidFill>
                  <a:latin typeface="Arial" panose="020B0604020202020204" pitchFamily="34" charset="0"/>
                </a:defRPr>
              </a:lvl2pPr>
              <a:lvl3pPr marL="833438" defTabSz="833438">
                <a:defRPr>
                  <a:solidFill>
                    <a:schemeClr val="tx1"/>
                  </a:solidFill>
                  <a:latin typeface="Arial" panose="020B0604020202020204" pitchFamily="34" charset="0"/>
                </a:defRPr>
              </a:lvl3pPr>
              <a:lvl4pPr marL="1249363" defTabSz="833438">
                <a:defRPr>
                  <a:solidFill>
                    <a:schemeClr val="tx1"/>
                  </a:solidFill>
                  <a:latin typeface="Arial" panose="020B0604020202020204" pitchFamily="34" charset="0"/>
                </a:defRPr>
              </a:lvl4pPr>
              <a:lvl5pPr marL="1666875" defTabSz="833438">
                <a:defRPr>
                  <a:solidFill>
                    <a:schemeClr val="tx1"/>
                  </a:solidFill>
                  <a:latin typeface="Arial" panose="020B0604020202020204" pitchFamily="34" charset="0"/>
                </a:defRPr>
              </a:lvl5pPr>
              <a:lvl6pPr marL="2124075" defTabSz="833438" fontAlgn="base">
                <a:spcBef>
                  <a:spcPct val="0"/>
                </a:spcBef>
                <a:spcAft>
                  <a:spcPct val="0"/>
                </a:spcAft>
                <a:defRPr>
                  <a:solidFill>
                    <a:schemeClr val="tx1"/>
                  </a:solidFill>
                  <a:latin typeface="Arial" panose="020B0604020202020204" pitchFamily="34" charset="0"/>
                </a:defRPr>
              </a:lvl6pPr>
              <a:lvl7pPr marL="2581275" defTabSz="833438" fontAlgn="base">
                <a:spcBef>
                  <a:spcPct val="0"/>
                </a:spcBef>
                <a:spcAft>
                  <a:spcPct val="0"/>
                </a:spcAft>
                <a:defRPr>
                  <a:solidFill>
                    <a:schemeClr val="tx1"/>
                  </a:solidFill>
                  <a:latin typeface="Arial" panose="020B0604020202020204" pitchFamily="34" charset="0"/>
                </a:defRPr>
              </a:lvl7pPr>
              <a:lvl8pPr marL="3038475" defTabSz="833438" fontAlgn="base">
                <a:spcBef>
                  <a:spcPct val="0"/>
                </a:spcBef>
                <a:spcAft>
                  <a:spcPct val="0"/>
                </a:spcAft>
                <a:defRPr>
                  <a:solidFill>
                    <a:schemeClr val="tx1"/>
                  </a:solidFill>
                  <a:latin typeface="Arial" panose="020B0604020202020204" pitchFamily="34" charset="0"/>
                </a:defRPr>
              </a:lvl8pPr>
              <a:lvl9pPr marL="3495675" defTabSz="833438" fontAlgn="base">
                <a:spcBef>
                  <a:spcPct val="0"/>
                </a:spcBef>
                <a:spcAft>
                  <a:spcPct val="0"/>
                </a:spcAft>
                <a:defRPr>
                  <a:solidFill>
                    <a:schemeClr val="tx1"/>
                  </a:solidFill>
                  <a:latin typeface="Arial" panose="020B0604020202020204" pitchFamily="34" charset="0"/>
                </a:defRPr>
              </a:lvl9pPr>
            </a:lstStyle>
            <a:p>
              <a:pPr algn="ctr"/>
              <a:r>
                <a:rPr lang="en-US" sz="1600" b="1" dirty="0">
                  <a:solidFill>
                    <a:srgbClr val="000000"/>
                  </a:solidFill>
                  <a:cs typeface="Times New Roman" panose="02020603050405020304" pitchFamily="18" charset="0"/>
                </a:rPr>
                <a:t>Se</a:t>
              </a:r>
              <a:r>
                <a:rPr lang="sk-SK" sz="1600" b="1" dirty="0" err="1">
                  <a:solidFill>
                    <a:srgbClr val="000000"/>
                  </a:solidFill>
                  <a:cs typeface="Times New Roman" panose="02020603050405020304" pitchFamily="18" charset="0"/>
                </a:rPr>
                <a:t>kt</a:t>
              </a:r>
              <a:r>
                <a:rPr lang="en-US" sz="1600" b="1" dirty="0">
                  <a:solidFill>
                    <a:srgbClr val="000000"/>
                  </a:solidFill>
                  <a:cs typeface="Times New Roman" panose="02020603050405020304" pitchFamily="18" charset="0"/>
                </a:rPr>
                <a:t>or</a:t>
              </a:r>
              <a:r>
                <a:rPr lang="sk-SK" sz="1600" b="1" dirty="0">
                  <a:solidFill>
                    <a:srgbClr val="000000"/>
                  </a:solidFill>
                  <a:cs typeface="Times New Roman" panose="02020603050405020304" pitchFamily="18" charset="0"/>
                </a:rPr>
                <a:t>y na stope</a:t>
              </a:r>
              <a:endParaRPr lang="en-US" sz="1600" b="1" dirty="0">
                <a:solidFill>
                  <a:srgbClr val="000000"/>
                </a:solidFill>
              </a:endParaRPr>
            </a:p>
          </p:txBody>
        </p:sp>
        <p:sp>
          <p:nvSpPr>
            <p:cNvPr id="81" name="Line 21"/>
            <p:cNvSpPr>
              <a:spLocks noChangeShapeType="1"/>
            </p:cNvSpPr>
            <p:nvPr/>
          </p:nvSpPr>
          <p:spPr bwMode="auto">
            <a:xfrm flipH="1">
              <a:off x="6557" y="3342"/>
              <a:ext cx="995" cy="55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sk-SK"/>
            </a:p>
          </p:txBody>
        </p:sp>
        <p:sp>
          <p:nvSpPr>
            <p:cNvPr id="82" name="Line 22"/>
            <p:cNvSpPr>
              <a:spLocks noChangeShapeType="1"/>
            </p:cNvSpPr>
            <p:nvPr/>
          </p:nvSpPr>
          <p:spPr bwMode="auto">
            <a:xfrm flipH="1">
              <a:off x="7410" y="3342"/>
              <a:ext cx="142" cy="55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sk-SK"/>
            </a:p>
          </p:txBody>
        </p:sp>
        <p:sp>
          <p:nvSpPr>
            <p:cNvPr id="83" name="Line 23"/>
            <p:cNvSpPr>
              <a:spLocks noChangeShapeType="1"/>
            </p:cNvSpPr>
            <p:nvPr/>
          </p:nvSpPr>
          <p:spPr bwMode="auto">
            <a:xfrm>
              <a:off x="7552" y="3342"/>
              <a:ext cx="285" cy="153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sk-SK"/>
            </a:p>
          </p:txBody>
        </p:sp>
        <p:sp>
          <p:nvSpPr>
            <p:cNvPr id="84" name="Text Box 24"/>
            <p:cNvSpPr txBox="1">
              <a:spLocks noChangeArrowheads="1"/>
            </p:cNvSpPr>
            <p:nvPr/>
          </p:nvSpPr>
          <p:spPr bwMode="auto">
            <a:xfrm>
              <a:off x="3715" y="4179"/>
              <a:ext cx="1095" cy="696"/>
            </a:xfrm>
            <a:prstGeom prst="rect">
              <a:avLst/>
            </a:prstGeom>
            <a:solidFill>
              <a:srgbClr val="FFFFFF"/>
            </a:solidFill>
            <a:ln w="9525">
              <a:solidFill>
                <a:srgbClr val="000000"/>
              </a:solidFill>
              <a:miter lim="800000"/>
              <a:headEnd/>
              <a:tailEnd/>
            </a:ln>
          </p:spPr>
          <p:txBody>
            <a:bodyPr lIns="83338" tIns="41669" rIns="83338" bIns="41669"/>
            <a:lstStyle>
              <a:lvl1pPr defTabSz="833438">
                <a:defRPr>
                  <a:solidFill>
                    <a:schemeClr val="tx1"/>
                  </a:solidFill>
                  <a:latin typeface="Arial" panose="020B0604020202020204" pitchFamily="34" charset="0"/>
                </a:defRPr>
              </a:lvl1pPr>
              <a:lvl2pPr marL="415925" defTabSz="833438">
                <a:defRPr>
                  <a:solidFill>
                    <a:schemeClr val="tx1"/>
                  </a:solidFill>
                  <a:latin typeface="Arial" panose="020B0604020202020204" pitchFamily="34" charset="0"/>
                </a:defRPr>
              </a:lvl2pPr>
              <a:lvl3pPr marL="833438" defTabSz="833438">
                <a:defRPr>
                  <a:solidFill>
                    <a:schemeClr val="tx1"/>
                  </a:solidFill>
                  <a:latin typeface="Arial" panose="020B0604020202020204" pitchFamily="34" charset="0"/>
                </a:defRPr>
              </a:lvl3pPr>
              <a:lvl4pPr marL="1249363" defTabSz="833438">
                <a:defRPr>
                  <a:solidFill>
                    <a:schemeClr val="tx1"/>
                  </a:solidFill>
                  <a:latin typeface="Arial" panose="020B0604020202020204" pitchFamily="34" charset="0"/>
                </a:defRPr>
              </a:lvl4pPr>
              <a:lvl5pPr marL="1666875" defTabSz="833438">
                <a:defRPr>
                  <a:solidFill>
                    <a:schemeClr val="tx1"/>
                  </a:solidFill>
                  <a:latin typeface="Arial" panose="020B0604020202020204" pitchFamily="34" charset="0"/>
                </a:defRPr>
              </a:lvl5pPr>
              <a:lvl6pPr marL="2124075" defTabSz="833438" fontAlgn="base">
                <a:spcBef>
                  <a:spcPct val="0"/>
                </a:spcBef>
                <a:spcAft>
                  <a:spcPct val="0"/>
                </a:spcAft>
                <a:defRPr>
                  <a:solidFill>
                    <a:schemeClr val="tx1"/>
                  </a:solidFill>
                  <a:latin typeface="Arial" panose="020B0604020202020204" pitchFamily="34" charset="0"/>
                </a:defRPr>
              </a:lvl6pPr>
              <a:lvl7pPr marL="2581275" defTabSz="833438" fontAlgn="base">
                <a:spcBef>
                  <a:spcPct val="0"/>
                </a:spcBef>
                <a:spcAft>
                  <a:spcPct val="0"/>
                </a:spcAft>
                <a:defRPr>
                  <a:solidFill>
                    <a:schemeClr val="tx1"/>
                  </a:solidFill>
                  <a:latin typeface="Arial" panose="020B0604020202020204" pitchFamily="34" charset="0"/>
                </a:defRPr>
              </a:lvl7pPr>
              <a:lvl8pPr marL="3038475" defTabSz="833438" fontAlgn="base">
                <a:spcBef>
                  <a:spcPct val="0"/>
                </a:spcBef>
                <a:spcAft>
                  <a:spcPct val="0"/>
                </a:spcAft>
                <a:defRPr>
                  <a:solidFill>
                    <a:schemeClr val="tx1"/>
                  </a:solidFill>
                  <a:latin typeface="Arial" panose="020B0604020202020204" pitchFamily="34" charset="0"/>
                </a:defRPr>
              </a:lvl8pPr>
              <a:lvl9pPr marL="3495675" defTabSz="833438" fontAlgn="base">
                <a:spcBef>
                  <a:spcPct val="0"/>
                </a:spcBef>
                <a:spcAft>
                  <a:spcPct val="0"/>
                </a:spcAft>
                <a:defRPr>
                  <a:solidFill>
                    <a:schemeClr val="tx1"/>
                  </a:solidFill>
                  <a:latin typeface="Arial" panose="020B0604020202020204" pitchFamily="34" charset="0"/>
                </a:defRPr>
              </a:lvl9pPr>
            </a:lstStyle>
            <a:p>
              <a:pPr algn="ctr"/>
              <a:r>
                <a:rPr lang="sk-SK" sz="1600" b="1" dirty="0">
                  <a:solidFill>
                    <a:srgbClr val="000000"/>
                  </a:solidFill>
                  <a:cs typeface="Times New Roman" panose="02020603050405020304" pitchFamily="18" charset="0"/>
                </a:rPr>
                <a:t>K</a:t>
              </a:r>
              <a:r>
                <a:rPr lang="en-US" sz="1600" b="1" dirty="0">
                  <a:solidFill>
                    <a:srgbClr val="000000"/>
                  </a:solidFill>
                  <a:cs typeface="Times New Roman" panose="02020603050405020304" pitchFamily="18" charset="0"/>
                </a:rPr>
                <a:t>luster</a:t>
              </a:r>
              <a:r>
                <a:rPr lang="sk-SK" sz="1600" b="1" dirty="0">
                  <a:solidFill>
                    <a:srgbClr val="000000"/>
                  </a:solidFill>
                  <a:cs typeface="Times New Roman" panose="02020603050405020304" pitchFamily="18" charset="0"/>
                </a:rPr>
                <a:t>/ blok</a:t>
              </a:r>
              <a:endParaRPr lang="en-US" sz="1600" dirty="0">
                <a:solidFill>
                  <a:srgbClr val="000000"/>
                </a:solidFill>
              </a:endParaRPr>
            </a:p>
          </p:txBody>
        </p:sp>
        <p:cxnSp>
          <p:nvCxnSpPr>
            <p:cNvPr id="85" name="AutoShape 25"/>
            <p:cNvCxnSpPr>
              <a:cxnSpLocks noChangeShapeType="1"/>
            </p:cNvCxnSpPr>
            <p:nvPr/>
          </p:nvCxnSpPr>
          <p:spPr bwMode="auto">
            <a:xfrm flipV="1">
              <a:off x="4810" y="4039"/>
              <a:ext cx="1321" cy="349"/>
            </a:xfrm>
            <a:prstGeom prst="curvedConnector4">
              <a:avLst>
                <a:gd name="adj1" fmla="val 25833"/>
                <a:gd name="adj2" fmla="val 12217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86" name="AutoShape 26"/>
            <p:cNvCxnSpPr>
              <a:cxnSpLocks noChangeShapeType="1"/>
            </p:cNvCxnSpPr>
            <p:nvPr/>
          </p:nvCxnSpPr>
          <p:spPr bwMode="auto">
            <a:xfrm>
              <a:off x="4810" y="4388"/>
              <a:ext cx="1349" cy="1017"/>
            </a:xfrm>
            <a:prstGeom prst="curvedConnector4">
              <a:avLst>
                <a:gd name="adj1" fmla="val 27153"/>
                <a:gd name="adj2" fmla="val 10266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7" name="Line 27"/>
            <p:cNvSpPr>
              <a:spLocks noChangeShapeType="1"/>
            </p:cNvSpPr>
            <p:nvPr/>
          </p:nvSpPr>
          <p:spPr bwMode="auto">
            <a:xfrm>
              <a:off x="6842" y="3621"/>
              <a:ext cx="142" cy="20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sk-SK"/>
            </a:p>
          </p:txBody>
        </p:sp>
        <p:sp>
          <p:nvSpPr>
            <p:cNvPr id="88" name="Line 28"/>
            <p:cNvSpPr>
              <a:spLocks noChangeShapeType="1"/>
            </p:cNvSpPr>
            <p:nvPr/>
          </p:nvSpPr>
          <p:spPr bwMode="auto">
            <a:xfrm flipV="1">
              <a:off x="5847" y="4596"/>
              <a:ext cx="2132" cy="1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sk-SK"/>
            </a:p>
          </p:txBody>
        </p:sp>
        <p:sp>
          <p:nvSpPr>
            <p:cNvPr id="89" name="Line 29"/>
            <p:cNvSpPr>
              <a:spLocks noChangeShapeType="1"/>
            </p:cNvSpPr>
            <p:nvPr/>
          </p:nvSpPr>
          <p:spPr bwMode="auto">
            <a:xfrm flipV="1">
              <a:off x="6131" y="3900"/>
              <a:ext cx="1563" cy="153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sk-SK"/>
            </a:p>
          </p:txBody>
        </p:sp>
        <p:sp>
          <p:nvSpPr>
            <p:cNvPr id="90" name="Line 30"/>
            <p:cNvSpPr>
              <a:spLocks noChangeShapeType="1"/>
            </p:cNvSpPr>
            <p:nvPr/>
          </p:nvSpPr>
          <p:spPr bwMode="auto">
            <a:xfrm>
              <a:off x="6131" y="4039"/>
              <a:ext cx="1563" cy="12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sk-SK"/>
            </a:p>
          </p:txBody>
        </p:sp>
        <p:sp>
          <p:nvSpPr>
            <p:cNvPr id="91" name="Line 31"/>
            <p:cNvSpPr>
              <a:spLocks noChangeShapeType="1"/>
            </p:cNvSpPr>
            <p:nvPr/>
          </p:nvSpPr>
          <p:spPr bwMode="auto">
            <a:xfrm>
              <a:off x="5847" y="4318"/>
              <a:ext cx="2132" cy="69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sk-SK"/>
            </a:p>
          </p:txBody>
        </p:sp>
        <p:sp>
          <p:nvSpPr>
            <p:cNvPr id="92" name="Line 32"/>
            <p:cNvSpPr>
              <a:spLocks noChangeShapeType="1"/>
            </p:cNvSpPr>
            <p:nvPr/>
          </p:nvSpPr>
          <p:spPr bwMode="auto">
            <a:xfrm>
              <a:off x="6415" y="3760"/>
              <a:ext cx="995" cy="181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sk-SK"/>
            </a:p>
          </p:txBody>
        </p:sp>
        <p:sp>
          <p:nvSpPr>
            <p:cNvPr id="93" name="Line 33"/>
            <p:cNvSpPr>
              <a:spLocks noChangeShapeType="1"/>
            </p:cNvSpPr>
            <p:nvPr/>
          </p:nvSpPr>
          <p:spPr bwMode="auto">
            <a:xfrm flipH="1">
              <a:off x="5989" y="4178"/>
              <a:ext cx="1848" cy="97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sk-SK"/>
            </a:p>
          </p:txBody>
        </p:sp>
        <p:sp>
          <p:nvSpPr>
            <p:cNvPr id="94" name="Line 34"/>
            <p:cNvSpPr>
              <a:spLocks noChangeShapeType="1"/>
            </p:cNvSpPr>
            <p:nvPr/>
          </p:nvSpPr>
          <p:spPr bwMode="auto">
            <a:xfrm flipH="1">
              <a:off x="6557" y="3621"/>
              <a:ext cx="712" cy="209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sk-SK"/>
            </a:p>
          </p:txBody>
        </p:sp>
        <p:sp>
          <p:nvSpPr>
            <p:cNvPr id="95" name="Oval 35"/>
            <p:cNvSpPr>
              <a:spLocks noChangeArrowheads="1"/>
            </p:cNvSpPr>
            <p:nvPr/>
          </p:nvSpPr>
          <p:spPr bwMode="auto">
            <a:xfrm>
              <a:off x="6273" y="4039"/>
              <a:ext cx="1279" cy="1254"/>
            </a:xfrm>
            <a:prstGeom prst="ellipse">
              <a:avLst/>
            </a:prstGeom>
            <a:solidFill>
              <a:srgbClr val="FFFFFF"/>
            </a:solidFill>
            <a:ln w="9525">
              <a:solidFill>
                <a:srgbClr val="000000"/>
              </a:solidFill>
              <a:round/>
              <a:headEnd/>
              <a:tailEnd/>
            </a:ln>
          </p:spPr>
          <p:txBody>
            <a:bodyPr/>
            <a:lstStyle/>
            <a:p>
              <a:endParaRPr lang="sk-SK"/>
            </a:p>
          </p:txBody>
        </p:sp>
      </p:grpSp>
    </p:spTree>
    <p:extLst>
      <p:ext uri="{BB962C8B-B14F-4D97-AF65-F5344CB8AC3E}">
        <p14:creationId xmlns:p14="http://schemas.microsoft.com/office/powerpoint/2010/main" val="401932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http://www.ntfs.com/images/recover-hard-drive-sectors-and-clusters.gif"/>
          <p:cNvPicPr>
            <a:picLocks noChangeAspect="1" noChangeArrowheads="1"/>
          </p:cNvPicPr>
          <p:nvPr/>
        </p:nvPicPr>
        <p:blipFill>
          <a:blip r:embed="rId2" r:link="rId3" cstate="print">
            <a:extLst>
              <a:ext uri="{28A0092B-C50C-407E-A947-70E740481C1C}">
                <a14:useLocalDpi xmlns:a14="http://schemas.microsoft.com/office/drawing/2010/main" val="0"/>
              </a:ext>
            </a:extLst>
          </a:blip>
          <a:srcRect/>
          <a:stretch>
            <a:fillRect/>
          </a:stretch>
        </p:blipFill>
        <p:spPr bwMode="auto">
          <a:xfrm>
            <a:off x="1801813" y="3360738"/>
            <a:ext cx="3948112" cy="233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 name="Picture 3" descr="http://www.ntfs.com/images/recover-hard-drive.gif"/>
          <p:cNvPicPr>
            <a:picLocks noChangeAspect="1" noChangeArrowheads="1"/>
          </p:cNvPicPr>
          <p:nvPr/>
        </p:nvPicPr>
        <p:blipFill>
          <a:blip r:embed="rId4" r:link="rId5" cstate="print">
            <a:extLst>
              <a:ext uri="{28A0092B-C50C-407E-A947-70E740481C1C}">
                <a14:useLocalDpi xmlns:a14="http://schemas.microsoft.com/office/drawing/2010/main" val="0"/>
              </a:ext>
            </a:extLst>
          </a:blip>
          <a:srcRect/>
          <a:stretch>
            <a:fillRect/>
          </a:stretch>
        </p:blipFill>
        <p:spPr bwMode="auto">
          <a:xfrm>
            <a:off x="5888039" y="3290888"/>
            <a:ext cx="4433887"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sk-SK"/>
              <a:t>Pevný disk</a:t>
            </a:r>
            <a:endParaRPr lang="sk-SK" dirty="0"/>
          </a:p>
        </p:txBody>
      </p:sp>
      <p:sp>
        <p:nvSpPr>
          <p:cNvPr id="5" name="Content Placeholder 4"/>
          <p:cNvSpPr>
            <a:spLocks noGrp="1"/>
          </p:cNvSpPr>
          <p:nvPr>
            <p:ph idx="1"/>
          </p:nvPr>
        </p:nvSpPr>
        <p:spPr>
          <a:xfrm>
            <a:off x="838200" y="1825625"/>
            <a:ext cx="10515600" cy="1355725"/>
          </a:xfrm>
        </p:spPr>
        <p:txBody>
          <a:bodyPr>
            <a:normAutofit fontScale="77500" lnSpcReduction="20000"/>
          </a:bodyPr>
          <a:lstStyle/>
          <a:p>
            <a:r>
              <a:rPr lang="sk-SK" dirty="0"/>
              <a:t>Pevný disk – hladká kovová (sklenená) platňa</a:t>
            </a:r>
            <a:br>
              <a:rPr lang="en-US" dirty="0"/>
            </a:br>
            <a:endParaRPr lang="en-US" dirty="0"/>
          </a:p>
          <a:p>
            <a:r>
              <a:rPr lang="sk-SK" dirty="0"/>
              <a:t>Každá z nich je delená na stopy a sektory – formátovaním ...</a:t>
            </a:r>
          </a:p>
          <a:p>
            <a:r>
              <a:rPr lang="sk-SK" dirty="0"/>
              <a:t>Počet a veľkosť stôp záleží na veľkosti disku a výrobcovi</a:t>
            </a:r>
          </a:p>
        </p:txBody>
      </p:sp>
    </p:spTree>
    <p:extLst>
      <p:ext uri="{BB962C8B-B14F-4D97-AF65-F5344CB8AC3E}">
        <p14:creationId xmlns:p14="http://schemas.microsoft.com/office/powerpoint/2010/main" val="3630589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type="title"/>
          </p:nvPr>
        </p:nvSpPr>
        <p:spPr/>
        <p:txBody>
          <a:bodyPr/>
          <a:lstStyle/>
          <a:p>
            <a:r>
              <a:rPr lang="sk-SK"/>
              <a:t>K</a:t>
            </a:r>
            <a:r>
              <a:rPr lang="en-US"/>
              <a:t>luster</a:t>
            </a:r>
            <a:endParaRPr lang="en-US" dirty="0"/>
          </a:p>
        </p:txBody>
      </p:sp>
      <p:sp>
        <p:nvSpPr>
          <p:cNvPr id="14338" name="Rectangle 2"/>
          <p:cNvSpPr>
            <a:spLocks noGrp="1" noChangeArrowheads="1"/>
          </p:cNvSpPr>
          <p:nvPr>
            <p:ph type="body" idx="1"/>
          </p:nvPr>
        </p:nvSpPr>
        <p:spPr/>
        <p:txBody>
          <a:bodyPr>
            <a:normAutofit/>
          </a:bodyPr>
          <a:lstStyle/>
          <a:p>
            <a:r>
              <a:rPr lang="en-US" dirty="0"/>
              <a:t>A </a:t>
            </a:r>
            <a:r>
              <a:rPr lang="sk-SK" dirty="0"/>
              <a:t>k</a:t>
            </a:r>
            <a:r>
              <a:rPr lang="en-US" dirty="0"/>
              <a:t>luster, </a:t>
            </a:r>
            <a:r>
              <a:rPr lang="sk-SK" dirty="0"/>
              <a:t>niekedy tiež alokačný blok – skladá sa z jedného alebo viacerých sektorov a je to najmenšia časť priestoru alokovaného OS keď sa na disk ukladá obsah</a:t>
            </a:r>
            <a:endParaRPr lang="en-US" dirty="0"/>
          </a:p>
          <a:p>
            <a:r>
              <a:rPr lang="sk-SK" dirty="0"/>
              <a:t>Počet sektorov na </a:t>
            </a:r>
            <a:r>
              <a:rPr lang="sk-SK" dirty="0" err="1"/>
              <a:t>kluster</a:t>
            </a:r>
            <a:r>
              <a:rPr lang="sk-SK" dirty="0"/>
              <a:t> závisí od</a:t>
            </a:r>
            <a:endParaRPr lang="en-US" dirty="0"/>
          </a:p>
          <a:p>
            <a:pPr lvl="1"/>
            <a:r>
              <a:rPr lang="en-US" dirty="0" err="1"/>
              <a:t>Typ</a:t>
            </a:r>
            <a:r>
              <a:rPr lang="sk-SK" dirty="0"/>
              <a:t>u </a:t>
            </a:r>
            <a:r>
              <a:rPr lang="en-US" dirty="0"/>
              <a:t>disk</a:t>
            </a:r>
            <a:r>
              <a:rPr lang="sk-SK" dirty="0"/>
              <a:t>u</a:t>
            </a:r>
            <a:r>
              <a:rPr lang="en-US" dirty="0"/>
              <a:t> (floppy disk, hard disk)</a:t>
            </a:r>
          </a:p>
          <a:p>
            <a:pPr lvl="1"/>
            <a:r>
              <a:rPr lang="sk-SK" dirty="0"/>
              <a:t>Verzie OS</a:t>
            </a:r>
            <a:endParaRPr lang="en-US" dirty="0"/>
          </a:p>
          <a:p>
            <a:pPr lvl="1"/>
            <a:r>
              <a:rPr lang="sk-SK" dirty="0"/>
              <a:t>Veľkosti disku</a:t>
            </a:r>
            <a:endParaRPr lang="en-US" dirty="0"/>
          </a:p>
          <a:p>
            <a:r>
              <a:rPr lang="sk-SK" dirty="0"/>
              <a:t>Každý sektor obsahuje 512 </a:t>
            </a:r>
            <a:r>
              <a:rPr lang="en-US" dirty="0" err="1"/>
              <a:t>byt</a:t>
            </a:r>
            <a:r>
              <a:rPr lang="sk-SK" dirty="0" err="1"/>
              <a:t>ov</a:t>
            </a:r>
            <a:r>
              <a:rPr lang="en-US" dirty="0"/>
              <a:t>. (NTFS </a:t>
            </a:r>
            <a:r>
              <a:rPr lang="sk-SK" dirty="0"/>
              <a:t>túto hodnotu umožňuje meniť</a:t>
            </a:r>
            <a:r>
              <a:rPr lang="en-US" dirty="0"/>
              <a:t>.)</a:t>
            </a:r>
          </a:p>
          <a:p>
            <a:r>
              <a:rPr lang="sk-SK" dirty="0"/>
              <a:t>Počet </a:t>
            </a:r>
            <a:r>
              <a:rPr lang="sk-SK" dirty="0" err="1"/>
              <a:t>klusterov</a:t>
            </a:r>
            <a:r>
              <a:rPr lang="sk-SK" dirty="0"/>
              <a:t> na disk je určený OS</a:t>
            </a:r>
            <a:r>
              <a:rPr lang="en-US" dirty="0"/>
              <a:t> (FAT 16, FAT 32 </a:t>
            </a:r>
            <a:r>
              <a:rPr lang="sk-SK" dirty="0"/>
              <a:t>alebo</a:t>
            </a:r>
            <a:r>
              <a:rPr lang="en-US" dirty="0"/>
              <a:t> NTFS). </a:t>
            </a:r>
          </a:p>
        </p:txBody>
      </p:sp>
    </p:spTree>
    <p:extLst>
      <p:ext uri="{BB962C8B-B14F-4D97-AF65-F5344CB8AC3E}">
        <p14:creationId xmlns:p14="http://schemas.microsoft.com/office/powerpoint/2010/main" val="2273416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endParaRPr lang="sk-SK"/>
          </a:p>
        </p:txBody>
      </p:sp>
      <p:graphicFrame>
        <p:nvGraphicFramePr>
          <p:cNvPr id="15363" name="Group 3"/>
          <p:cNvGraphicFramePr>
            <a:graphicFrameLocks noGrp="1"/>
          </p:cNvGraphicFramePr>
          <p:nvPr/>
        </p:nvGraphicFramePr>
        <p:xfrm>
          <a:off x="1939925" y="1338263"/>
          <a:ext cx="8312150" cy="5029202"/>
        </p:xfrm>
        <a:graphic>
          <a:graphicData uri="http://schemas.openxmlformats.org/drawingml/2006/table">
            <a:tbl>
              <a:tblPr/>
              <a:tblGrid>
                <a:gridCol w="1830388">
                  <a:extLst>
                    <a:ext uri="{9D8B030D-6E8A-4147-A177-3AD203B41FA5}">
                      <a16:colId xmlns:a16="http://schemas.microsoft.com/office/drawing/2014/main" val="20000"/>
                    </a:ext>
                  </a:extLst>
                </a:gridCol>
                <a:gridCol w="2212975">
                  <a:extLst>
                    <a:ext uri="{9D8B030D-6E8A-4147-A177-3AD203B41FA5}">
                      <a16:colId xmlns:a16="http://schemas.microsoft.com/office/drawing/2014/main" val="20001"/>
                    </a:ext>
                  </a:extLst>
                </a:gridCol>
                <a:gridCol w="2055812">
                  <a:extLst>
                    <a:ext uri="{9D8B030D-6E8A-4147-A177-3AD203B41FA5}">
                      <a16:colId xmlns:a16="http://schemas.microsoft.com/office/drawing/2014/main" val="20002"/>
                    </a:ext>
                  </a:extLst>
                </a:gridCol>
                <a:gridCol w="2212975">
                  <a:extLst>
                    <a:ext uri="{9D8B030D-6E8A-4147-A177-3AD203B41FA5}">
                      <a16:colId xmlns:a16="http://schemas.microsoft.com/office/drawing/2014/main" val="20003"/>
                    </a:ext>
                  </a:extLst>
                </a:gridCol>
              </a:tblGrid>
              <a:tr h="8207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DRIVE SIZE</a:t>
                      </a:r>
                      <a:endParaRPr kumimoji="0" lang="en-US" sz="16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FAT 16</a:t>
                      </a:r>
                      <a:endParaRPr kumimoji="0" lang="en-US" sz="16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Cluster Size</a:t>
                      </a:r>
                      <a:endParaRPr kumimoji="0" lang="en-US" sz="16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FAT 32</a:t>
                      </a:r>
                      <a:endParaRPr kumimoji="0" lang="en-US" sz="16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Cluster Size</a:t>
                      </a:r>
                      <a:endParaRPr kumimoji="0" lang="en-US" sz="16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E6E6E6"/>
                    </a:solid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NTFS</a:t>
                      </a:r>
                      <a:endParaRPr kumimoji="0" lang="en-US" sz="16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a:ln>
                            <a:noFill/>
                          </a:ln>
                          <a:solidFill>
                            <a:srgbClr val="000000"/>
                          </a:solidFill>
                          <a:effectLst/>
                          <a:latin typeface="Arial" panose="020B0604020202020204" pitchFamily="34" charset="0"/>
                          <a:ea typeface="Times New Roman" panose="02020603050405020304" pitchFamily="18" charset="0"/>
                          <a:cs typeface="Arial" panose="020B0604020202020204" pitchFamily="34" charset="0"/>
                        </a:rPr>
                        <a:t>Cluster Size</a:t>
                      </a:r>
                      <a:endParaRPr kumimoji="0" lang="en-US" sz="1600" b="0" i="0" u="none" strike="noStrike" cap="none" normalizeH="0" baseline="0">
                        <a:ln>
                          <a:noFill/>
                        </a:ln>
                        <a:solidFill>
                          <a:srgbClr val="000000"/>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anchor="ctr"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rgbClr val="E6E6E6"/>
                    </a:solidFill>
                  </a:tcPr>
                </a:tc>
                <a:extLst>
                  <a:ext uri="{0D108BD9-81ED-4DB2-BD59-A6C34878D82A}">
                    <a16:rowId xmlns:a16="http://schemas.microsoft.com/office/drawing/2014/main" val="10000"/>
                  </a:ext>
                </a:extLst>
              </a:tr>
              <a:tr h="4921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260 to  511 MB</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8 KB (16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Not Supported</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512 bytes (1 sector)</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4905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512 to 1023 MB</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16 KB (32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4 KB (8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1KB (2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921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1024 MB to 2 GB</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32 KB (64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4 KB (8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2 KB (4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921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2 to 4 GB</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64 KB (128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4 KB (8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4 KB (8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921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4 to 8 GB</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Not Supported</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4 KB (8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8 KB (16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92125">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8 to 16 GB</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Not Supported</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8 KB (16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16 KB (32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90538">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16 to 32 GB</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Not Supported</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16 KB (32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32 KB ( 64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r h="766763">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&gt;32 GB </a:t>
                      </a:r>
                      <a:r>
                        <a:rPr kumimoji="0" lang="en-US" sz="900" b="0" i="1"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(up to 2 TB)</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Not Supported</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32 KB (64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64 KB (128 sectors)</a:t>
                      </a:r>
                      <a:endParaRPr kumimoji="0" lang="en-US" sz="2200" b="0" i="0" u="none" strike="noStrike" cap="none" normalizeH="0" baseline="0">
                        <a:ln>
                          <a:noFill/>
                        </a:ln>
                        <a:solidFill>
                          <a:schemeClr val="tx1"/>
                        </a:solidFill>
                        <a:effectLst/>
                        <a:latin typeface="Times New Roman" panose="02020603050405020304" pitchFamily="18" charset="0"/>
                        <a:ea typeface="Times New Roman" panose="02020603050405020304" pitchFamily="18" charset="0"/>
                        <a:cs typeface="Arial" panose="020B0604020202020204" pitchFamily="34" charset="0"/>
                      </a:endParaRPr>
                    </a:p>
                  </a:txBody>
                  <a:tcPr marL="83338" marR="83338" marT="41669" marB="41669"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89115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sk-SK" dirty="0"/>
              <a:t>Príklad – uloženie </a:t>
            </a:r>
            <a:r>
              <a:rPr lang="en-US" dirty="0"/>
              <a:t>2KB</a:t>
            </a:r>
            <a:r>
              <a:rPr lang="sk-SK" dirty="0"/>
              <a:t> súboru</a:t>
            </a:r>
            <a:br>
              <a:rPr lang="en-US" dirty="0"/>
            </a:br>
            <a:endParaRPr lang="sk-SK" dirty="0"/>
          </a:p>
        </p:txBody>
      </p:sp>
      <p:sp>
        <p:nvSpPr>
          <p:cNvPr id="16386" name="Rectangle 2"/>
          <p:cNvSpPr>
            <a:spLocks noGrp="1" noChangeArrowheads="1"/>
          </p:cNvSpPr>
          <p:nvPr>
            <p:ph type="body" idx="1"/>
          </p:nvPr>
        </p:nvSpPr>
        <p:spPr/>
        <p:txBody>
          <a:bodyPr/>
          <a:lstStyle/>
          <a:p>
            <a:r>
              <a:rPr lang="en-US" dirty="0"/>
              <a:t>Hard drive = 2GB</a:t>
            </a:r>
          </a:p>
          <a:p>
            <a:pPr lvl="1"/>
            <a:r>
              <a:rPr lang="en-US" dirty="0"/>
              <a:t>FAT 16 – </a:t>
            </a:r>
            <a:r>
              <a:rPr lang="sk-SK" dirty="0"/>
              <a:t>súbor zaberie 1 </a:t>
            </a:r>
            <a:r>
              <a:rPr lang="sk-SK" dirty="0" err="1"/>
              <a:t>kluster</a:t>
            </a:r>
            <a:r>
              <a:rPr lang="sk-SK" dirty="0"/>
              <a:t> čo je </a:t>
            </a:r>
            <a:r>
              <a:rPr lang="en-US" dirty="0"/>
              <a:t>64 se</a:t>
            </a:r>
            <a:r>
              <a:rPr lang="sk-SK" dirty="0" err="1"/>
              <a:t>ktorov</a:t>
            </a:r>
            <a:r>
              <a:rPr lang="en-US" dirty="0"/>
              <a:t>, </a:t>
            </a:r>
            <a:r>
              <a:rPr lang="sk-SK" dirty="0"/>
              <a:t>teda</a:t>
            </a:r>
            <a:r>
              <a:rPr lang="en-US" dirty="0"/>
              <a:t> </a:t>
            </a:r>
          </a:p>
          <a:p>
            <a:pPr lvl="2"/>
            <a:r>
              <a:rPr lang="en-US" dirty="0"/>
              <a:t>64 X 512 bytes per sector = 32KB – 2KB = 30KB </a:t>
            </a:r>
            <a:r>
              <a:rPr lang="sk-SK" dirty="0"/>
              <a:t>nevyužitého priestoru</a:t>
            </a:r>
            <a:endParaRPr lang="en-US" dirty="0"/>
          </a:p>
          <a:p>
            <a:pPr lvl="1"/>
            <a:r>
              <a:rPr lang="en-US" dirty="0"/>
              <a:t>FAT 32 – </a:t>
            </a:r>
            <a:r>
              <a:rPr lang="sk-SK" dirty="0"/>
              <a:t>súbor zaberie 1 </a:t>
            </a:r>
            <a:r>
              <a:rPr lang="sk-SK" dirty="0" err="1"/>
              <a:t>kluster</a:t>
            </a:r>
            <a:r>
              <a:rPr lang="sk-SK" dirty="0"/>
              <a:t> čo je </a:t>
            </a:r>
            <a:r>
              <a:rPr lang="en-US" dirty="0"/>
              <a:t>8 </a:t>
            </a:r>
            <a:r>
              <a:rPr lang="sk-SK" dirty="0"/>
              <a:t>sektorov</a:t>
            </a:r>
            <a:r>
              <a:rPr lang="en-US" dirty="0"/>
              <a:t>, </a:t>
            </a:r>
            <a:r>
              <a:rPr lang="sk-SK" dirty="0"/>
              <a:t>teda</a:t>
            </a:r>
            <a:r>
              <a:rPr lang="en-US" dirty="0"/>
              <a:t> </a:t>
            </a:r>
          </a:p>
          <a:p>
            <a:pPr lvl="2"/>
            <a:r>
              <a:rPr lang="en-US" dirty="0"/>
              <a:t>8 X 512 bytes per sector = 4KB – 2KB = 2KB </a:t>
            </a:r>
            <a:r>
              <a:rPr lang="sk-SK" dirty="0"/>
              <a:t>nevyužitého priestoru</a:t>
            </a:r>
            <a:endParaRPr lang="en-US" dirty="0"/>
          </a:p>
          <a:p>
            <a:pPr lvl="1"/>
            <a:r>
              <a:rPr lang="en-US" dirty="0"/>
              <a:t>NTFS – </a:t>
            </a:r>
            <a:r>
              <a:rPr lang="sk-SK" dirty="0"/>
              <a:t>súbor zaberie 1 </a:t>
            </a:r>
            <a:r>
              <a:rPr lang="sk-SK" dirty="0" err="1"/>
              <a:t>kluster</a:t>
            </a:r>
            <a:r>
              <a:rPr lang="sk-SK" dirty="0"/>
              <a:t> čo je </a:t>
            </a:r>
            <a:r>
              <a:rPr lang="en-US" dirty="0"/>
              <a:t>4 </a:t>
            </a:r>
            <a:r>
              <a:rPr lang="sk-SK" dirty="0"/>
              <a:t>sektorov</a:t>
            </a:r>
            <a:r>
              <a:rPr lang="en-US" dirty="0"/>
              <a:t>, </a:t>
            </a:r>
            <a:r>
              <a:rPr lang="sk-SK" dirty="0"/>
              <a:t>teda</a:t>
            </a:r>
            <a:endParaRPr lang="en-US" dirty="0"/>
          </a:p>
          <a:p>
            <a:pPr lvl="2"/>
            <a:r>
              <a:rPr lang="en-US" dirty="0"/>
              <a:t>4 X 512 bytes per sector = 2KB – 2KB = 0 </a:t>
            </a:r>
            <a:r>
              <a:rPr lang="sk-SK" dirty="0"/>
              <a:t>nevyužitého priestoru</a:t>
            </a:r>
            <a:endParaRPr lang="en-US" dirty="0"/>
          </a:p>
          <a:p>
            <a:pPr lvl="2"/>
            <a:endParaRPr lang="en-US" dirty="0"/>
          </a:p>
        </p:txBody>
      </p:sp>
    </p:spTree>
    <p:extLst>
      <p:ext uri="{BB962C8B-B14F-4D97-AF65-F5344CB8AC3E}">
        <p14:creationId xmlns:p14="http://schemas.microsoft.com/office/powerpoint/2010/main" val="2492016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7CBAC2B-8177-4E24-B395-E95BF6DC9854}" type="slidenum">
              <a:rPr lang="sk-SK" sz="1400"/>
              <a:pPr/>
              <a:t>11</a:t>
            </a:fld>
            <a:endParaRPr lang="sk-SK" sz="1400"/>
          </a:p>
        </p:txBody>
      </p:sp>
      <p:sp>
        <p:nvSpPr>
          <p:cNvPr id="16387" name="Rectangle 2"/>
          <p:cNvSpPr>
            <a:spLocks noGrp="1" noChangeArrowheads="1"/>
          </p:cNvSpPr>
          <p:nvPr>
            <p:ph type="title"/>
          </p:nvPr>
        </p:nvSpPr>
        <p:spPr/>
        <p:txBody>
          <a:bodyPr/>
          <a:lstStyle/>
          <a:p>
            <a:r>
              <a:rPr lang="sk-SK"/>
              <a:t>Vzťah bloku a záznamu</a:t>
            </a:r>
          </a:p>
        </p:txBody>
      </p:sp>
      <p:pic>
        <p:nvPicPr>
          <p:cNvPr id="16388"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71800" y="1219200"/>
            <a:ext cx="6324600" cy="448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09050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1E5E845-A3B1-4E0B-A23A-39E4156F6D8D}" type="slidenum">
              <a:rPr lang="sk-SK" sz="1400"/>
              <a:pPr/>
              <a:t>12</a:t>
            </a:fld>
            <a:endParaRPr lang="sk-SK" sz="1400"/>
          </a:p>
        </p:txBody>
      </p:sp>
      <p:sp>
        <p:nvSpPr>
          <p:cNvPr id="17411" name="Rectangle 2"/>
          <p:cNvSpPr>
            <a:spLocks noGrp="1" noChangeArrowheads="1"/>
          </p:cNvSpPr>
          <p:nvPr>
            <p:ph type="title"/>
          </p:nvPr>
        </p:nvSpPr>
        <p:spPr/>
        <p:txBody>
          <a:bodyPr/>
          <a:lstStyle/>
          <a:p>
            <a:r>
              <a:rPr lang="sk-SK"/>
              <a:t>Vzťah bloku a záznamu</a:t>
            </a:r>
          </a:p>
        </p:txBody>
      </p:sp>
      <p:sp>
        <p:nvSpPr>
          <p:cNvPr id="17412" name="Rectangle 3"/>
          <p:cNvSpPr>
            <a:spLocks noGrp="1" noChangeArrowheads="1"/>
          </p:cNvSpPr>
          <p:nvPr>
            <p:ph type="body" idx="1"/>
          </p:nvPr>
        </p:nvSpPr>
        <p:spPr/>
        <p:txBody>
          <a:bodyPr/>
          <a:lstStyle/>
          <a:p>
            <a:r>
              <a:rPr lang="sk-SK"/>
              <a:t>blokovanie záznamov automaticky pri zápise realizované OS</a:t>
            </a:r>
          </a:p>
          <a:p>
            <a:r>
              <a:rPr lang="sk-SK"/>
              <a:t>pri viacpoužívateľskom OS je potrebné zaistiť autorizáciu prístupu k dátam</a:t>
            </a:r>
          </a:p>
          <a:p>
            <a:r>
              <a:rPr lang="sk-SK"/>
              <a:t>implementácia organizačných opatrení ako prevencia straty dát poškodením média</a:t>
            </a:r>
          </a:p>
          <a:p>
            <a:r>
              <a:rPr lang="sk-SK"/>
              <a:t>typ prístupu používateľa (teľov) pre každý súbor / adresár</a:t>
            </a:r>
          </a:p>
          <a:p>
            <a:pPr lvl="1"/>
            <a:r>
              <a:rPr lang="sk-SK"/>
              <a:t>záznamy o prístupových právach majú premenlivú dĺžku, zložitý mechanizmus</a:t>
            </a:r>
          </a:p>
        </p:txBody>
      </p:sp>
    </p:spTree>
    <p:extLst>
      <p:ext uri="{BB962C8B-B14F-4D97-AF65-F5344CB8AC3E}">
        <p14:creationId xmlns:p14="http://schemas.microsoft.com/office/powerpoint/2010/main" val="2988777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E981480-6A70-48CF-846A-2987D7236268}" type="slidenum">
              <a:rPr lang="sk-SK" sz="1400"/>
              <a:pPr/>
              <a:t>13</a:t>
            </a:fld>
            <a:endParaRPr lang="sk-SK" sz="1400"/>
          </a:p>
        </p:txBody>
      </p:sp>
      <p:sp>
        <p:nvSpPr>
          <p:cNvPr id="18435" name="Rectangle 2"/>
          <p:cNvSpPr>
            <a:spLocks noGrp="1" noChangeArrowheads="1"/>
          </p:cNvSpPr>
          <p:nvPr>
            <p:ph type="title"/>
          </p:nvPr>
        </p:nvSpPr>
        <p:spPr/>
        <p:txBody>
          <a:bodyPr/>
          <a:lstStyle/>
          <a:p>
            <a:r>
              <a:rPr lang="sk-SK"/>
              <a:t>Atribúty súboru</a:t>
            </a:r>
          </a:p>
        </p:txBody>
      </p:sp>
      <p:sp>
        <p:nvSpPr>
          <p:cNvPr id="18436" name="Rectangle 3"/>
          <p:cNvSpPr>
            <a:spLocks noGrp="1" noChangeArrowheads="1"/>
          </p:cNvSpPr>
          <p:nvPr>
            <p:ph type="body" idx="1"/>
          </p:nvPr>
        </p:nvSpPr>
        <p:spPr/>
        <p:txBody>
          <a:bodyPr/>
          <a:lstStyle/>
          <a:p>
            <a:r>
              <a:rPr lang="sk-SK"/>
              <a:t>umiestnenie súboru na disku</a:t>
            </a:r>
          </a:p>
          <a:p>
            <a:r>
              <a:rPr lang="sk-SK"/>
              <a:t>detailný popis jeho záznamov</a:t>
            </a:r>
          </a:p>
          <a:p>
            <a:r>
              <a:rPr lang="sk-SK"/>
              <a:t>použitý blokovací faktor</a:t>
            </a:r>
          </a:p>
          <a:p>
            <a:r>
              <a:rPr lang="sk-SK"/>
              <a:t>popis organizácie súboru</a:t>
            </a:r>
          </a:p>
          <a:p>
            <a:r>
              <a:rPr lang="sk-SK"/>
              <a:t>špecifikácia prístupových práv</a:t>
            </a:r>
          </a:p>
        </p:txBody>
      </p:sp>
    </p:spTree>
    <p:extLst>
      <p:ext uri="{BB962C8B-B14F-4D97-AF65-F5344CB8AC3E}">
        <p14:creationId xmlns:p14="http://schemas.microsoft.com/office/powerpoint/2010/main" val="3045252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EA07E80-DBAC-4F34-B915-3788E7E57A87}" type="slidenum">
              <a:rPr lang="sk-SK" sz="1400"/>
              <a:pPr/>
              <a:t>14</a:t>
            </a:fld>
            <a:endParaRPr lang="sk-SK" sz="1400"/>
          </a:p>
        </p:txBody>
      </p:sp>
      <p:sp>
        <p:nvSpPr>
          <p:cNvPr id="19459" name="Rectangle 2"/>
          <p:cNvSpPr>
            <a:spLocks noGrp="1" noChangeArrowheads="1"/>
          </p:cNvSpPr>
          <p:nvPr>
            <p:ph type="title"/>
          </p:nvPr>
        </p:nvSpPr>
        <p:spPr/>
        <p:txBody>
          <a:bodyPr/>
          <a:lstStyle/>
          <a:p>
            <a:r>
              <a:rPr lang="sk-SK"/>
              <a:t>Adresár</a:t>
            </a:r>
          </a:p>
        </p:txBody>
      </p:sp>
      <p:sp>
        <p:nvSpPr>
          <p:cNvPr id="19460" name="Rectangle 3"/>
          <p:cNvSpPr>
            <a:spLocks noGrp="1" noChangeArrowheads="1"/>
          </p:cNvSpPr>
          <p:nvPr>
            <p:ph type="body" idx="1"/>
          </p:nvPr>
        </p:nvSpPr>
        <p:spPr/>
        <p:txBody>
          <a:bodyPr/>
          <a:lstStyle/>
          <a:p>
            <a:r>
              <a:rPr lang="sk-SK"/>
              <a:t>nástroj na určenie prístupovej cesty k popisu súboru</a:t>
            </a:r>
          </a:p>
          <a:p>
            <a:r>
              <a:rPr lang="sk-SK"/>
              <a:t>realizácia formou tabuľky</a:t>
            </a:r>
          </a:p>
          <a:p>
            <a:r>
              <a:rPr lang="sk-SK"/>
              <a:t>hierarchická štruktúra adresárov (adresár uložený ako súbor)</a:t>
            </a:r>
          </a:p>
          <a:p>
            <a:pPr lvl="1"/>
            <a:r>
              <a:rPr lang="sk-SK"/>
              <a:t>triedená tabuľka (rýchle binárne hľadanie)</a:t>
            </a:r>
          </a:p>
          <a:p>
            <a:pPr lvl="1"/>
            <a:r>
              <a:rPr lang="sk-SK"/>
              <a:t>netriedená tabuľka (vždy sa prehľadáva celý adresár)</a:t>
            </a:r>
          </a:p>
        </p:txBody>
      </p:sp>
    </p:spTree>
    <p:extLst>
      <p:ext uri="{BB962C8B-B14F-4D97-AF65-F5344CB8AC3E}">
        <p14:creationId xmlns:p14="http://schemas.microsoft.com/office/powerpoint/2010/main" val="3761055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C820B83-3CA6-4E85-8C1E-CF45E7AF4491}" type="slidenum">
              <a:rPr lang="sk-SK" sz="1400"/>
              <a:pPr/>
              <a:t>15</a:t>
            </a:fld>
            <a:endParaRPr lang="sk-SK" sz="1400"/>
          </a:p>
        </p:txBody>
      </p:sp>
      <p:sp>
        <p:nvSpPr>
          <p:cNvPr id="20483" name="Rectangle 2"/>
          <p:cNvSpPr>
            <a:spLocks noGrp="1" noChangeArrowheads="1"/>
          </p:cNvSpPr>
          <p:nvPr>
            <p:ph type="title"/>
          </p:nvPr>
        </p:nvSpPr>
        <p:spPr/>
        <p:txBody>
          <a:bodyPr/>
          <a:lstStyle/>
          <a:p>
            <a:r>
              <a:rPr lang="sk-SK"/>
              <a:t>Jednoúrovňový adresár</a:t>
            </a:r>
          </a:p>
        </p:txBody>
      </p:sp>
      <p:sp>
        <p:nvSpPr>
          <p:cNvPr id="20484" name="Rectangle 3"/>
          <p:cNvSpPr>
            <a:spLocks noGrp="1" noChangeArrowheads="1"/>
          </p:cNvSpPr>
          <p:nvPr>
            <p:ph type="body" idx="1"/>
          </p:nvPr>
        </p:nvSpPr>
        <p:spPr/>
        <p:txBody>
          <a:bodyPr/>
          <a:lstStyle/>
          <a:p>
            <a:pPr lvl="1"/>
            <a:r>
              <a:rPr lang="sk-SK"/>
              <a:t>vytvorený rozptýlene na viacerých zväzkoch</a:t>
            </a:r>
          </a:p>
          <a:p>
            <a:pPr lvl="1"/>
            <a:r>
              <a:rPr lang="sk-SK"/>
              <a:t>vo viacpoužívateľskom OS zabezpečí jedinečné meno v celom systéme</a:t>
            </a:r>
          </a:p>
        </p:txBody>
      </p:sp>
      <p:pic>
        <p:nvPicPr>
          <p:cNvPr id="2048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52800" y="2590800"/>
            <a:ext cx="5265738"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8360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DAC9A4E-4821-43E6-B64C-5AF5CE9325FE}" type="slidenum">
              <a:rPr lang="sk-SK" sz="1400"/>
              <a:pPr/>
              <a:t>16</a:t>
            </a:fld>
            <a:endParaRPr lang="sk-SK" sz="1400"/>
          </a:p>
        </p:txBody>
      </p:sp>
      <p:sp>
        <p:nvSpPr>
          <p:cNvPr id="21507" name="Rectangle 2"/>
          <p:cNvSpPr>
            <a:spLocks noGrp="1" noChangeArrowheads="1"/>
          </p:cNvSpPr>
          <p:nvPr>
            <p:ph type="title"/>
          </p:nvPr>
        </p:nvSpPr>
        <p:spPr/>
        <p:txBody>
          <a:bodyPr/>
          <a:lstStyle/>
          <a:p>
            <a:r>
              <a:rPr lang="sk-SK"/>
              <a:t>Dvojúrovňový adresár</a:t>
            </a:r>
          </a:p>
        </p:txBody>
      </p:sp>
      <p:sp>
        <p:nvSpPr>
          <p:cNvPr id="21508" name="Rectangle 3"/>
          <p:cNvSpPr>
            <a:spLocks noGrp="1" noChangeArrowheads="1"/>
          </p:cNvSpPr>
          <p:nvPr>
            <p:ph type="body" idx="1"/>
          </p:nvPr>
        </p:nvSpPr>
        <p:spPr/>
        <p:txBody>
          <a:bodyPr/>
          <a:lstStyle/>
          <a:p>
            <a:r>
              <a:rPr lang="sk-SK"/>
              <a:t>hlavný adresár - ovládaný systémom správy súborov</a:t>
            </a:r>
          </a:p>
          <a:p>
            <a:r>
              <a:rPr lang="sk-SK"/>
              <a:t>používateľské adresáre</a:t>
            </a:r>
          </a:p>
          <a:p>
            <a:pPr lvl="1"/>
            <a:r>
              <a:rPr lang="sk-SK"/>
              <a:t>používateľ nemá prístup k hlavnému adresáru</a:t>
            </a:r>
          </a:p>
          <a:p>
            <a:pPr lvl="1"/>
            <a:r>
              <a:rPr lang="sk-SK"/>
              <a:t>absolútne oddelenie priestoru mien súborov</a:t>
            </a:r>
          </a:p>
          <a:p>
            <a:pPr lvl="1"/>
            <a:r>
              <a:rPr lang="sk-SK"/>
              <a:t>systémové súbory v adresári „systém“</a:t>
            </a:r>
          </a:p>
          <a:p>
            <a:r>
              <a:rPr lang="sk-SK"/>
              <a:t>register pracovného adresára</a:t>
            </a:r>
          </a:p>
          <a:p>
            <a:pPr lvl="1"/>
            <a:r>
              <a:rPr lang="sk-SK"/>
              <a:t>priradzovaný každému procesu</a:t>
            </a:r>
          </a:p>
          <a:p>
            <a:pPr lvl="1"/>
            <a:r>
              <a:rPr lang="sk-SK"/>
              <a:t>odkaz na používateľský adresár</a:t>
            </a:r>
          </a:p>
          <a:p>
            <a:pPr lvl="1"/>
            <a:r>
              <a:rPr lang="sk-SK"/>
              <a:t>systém mení obsah registra</a:t>
            </a:r>
          </a:p>
        </p:txBody>
      </p:sp>
    </p:spTree>
    <p:extLst>
      <p:ext uri="{BB962C8B-B14F-4D97-AF65-F5344CB8AC3E}">
        <p14:creationId xmlns:p14="http://schemas.microsoft.com/office/powerpoint/2010/main" val="848349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6283C86-5806-40BB-991E-460F6AFA73B5}" type="slidenum">
              <a:rPr lang="sk-SK" sz="1400"/>
              <a:pPr/>
              <a:t>17</a:t>
            </a:fld>
            <a:endParaRPr lang="sk-SK" sz="1400"/>
          </a:p>
        </p:txBody>
      </p:sp>
      <p:sp>
        <p:nvSpPr>
          <p:cNvPr id="22531" name="Rectangle 2"/>
          <p:cNvSpPr>
            <a:spLocks noGrp="1" noChangeArrowheads="1"/>
          </p:cNvSpPr>
          <p:nvPr>
            <p:ph type="title"/>
          </p:nvPr>
        </p:nvSpPr>
        <p:spPr/>
        <p:txBody>
          <a:bodyPr/>
          <a:lstStyle/>
          <a:p>
            <a:r>
              <a:rPr lang="sk-SK"/>
              <a:t>Dvojúrovňový adresár II.</a:t>
            </a:r>
          </a:p>
        </p:txBody>
      </p:sp>
      <p:sp>
        <p:nvSpPr>
          <p:cNvPr id="22532" name="Rectangle 3"/>
          <p:cNvSpPr>
            <a:spLocks noGrp="1" noChangeArrowheads="1"/>
          </p:cNvSpPr>
          <p:nvPr>
            <p:ph type="body" idx="1"/>
          </p:nvPr>
        </p:nvSpPr>
        <p:spPr/>
        <p:txBody>
          <a:bodyPr/>
          <a:lstStyle/>
          <a:p>
            <a:r>
              <a:rPr lang="sk-SK"/>
              <a:t>Meno súboru sa hľadá tam, kde práve ukazuje register</a:t>
            </a:r>
          </a:p>
          <a:p>
            <a:r>
              <a:rPr lang="sk-SK"/>
              <a:t>úplná identifikácia súboru - meno adresára používateľa + meno súboru</a:t>
            </a:r>
          </a:p>
          <a:p>
            <a:r>
              <a:rPr lang="sk-SK"/>
              <a:t>ochrana prístupových práv realizovaná pri zmene pracovného adresára</a:t>
            </a:r>
          </a:p>
        </p:txBody>
      </p:sp>
    </p:spTree>
    <p:extLst>
      <p:ext uri="{BB962C8B-B14F-4D97-AF65-F5344CB8AC3E}">
        <p14:creationId xmlns:p14="http://schemas.microsoft.com/office/powerpoint/2010/main" val="6591303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8DA765A-E783-4254-8B99-92023EB4CE5D}" type="slidenum">
              <a:rPr lang="sk-SK" sz="1400"/>
              <a:pPr/>
              <a:t>18</a:t>
            </a:fld>
            <a:endParaRPr lang="sk-SK" sz="1400"/>
          </a:p>
        </p:txBody>
      </p:sp>
      <p:sp>
        <p:nvSpPr>
          <p:cNvPr id="23555" name="Rectangle 2"/>
          <p:cNvSpPr>
            <a:spLocks noGrp="1" noChangeArrowheads="1"/>
          </p:cNvSpPr>
          <p:nvPr>
            <p:ph type="title"/>
          </p:nvPr>
        </p:nvSpPr>
        <p:spPr/>
        <p:txBody>
          <a:bodyPr/>
          <a:lstStyle/>
          <a:p>
            <a:r>
              <a:rPr lang="sk-SK"/>
              <a:t>Dvojúrovňový adresár III.</a:t>
            </a:r>
          </a:p>
        </p:txBody>
      </p:sp>
      <p:pic>
        <p:nvPicPr>
          <p:cNvPr id="23556"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4176" y="1379537"/>
            <a:ext cx="5451475" cy="547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0809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CB61E19-B44E-4B6C-95FB-5AEFE9529CB5}" type="slidenum">
              <a:rPr lang="sk-SK" sz="1400"/>
              <a:pPr/>
              <a:t>19</a:t>
            </a:fld>
            <a:endParaRPr lang="sk-SK" sz="1400"/>
          </a:p>
        </p:txBody>
      </p:sp>
      <p:sp>
        <p:nvSpPr>
          <p:cNvPr id="24579" name="Rectangle 2"/>
          <p:cNvSpPr>
            <a:spLocks noGrp="1" noChangeArrowheads="1"/>
          </p:cNvSpPr>
          <p:nvPr>
            <p:ph type="title"/>
          </p:nvPr>
        </p:nvSpPr>
        <p:spPr/>
        <p:txBody>
          <a:bodyPr/>
          <a:lstStyle/>
          <a:p>
            <a:r>
              <a:rPr lang="sk-SK"/>
              <a:t>Stromová štruktúra adresárov</a:t>
            </a:r>
          </a:p>
        </p:txBody>
      </p:sp>
      <p:sp>
        <p:nvSpPr>
          <p:cNvPr id="24580" name="Rectangle 3"/>
          <p:cNvSpPr>
            <a:spLocks noGrp="1" noChangeArrowheads="1"/>
          </p:cNvSpPr>
          <p:nvPr>
            <p:ph type="body" idx="1"/>
          </p:nvPr>
        </p:nvSpPr>
        <p:spPr/>
        <p:txBody>
          <a:bodyPr/>
          <a:lstStyle/>
          <a:p>
            <a:r>
              <a:rPr lang="sk-SK"/>
              <a:t>rozšírenie 2-úrovňového modelu</a:t>
            </a:r>
          </a:p>
          <a:p>
            <a:pPr lvl="1"/>
            <a:r>
              <a:rPr lang="sk-SK"/>
              <a:t>používatelia môžu ďalej vytvárať podadresáre</a:t>
            </a:r>
          </a:p>
          <a:p>
            <a:r>
              <a:rPr lang="sk-SK"/>
              <a:t>pracovný adresár vytvára prefix k prístupovej ceste súboru</a:t>
            </a:r>
          </a:p>
          <a:p>
            <a:pPr lvl="1"/>
            <a:r>
              <a:rPr lang="sk-SK"/>
              <a:t>úplná X skrátená cesta - adresácia</a:t>
            </a:r>
          </a:p>
          <a:p>
            <a:r>
              <a:rPr lang="sk-SK"/>
              <a:t>problémy pri rušení adresárov (musí byť prázdny, alebo sa ruší aj všetko v ňom)</a:t>
            </a:r>
          </a:p>
        </p:txBody>
      </p:sp>
    </p:spTree>
    <p:extLst>
      <p:ext uri="{BB962C8B-B14F-4D97-AF65-F5344CB8AC3E}">
        <p14:creationId xmlns:p14="http://schemas.microsoft.com/office/powerpoint/2010/main" val="4328581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B7250B4-5946-489E-AAC7-30D8B2C2BFEA}" type="slidenum">
              <a:rPr lang="sk-SK" sz="1400"/>
              <a:pPr/>
              <a:t>20</a:t>
            </a:fld>
            <a:endParaRPr lang="sk-SK" sz="1400"/>
          </a:p>
        </p:txBody>
      </p:sp>
      <p:sp>
        <p:nvSpPr>
          <p:cNvPr id="25603" name="Rectangle 2"/>
          <p:cNvSpPr>
            <a:spLocks noGrp="1" noChangeArrowheads="1"/>
          </p:cNvSpPr>
          <p:nvPr>
            <p:ph type="title"/>
          </p:nvPr>
        </p:nvSpPr>
        <p:spPr/>
        <p:txBody>
          <a:bodyPr/>
          <a:lstStyle/>
          <a:p>
            <a:r>
              <a:rPr lang="sk-SK"/>
              <a:t>Stromová štruktúra adresárov II.</a:t>
            </a:r>
          </a:p>
        </p:txBody>
      </p:sp>
      <p:pic>
        <p:nvPicPr>
          <p:cNvPr id="25604"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76826" y="1273176"/>
            <a:ext cx="3886199" cy="529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99362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BCB117C-874E-452C-82BF-2C3C33A57905}" type="slidenum">
              <a:rPr lang="sk-SK" sz="1400"/>
              <a:pPr/>
              <a:t>21</a:t>
            </a:fld>
            <a:endParaRPr lang="sk-SK" sz="1400"/>
          </a:p>
        </p:txBody>
      </p:sp>
      <p:sp>
        <p:nvSpPr>
          <p:cNvPr id="26627" name="Rectangle 2"/>
          <p:cNvSpPr>
            <a:spLocks noGrp="1" noChangeArrowheads="1"/>
          </p:cNvSpPr>
          <p:nvPr>
            <p:ph type="title"/>
          </p:nvPr>
        </p:nvSpPr>
        <p:spPr/>
        <p:txBody>
          <a:bodyPr/>
          <a:lstStyle/>
          <a:p>
            <a:r>
              <a:rPr lang="sk-SK"/>
              <a:t>Acyklická štruktúra adresárov</a:t>
            </a:r>
          </a:p>
        </p:txBody>
      </p:sp>
      <p:sp>
        <p:nvSpPr>
          <p:cNvPr id="26628" name="Rectangle 3"/>
          <p:cNvSpPr>
            <a:spLocks noGrp="1" noChangeArrowheads="1"/>
          </p:cNvSpPr>
          <p:nvPr>
            <p:ph type="body" idx="1"/>
          </p:nvPr>
        </p:nvSpPr>
        <p:spPr/>
        <p:txBody>
          <a:bodyPr/>
          <a:lstStyle/>
          <a:p>
            <a:r>
              <a:rPr lang="sk-SK"/>
              <a:t>zobecnená stromová štruktúra</a:t>
            </a:r>
          </a:p>
          <a:p>
            <a:r>
              <a:rPr lang="sk-SK"/>
              <a:t>k jednému súboru viacero ciest</a:t>
            </a:r>
          </a:p>
          <a:p>
            <a:r>
              <a:rPr lang="sk-SK"/>
              <a:t>problémy s archivovaním, tvorbou zoznamov súborov</a:t>
            </a:r>
          </a:p>
          <a:p>
            <a:r>
              <a:rPr lang="sk-SK"/>
              <a:t>problémy s konzistenciou</a:t>
            </a:r>
          </a:p>
          <a:p>
            <a:r>
              <a:rPr lang="sk-SK"/>
              <a:t>použitie techník nepriamych odkazov</a:t>
            </a:r>
          </a:p>
          <a:p>
            <a:r>
              <a:rPr lang="sk-SK"/>
              <a:t>stratené súbory alebo adresáre</a:t>
            </a:r>
          </a:p>
        </p:txBody>
      </p:sp>
    </p:spTree>
    <p:extLst>
      <p:ext uri="{BB962C8B-B14F-4D97-AF65-F5344CB8AC3E}">
        <p14:creationId xmlns:p14="http://schemas.microsoft.com/office/powerpoint/2010/main" val="102560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9468753-7570-453B-AD49-58F5CA47FA75}" type="slidenum">
              <a:rPr lang="sk-SK" sz="1400"/>
              <a:pPr/>
              <a:t>22</a:t>
            </a:fld>
            <a:endParaRPr lang="sk-SK" sz="1400"/>
          </a:p>
        </p:txBody>
      </p:sp>
      <p:sp>
        <p:nvSpPr>
          <p:cNvPr id="27651" name="Rectangle 2"/>
          <p:cNvSpPr>
            <a:spLocks noGrp="1" noChangeArrowheads="1"/>
          </p:cNvSpPr>
          <p:nvPr>
            <p:ph type="title"/>
          </p:nvPr>
        </p:nvSpPr>
        <p:spPr/>
        <p:txBody>
          <a:bodyPr/>
          <a:lstStyle/>
          <a:p>
            <a:r>
              <a:rPr lang="sk-SK"/>
              <a:t>Acyklická štruktúra adresárov II.</a:t>
            </a:r>
          </a:p>
        </p:txBody>
      </p:sp>
      <p:pic>
        <p:nvPicPr>
          <p:cNvPr id="2765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46425" y="1189038"/>
            <a:ext cx="5006975" cy="566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4136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4607320D-0963-44AE-B641-F7F63E7C5E34}" type="slidenum">
              <a:rPr lang="sk-SK" sz="1400"/>
              <a:pPr/>
              <a:t>23</a:t>
            </a:fld>
            <a:endParaRPr lang="sk-SK" sz="1400"/>
          </a:p>
        </p:txBody>
      </p:sp>
      <p:sp>
        <p:nvSpPr>
          <p:cNvPr id="28675" name="Rectangle 2"/>
          <p:cNvSpPr>
            <a:spLocks noGrp="1" noChangeArrowheads="1"/>
          </p:cNvSpPr>
          <p:nvPr>
            <p:ph type="title"/>
          </p:nvPr>
        </p:nvSpPr>
        <p:spPr/>
        <p:txBody>
          <a:bodyPr/>
          <a:lstStyle/>
          <a:p>
            <a:r>
              <a:rPr lang="sk-SK"/>
              <a:t>Cyklická štruktúra adresárov</a:t>
            </a:r>
          </a:p>
        </p:txBody>
      </p:sp>
      <p:sp>
        <p:nvSpPr>
          <p:cNvPr id="28676" name="Rectangle 3"/>
          <p:cNvSpPr>
            <a:spLocks noGrp="1" noChangeArrowheads="1"/>
          </p:cNvSpPr>
          <p:nvPr>
            <p:ph type="body" idx="1"/>
          </p:nvPr>
        </p:nvSpPr>
        <p:spPr>
          <a:xfrm>
            <a:off x="2362200" y="1295400"/>
            <a:ext cx="3733800" cy="5181600"/>
          </a:xfrm>
        </p:spPr>
        <p:txBody>
          <a:bodyPr/>
          <a:lstStyle/>
          <a:p>
            <a:r>
              <a:rPr lang="sk-SK"/>
              <a:t>ukázať na prístup cez linku</a:t>
            </a:r>
          </a:p>
          <a:p>
            <a:pPr lvl="1"/>
            <a:r>
              <a:rPr lang="sk-SK"/>
              <a:t>pracovný adresár 2 priame adresovanie súboru cos</a:t>
            </a:r>
          </a:p>
          <a:p>
            <a:pPr lvl="1"/>
            <a:r>
              <a:rPr lang="sk-SK"/>
              <a:t>c/q adresovanie súboru v adresári 1</a:t>
            </a:r>
          </a:p>
          <a:p>
            <a:r>
              <a:rPr lang="sk-SK"/>
              <a:t>používateľov pracovný adresár môže obsahovať odkaz na ľubovoľný iný adresár</a:t>
            </a:r>
          </a:p>
        </p:txBody>
      </p:sp>
      <p:pic>
        <p:nvPicPr>
          <p:cNvPr id="28677"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16664" y="1143001"/>
            <a:ext cx="4351337"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936309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E8C25609-18D1-49B1-9DD4-5CF4CE990ECE}" type="slidenum">
              <a:rPr lang="sk-SK" sz="1400"/>
              <a:pPr/>
              <a:t>24</a:t>
            </a:fld>
            <a:endParaRPr lang="sk-SK" sz="1400"/>
          </a:p>
        </p:txBody>
      </p:sp>
      <p:sp>
        <p:nvSpPr>
          <p:cNvPr id="29699" name="Rectangle 2"/>
          <p:cNvSpPr>
            <a:spLocks noGrp="1" noChangeArrowheads="1"/>
          </p:cNvSpPr>
          <p:nvPr>
            <p:ph type="title"/>
          </p:nvPr>
        </p:nvSpPr>
        <p:spPr/>
        <p:txBody>
          <a:bodyPr/>
          <a:lstStyle/>
          <a:p>
            <a:r>
              <a:rPr lang="sk-SK"/>
              <a:t>Operácie so súbormi</a:t>
            </a:r>
          </a:p>
        </p:txBody>
      </p:sp>
      <p:sp>
        <p:nvSpPr>
          <p:cNvPr id="29700" name="Rectangle 3"/>
          <p:cNvSpPr>
            <a:spLocks noGrp="1" noChangeArrowheads="1"/>
          </p:cNvSpPr>
          <p:nvPr>
            <p:ph type="body" idx="1"/>
          </p:nvPr>
        </p:nvSpPr>
        <p:spPr/>
        <p:txBody>
          <a:bodyPr>
            <a:normAutofit lnSpcReduction="10000"/>
          </a:bodyPr>
          <a:lstStyle/>
          <a:p>
            <a:r>
              <a:rPr lang="sk-SK"/>
              <a:t>vytvorenie, rušenie, čítanie, zápis, premenovanie - systém ovládania súborov</a:t>
            </a:r>
          </a:p>
          <a:p>
            <a:r>
              <a:rPr lang="sk-SK"/>
              <a:t>pre efektívnu prácu so súborom - načítanie vnútornej identifikácie súboru</a:t>
            </a:r>
          </a:p>
          <a:p>
            <a:pPr lvl="1"/>
            <a:r>
              <a:rPr lang="sk-SK"/>
              <a:t>funkcia OPEN</a:t>
            </a:r>
          </a:p>
          <a:p>
            <a:pPr lvl="2"/>
            <a:r>
              <a:rPr lang="sk-SK"/>
              <a:t>príprava vyrovnávacích pamätí</a:t>
            </a:r>
          </a:p>
          <a:p>
            <a:pPr lvl="2"/>
            <a:r>
              <a:rPr lang="sk-SK"/>
              <a:t>overenie prístupových práv</a:t>
            </a:r>
          </a:p>
          <a:p>
            <a:pPr lvl="2"/>
            <a:r>
              <a:rPr lang="sk-SK"/>
              <a:t>uzamykanie súboru</a:t>
            </a:r>
          </a:p>
          <a:p>
            <a:pPr lvl="2"/>
            <a:r>
              <a:rPr lang="sk-SK"/>
              <a:t>žiadosti o rezervovanie</a:t>
            </a:r>
          </a:p>
          <a:p>
            <a:pPr lvl="1"/>
            <a:r>
              <a:rPr lang="sk-SK"/>
              <a:t>funkcia CLOSE</a:t>
            </a:r>
          </a:p>
          <a:p>
            <a:pPr lvl="2"/>
            <a:r>
              <a:rPr lang="sk-SK"/>
              <a:t>ruší vnútornú identifikáciu súboru</a:t>
            </a:r>
          </a:p>
          <a:p>
            <a:pPr lvl="2"/>
            <a:r>
              <a:rPr lang="sk-SK"/>
              <a:t>nastaví atribúty súboru v adresári</a:t>
            </a:r>
          </a:p>
        </p:txBody>
      </p:sp>
    </p:spTree>
    <p:extLst>
      <p:ext uri="{BB962C8B-B14F-4D97-AF65-F5344CB8AC3E}">
        <p14:creationId xmlns:p14="http://schemas.microsoft.com/office/powerpoint/2010/main" val="2654052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BBB12C4-3F18-4900-A793-8BBE98DF2284}" type="slidenum">
              <a:rPr lang="sk-SK" sz="1400"/>
              <a:pPr/>
              <a:t>25</a:t>
            </a:fld>
            <a:endParaRPr lang="sk-SK" sz="1400"/>
          </a:p>
        </p:txBody>
      </p:sp>
      <p:sp>
        <p:nvSpPr>
          <p:cNvPr id="30723" name="Rectangle 2"/>
          <p:cNvSpPr>
            <a:spLocks noGrp="1" noChangeArrowheads="1"/>
          </p:cNvSpPr>
          <p:nvPr>
            <p:ph type="title"/>
          </p:nvPr>
        </p:nvSpPr>
        <p:spPr/>
        <p:txBody>
          <a:bodyPr/>
          <a:lstStyle/>
          <a:p>
            <a:r>
              <a:rPr lang="sk-SK"/>
              <a:t>Operácie so súbormi II.</a:t>
            </a:r>
          </a:p>
        </p:txBody>
      </p:sp>
      <p:sp>
        <p:nvSpPr>
          <p:cNvPr id="30724" name="Rectangle 3"/>
          <p:cNvSpPr>
            <a:spLocks noGrp="1" noChangeArrowheads="1"/>
          </p:cNvSpPr>
          <p:nvPr>
            <p:ph type="body" idx="1"/>
          </p:nvPr>
        </p:nvSpPr>
        <p:spPr>
          <a:xfrm>
            <a:off x="2362200" y="1295400"/>
            <a:ext cx="3962400" cy="5257800"/>
          </a:xfrm>
        </p:spPr>
        <p:txBody>
          <a:bodyPr/>
          <a:lstStyle/>
          <a:p>
            <a:r>
              <a:rPr lang="sk-SK"/>
              <a:t>OS môže sprístupniť napr. funkcie READ a WRITE blokov (ovládače PZ)</a:t>
            </a:r>
          </a:p>
          <a:p>
            <a:r>
              <a:rPr lang="sk-SK"/>
              <a:t>READ číta do VP, odkiaľ berie záznamy funkcia GET</a:t>
            </a:r>
          </a:p>
        </p:txBody>
      </p:sp>
      <p:pic>
        <p:nvPicPr>
          <p:cNvPr id="30725" name="Picture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8064" y="1676401"/>
            <a:ext cx="4579937"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2692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01D3954B-4D4A-4838-859D-A2F724289B95}" type="slidenum">
              <a:rPr lang="sk-SK" sz="1400"/>
              <a:pPr/>
              <a:t>26</a:t>
            </a:fld>
            <a:endParaRPr lang="sk-SK" sz="1400"/>
          </a:p>
        </p:txBody>
      </p:sp>
      <p:sp>
        <p:nvSpPr>
          <p:cNvPr id="31747" name="Rectangle 2"/>
          <p:cNvSpPr>
            <a:spLocks noGrp="1" noChangeArrowheads="1"/>
          </p:cNvSpPr>
          <p:nvPr>
            <p:ph type="title"/>
          </p:nvPr>
        </p:nvSpPr>
        <p:spPr/>
        <p:txBody>
          <a:bodyPr/>
          <a:lstStyle/>
          <a:p>
            <a:r>
              <a:rPr lang="sk-SK"/>
              <a:t>Prístupové metódy k záznamom súborov</a:t>
            </a:r>
          </a:p>
        </p:txBody>
      </p:sp>
      <p:sp>
        <p:nvSpPr>
          <p:cNvPr id="31748" name="Rectangle 3"/>
          <p:cNvSpPr>
            <a:spLocks noGrp="1" noChangeArrowheads="1"/>
          </p:cNvSpPr>
          <p:nvPr>
            <p:ph type="body" idx="1"/>
          </p:nvPr>
        </p:nvSpPr>
        <p:spPr/>
        <p:txBody>
          <a:bodyPr/>
          <a:lstStyle/>
          <a:p>
            <a:r>
              <a:rPr lang="sk-SK"/>
              <a:t>prístupová metóda</a:t>
            </a:r>
          </a:p>
          <a:p>
            <a:pPr lvl="1"/>
            <a:r>
              <a:rPr lang="sk-SK"/>
              <a:t>ako po zadaní miesta v súbore získame príslušné dáta</a:t>
            </a:r>
          </a:p>
          <a:p>
            <a:pPr lvl="1"/>
            <a:r>
              <a:rPr lang="sk-SK"/>
              <a:t>sekvenčné a priame</a:t>
            </a:r>
          </a:p>
          <a:p>
            <a:r>
              <a:rPr lang="sk-SK"/>
              <a:t>sekvenčný prístup</a:t>
            </a:r>
          </a:p>
          <a:p>
            <a:pPr lvl="1"/>
            <a:r>
              <a:rPr lang="sk-SK"/>
              <a:t>postupnosť záznamov - PUT a GET sprístupňujú len podľa danej postupnosti</a:t>
            </a:r>
          </a:p>
          <a:p>
            <a:r>
              <a:rPr lang="sk-SK"/>
              <a:t>priamy prístup</a:t>
            </a:r>
          </a:p>
          <a:p>
            <a:pPr lvl="1"/>
            <a:r>
              <a:rPr lang="sk-SK"/>
              <a:t>na základe zvoleného funkčného vzťahu z vybranej položky záznamu</a:t>
            </a:r>
          </a:p>
          <a:p>
            <a:r>
              <a:rPr lang="sk-SK"/>
              <a:t>index - sekvenčná prístupová metóda (pri DB)</a:t>
            </a:r>
          </a:p>
        </p:txBody>
      </p:sp>
    </p:spTree>
    <p:extLst>
      <p:ext uri="{BB962C8B-B14F-4D97-AF65-F5344CB8AC3E}">
        <p14:creationId xmlns:p14="http://schemas.microsoft.com/office/powerpoint/2010/main" val="1944328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93C5E78-77D6-4F3F-92D5-925F0B3D1AA5}" type="slidenum">
              <a:rPr lang="sk-SK" sz="1400"/>
              <a:pPr/>
              <a:t>27</a:t>
            </a:fld>
            <a:endParaRPr lang="sk-SK" sz="1400"/>
          </a:p>
        </p:txBody>
      </p:sp>
      <p:sp>
        <p:nvSpPr>
          <p:cNvPr id="32771" name="Rectangle 2"/>
          <p:cNvSpPr>
            <a:spLocks noGrp="1" noChangeArrowheads="1"/>
          </p:cNvSpPr>
          <p:nvPr>
            <p:ph type="title"/>
          </p:nvPr>
        </p:nvSpPr>
        <p:spPr/>
        <p:txBody>
          <a:bodyPr/>
          <a:lstStyle/>
          <a:p>
            <a:r>
              <a:rPr lang="sk-SK"/>
              <a:t>Sekvenčný prístup</a:t>
            </a:r>
          </a:p>
        </p:txBody>
      </p:sp>
      <p:sp>
        <p:nvSpPr>
          <p:cNvPr id="32772" name="Rectangle 3"/>
          <p:cNvSpPr>
            <a:spLocks noGrp="1" noChangeArrowheads="1"/>
          </p:cNvSpPr>
          <p:nvPr>
            <p:ph type="body" idx="1"/>
          </p:nvPr>
        </p:nvSpPr>
        <p:spPr/>
        <p:txBody>
          <a:bodyPr/>
          <a:lstStyle/>
          <a:p>
            <a:r>
              <a:rPr lang="sk-SK"/>
              <a:t>PUT a GET zjednodušené - stačí zadať vnútornú identifikáciu súboru</a:t>
            </a:r>
          </a:p>
          <a:p>
            <a:r>
              <a:rPr lang="sk-SK"/>
              <a:t>systém ovládania súborov zabezpečuje preskoky o „n“ záznamov vpred i späť</a:t>
            </a:r>
          </a:p>
          <a:p>
            <a:pPr lvl="2">
              <a:buFontTx/>
              <a:buNone/>
            </a:pPr>
            <a:r>
              <a:rPr lang="sk-SK" b="1"/>
              <a:t>open(cesta, rezervácia) {return (vnútorné meno)}</a:t>
            </a:r>
          </a:p>
          <a:p>
            <a:pPr lvl="2">
              <a:buFontTx/>
              <a:buNone/>
            </a:pPr>
            <a:r>
              <a:rPr lang="sk-SK" b="1"/>
              <a:t>close(vnútorné meno);</a:t>
            </a:r>
          </a:p>
          <a:p>
            <a:pPr lvl="2">
              <a:buFontTx/>
              <a:buNone/>
            </a:pPr>
            <a:r>
              <a:rPr lang="sk-SK" b="1"/>
              <a:t>put(typ_záznamu, vnútorná_identifikácia);</a:t>
            </a:r>
          </a:p>
          <a:p>
            <a:pPr lvl="2">
              <a:buFontTx/>
              <a:buNone/>
            </a:pPr>
            <a:r>
              <a:rPr lang="sk-SK" b="1"/>
              <a:t>get(vnútorná_identifikácia, typ_záznamu);</a:t>
            </a:r>
          </a:p>
          <a:p>
            <a:pPr lvl="2">
              <a:buFontTx/>
              <a:buNone/>
            </a:pPr>
            <a:r>
              <a:rPr lang="sk-SK" b="1"/>
              <a:t>skip (vnútorná_identifikácia, počet, smer);</a:t>
            </a:r>
          </a:p>
          <a:p>
            <a:pPr lvl="2">
              <a:buFontTx/>
              <a:buNone/>
            </a:pPr>
            <a:r>
              <a:rPr lang="sk-SK" b="1"/>
              <a:t>rewind(vnútorná_identifikácia);</a:t>
            </a:r>
          </a:p>
        </p:txBody>
      </p:sp>
    </p:spTree>
    <p:extLst>
      <p:ext uri="{BB962C8B-B14F-4D97-AF65-F5344CB8AC3E}">
        <p14:creationId xmlns:p14="http://schemas.microsoft.com/office/powerpoint/2010/main" val="687105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Zástupný symbol čísla snímky 5"/>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347D4C3-E327-4DB9-AA6B-7A764FCCA2F2}" type="slidenum">
              <a:rPr lang="sk-SK" sz="1400"/>
              <a:pPr/>
              <a:t>28</a:t>
            </a:fld>
            <a:endParaRPr lang="sk-SK" sz="1400"/>
          </a:p>
        </p:txBody>
      </p:sp>
      <p:sp>
        <p:nvSpPr>
          <p:cNvPr id="33795" name="Rectangle 2"/>
          <p:cNvSpPr>
            <a:spLocks noGrp="1" noChangeArrowheads="1"/>
          </p:cNvSpPr>
          <p:nvPr>
            <p:ph type="title"/>
          </p:nvPr>
        </p:nvSpPr>
        <p:spPr/>
        <p:txBody>
          <a:bodyPr/>
          <a:lstStyle/>
          <a:p>
            <a:r>
              <a:rPr lang="sk-SK"/>
              <a:t>Priamy prístup</a:t>
            </a:r>
          </a:p>
        </p:txBody>
      </p:sp>
      <p:sp>
        <p:nvSpPr>
          <p:cNvPr id="33796" name="Rectangle 3"/>
          <p:cNvSpPr>
            <a:spLocks noGrp="1" noChangeArrowheads="1"/>
          </p:cNvSpPr>
          <p:nvPr>
            <p:ph type="body" idx="1"/>
          </p:nvPr>
        </p:nvSpPr>
        <p:spPr/>
        <p:txBody>
          <a:bodyPr/>
          <a:lstStyle/>
          <a:p>
            <a:r>
              <a:rPr lang="sk-SK"/>
              <a:t>predpoklad - organizácia súboru ako postupnosť záznamov</a:t>
            </a:r>
          </a:p>
          <a:p>
            <a:pPr lvl="1"/>
            <a:r>
              <a:rPr lang="sk-SK"/>
              <a:t>možnosť sprístupnenia podľa kľúča</a:t>
            </a:r>
          </a:p>
          <a:p>
            <a:pPr lvl="1">
              <a:buFontTx/>
              <a:buNone/>
            </a:pPr>
            <a:r>
              <a:rPr lang="sk-SK" b="1"/>
              <a:t>put(typ_záznamu, vnútorná_identifikácia, typ_kľúča);</a:t>
            </a:r>
          </a:p>
          <a:p>
            <a:pPr lvl="1">
              <a:buFontTx/>
              <a:buNone/>
            </a:pPr>
            <a:r>
              <a:rPr lang="sk-SK" b="1"/>
              <a:t>put(typ_záznamu, vnútorná_identifikácia, poradie_záznamu);</a:t>
            </a:r>
          </a:p>
          <a:p>
            <a:r>
              <a:rPr lang="sk-SK"/>
              <a:t>index - adresár záznamov pre prístup kľúčom</a:t>
            </a:r>
          </a:p>
          <a:p>
            <a:r>
              <a:rPr lang="sk-SK"/>
              <a:t>invertované súbory - záznam môže byť sprístupnený viacerými kľúčmi</a:t>
            </a:r>
            <a:endParaRPr lang="sk-SK" b="1"/>
          </a:p>
        </p:txBody>
      </p:sp>
    </p:spTree>
    <p:extLst>
      <p:ext uri="{BB962C8B-B14F-4D97-AF65-F5344CB8AC3E}">
        <p14:creationId xmlns:p14="http://schemas.microsoft.com/office/powerpoint/2010/main" val="11747964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sk-SK"/>
              <a:t>Index - sekvenčný prístup</a:t>
            </a:r>
          </a:p>
        </p:txBody>
      </p:sp>
      <p:sp>
        <p:nvSpPr>
          <p:cNvPr id="34820" name="Rectangle 3"/>
          <p:cNvSpPr>
            <a:spLocks noGrp="1" noChangeArrowheads="1"/>
          </p:cNvSpPr>
          <p:nvPr>
            <p:ph type="body" idx="1"/>
          </p:nvPr>
        </p:nvSpPr>
        <p:spPr/>
        <p:txBody>
          <a:bodyPr/>
          <a:lstStyle/>
          <a:p>
            <a:r>
              <a:rPr lang="sk-SK"/>
              <a:t>súbor organizovaný ako postupnosť záznamov usporiadaných podľa kľúča</a:t>
            </a:r>
          </a:p>
          <a:p>
            <a:r>
              <a:rPr lang="sk-SK"/>
              <a:t>index na sprístupnenie záznamov</a:t>
            </a:r>
          </a:p>
          <a:p>
            <a:r>
              <a:rPr lang="sk-SK"/>
              <a:t>viacero indexov - hierarchia (kopíruje hierarchiu média)</a:t>
            </a:r>
          </a:p>
          <a:p>
            <a:pPr lvl="1"/>
            <a:r>
              <a:rPr lang="sk-SK"/>
              <a:t>zväzok - valec - stopa</a:t>
            </a:r>
          </a:p>
          <a:p>
            <a:pPr lvl="1"/>
            <a:r>
              <a:rPr lang="sk-SK"/>
              <a:t>stopa sa prehľadáva sekvenčne</a:t>
            </a:r>
          </a:p>
        </p:txBody>
      </p:sp>
      <p:sp>
        <p:nvSpPr>
          <p:cNvPr id="34818" name="Zástupný symbol čísla snímky 5"/>
          <p:cNvSpPr>
            <a:spLocks noGrp="1"/>
          </p:cNvSpPr>
          <p:nvPr>
            <p:ph type="sldNum" sz="quarter" idx="11"/>
          </p:nvPr>
        </p:nvSpPr>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1F84C76-BCC1-434B-97BE-F6FB734BC298}" type="slidenum">
              <a:rPr lang="sk-SK" smtClean="0"/>
              <a:pPr/>
              <a:t>29</a:t>
            </a:fld>
            <a:endParaRPr lang="sk-SK"/>
          </a:p>
        </p:txBody>
      </p:sp>
    </p:spTree>
    <p:extLst>
      <p:ext uri="{BB962C8B-B14F-4D97-AF65-F5344CB8AC3E}">
        <p14:creationId xmlns:p14="http://schemas.microsoft.com/office/powerpoint/2010/main" val="23896632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normAutofit/>
          </a:bodyPr>
          <a:lstStyle/>
          <a:p>
            <a:r>
              <a:rPr lang="sk-SK" b="1"/>
              <a:t>Index - sekvenčný prístup II.</a:t>
            </a:r>
          </a:p>
        </p:txBody>
      </p:sp>
      <p:sp>
        <p:nvSpPr>
          <p:cNvPr id="35844" name="Rectangle 3"/>
          <p:cNvSpPr>
            <a:spLocks noGrp="1" noChangeArrowheads="1"/>
          </p:cNvSpPr>
          <p:nvPr>
            <p:ph sz="half" idx="1"/>
          </p:nvPr>
        </p:nvSpPr>
        <p:spPr/>
        <p:txBody>
          <a:bodyPr/>
          <a:lstStyle/>
          <a:p>
            <a:pPr lvl="1"/>
            <a:r>
              <a:rPr lang="sk-SK"/>
              <a:t>systém číslovania 0,0,0 - valec, stopa, sektor potom hodnoty kľúčov</a:t>
            </a:r>
          </a:p>
          <a:p>
            <a:pPr lvl="1"/>
            <a:r>
              <a:rPr lang="sk-SK"/>
              <a:t>Virtuálne prístupové metódy</a:t>
            </a:r>
            <a:endParaRPr lang="sk-SK" b="1"/>
          </a:p>
          <a:p>
            <a:endParaRPr lang="sk-SK"/>
          </a:p>
        </p:txBody>
      </p:sp>
      <p:sp>
        <p:nvSpPr>
          <p:cNvPr id="2" name="Content Placeholder 1"/>
          <p:cNvSpPr>
            <a:spLocks noGrp="1"/>
          </p:cNvSpPr>
          <p:nvPr>
            <p:ph sz="half" idx="2"/>
          </p:nvPr>
        </p:nvSpPr>
        <p:spPr/>
        <p:txBody>
          <a:bodyPr/>
          <a:lstStyle/>
          <a:p>
            <a:endParaRPr lang="sk-SK"/>
          </a:p>
        </p:txBody>
      </p:sp>
      <p:sp>
        <p:nvSpPr>
          <p:cNvPr id="35842" name="Zástupný symbol čísla snímky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B6EE16A-8915-466F-9AB1-3AA7F3911B51}" type="slidenum">
              <a:rPr lang="sk-SK" sz="1400"/>
              <a:pPr/>
              <a:t>30</a:t>
            </a:fld>
            <a:endParaRPr lang="sk-SK" sz="1400"/>
          </a:p>
        </p:txBody>
      </p:sp>
      <p:pic>
        <p:nvPicPr>
          <p:cNvPr id="35845"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3385" y="84137"/>
            <a:ext cx="4283075" cy="645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1263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Alokácia súborov - Súvislá alokácia</a:t>
            </a:r>
            <a:br>
              <a:rPr lang="sk-SK"/>
            </a:br>
            <a:endParaRPr lang="sk-SK" dirty="0"/>
          </a:p>
        </p:txBody>
      </p:sp>
      <p:sp>
        <p:nvSpPr>
          <p:cNvPr id="3" name="Content Placeholder 2"/>
          <p:cNvSpPr>
            <a:spLocks noGrp="1"/>
          </p:cNvSpPr>
          <p:nvPr>
            <p:ph idx="1"/>
          </p:nvPr>
        </p:nvSpPr>
        <p:spPr/>
        <p:txBody>
          <a:bodyPr>
            <a:normAutofit lnSpcReduction="10000"/>
          </a:bodyPr>
          <a:lstStyle/>
          <a:p>
            <a:pPr marL="0" indent="0">
              <a:buNone/>
            </a:pPr>
            <a:r>
              <a:rPr lang="sk-SK" dirty="0"/>
              <a:t>Každý súbor je uložený v súvislej oblasti disku, </a:t>
            </a:r>
            <a:r>
              <a:rPr lang="sk-SK" dirty="0" err="1"/>
              <a:t>t.j</a:t>
            </a:r>
            <a:r>
              <a:rPr lang="sk-SK" dirty="0"/>
              <a:t>. fyzické adresy tvoria súvislú postupnosť. </a:t>
            </a:r>
          </a:p>
          <a:p>
            <a:r>
              <a:rPr lang="sk-SK" dirty="0"/>
              <a:t>Výhody: algoritmus priradenia je triviálny, pri sekvenčnom čítaní súboru sa minimalizuje pohyb hlavičky disku ─ rýchlosť!.</a:t>
            </a:r>
          </a:p>
          <a:p>
            <a:r>
              <a:rPr lang="sk-SK" dirty="0"/>
              <a:t>Nevýhody: externá fragmentácia. Medzi súbormi môže byť veľa miesta (diery), ale pri dynamickom vytváraní a rušení súborov sa tento priestor veľmi ťažko spravuje</a:t>
            </a:r>
          </a:p>
          <a:p>
            <a:pPr lvl="1"/>
            <a:r>
              <a:rPr lang="sk-SK" dirty="0"/>
              <a:t>Jediným riešením je občasná reorganizácia disku: súbory sa popresúvajú tak, aby sa "diery" odstránili (v tomto čase je ale disk pre bežnú prácu OS neprístupný). </a:t>
            </a:r>
          </a:p>
          <a:p>
            <a:pPr lvl="1"/>
            <a:r>
              <a:rPr lang="sk-SK" dirty="0" err="1"/>
              <a:t>Ďaľším</a:t>
            </a:r>
            <a:r>
              <a:rPr lang="sk-SK" dirty="0"/>
              <a:t> problémom je zväčšenie súboru: ak za posledným fyzickým blokom nie je diera, súbor dokážeme zväčšiť len po presunutí.</a:t>
            </a:r>
          </a:p>
          <a:p>
            <a:endParaRPr lang="sk-SK" dirty="0"/>
          </a:p>
        </p:txBody>
      </p:sp>
    </p:spTree>
    <p:extLst>
      <p:ext uri="{BB962C8B-B14F-4D97-AF65-F5344CB8AC3E}">
        <p14:creationId xmlns:p14="http://schemas.microsoft.com/office/powerpoint/2010/main" val="12043925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Zreťazená alokácia</a:t>
            </a:r>
            <a:br>
              <a:rPr lang="sk-SK"/>
            </a:br>
            <a:endParaRPr lang="sk-SK" dirty="0"/>
          </a:p>
        </p:txBody>
      </p:sp>
      <p:sp>
        <p:nvSpPr>
          <p:cNvPr id="3" name="Content Placeholder 2"/>
          <p:cNvSpPr>
            <a:spLocks noGrp="1"/>
          </p:cNvSpPr>
          <p:nvPr>
            <p:ph idx="1"/>
          </p:nvPr>
        </p:nvSpPr>
        <p:spPr/>
        <p:txBody>
          <a:bodyPr>
            <a:normAutofit fontScale="92500" lnSpcReduction="10000"/>
          </a:bodyPr>
          <a:lstStyle/>
          <a:p>
            <a:pPr marL="0" indent="0">
              <a:buNone/>
            </a:pPr>
            <a:r>
              <a:rPr lang="sk-SK" dirty="0"/>
              <a:t>Pri tomto spôsobe je súbor reprezentovaný ako zreťazený zoznam blokov. Tieto bloky nemusia byť uložené súvisle na disku. </a:t>
            </a:r>
          </a:p>
          <a:p>
            <a:r>
              <a:rPr lang="sk-SK" dirty="0"/>
              <a:t>Výhody: problémy súvislej alokácie nenastávajú. Ak disk nie je úplne zaplnený, dajú sa vytvárať nové a rozširovať staré súbory.</a:t>
            </a:r>
          </a:p>
          <a:p>
            <a:r>
              <a:rPr lang="sk-SK" dirty="0"/>
              <a:t>Nevýhody: priamy prístup k súboru je neefektívny: aj keď pristupujeme k 500. logickému bloku súboru, musíme načítať všetky predchádzajúce  bloky  kvôli  odkazom   </a:t>
            </a:r>
          </a:p>
          <a:p>
            <a:pPr lvl="1"/>
            <a:r>
              <a:rPr lang="sk-SK" dirty="0"/>
              <a:t>Odkazy zaberajú miesto, čomu sa dá predísť zväčšením logických blokov, čo zase zvyšuje internú fragmentáciu (posledný logický blok súboru nie je zaplnený na 100%, v priemere strácame polovicu logického bloku na každý súbor, čo pri množstve malých súboroch môže byť problém).</a:t>
            </a:r>
          </a:p>
          <a:p>
            <a:pPr lvl="1"/>
            <a:r>
              <a:rPr lang="sk-SK" dirty="0"/>
              <a:t>Ďalšia nevýhoda je spoľahlivosť: pri porušení odkazu strácame zvyšok súboru (pozri podrobnú diskusiu o FAT ďalej).</a:t>
            </a:r>
          </a:p>
          <a:p>
            <a:endParaRPr lang="sk-SK" dirty="0"/>
          </a:p>
        </p:txBody>
      </p:sp>
    </p:spTree>
    <p:extLst>
      <p:ext uri="{BB962C8B-B14F-4D97-AF65-F5344CB8AC3E}">
        <p14:creationId xmlns:p14="http://schemas.microsoft.com/office/powerpoint/2010/main" val="39161674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Indexovaná alokácia</a:t>
            </a:r>
            <a:endParaRPr lang="sk-SK" dirty="0"/>
          </a:p>
        </p:txBody>
      </p:sp>
      <p:sp>
        <p:nvSpPr>
          <p:cNvPr id="3" name="Content Placeholder 2"/>
          <p:cNvSpPr>
            <a:spLocks noGrp="1"/>
          </p:cNvSpPr>
          <p:nvPr>
            <p:ph idx="1"/>
          </p:nvPr>
        </p:nvSpPr>
        <p:spPr/>
        <p:txBody>
          <a:bodyPr>
            <a:normAutofit lnSpcReduction="10000"/>
          </a:bodyPr>
          <a:lstStyle/>
          <a:p>
            <a:pPr marL="0" indent="0">
              <a:buNone/>
            </a:pPr>
            <a:r>
              <a:rPr lang="sk-SK" dirty="0"/>
              <a:t>Pri tomto spôsobe sú dáta (logické bloky) súboru taktiež roztrúsené po disku, ale prehľad o priradení logických blokov fyzickým sa drží v špeciálnom tzv. </a:t>
            </a:r>
            <a:r>
              <a:rPr lang="sk-SK" dirty="0" err="1"/>
              <a:t>indexovacom</a:t>
            </a:r>
            <a:r>
              <a:rPr lang="sk-SK" dirty="0"/>
              <a:t> bloku súboru. i-ta položka tohto bloku určuje fyzickú adresu i-</a:t>
            </a:r>
            <a:r>
              <a:rPr lang="sk-SK" dirty="0" err="1"/>
              <a:t>teho</a:t>
            </a:r>
            <a:r>
              <a:rPr lang="sk-SK" dirty="0"/>
              <a:t> logického bloku súboru, prípadne obsahuje </a:t>
            </a:r>
            <a:r>
              <a:rPr lang="sk-SK" dirty="0" err="1"/>
              <a:t>nil</a:t>
            </a:r>
            <a:r>
              <a:rPr lang="sk-SK" dirty="0"/>
              <a:t>.</a:t>
            </a:r>
          </a:p>
          <a:p>
            <a:r>
              <a:rPr lang="sk-SK" dirty="0"/>
              <a:t>Výhody: podporuje priamy prístup bez externej fragmentácie.</a:t>
            </a:r>
          </a:p>
          <a:p>
            <a:r>
              <a:rPr lang="sk-SK" dirty="0"/>
              <a:t>Nevýhody: trpí internou fragmentáciou </a:t>
            </a:r>
            <a:r>
              <a:rPr lang="sk-SK" dirty="0" err="1"/>
              <a:t>indexovacích</a:t>
            </a:r>
            <a:r>
              <a:rPr lang="sk-SK" dirty="0"/>
              <a:t> blokov (pre malé súbory je väčšina indexov bloku nastavená na </a:t>
            </a:r>
            <a:r>
              <a:rPr lang="sk-SK" dirty="0" err="1"/>
              <a:t>nil</a:t>
            </a:r>
            <a:r>
              <a:rPr lang="sk-SK" dirty="0"/>
              <a:t>). Tento problém sa dá riešiť zmenšením </a:t>
            </a:r>
            <a:r>
              <a:rPr lang="sk-SK" dirty="0" err="1"/>
              <a:t>indexovacieho</a:t>
            </a:r>
            <a:r>
              <a:rPr lang="sk-SK" dirty="0"/>
              <a:t> bloku (viac súborov sa delí o úseky jedného indexového bloku) a pridaním nepriamych </a:t>
            </a:r>
            <a:r>
              <a:rPr lang="sk-SK" dirty="0" err="1"/>
              <a:t>indexovacích</a:t>
            </a:r>
            <a:r>
              <a:rPr lang="sk-SK" dirty="0"/>
              <a:t> blokov pre veľké súbory (pozri diskusiu o </a:t>
            </a:r>
            <a:r>
              <a:rPr lang="sk-SK" dirty="0" err="1"/>
              <a:t>UNIXe</a:t>
            </a:r>
            <a:r>
              <a:rPr lang="sk-SK" dirty="0"/>
              <a:t> ďalej). </a:t>
            </a:r>
          </a:p>
        </p:txBody>
      </p:sp>
    </p:spTree>
    <p:extLst>
      <p:ext uri="{BB962C8B-B14F-4D97-AF65-F5344CB8AC3E}">
        <p14:creationId xmlns:p14="http://schemas.microsoft.com/office/powerpoint/2010/main" val="1133666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sk-SK" dirty="0"/>
              <a:t>Súborové systémy</a:t>
            </a:r>
            <a:endParaRPr lang="en-US" dirty="0"/>
          </a:p>
        </p:txBody>
      </p:sp>
      <p:sp>
        <p:nvSpPr>
          <p:cNvPr id="7171" name="Rectangle 3"/>
          <p:cNvSpPr>
            <a:spLocks noGrp="1" noChangeArrowheads="1"/>
          </p:cNvSpPr>
          <p:nvPr>
            <p:ph type="body" idx="1"/>
          </p:nvPr>
        </p:nvSpPr>
        <p:spPr/>
        <p:txBody>
          <a:bodyPr/>
          <a:lstStyle/>
          <a:p>
            <a:r>
              <a:rPr lang="sk-SK" dirty="0"/>
              <a:t>FS určuje štruktúru a pravidlá na čítanie, zápis a údržbu informácií uložených na disku</a:t>
            </a:r>
            <a:r>
              <a:rPr lang="en-US" dirty="0"/>
              <a:t>.  </a:t>
            </a:r>
          </a:p>
          <a:p>
            <a:r>
              <a:rPr lang="sk-SK" dirty="0"/>
              <a:t>Výber súborového systému je podmienený</a:t>
            </a:r>
            <a:r>
              <a:rPr lang="en-US" dirty="0"/>
              <a:t>;</a:t>
            </a:r>
          </a:p>
          <a:p>
            <a:pPr lvl="1"/>
            <a:r>
              <a:rPr lang="sk-SK" dirty="0"/>
              <a:t>hardvérom</a:t>
            </a:r>
            <a:endParaRPr lang="en-US" dirty="0"/>
          </a:p>
          <a:p>
            <a:pPr lvl="1"/>
            <a:r>
              <a:rPr lang="sk-SK" dirty="0"/>
              <a:t>Softvérom</a:t>
            </a:r>
          </a:p>
          <a:p>
            <a:pPr lvl="1"/>
            <a:r>
              <a:rPr lang="sk-SK" dirty="0"/>
              <a:t>Požiadavkami na bezpečnosť</a:t>
            </a:r>
            <a:endParaRPr lang="en-US" dirty="0"/>
          </a:p>
          <a:p>
            <a:pPr lvl="1"/>
            <a:r>
              <a:rPr lang="sk-SK" dirty="0"/>
              <a:t>Požiadavkami na systém s duálnym </a:t>
            </a:r>
            <a:r>
              <a:rPr lang="sk-SK" dirty="0" err="1"/>
              <a:t>bootom</a:t>
            </a:r>
            <a:endParaRPr lang="en-US" dirty="0"/>
          </a:p>
        </p:txBody>
      </p:sp>
    </p:spTree>
    <p:extLst>
      <p:ext uri="{BB962C8B-B14F-4D97-AF65-F5344CB8AC3E}">
        <p14:creationId xmlns:p14="http://schemas.microsoft.com/office/powerpoint/2010/main" val="8972002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sk-SK" dirty="0"/>
              <a:t>Súborové systémy </a:t>
            </a:r>
            <a:r>
              <a:rPr lang="sk-SK" dirty="0" err="1"/>
              <a:t>windows</a:t>
            </a:r>
            <a:endParaRPr lang="en-US" dirty="0"/>
          </a:p>
        </p:txBody>
      </p:sp>
      <p:sp>
        <p:nvSpPr>
          <p:cNvPr id="9219" name="Rectangle 3"/>
          <p:cNvSpPr>
            <a:spLocks noGrp="1" noChangeArrowheads="1"/>
          </p:cNvSpPr>
          <p:nvPr>
            <p:ph type="body" idx="1"/>
          </p:nvPr>
        </p:nvSpPr>
        <p:spPr/>
        <p:txBody>
          <a:bodyPr>
            <a:normAutofit/>
          </a:bodyPr>
          <a:lstStyle/>
          <a:p>
            <a:r>
              <a:rPr lang="en-US" dirty="0"/>
              <a:t>FAT 16 – </a:t>
            </a:r>
            <a:r>
              <a:rPr lang="sk-SK" dirty="0"/>
              <a:t>najstarší, vytvorený pre </a:t>
            </a:r>
            <a:r>
              <a:rPr lang="en-US" dirty="0"/>
              <a:t>DOS, </a:t>
            </a:r>
            <a:r>
              <a:rPr lang="sk-SK" dirty="0"/>
              <a:t>podporovaný väčšinou </a:t>
            </a:r>
            <a:r>
              <a:rPr lang="en-US" dirty="0"/>
              <a:t>OS,</a:t>
            </a:r>
            <a:r>
              <a:rPr lang="sk-SK" dirty="0"/>
              <a:t> nedá sa nainštalovať na partície väčšie ako </a:t>
            </a:r>
            <a:r>
              <a:rPr lang="en-US" dirty="0"/>
              <a:t>2 GB, </a:t>
            </a:r>
            <a:r>
              <a:rPr lang="sk-SK" dirty="0"/>
              <a:t>alebo HDD väčšie ako </a:t>
            </a:r>
            <a:r>
              <a:rPr lang="en-US" dirty="0"/>
              <a:t>4GB.</a:t>
            </a:r>
          </a:p>
          <a:p>
            <a:endParaRPr lang="en-US" dirty="0"/>
          </a:p>
          <a:p>
            <a:r>
              <a:rPr lang="en-US" dirty="0"/>
              <a:t>FAT 32 – </a:t>
            </a:r>
            <a:r>
              <a:rPr lang="sk-SK" dirty="0"/>
              <a:t>podporuje disky od </a:t>
            </a:r>
            <a:r>
              <a:rPr lang="en-US" dirty="0"/>
              <a:t>512 </a:t>
            </a:r>
            <a:r>
              <a:rPr lang="sk-SK" dirty="0"/>
              <a:t>d</a:t>
            </a:r>
            <a:r>
              <a:rPr lang="en-US" dirty="0"/>
              <a:t>o 2TB, Windows 98 </a:t>
            </a:r>
            <a:r>
              <a:rPr lang="sk-SK" dirty="0"/>
              <a:t>a vyššie</a:t>
            </a:r>
            <a:endParaRPr lang="en-US" dirty="0"/>
          </a:p>
          <a:p>
            <a:endParaRPr lang="en-US" dirty="0"/>
          </a:p>
          <a:p>
            <a:r>
              <a:rPr lang="en-US" dirty="0"/>
              <a:t>NTFS – (new technology file system) – </a:t>
            </a:r>
            <a:r>
              <a:rPr lang="sk-SK" dirty="0"/>
              <a:t>lepšia bezpečnosť súborov </a:t>
            </a:r>
            <a:r>
              <a:rPr lang="en-US" dirty="0"/>
              <a:t>(Encrypting File System), </a:t>
            </a:r>
            <a:r>
              <a:rPr lang="sk-SK" dirty="0"/>
              <a:t>kompresia </a:t>
            </a:r>
            <a:r>
              <a:rPr lang="en-US" dirty="0"/>
              <a:t>disk</a:t>
            </a:r>
            <a:r>
              <a:rPr lang="sk-SK" dirty="0"/>
              <a:t>u</a:t>
            </a:r>
            <a:r>
              <a:rPr lang="en-US" dirty="0"/>
              <a:t>, </a:t>
            </a:r>
            <a:r>
              <a:rPr lang="sk-SK" dirty="0"/>
              <a:t>schopnosť logovania</a:t>
            </a:r>
            <a:r>
              <a:rPr lang="en-US" dirty="0"/>
              <a:t>, </a:t>
            </a:r>
            <a:r>
              <a:rPr lang="sk-SK" dirty="0"/>
              <a:t>spoľahlivosť a stabilita</a:t>
            </a:r>
            <a:r>
              <a:rPr lang="en-US" dirty="0"/>
              <a:t>.</a:t>
            </a:r>
          </a:p>
        </p:txBody>
      </p:sp>
    </p:spTree>
    <p:extLst>
      <p:ext uri="{BB962C8B-B14F-4D97-AF65-F5344CB8AC3E}">
        <p14:creationId xmlns:p14="http://schemas.microsoft.com/office/powerpoint/2010/main" val="2322895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sk-SK" dirty="0"/>
              <a:t>Čo sa deje počas formátovania FAT</a:t>
            </a:r>
            <a:r>
              <a:rPr lang="en-US" dirty="0"/>
              <a:t>?</a:t>
            </a:r>
          </a:p>
        </p:txBody>
      </p:sp>
      <p:sp>
        <p:nvSpPr>
          <p:cNvPr id="31747" name="Rectangle 3"/>
          <p:cNvSpPr>
            <a:spLocks noGrp="1" noChangeArrowheads="1"/>
          </p:cNvSpPr>
          <p:nvPr>
            <p:ph type="body" idx="1"/>
          </p:nvPr>
        </p:nvSpPr>
        <p:spPr/>
        <p:txBody>
          <a:bodyPr/>
          <a:lstStyle/>
          <a:p>
            <a:r>
              <a:rPr lang="en-US" dirty="0"/>
              <a:t>OS </a:t>
            </a:r>
            <a:r>
              <a:rPr lang="sk-SK" dirty="0"/>
              <a:t>na prvých sektoroch vytvára štyri tabuľky</a:t>
            </a:r>
            <a:endParaRPr lang="en-US" dirty="0"/>
          </a:p>
          <a:p>
            <a:pPr lvl="1"/>
            <a:r>
              <a:rPr lang="en-US" dirty="0"/>
              <a:t>Boot Record – </a:t>
            </a:r>
            <a:r>
              <a:rPr lang="sk-SK" dirty="0"/>
              <a:t>meno a verzia OS</a:t>
            </a:r>
            <a:r>
              <a:rPr lang="en-US" dirty="0"/>
              <a:t>, </a:t>
            </a:r>
            <a:r>
              <a:rPr lang="sk-SK" dirty="0"/>
              <a:t>na fyzických charakteristikách disku</a:t>
            </a:r>
            <a:endParaRPr lang="en-US" dirty="0"/>
          </a:p>
          <a:p>
            <a:pPr lvl="1"/>
            <a:r>
              <a:rPr lang="en-US" dirty="0"/>
              <a:t>Master File Table #1- </a:t>
            </a:r>
            <a:r>
              <a:rPr lang="sk-SK" dirty="0"/>
              <a:t>udržuje info o</a:t>
            </a:r>
            <a:endParaRPr lang="en-US" dirty="0"/>
          </a:p>
          <a:p>
            <a:pPr lvl="2"/>
            <a:r>
              <a:rPr lang="sk-SK" dirty="0"/>
              <a:t>Dostupných </a:t>
            </a:r>
            <a:r>
              <a:rPr lang="sk-SK" dirty="0" err="1"/>
              <a:t>klusteroch</a:t>
            </a:r>
            <a:endParaRPr lang="en-US" dirty="0"/>
          </a:p>
          <a:p>
            <a:pPr lvl="2"/>
            <a:r>
              <a:rPr lang="sk-SK" dirty="0" err="1"/>
              <a:t>Klusteroch</a:t>
            </a:r>
            <a:r>
              <a:rPr lang="sk-SK" dirty="0"/>
              <a:t> obsahujúcich dáta</a:t>
            </a:r>
            <a:endParaRPr lang="en-US" dirty="0"/>
          </a:p>
          <a:p>
            <a:pPr lvl="2"/>
            <a:r>
              <a:rPr lang="sk-SK" dirty="0" err="1"/>
              <a:t>Vadných</a:t>
            </a:r>
            <a:r>
              <a:rPr lang="sk-SK" dirty="0"/>
              <a:t> </a:t>
            </a:r>
            <a:r>
              <a:rPr lang="sk-SK" dirty="0" err="1"/>
              <a:t>klusteroch</a:t>
            </a:r>
            <a:endParaRPr lang="en-US" dirty="0"/>
          </a:p>
          <a:p>
            <a:pPr lvl="2"/>
            <a:r>
              <a:rPr lang="sk-SK" dirty="0" err="1"/>
              <a:t>Klusteroch</a:t>
            </a:r>
            <a:r>
              <a:rPr lang="sk-SK" dirty="0"/>
              <a:t> obsahujúcich dáta OS</a:t>
            </a:r>
            <a:endParaRPr lang="en-US" dirty="0"/>
          </a:p>
          <a:p>
            <a:pPr lvl="1"/>
            <a:r>
              <a:rPr lang="en-US" dirty="0"/>
              <a:t>Master File Table #2 – </a:t>
            </a:r>
            <a:r>
              <a:rPr lang="sk-SK" dirty="0"/>
              <a:t>kópia </a:t>
            </a:r>
            <a:r>
              <a:rPr lang="en-US" dirty="0"/>
              <a:t>MFT #1</a:t>
            </a:r>
          </a:p>
          <a:p>
            <a:pPr lvl="1"/>
            <a:r>
              <a:rPr lang="sk-SK" dirty="0"/>
              <a:t>Tabuľka adresára</a:t>
            </a:r>
            <a:r>
              <a:rPr lang="en-US" dirty="0"/>
              <a:t>– </a:t>
            </a:r>
            <a:r>
              <a:rPr lang="sk-SK" dirty="0"/>
              <a:t>adresár najvyššej úrovne a informácia o súboroch</a:t>
            </a:r>
            <a:endParaRPr lang="en-US" dirty="0"/>
          </a:p>
        </p:txBody>
      </p:sp>
    </p:spTree>
    <p:extLst>
      <p:ext uri="{BB962C8B-B14F-4D97-AF65-F5344CB8AC3E}">
        <p14:creationId xmlns:p14="http://schemas.microsoft.com/office/powerpoint/2010/main" val="722859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7"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Effect transition="in" filter="fade">
                                      <p:cBhvr>
                                        <p:cTn id="7" dur="1000"/>
                                        <p:tgtEl>
                                          <p:spTgt spid="31747">
                                            <p:txEl>
                                              <p:pRg st="0" end="0"/>
                                            </p:txEl>
                                          </p:spTgt>
                                        </p:tgtEl>
                                      </p:cBhvr>
                                    </p:animEffect>
                                    <p:anim calcmode="lin" valueType="num">
                                      <p:cBhvr>
                                        <p:cTn id="8" dur="10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p:cTn id="9" dur="900" decel="100000" fill="hold"/>
                                        <p:tgtEl>
                                          <p:spTgt spid="31747">
                                            <p:txEl>
                                              <p:pRg st="0" end="0"/>
                                            </p:txEl>
                                          </p:spTgt>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31747">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7" presetClass="entr" presetSubtype="0" fill="hold" grpId="0" nodeType="clickEffect">
                                  <p:stCondLst>
                                    <p:cond delay="0"/>
                                  </p:stCondLst>
                                  <p:childTnLst>
                                    <p:set>
                                      <p:cBhvr>
                                        <p:cTn id="14" dur="1" fill="hold">
                                          <p:stCondLst>
                                            <p:cond delay="0"/>
                                          </p:stCondLst>
                                        </p:cTn>
                                        <p:tgtEl>
                                          <p:spTgt spid="31747">
                                            <p:txEl>
                                              <p:pRg st="1" end="1"/>
                                            </p:txEl>
                                          </p:spTgt>
                                        </p:tgtEl>
                                        <p:attrNameLst>
                                          <p:attrName>style.visibility</p:attrName>
                                        </p:attrNameLst>
                                      </p:cBhvr>
                                      <p:to>
                                        <p:strVal val="visible"/>
                                      </p:to>
                                    </p:set>
                                    <p:animEffect transition="in" filter="fade">
                                      <p:cBhvr>
                                        <p:cTn id="15" dur="1000"/>
                                        <p:tgtEl>
                                          <p:spTgt spid="31747">
                                            <p:txEl>
                                              <p:pRg st="1" end="1"/>
                                            </p:txEl>
                                          </p:spTgt>
                                        </p:tgtEl>
                                      </p:cBhvr>
                                    </p:animEffect>
                                    <p:anim calcmode="lin" valueType="num">
                                      <p:cBhvr>
                                        <p:cTn id="16" dur="10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p:cTn id="17" dur="900" decel="100000" fill="hold"/>
                                        <p:tgtEl>
                                          <p:spTgt spid="31747">
                                            <p:txEl>
                                              <p:pRg st="1" end="1"/>
                                            </p:txEl>
                                          </p:spTgt>
                                        </p:tgtEl>
                                        <p:attrNameLst>
                                          <p:attrName>ppt_y</p:attrName>
                                        </p:attrNameLst>
                                      </p:cBhvr>
                                      <p:tavLst>
                                        <p:tav tm="0">
                                          <p:val>
                                            <p:strVal val="#ppt_y+1"/>
                                          </p:val>
                                        </p:tav>
                                        <p:tav tm="100000">
                                          <p:val>
                                            <p:strVal val="#ppt_y-.03"/>
                                          </p:val>
                                        </p:tav>
                                      </p:tavLst>
                                    </p:anim>
                                    <p:anim calcmode="lin" valueType="num">
                                      <p:cBhvr>
                                        <p:cTn id="18" dur="100" accel="100000" fill="hold">
                                          <p:stCondLst>
                                            <p:cond delay="900"/>
                                          </p:stCondLst>
                                        </p:cTn>
                                        <p:tgtEl>
                                          <p:spTgt spid="31747">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7" presetClass="entr" presetSubtype="0" fill="hold" grpId="0" nodeType="clickEffect">
                                  <p:stCondLst>
                                    <p:cond delay="0"/>
                                  </p:stCondLst>
                                  <p:childTnLst>
                                    <p:set>
                                      <p:cBhvr>
                                        <p:cTn id="22" dur="1" fill="hold">
                                          <p:stCondLst>
                                            <p:cond delay="0"/>
                                          </p:stCondLst>
                                        </p:cTn>
                                        <p:tgtEl>
                                          <p:spTgt spid="31747">
                                            <p:txEl>
                                              <p:pRg st="2" end="2"/>
                                            </p:txEl>
                                          </p:spTgt>
                                        </p:tgtEl>
                                        <p:attrNameLst>
                                          <p:attrName>style.visibility</p:attrName>
                                        </p:attrNameLst>
                                      </p:cBhvr>
                                      <p:to>
                                        <p:strVal val="visible"/>
                                      </p:to>
                                    </p:set>
                                    <p:animEffect transition="in" filter="fade">
                                      <p:cBhvr>
                                        <p:cTn id="23" dur="1000"/>
                                        <p:tgtEl>
                                          <p:spTgt spid="31747">
                                            <p:txEl>
                                              <p:pRg st="2" end="2"/>
                                            </p:txEl>
                                          </p:spTgt>
                                        </p:tgtEl>
                                      </p:cBhvr>
                                    </p:animEffect>
                                    <p:anim calcmode="lin" valueType="num">
                                      <p:cBhvr>
                                        <p:cTn id="24" dur="10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p:cTn id="25" dur="900" decel="100000" fill="hold"/>
                                        <p:tgtEl>
                                          <p:spTgt spid="31747">
                                            <p:txEl>
                                              <p:pRg st="2" end="2"/>
                                            </p:txEl>
                                          </p:spTgt>
                                        </p:tgtEl>
                                        <p:attrNameLst>
                                          <p:attrName>ppt_y</p:attrName>
                                        </p:attrNameLst>
                                      </p:cBhvr>
                                      <p:tavLst>
                                        <p:tav tm="0">
                                          <p:val>
                                            <p:strVal val="#ppt_y+1"/>
                                          </p:val>
                                        </p:tav>
                                        <p:tav tm="100000">
                                          <p:val>
                                            <p:strVal val="#ppt_y-.03"/>
                                          </p:val>
                                        </p:tav>
                                      </p:tavLst>
                                    </p:anim>
                                    <p:anim calcmode="lin" valueType="num">
                                      <p:cBhvr>
                                        <p:cTn id="26" dur="100" accel="100000" fill="hold">
                                          <p:stCondLst>
                                            <p:cond delay="900"/>
                                          </p:stCondLst>
                                        </p:cTn>
                                        <p:tgtEl>
                                          <p:spTgt spid="31747">
                                            <p:txEl>
                                              <p:pRg st="2" end="2"/>
                                            </p:txEl>
                                          </p:spTgt>
                                        </p:tgtEl>
                                        <p:attrNameLst>
                                          <p:attrName>ppt_y</p:attrName>
                                        </p:attrNameLst>
                                      </p:cBhvr>
                                      <p:tavLst>
                                        <p:tav tm="0">
                                          <p:val>
                                            <p:strVal val="#ppt_y-.03"/>
                                          </p:val>
                                        </p:tav>
                                        <p:tav tm="100000">
                                          <p:val>
                                            <p:strVal val="#ppt_y"/>
                                          </p:val>
                                        </p:tav>
                                      </p:tavLst>
                                    </p:anim>
                                  </p:childTnLst>
                                </p:cTn>
                              </p:par>
                              <p:par>
                                <p:cTn id="27" presetID="37" presetClass="entr" presetSubtype="0" fill="hold" grpId="0" nodeType="withEffect">
                                  <p:stCondLst>
                                    <p:cond delay="0"/>
                                  </p:stCondLst>
                                  <p:childTnLst>
                                    <p:set>
                                      <p:cBhvr>
                                        <p:cTn id="28" dur="1" fill="hold">
                                          <p:stCondLst>
                                            <p:cond delay="0"/>
                                          </p:stCondLst>
                                        </p:cTn>
                                        <p:tgtEl>
                                          <p:spTgt spid="31747">
                                            <p:txEl>
                                              <p:pRg st="3" end="3"/>
                                            </p:txEl>
                                          </p:spTgt>
                                        </p:tgtEl>
                                        <p:attrNameLst>
                                          <p:attrName>style.visibility</p:attrName>
                                        </p:attrNameLst>
                                      </p:cBhvr>
                                      <p:to>
                                        <p:strVal val="visible"/>
                                      </p:to>
                                    </p:set>
                                    <p:animEffect transition="in" filter="fade">
                                      <p:cBhvr>
                                        <p:cTn id="29" dur="1000"/>
                                        <p:tgtEl>
                                          <p:spTgt spid="31747">
                                            <p:txEl>
                                              <p:pRg st="3" end="3"/>
                                            </p:txEl>
                                          </p:spTgt>
                                        </p:tgtEl>
                                      </p:cBhvr>
                                    </p:animEffect>
                                    <p:anim calcmode="lin" valueType="num">
                                      <p:cBhvr>
                                        <p:cTn id="30" dur="1000" fill="hold"/>
                                        <p:tgtEl>
                                          <p:spTgt spid="31747">
                                            <p:txEl>
                                              <p:pRg st="3" end="3"/>
                                            </p:txEl>
                                          </p:spTgt>
                                        </p:tgtEl>
                                        <p:attrNameLst>
                                          <p:attrName>ppt_x</p:attrName>
                                        </p:attrNameLst>
                                      </p:cBhvr>
                                      <p:tavLst>
                                        <p:tav tm="0">
                                          <p:val>
                                            <p:strVal val="#ppt_x"/>
                                          </p:val>
                                        </p:tav>
                                        <p:tav tm="100000">
                                          <p:val>
                                            <p:strVal val="#ppt_x"/>
                                          </p:val>
                                        </p:tav>
                                      </p:tavLst>
                                    </p:anim>
                                    <p:anim calcmode="lin" valueType="num">
                                      <p:cBhvr>
                                        <p:cTn id="31" dur="900" decel="100000" fill="hold"/>
                                        <p:tgtEl>
                                          <p:spTgt spid="31747">
                                            <p:txEl>
                                              <p:pRg st="3" end="3"/>
                                            </p:txEl>
                                          </p:spTgt>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31747">
                                            <p:txEl>
                                              <p:pRg st="3" end="3"/>
                                            </p:txEl>
                                          </p:spTgt>
                                        </p:tgtEl>
                                        <p:attrNameLst>
                                          <p:attrName>ppt_y</p:attrName>
                                        </p:attrNameLst>
                                      </p:cBhvr>
                                      <p:tavLst>
                                        <p:tav tm="0">
                                          <p:val>
                                            <p:strVal val="#ppt_y-.03"/>
                                          </p:val>
                                        </p:tav>
                                        <p:tav tm="100000">
                                          <p:val>
                                            <p:strVal val="#ppt_y"/>
                                          </p:val>
                                        </p:tav>
                                      </p:tavLst>
                                    </p:anim>
                                  </p:childTnLst>
                                </p:cTn>
                              </p:par>
                              <p:par>
                                <p:cTn id="33" presetID="37" presetClass="entr" presetSubtype="0" fill="hold" grpId="0" nodeType="withEffect">
                                  <p:stCondLst>
                                    <p:cond delay="0"/>
                                  </p:stCondLst>
                                  <p:childTnLst>
                                    <p:set>
                                      <p:cBhvr>
                                        <p:cTn id="34" dur="1" fill="hold">
                                          <p:stCondLst>
                                            <p:cond delay="0"/>
                                          </p:stCondLst>
                                        </p:cTn>
                                        <p:tgtEl>
                                          <p:spTgt spid="31747">
                                            <p:txEl>
                                              <p:pRg st="4" end="4"/>
                                            </p:txEl>
                                          </p:spTgt>
                                        </p:tgtEl>
                                        <p:attrNameLst>
                                          <p:attrName>style.visibility</p:attrName>
                                        </p:attrNameLst>
                                      </p:cBhvr>
                                      <p:to>
                                        <p:strVal val="visible"/>
                                      </p:to>
                                    </p:set>
                                    <p:animEffect transition="in" filter="fade">
                                      <p:cBhvr>
                                        <p:cTn id="35" dur="1000"/>
                                        <p:tgtEl>
                                          <p:spTgt spid="31747">
                                            <p:txEl>
                                              <p:pRg st="4" end="4"/>
                                            </p:txEl>
                                          </p:spTgt>
                                        </p:tgtEl>
                                      </p:cBhvr>
                                    </p:animEffect>
                                    <p:anim calcmode="lin" valueType="num">
                                      <p:cBhvr>
                                        <p:cTn id="36" dur="1000" fill="hold"/>
                                        <p:tgtEl>
                                          <p:spTgt spid="31747">
                                            <p:txEl>
                                              <p:pRg st="4" end="4"/>
                                            </p:txEl>
                                          </p:spTgt>
                                        </p:tgtEl>
                                        <p:attrNameLst>
                                          <p:attrName>ppt_x</p:attrName>
                                        </p:attrNameLst>
                                      </p:cBhvr>
                                      <p:tavLst>
                                        <p:tav tm="0">
                                          <p:val>
                                            <p:strVal val="#ppt_x"/>
                                          </p:val>
                                        </p:tav>
                                        <p:tav tm="100000">
                                          <p:val>
                                            <p:strVal val="#ppt_x"/>
                                          </p:val>
                                        </p:tav>
                                      </p:tavLst>
                                    </p:anim>
                                    <p:anim calcmode="lin" valueType="num">
                                      <p:cBhvr>
                                        <p:cTn id="37" dur="900" decel="100000" fill="hold"/>
                                        <p:tgtEl>
                                          <p:spTgt spid="31747">
                                            <p:txEl>
                                              <p:pRg st="4" end="4"/>
                                            </p:txEl>
                                          </p:spTgt>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31747">
                                            <p:txEl>
                                              <p:pRg st="4" end="4"/>
                                            </p:txEl>
                                          </p:spTgt>
                                        </p:tgtEl>
                                        <p:attrNameLst>
                                          <p:attrName>ppt_y</p:attrName>
                                        </p:attrNameLst>
                                      </p:cBhvr>
                                      <p:tavLst>
                                        <p:tav tm="0">
                                          <p:val>
                                            <p:strVal val="#ppt_y-.03"/>
                                          </p:val>
                                        </p:tav>
                                        <p:tav tm="100000">
                                          <p:val>
                                            <p:strVal val="#ppt_y"/>
                                          </p:val>
                                        </p:tav>
                                      </p:tavLst>
                                    </p:anim>
                                  </p:childTnLst>
                                </p:cTn>
                              </p:par>
                              <p:par>
                                <p:cTn id="39" presetID="37" presetClass="entr" presetSubtype="0" fill="hold" grpId="0" nodeType="withEffect">
                                  <p:stCondLst>
                                    <p:cond delay="0"/>
                                  </p:stCondLst>
                                  <p:childTnLst>
                                    <p:set>
                                      <p:cBhvr>
                                        <p:cTn id="40" dur="1" fill="hold">
                                          <p:stCondLst>
                                            <p:cond delay="0"/>
                                          </p:stCondLst>
                                        </p:cTn>
                                        <p:tgtEl>
                                          <p:spTgt spid="31747">
                                            <p:txEl>
                                              <p:pRg st="5" end="5"/>
                                            </p:txEl>
                                          </p:spTgt>
                                        </p:tgtEl>
                                        <p:attrNameLst>
                                          <p:attrName>style.visibility</p:attrName>
                                        </p:attrNameLst>
                                      </p:cBhvr>
                                      <p:to>
                                        <p:strVal val="visible"/>
                                      </p:to>
                                    </p:set>
                                    <p:animEffect transition="in" filter="fade">
                                      <p:cBhvr>
                                        <p:cTn id="41" dur="1000"/>
                                        <p:tgtEl>
                                          <p:spTgt spid="31747">
                                            <p:txEl>
                                              <p:pRg st="5" end="5"/>
                                            </p:txEl>
                                          </p:spTgt>
                                        </p:tgtEl>
                                      </p:cBhvr>
                                    </p:animEffect>
                                    <p:anim calcmode="lin" valueType="num">
                                      <p:cBhvr>
                                        <p:cTn id="42" dur="1000" fill="hold"/>
                                        <p:tgtEl>
                                          <p:spTgt spid="31747">
                                            <p:txEl>
                                              <p:pRg st="5" end="5"/>
                                            </p:txEl>
                                          </p:spTgt>
                                        </p:tgtEl>
                                        <p:attrNameLst>
                                          <p:attrName>ppt_x</p:attrName>
                                        </p:attrNameLst>
                                      </p:cBhvr>
                                      <p:tavLst>
                                        <p:tav tm="0">
                                          <p:val>
                                            <p:strVal val="#ppt_x"/>
                                          </p:val>
                                        </p:tav>
                                        <p:tav tm="100000">
                                          <p:val>
                                            <p:strVal val="#ppt_x"/>
                                          </p:val>
                                        </p:tav>
                                      </p:tavLst>
                                    </p:anim>
                                    <p:anim calcmode="lin" valueType="num">
                                      <p:cBhvr>
                                        <p:cTn id="43" dur="900" decel="100000" fill="hold"/>
                                        <p:tgtEl>
                                          <p:spTgt spid="31747">
                                            <p:txEl>
                                              <p:pRg st="5" end="5"/>
                                            </p:txEl>
                                          </p:spTgt>
                                        </p:tgtEl>
                                        <p:attrNameLst>
                                          <p:attrName>ppt_y</p:attrName>
                                        </p:attrNameLst>
                                      </p:cBhvr>
                                      <p:tavLst>
                                        <p:tav tm="0">
                                          <p:val>
                                            <p:strVal val="#ppt_y+1"/>
                                          </p:val>
                                        </p:tav>
                                        <p:tav tm="100000">
                                          <p:val>
                                            <p:strVal val="#ppt_y-.03"/>
                                          </p:val>
                                        </p:tav>
                                      </p:tavLst>
                                    </p:anim>
                                    <p:anim calcmode="lin" valueType="num">
                                      <p:cBhvr>
                                        <p:cTn id="44" dur="100" accel="100000" fill="hold">
                                          <p:stCondLst>
                                            <p:cond delay="900"/>
                                          </p:stCondLst>
                                        </p:cTn>
                                        <p:tgtEl>
                                          <p:spTgt spid="31747">
                                            <p:txEl>
                                              <p:pRg st="5" end="5"/>
                                            </p:txEl>
                                          </p:spTgt>
                                        </p:tgtEl>
                                        <p:attrNameLst>
                                          <p:attrName>ppt_y</p:attrName>
                                        </p:attrNameLst>
                                      </p:cBhvr>
                                      <p:tavLst>
                                        <p:tav tm="0">
                                          <p:val>
                                            <p:strVal val="#ppt_y-.03"/>
                                          </p:val>
                                        </p:tav>
                                        <p:tav tm="100000">
                                          <p:val>
                                            <p:strVal val="#ppt_y"/>
                                          </p:val>
                                        </p:tav>
                                      </p:tavLst>
                                    </p:anim>
                                  </p:childTnLst>
                                </p:cTn>
                              </p:par>
                              <p:par>
                                <p:cTn id="45" presetID="37" presetClass="entr" presetSubtype="0" fill="hold" grpId="0" nodeType="withEffect">
                                  <p:stCondLst>
                                    <p:cond delay="0"/>
                                  </p:stCondLst>
                                  <p:childTnLst>
                                    <p:set>
                                      <p:cBhvr>
                                        <p:cTn id="46" dur="1" fill="hold">
                                          <p:stCondLst>
                                            <p:cond delay="0"/>
                                          </p:stCondLst>
                                        </p:cTn>
                                        <p:tgtEl>
                                          <p:spTgt spid="31747">
                                            <p:txEl>
                                              <p:pRg st="6" end="6"/>
                                            </p:txEl>
                                          </p:spTgt>
                                        </p:tgtEl>
                                        <p:attrNameLst>
                                          <p:attrName>style.visibility</p:attrName>
                                        </p:attrNameLst>
                                      </p:cBhvr>
                                      <p:to>
                                        <p:strVal val="visible"/>
                                      </p:to>
                                    </p:set>
                                    <p:animEffect transition="in" filter="fade">
                                      <p:cBhvr>
                                        <p:cTn id="47" dur="1000"/>
                                        <p:tgtEl>
                                          <p:spTgt spid="31747">
                                            <p:txEl>
                                              <p:pRg st="6" end="6"/>
                                            </p:txEl>
                                          </p:spTgt>
                                        </p:tgtEl>
                                      </p:cBhvr>
                                    </p:animEffect>
                                    <p:anim calcmode="lin" valueType="num">
                                      <p:cBhvr>
                                        <p:cTn id="48" dur="1000" fill="hold"/>
                                        <p:tgtEl>
                                          <p:spTgt spid="31747">
                                            <p:txEl>
                                              <p:pRg st="6" end="6"/>
                                            </p:txEl>
                                          </p:spTgt>
                                        </p:tgtEl>
                                        <p:attrNameLst>
                                          <p:attrName>ppt_x</p:attrName>
                                        </p:attrNameLst>
                                      </p:cBhvr>
                                      <p:tavLst>
                                        <p:tav tm="0">
                                          <p:val>
                                            <p:strVal val="#ppt_x"/>
                                          </p:val>
                                        </p:tav>
                                        <p:tav tm="100000">
                                          <p:val>
                                            <p:strVal val="#ppt_x"/>
                                          </p:val>
                                        </p:tav>
                                      </p:tavLst>
                                    </p:anim>
                                    <p:anim calcmode="lin" valueType="num">
                                      <p:cBhvr>
                                        <p:cTn id="49" dur="900" decel="100000" fill="hold"/>
                                        <p:tgtEl>
                                          <p:spTgt spid="31747">
                                            <p:txEl>
                                              <p:pRg st="6" end="6"/>
                                            </p:txEl>
                                          </p:spTgt>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31747">
                                            <p:txEl>
                                              <p:pRg st="6" end="6"/>
                                            </p:txEl>
                                          </p:spTgt>
                                        </p:tgtEl>
                                        <p:attrNameLst>
                                          <p:attrName>ppt_y</p:attrName>
                                        </p:attrNameLst>
                                      </p:cBhvr>
                                      <p:tavLst>
                                        <p:tav tm="0">
                                          <p:val>
                                            <p:strVal val="#ppt_y-.03"/>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37" presetClass="entr" presetSubtype="0" fill="hold" grpId="0" nodeType="clickEffect">
                                  <p:stCondLst>
                                    <p:cond delay="0"/>
                                  </p:stCondLst>
                                  <p:childTnLst>
                                    <p:set>
                                      <p:cBhvr>
                                        <p:cTn id="54" dur="1" fill="hold">
                                          <p:stCondLst>
                                            <p:cond delay="0"/>
                                          </p:stCondLst>
                                        </p:cTn>
                                        <p:tgtEl>
                                          <p:spTgt spid="31747">
                                            <p:txEl>
                                              <p:pRg st="7" end="7"/>
                                            </p:txEl>
                                          </p:spTgt>
                                        </p:tgtEl>
                                        <p:attrNameLst>
                                          <p:attrName>style.visibility</p:attrName>
                                        </p:attrNameLst>
                                      </p:cBhvr>
                                      <p:to>
                                        <p:strVal val="visible"/>
                                      </p:to>
                                    </p:set>
                                    <p:animEffect transition="in" filter="fade">
                                      <p:cBhvr>
                                        <p:cTn id="55" dur="1000"/>
                                        <p:tgtEl>
                                          <p:spTgt spid="31747">
                                            <p:txEl>
                                              <p:pRg st="7" end="7"/>
                                            </p:txEl>
                                          </p:spTgt>
                                        </p:tgtEl>
                                      </p:cBhvr>
                                    </p:animEffect>
                                    <p:anim calcmode="lin" valueType="num">
                                      <p:cBhvr>
                                        <p:cTn id="56" dur="1000" fill="hold"/>
                                        <p:tgtEl>
                                          <p:spTgt spid="31747">
                                            <p:txEl>
                                              <p:pRg st="7" end="7"/>
                                            </p:txEl>
                                          </p:spTgt>
                                        </p:tgtEl>
                                        <p:attrNameLst>
                                          <p:attrName>ppt_x</p:attrName>
                                        </p:attrNameLst>
                                      </p:cBhvr>
                                      <p:tavLst>
                                        <p:tav tm="0">
                                          <p:val>
                                            <p:strVal val="#ppt_x"/>
                                          </p:val>
                                        </p:tav>
                                        <p:tav tm="100000">
                                          <p:val>
                                            <p:strVal val="#ppt_x"/>
                                          </p:val>
                                        </p:tav>
                                      </p:tavLst>
                                    </p:anim>
                                    <p:anim calcmode="lin" valueType="num">
                                      <p:cBhvr>
                                        <p:cTn id="57" dur="900" decel="100000" fill="hold"/>
                                        <p:tgtEl>
                                          <p:spTgt spid="31747">
                                            <p:txEl>
                                              <p:pRg st="7" end="7"/>
                                            </p:txEl>
                                          </p:spTgt>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31747">
                                            <p:txEl>
                                              <p:pRg st="7" end="7"/>
                                            </p:txEl>
                                          </p:spTgt>
                                        </p:tgtEl>
                                        <p:attrNameLst>
                                          <p:attrName>ppt_y</p:attrName>
                                        </p:attrNameLst>
                                      </p:cBhvr>
                                      <p:tavLst>
                                        <p:tav tm="0">
                                          <p:val>
                                            <p:strVal val="#ppt_y-.03"/>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37" presetClass="entr" presetSubtype="0" fill="hold" grpId="0" nodeType="clickEffect">
                                  <p:stCondLst>
                                    <p:cond delay="0"/>
                                  </p:stCondLst>
                                  <p:childTnLst>
                                    <p:set>
                                      <p:cBhvr>
                                        <p:cTn id="62" dur="1" fill="hold">
                                          <p:stCondLst>
                                            <p:cond delay="0"/>
                                          </p:stCondLst>
                                        </p:cTn>
                                        <p:tgtEl>
                                          <p:spTgt spid="31747">
                                            <p:txEl>
                                              <p:pRg st="8" end="8"/>
                                            </p:txEl>
                                          </p:spTgt>
                                        </p:tgtEl>
                                        <p:attrNameLst>
                                          <p:attrName>style.visibility</p:attrName>
                                        </p:attrNameLst>
                                      </p:cBhvr>
                                      <p:to>
                                        <p:strVal val="visible"/>
                                      </p:to>
                                    </p:set>
                                    <p:animEffect transition="in" filter="fade">
                                      <p:cBhvr>
                                        <p:cTn id="63" dur="1000"/>
                                        <p:tgtEl>
                                          <p:spTgt spid="31747">
                                            <p:txEl>
                                              <p:pRg st="8" end="8"/>
                                            </p:txEl>
                                          </p:spTgt>
                                        </p:tgtEl>
                                      </p:cBhvr>
                                    </p:animEffect>
                                    <p:anim calcmode="lin" valueType="num">
                                      <p:cBhvr>
                                        <p:cTn id="64" dur="1000" fill="hold"/>
                                        <p:tgtEl>
                                          <p:spTgt spid="31747">
                                            <p:txEl>
                                              <p:pRg st="8" end="8"/>
                                            </p:txEl>
                                          </p:spTgt>
                                        </p:tgtEl>
                                        <p:attrNameLst>
                                          <p:attrName>ppt_x</p:attrName>
                                        </p:attrNameLst>
                                      </p:cBhvr>
                                      <p:tavLst>
                                        <p:tav tm="0">
                                          <p:val>
                                            <p:strVal val="#ppt_x"/>
                                          </p:val>
                                        </p:tav>
                                        <p:tav tm="100000">
                                          <p:val>
                                            <p:strVal val="#ppt_x"/>
                                          </p:val>
                                        </p:tav>
                                      </p:tavLst>
                                    </p:anim>
                                    <p:anim calcmode="lin" valueType="num">
                                      <p:cBhvr>
                                        <p:cTn id="65" dur="900" decel="100000" fill="hold"/>
                                        <p:tgtEl>
                                          <p:spTgt spid="31747">
                                            <p:txEl>
                                              <p:pRg st="8" end="8"/>
                                            </p:txEl>
                                          </p:spTgt>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31747">
                                            <p:txEl>
                                              <p:pRg st="8" end="8"/>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sk-SK" dirty="0"/>
              <a:t>Čo sa deje počas formátovania</a:t>
            </a:r>
            <a:r>
              <a:rPr lang="en-US" dirty="0"/>
              <a:t>?</a:t>
            </a:r>
          </a:p>
        </p:txBody>
      </p:sp>
      <p:sp>
        <p:nvSpPr>
          <p:cNvPr id="32771" name="Rectangle 3"/>
          <p:cNvSpPr>
            <a:spLocks noGrp="1" noChangeArrowheads="1"/>
          </p:cNvSpPr>
          <p:nvPr>
            <p:ph type="body" idx="1"/>
          </p:nvPr>
        </p:nvSpPr>
        <p:spPr/>
        <p:txBody>
          <a:bodyPr/>
          <a:lstStyle/>
          <a:p>
            <a:r>
              <a:rPr lang="sk-SK" dirty="0"/>
              <a:t>Úplný formát</a:t>
            </a:r>
            <a:endParaRPr lang="en-US" dirty="0"/>
          </a:p>
          <a:p>
            <a:pPr lvl="1"/>
            <a:r>
              <a:rPr lang="en-US" dirty="0"/>
              <a:t> </a:t>
            </a:r>
            <a:r>
              <a:rPr lang="sk-SK" dirty="0"/>
              <a:t>vyznačí nové stopy a sektory</a:t>
            </a:r>
          </a:p>
          <a:p>
            <a:pPr lvl="1"/>
            <a:r>
              <a:rPr lang="sk-SK" dirty="0"/>
              <a:t>Overí integritu každého sektora</a:t>
            </a:r>
            <a:endParaRPr lang="en-US" dirty="0"/>
          </a:p>
          <a:p>
            <a:pPr lvl="2"/>
            <a:r>
              <a:rPr lang="sk-SK" dirty="0"/>
              <a:t>Vykonaním kontroly povrchu</a:t>
            </a:r>
            <a:r>
              <a:rPr lang="en-US" dirty="0"/>
              <a:t>– OS </a:t>
            </a:r>
            <a:r>
              <a:rPr lang="sk-SK" dirty="0"/>
              <a:t>zapíše do sektorov náhodné dáta a potom ich spätne prečíta a porovná</a:t>
            </a:r>
            <a:endParaRPr lang="en-US" dirty="0"/>
          </a:p>
          <a:p>
            <a:r>
              <a:rPr lang="sk-SK" dirty="0"/>
              <a:t>Rýchly formát</a:t>
            </a:r>
          </a:p>
          <a:p>
            <a:pPr lvl="1"/>
            <a:r>
              <a:rPr lang="sk-SK" dirty="0"/>
              <a:t>Odstráni súbory </a:t>
            </a:r>
            <a:endParaRPr lang="en-US" dirty="0"/>
          </a:p>
          <a:p>
            <a:pPr lvl="1"/>
            <a:r>
              <a:rPr lang="sk-SK" dirty="0"/>
              <a:t>Nehľadá chybné </a:t>
            </a:r>
            <a:r>
              <a:rPr lang="en-US" dirty="0"/>
              <a:t>Does not check for defective sectors</a:t>
            </a:r>
          </a:p>
        </p:txBody>
      </p:sp>
    </p:spTree>
    <p:extLst>
      <p:ext uri="{BB962C8B-B14F-4D97-AF65-F5344CB8AC3E}">
        <p14:creationId xmlns:p14="http://schemas.microsoft.com/office/powerpoint/2010/main" val="14144196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Effect transition="in" filter="diamond(in)">
                                      <p:cBhvr>
                                        <p:cTn id="7" dur="2000"/>
                                        <p:tgtEl>
                                          <p:spTgt spid="32771">
                                            <p:txEl>
                                              <p:pRg st="0" end="0"/>
                                            </p:txEl>
                                          </p:spTgt>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32771">
                                            <p:txEl>
                                              <p:pRg st="1" end="1"/>
                                            </p:txEl>
                                          </p:spTgt>
                                        </p:tgtEl>
                                        <p:attrNameLst>
                                          <p:attrName>style.visibility</p:attrName>
                                        </p:attrNameLst>
                                      </p:cBhvr>
                                      <p:to>
                                        <p:strVal val="visible"/>
                                      </p:to>
                                    </p:set>
                                    <p:animEffect transition="in" filter="diamond(in)">
                                      <p:cBhvr>
                                        <p:cTn id="10" dur="2000"/>
                                        <p:tgtEl>
                                          <p:spTgt spid="32771">
                                            <p:txEl>
                                              <p:pRg st="1" end="1"/>
                                            </p:txEl>
                                          </p:spTgt>
                                        </p:tgtEl>
                                      </p:cBhvr>
                                    </p:animEffect>
                                  </p:childTnLst>
                                </p:cTn>
                              </p:par>
                              <p:par>
                                <p:cTn id="11" presetID="8" presetClass="entr" presetSubtype="16" fill="hold" grpId="0" nodeType="withEffect">
                                  <p:stCondLst>
                                    <p:cond delay="0"/>
                                  </p:stCondLst>
                                  <p:childTnLst>
                                    <p:set>
                                      <p:cBhvr>
                                        <p:cTn id="12" dur="1" fill="hold">
                                          <p:stCondLst>
                                            <p:cond delay="0"/>
                                          </p:stCondLst>
                                        </p:cTn>
                                        <p:tgtEl>
                                          <p:spTgt spid="32771">
                                            <p:txEl>
                                              <p:pRg st="2" end="2"/>
                                            </p:txEl>
                                          </p:spTgt>
                                        </p:tgtEl>
                                        <p:attrNameLst>
                                          <p:attrName>style.visibility</p:attrName>
                                        </p:attrNameLst>
                                      </p:cBhvr>
                                      <p:to>
                                        <p:strVal val="visible"/>
                                      </p:to>
                                    </p:set>
                                    <p:animEffect transition="in" filter="diamond(in)">
                                      <p:cBhvr>
                                        <p:cTn id="13" dur="2000"/>
                                        <p:tgtEl>
                                          <p:spTgt spid="32771">
                                            <p:txEl>
                                              <p:pRg st="2" end="2"/>
                                            </p:txEl>
                                          </p:spTgt>
                                        </p:tgtEl>
                                      </p:cBhvr>
                                    </p:animEffect>
                                  </p:childTnLst>
                                </p:cTn>
                              </p:par>
                              <p:par>
                                <p:cTn id="14" presetID="8" presetClass="entr" presetSubtype="16" fill="hold" grpId="0" nodeType="withEffect">
                                  <p:stCondLst>
                                    <p:cond delay="0"/>
                                  </p:stCondLst>
                                  <p:childTnLst>
                                    <p:set>
                                      <p:cBhvr>
                                        <p:cTn id="15" dur="1" fill="hold">
                                          <p:stCondLst>
                                            <p:cond delay="0"/>
                                          </p:stCondLst>
                                        </p:cTn>
                                        <p:tgtEl>
                                          <p:spTgt spid="32771">
                                            <p:txEl>
                                              <p:pRg st="3" end="3"/>
                                            </p:txEl>
                                          </p:spTgt>
                                        </p:tgtEl>
                                        <p:attrNameLst>
                                          <p:attrName>style.visibility</p:attrName>
                                        </p:attrNameLst>
                                      </p:cBhvr>
                                      <p:to>
                                        <p:strVal val="visible"/>
                                      </p:to>
                                    </p:set>
                                    <p:animEffect transition="in" filter="diamond(in)">
                                      <p:cBhvr>
                                        <p:cTn id="16" dur="2000"/>
                                        <p:tgtEl>
                                          <p:spTgt spid="32771">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8" presetClass="entr" presetSubtype="16" fill="hold" grpId="0" nodeType="clickEffect">
                                  <p:stCondLst>
                                    <p:cond delay="0"/>
                                  </p:stCondLst>
                                  <p:childTnLst>
                                    <p:set>
                                      <p:cBhvr>
                                        <p:cTn id="20" dur="1" fill="hold">
                                          <p:stCondLst>
                                            <p:cond delay="0"/>
                                          </p:stCondLst>
                                        </p:cTn>
                                        <p:tgtEl>
                                          <p:spTgt spid="32771">
                                            <p:txEl>
                                              <p:pRg st="4" end="4"/>
                                            </p:txEl>
                                          </p:spTgt>
                                        </p:tgtEl>
                                        <p:attrNameLst>
                                          <p:attrName>style.visibility</p:attrName>
                                        </p:attrNameLst>
                                      </p:cBhvr>
                                      <p:to>
                                        <p:strVal val="visible"/>
                                      </p:to>
                                    </p:set>
                                    <p:animEffect transition="in" filter="diamond(in)">
                                      <p:cBhvr>
                                        <p:cTn id="21" dur="2000"/>
                                        <p:tgtEl>
                                          <p:spTgt spid="32771">
                                            <p:txEl>
                                              <p:pRg st="4" end="4"/>
                                            </p:txEl>
                                          </p:spTgt>
                                        </p:tgtEl>
                                      </p:cBhvr>
                                    </p:animEffect>
                                  </p:childTnLst>
                                </p:cTn>
                              </p:par>
                              <p:par>
                                <p:cTn id="22" presetID="8" presetClass="entr" presetSubtype="16" fill="hold" grpId="0" nodeType="withEffect">
                                  <p:stCondLst>
                                    <p:cond delay="0"/>
                                  </p:stCondLst>
                                  <p:childTnLst>
                                    <p:set>
                                      <p:cBhvr>
                                        <p:cTn id="23" dur="1" fill="hold">
                                          <p:stCondLst>
                                            <p:cond delay="0"/>
                                          </p:stCondLst>
                                        </p:cTn>
                                        <p:tgtEl>
                                          <p:spTgt spid="32771">
                                            <p:txEl>
                                              <p:pRg st="5" end="5"/>
                                            </p:txEl>
                                          </p:spTgt>
                                        </p:tgtEl>
                                        <p:attrNameLst>
                                          <p:attrName>style.visibility</p:attrName>
                                        </p:attrNameLst>
                                      </p:cBhvr>
                                      <p:to>
                                        <p:strVal val="visible"/>
                                      </p:to>
                                    </p:set>
                                    <p:animEffect transition="in" filter="diamond(in)">
                                      <p:cBhvr>
                                        <p:cTn id="24" dur="2000"/>
                                        <p:tgtEl>
                                          <p:spTgt spid="32771">
                                            <p:txEl>
                                              <p:pRg st="5" end="5"/>
                                            </p:txEl>
                                          </p:spTgt>
                                        </p:tgtEl>
                                      </p:cBhvr>
                                    </p:animEffect>
                                  </p:childTnLst>
                                </p:cTn>
                              </p:par>
                              <p:par>
                                <p:cTn id="25" presetID="8" presetClass="entr" presetSubtype="16" fill="hold" grpId="0" nodeType="withEffect">
                                  <p:stCondLst>
                                    <p:cond delay="0"/>
                                  </p:stCondLst>
                                  <p:childTnLst>
                                    <p:set>
                                      <p:cBhvr>
                                        <p:cTn id="26" dur="1" fill="hold">
                                          <p:stCondLst>
                                            <p:cond delay="0"/>
                                          </p:stCondLst>
                                        </p:cTn>
                                        <p:tgtEl>
                                          <p:spTgt spid="32771">
                                            <p:txEl>
                                              <p:pRg st="6" end="6"/>
                                            </p:txEl>
                                          </p:spTgt>
                                        </p:tgtEl>
                                        <p:attrNameLst>
                                          <p:attrName>style.visibility</p:attrName>
                                        </p:attrNameLst>
                                      </p:cBhvr>
                                      <p:to>
                                        <p:strVal val="visible"/>
                                      </p:to>
                                    </p:set>
                                    <p:animEffect transition="in" filter="diamond(in)">
                                      <p:cBhvr>
                                        <p:cTn id="27" dur="2000"/>
                                        <p:tgtEl>
                                          <p:spTgt spid="327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dirty="0"/>
              <a:t>FAT16 tabuľka</a:t>
            </a:r>
          </a:p>
        </p:txBody>
      </p:sp>
      <p:sp>
        <p:nvSpPr>
          <p:cNvPr id="3" name="Content Placeholder 2"/>
          <p:cNvSpPr>
            <a:spLocks noGrp="1"/>
          </p:cNvSpPr>
          <p:nvPr>
            <p:ph idx="1"/>
          </p:nvPr>
        </p:nvSpPr>
        <p:spPr>
          <a:xfrm>
            <a:off x="838200" y="1825625"/>
            <a:ext cx="10515600" cy="1639470"/>
          </a:xfrm>
        </p:spPr>
        <p:txBody>
          <a:bodyPr/>
          <a:lstStyle/>
          <a:p>
            <a:r>
              <a:rPr lang="sk-SK" dirty="0"/>
              <a:t>FAT obsahuje pre každý </a:t>
            </a:r>
            <a:r>
              <a:rPr lang="sk-SK" dirty="0" err="1"/>
              <a:t>kluster</a:t>
            </a:r>
            <a:r>
              <a:rPr lang="sk-SK" dirty="0"/>
              <a:t> jeden (16bit) záznam</a:t>
            </a:r>
          </a:p>
          <a:p>
            <a:pPr lvl="1"/>
            <a:r>
              <a:rPr lang="sk-SK" dirty="0"/>
              <a:t>Niektoré kódy sú vyhradené pre chybné </a:t>
            </a:r>
            <a:r>
              <a:rPr lang="sk-SK" dirty="0" err="1"/>
              <a:t>klustery</a:t>
            </a:r>
            <a:r>
              <a:rPr lang="sk-SK" dirty="0"/>
              <a:t> 0x0000 voľný 0xfff7 chybný 0xffff posledný </a:t>
            </a:r>
            <a:r>
              <a:rPr lang="sk-SK" dirty="0" err="1"/>
              <a:t>kluster</a:t>
            </a:r>
            <a:r>
              <a:rPr lang="sk-SK" dirty="0"/>
              <a:t> súboru</a:t>
            </a:r>
          </a:p>
        </p:txBody>
      </p:sp>
      <p:pic>
        <p:nvPicPr>
          <p:cNvPr id="4" name="Picture 3"/>
          <p:cNvPicPr>
            <a:picLocks noChangeAspect="1"/>
          </p:cNvPicPr>
          <p:nvPr/>
        </p:nvPicPr>
        <p:blipFill>
          <a:blip r:embed="rId2" cstate="print"/>
          <a:stretch>
            <a:fillRect/>
          </a:stretch>
        </p:blipFill>
        <p:spPr>
          <a:xfrm>
            <a:off x="838200" y="3215007"/>
            <a:ext cx="10198768" cy="2533757"/>
          </a:xfrm>
          <a:prstGeom prst="rect">
            <a:avLst/>
          </a:prstGeom>
        </p:spPr>
      </p:pic>
    </p:spTree>
    <p:extLst>
      <p:ext uri="{BB962C8B-B14F-4D97-AF65-F5344CB8AC3E}">
        <p14:creationId xmlns:p14="http://schemas.microsoft.com/office/powerpoint/2010/main" val="19299295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dirty="0"/>
              <a:t>Dátová časť (FAT16)</a:t>
            </a:r>
          </a:p>
        </p:txBody>
      </p:sp>
      <p:sp>
        <p:nvSpPr>
          <p:cNvPr id="3" name="Content Placeholder 2"/>
          <p:cNvSpPr>
            <a:spLocks noGrp="1"/>
          </p:cNvSpPr>
          <p:nvPr>
            <p:ph idx="1"/>
          </p:nvPr>
        </p:nvSpPr>
        <p:spPr/>
        <p:txBody>
          <a:bodyPr>
            <a:normAutofit lnSpcReduction="10000"/>
          </a:bodyPr>
          <a:lstStyle/>
          <a:p>
            <a:r>
              <a:rPr lang="sk-SK" dirty="0"/>
              <a:t>Bežný súbor – dáta</a:t>
            </a:r>
          </a:p>
          <a:p>
            <a:r>
              <a:rPr lang="sk-SK" dirty="0"/>
              <a:t>Adresár – 32Bytov</a:t>
            </a:r>
          </a:p>
          <a:p>
            <a:pPr lvl="1"/>
            <a:r>
              <a:rPr lang="sk-SK" dirty="0"/>
              <a:t>Názov súboru alebo podadresára 8B</a:t>
            </a:r>
          </a:p>
          <a:p>
            <a:pPr lvl="1"/>
            <a:r>
              <a:rPr lang="sk-SK" dirty="0"/>
              <a:t>Prípona súboru 3B</a:t>
            </a:r>
          </a:p>
          <a:p>
            <a:pPr lvl="1"/>
            <a:r>
              <a:rPr lang="sk-SK" dirty="0"/>
              <a:t>Atribúty 1B</a:t>
            </a:r>
          </a:p>
          <a:p>
            <a:pPr lvl="1"/>
            <a:r>
              <a:rPr lang="sk-SK" dirty="0"/>
              <a:t>čas a dátum vytvorenıa a dátum posledného prístupu (3+2+2 B),</a:t>
            </a:r>
          </a:p>
          <a:p>
            <a:pPr lvl="1"/>
            <a:r>
              <a:rPr lang="sk-SK" dirty="0"/>
              <a:t>čas a dátum poslednej zmeny, </a:t>
            </a:r>
            <a:r>
              <a:rPr lang="sk-SK" dirty="0" err="1"/>
              <a:t>tj</a:t>
            </a:r>
            <a:r>
              <a:rPr lang="sk-SK" dirty="0"/>
              <a:t>. zápisu do súboru alebo zmeny </a:t>
            </a:r>
            <a:r>
              <a:rPr lang="sk-SK" dirty="0" err="1"/>
              <a:t>šruktúry</a:t>
            </a:r>
            <a:r>
              <a:rPr lang="sk-SK" dirty="0"/>
              <a:t> adresára (2+2 B),</a:t>
            </a:r>
          </a:p>
          <a:p>
            <a:pPr lvl="1"/>
            <a:r>
              <a:rPr lang="sk-SK" dirty="0"/>
              <a:t>prvý </a:t>
            </a:r>
            <a:r>
              <a:rPr lang="sk-SK" dirty="0" err="1"/>
              <a:t>kluster</a:t>
            </a:r>
            <a:r>
              <a:rPr lang="sk-SK" dirty="0"/>
              <a:t> súboru alebo adresára (pre </a:t>
            </a:r>
            <a:r>
              <a:rPr lang="sk-SK" dirty="0" err="1"/>
              <a:t>label</a:t>
            </a:r>
            <a:r>
              <a:rPr lang="sk-SK" dirty="0"/>
              <a:t> nemá význam, = 0) (2 B),</a:t>
            </a:r>
          </a:p>
          <a:p>
            <a:pPr lvl="1"/>
            <a:r>
              <a:rPr lang="sk-SK" dirty="0"/>
              <a:t>dĺžka súboru alebo adresára (pro </a:t>
            </a:r>
            <a:r>
              <a:rPr lang="sk-SK" dirty="0" err="1"/>
              <a:t>label</a:t>
            </a:r>
            <a:r>
              <a:rPr lang="sk-SK" dirty="0"/>
              <a:t> nemá význam) (4 B), zbytok rezervovaný.</a:t>
            </a:r>
          </a:p>
        </p:txBody>
      </p:sp>
    </p:spTree>
    <p:extLst>
      <p:ext uri="{BB962C8B-B14F-4D97-AF65-F5344CB8AC3E}">
        <p14:creationId xmlns:p14="http://schemas.microsoft.com/office/powerpoint/2010/main" val="2916544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dirty="0"/>
              <a:t>FAT32</a:t>
            </a:r>
          </a:p>
        </p:txBody>
      </p:sp>
      <p:sp>
        <p:nvSpPr>
          <p:cNvPr id="3" name="Content Placeholder 2"/>
          <p:cNvSpPr>
            <a:spLocks noGrp="1"/>
          </p:cNvSpPr>
          <p:nvPr>
            <p:ph idx="1"/>
          </p:nvPr>
        </p:nvSpPr>
        <p:spPr/>
        <p:txBody>
          <a:bodyPr/>
          <a:lstStyle/>
          <a:p>
            <a:r>
              <a:rPr lang="sk-SK" dirty="0"/>
              <a:t>VFAT je nadstavba FAT16 a pridáva podporu dlhých názvov súborov</a:t>
            </a:r>
          </a:p>
          <a:p>
            <a:r>
              <a:rPr lang="sk-SK" dirty="0"/>
              <a:t>FAT32</a:t>
            </a:r>
          </a:p>
          <a:p>
            <a:pPr lvl="1"/>
            <a:r>
              <a:rPr lang="sk-SK" dirty="0"/>
              <a:t>Možnosť definovať menšiu veľkosť </a:t>
            </a:r>
            <a:r>
              <a:rPr lang="sk-SK" dirty="0" err="1"/>
              <a:t>klusteru</a:t>
            </a:r>
            <a:r>
              <a:rPr lang="sk-SK" dirty="0"/>
              <a:t> pri formátovaní</a:t>
            </a:r>
          </a:p>
          <a:p>
            <a:pPr lvl="1"/>
            <a:r>
              <a:rPr lang="sk-SK" dirty="0"/>
              <a:t>Pre disky väčšie ako 2GB</a:t>
            </a:r>
          </a:p>
          <a:p>
            <a:pPr lvl="1"/>
            <a:r>
              <a:rPr lang="sk-SK" dirty="0"/>
              <a:t>FAT tabuľka môže byť ľubovoľne veľká </a:t>
            </a:r>
          </a:p>
          <a:p>
            <a:pPr lvl="1"/>
            <a:r>
              <a:rPr lang="sk-SK" dirty="0"/>
              <a:t>Rýchlejší a lepšie chránený pred chybami</a:t>
            </a:r>
          </a:p>
          <a:p>
            <a:pPr lvl="1"/>
            <a:r>
              <a:rPr lang="sk-SK" dirty="0"/>
              <a:t>Podporuje dlhé názvy súborov</a:t>
            </a:r>
          </a:p>
          <a:p>
            <a:pPr lvl="1"/>
            <a:r>
              <a:rPr lang="sk-SK" dirty="0"/>
              <a:t>32 bit číslo </a:t>
            </a:r>
          </a:p>
        </p:txBody>
      </p:sp>
    </p:spTree>
    <p:extLst>
      <p:ext uri="{BB962C8B-B14F-4D97-AF65-F5344CB8AC3E}">
        <p14:creationId xmlns:p14="http://schemas.microsoft.com/office/powerpoint/2010/main" val="32634670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dirty="0"/>
              <a:t>NTFS</a:t>
            </a:r>
          </a:p>
        </p:txBody>
      </p:sp>
      <p:sp>
        <p:nvSpPr>
          <p:cNvPr id="3" name="Content Placeholder 2"/>
          <p:cNvSpPr>
            <a:spLocks noGrp="1"/>
          </p:cNvSpPr>
          <p:nvPr>
            <p:ph idx="1"/>
          </p:nvPr>
        </p:nvSpPr>
        <p:spPr/>
        <p:txBody>
          <a:bodyPr/>
          <a:lstStyle/>
          <a:p>
            <a:r>
              <a:rPr lang="sk-SK" dirty="0" err="1"/>
              <a:t>Žurnálovací</a:t>
            </a:r>
            <a:r>
              <a:rPr lang="sk-SK" dirty="0"/>
              <a:t> FS</a:t>
            </a:r>
          </a:p>
          <a:p>
            <a:r>
              <a:rPr lang="sk-SK" dirty="0"/>
              <a:t>Prístupové práva</a:t>
            </a:r>
          </a:p>
          <a:p>
            <a:r>
              <a:rPr lang="sk-SK" dirty="0"/>
              <a:t>Všetko je súbor</a:t>
            </a:r>
          </a:p>
          <a:p>
            <a:r>
              <a:rPr lang="sk-SK" dirty="0"/>
              <a:t>Názvy súborov v UNICODE</a:t>
            </a:r>
          </a:p>
          <a:p>
            <a:r>
              <a:rPr lang="sk-SK" dirty="0"/>
              <a:t>Možnosť indexácie podľa rôznych typov dát</a:t>
            </a:r>
          </a:p>
          <a:p>
            <a:r>
              <a:rPr lang="sk-SK" dirty="0"/>
              <a:t>Dynamické </a:t>
            </a:r>
            <a:r>
              <a:rPr lang="sk-SK" dirty="0" err="1"/>
              <a:t>premapovanie</a:t>
            </a:r>
            <a:r>
              <a:rPr lang="sk-SK" dirty="0"/>
              <a:t> </a:t>
            </a:r>
            <a:r>
              <a:rPr lang="sk-SK" dirty="0" err="1"/>
              <a:t>vadných</a:t>
            </a:r>
            <a:r>
              <a:rPr lang="sk-SK" dirty="0"/>
              <a:t> sektorov</a:t>
            </a:r>
          </a:p>
          <a:p>
            <a:r>
              <a:rPr lang="sk-SK" dirty="0"/>
              <a:t>Šifrovanie </a:t>
            </a:r>
            <a:r>
              <a:rPr lang="sk-SK"/>
              <a:t>a kompresia</a:t>
            </a:r>
          </a:p>
          <a:p>
            <a:endParaRPr lang="sk-SK"/>
          </a:p>
        </p:txBody>
      </p:sp>
    </p:spTree>
    <p:extLst>
      <p:ext uri="{BB962C8B-B14F-4D97-AF65-F5344CB8AC3E}">
        <p14:creationId xmlns:p14="http://schemas.microsoft.com/office/powerpoint/2010/main" val="40683284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sk-SK" b="1" dirty="0"/>
              <a:t>NTFS </a:t>
            </a:r>
            <a:r>
              <a:rPr lang="sk-SK" b="1" dirty="0" err="1"/>
              <a:t>Partition</a:t>
            </a:r>
            <a:r>
              <a:rPr lang="sk-SK" b="1" dirty="0"/>
              <a:t> </a:t>
            </a:r>
            <a:r>
              <a:rPr lang="sk-SK" b="1" dirty="0" err="1"/>
              <a:t>Boot</a:t>
            </a:r>
            <a:r>
              <a:rPr lang="sk-SK" b="1" dirty="0"/>
              <a:t> </a:t>
            </a:r>
            <a:r>
              <a:rPr lang="sk-SK" b="1" dirty="0" err="1"/>
              <a:t>Sector</a:t>
            </a:r>
            <a:endParaRPr lang="sk-SK" dirty="0"/>
          </a:p>
        </p:txBody>
      </p:sp>
      <p:sp>
        <p:nvSpPr>
          <p:cNvPr id="3" name="Content Placeholder 2"/>
          <p:cNvSpPr>
            <a:spLocks noGrp="1"/>
          </p:cNvSpPr>
          <p:nvPr>
            <p:ph idx="1"/>
          </p:nvPr>
        </p:nvSpPr>
        <p:spPr/>
        <p:txBody>
          <a:bodyPr/>
          <a:lstStyle/>
          <a:p>
            <a:r>
              <a:rPr lang="en-US" dirty="0"/>
              <a:t>When you format an NTFS volume, the format program allocates the first 16 sectors for the $Boot metadata file. </a:t>
            </a:r>
            <a:endParaRPr lang="sk-SK" dirty="0"/>
          </a:p>
          <a:p>
            <a:pPr lvl="1"/>
            <a:r>
              <a:rPr lang="en-US" dirty="0"/>
              <a:t>First sector, in fact, is a boot sector with a "bootstrap" code</a:t>
            </a:r>
            <a:endParaRPr lang="sk-SK" dirty="0"/>
          </a:p>
          <a:p>
            <a:pPr lvl="1"/>
            <a:r>
              <a:rPr lang="en-US" dirty="0"/>
              <a:t>15 sectors are the boot sector's IPL (initial program loader).</a:t>
            </a:r>
            <a:endParaRPr lang="sk-SK" dirty="0"/>
          </a:p>
          <a:p>
            <a:pPr lvl="2"/>
            <a:r>
              <a:rPr lang="en-US" dirty="0"/>
              <a:t>To increase file system reliability the very last sector an NTFS partition contains a spare copy of the boot sector.</a:t>
            </a:r>
            <a:endParaRPr lang="sk-SK" dirty="0"/>
          </a:p>
          <a:p>
            <a:r>
              <a:rPr lang="en-US" dirty="0"/>
              <a:t>MFT</a:t>
            </a:r>
            <a:r>
              <a:rPr lang="sk-SK" dirty="0"/>
              <a:t> -</a:t>
            </a:r>
            <a:r>
              <a:rPr lang="en-US" dirty="0"/>
              <a:t> </a:t>
            </a:r>
            <a:r>
              <a:rPr lang="sk-SK" dirty="0" err="1"/>
              <a:t>master</a:t>
            </a:r>
            <a:r>
              <a:rPr lang="sk-SK" dirty="0"/>
              <a:t> </a:t>
            </a:r>
            <a:r>
              <a:rPr lang="sk-SK" dirty="0" err="1"/>
              <a:t>file</a:t>
            </a:r>
            <a:r>
              <a:rPr lang="sk-SK" dirty="0"/>
              <a:t> table </a:t>
            </a:r>
            <a:r>
              <a:rPr lang="en-US" dirty="0"/>
              <a:t>is not located in a predefined sector, as on FAT16 and FAT32 volumes.</a:t>
            </a:r>
            <a:endParaRPr lang="sk-SK" dirty="0"/>
          </a:p>
          <a:p>
            <a:pPr lvl="1"/>
            <a:r>
              <a:rPr lang="en-US" dirty="0"/>
              <a:t>the MFT can be moved if there is a bad sector in its normal location. </a:t>
            </a:r>
            <a:endParaRPr lang="sk-SK" dirty="0"/>
          </a:p>
        </p:txBody>
      </p:sp>
    </p:spTree>
    <p:extLst>
      <p:ext uri="{BB962C8B-B14F-4D97-AF65-F5344CB8AC3E}">
        <p14:creationId xmlns:p14="http://schemas.microsoft.com/office/powerpoint/2010/main" val="2603384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NTFS Master File Table (MFT)</a:t>
            </a:r>
            <a:endParaRPr lang="sk-SK" dirty="0"/>
          </a:p>
        </p:txBody>
      </p:sp>
      <p:sp>
        <p:nvSpPr>
          <p:cNvPr id="3" name="Content Placeholder 2"/>
          <p:cNvSpPr>
            <a:spLocks noGrp="1"/>
          </p:cNvSpPr>
          <p:nvPr>
            <p:ph sz="half" idx="1"/>
          </p:nvPr>
        </p:nvSpPr>
        <p:spPr/>
        <p:txBody>
          <a:bodyPr>
            <a:normAutofit fontScale="92500" lnSpcReduction="20000"/>
          </a:bodyPr>
          <a:lstStyle/>
          <a:p>
            <a:r>
              <a:rPr lang="en-US" dirty="0"/>
              <a:t>Each file on an NTFS volume is represented by a record </a:t>
            </a:r>
            <a:endParaRPr lang="sk-SK" dirty="0"/>
          </a:p>
          <a:p>
            <a:r>
              <a:rPr lang="en-US" dirty="0"/>
              <a:t>first record of this table describes the master file table itself, followed by a MFT mirror record</a:t>
            </a:r>
            <a:endParaRPr lang="sk-SK" dirty="0"/>
          </a:p>
          <a:p>
            <a:r>
              <a:rPr lang="en-US" dirty="0"/>
              <a:t>If the first MFT record is corrupted, NTFS reads the second record to find the MFT mirror file, whose first record is identical to the first record of the MFT</a:t>
            </a:r>
            <a:endParaRPr lang="sk-SK" dirty="0"/>
          </a:p>
          <a:p>
            <a:r>
              <a:rPr lang="en-US" dirty="0"/>
              <a:t>The locations of the data segments for both the MFT and MFT mirror file are recorded in the boot sector.</a:t>
            </a:r>
            <a:endParaRPr lang="sk-SK" dirty="0"/>
          </a:p>
        </p:txBody>
      </p:sp>
      <p:pic>
        <p:nvPicPr>
          <p:cNvPr id="9" name="Content Placeholder 8"/>
          <p:cNvPicPr>
            <a:picLocks noGrp="1" noChangeAspect="1"/>
          </p:cNvPicPr>
          <p:nvPr>
            <p:ph sz="half" idx="2"/>
          </p:nvPr>
        </p:nvPicPr>
        <p:blipFill>
          <a:blip r:embed="rId2" cstate="print"/>
          <a:stretch>
            <a:fillRect/>
          </a:stretch>
        </p:blipFill>
        <p:spPr>
          <a:xfrm>
            <a:off x="6172200" y="1690688"/>
            <a:ext cx="5756432" cy="4201640"/>
          </a:xfrm>
          <a:prstGeom prst="rect">
            <a:avLst/>
          </a:prstGeom>
        </p:spPr>
      </p:pic>
    </p:spTree>
    <p:extLst>
      <p:ext uri="{BB962C8B-B14F-4D97-AF65-F5344CB8AC3E}">
        <p14:creationId xmlns:p14="http://schemas.microsoft.com/office/powerpoint/2010/main" val="273274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MFT Record for a Small File or Directory</a:t>
            </a:r>
            <a:endParaRPr lang="sk-SK" dirty="0"/>
          </a:p>
        </p:txBody>
      </p:sp>
      <p:sp>
        <p:nvSpPr>
          <p:cNvPr id="6" name="Content Placeholder 5"/>
          <p:cNvSpPr>
            <a:spLocks noGrp="1"/>
          </p:cNvSpPr>
          <p:nvPr>
            <p:ph idx="1"/>
          </p:nvPr>
        </p:nvSpPr>
        <p:spPr/>
        <p:txBody>
          <a:bodyPr/>
          <a:lstStyle/>
          <a:p>
            <a:r>
              <a:rPr lang="en-US"/>
              <a:t>MFT Record for a Small File or Directory</a:t>
            </a:r>
            <a:endParaRPr lang="sk-SK"/>
          </a:p>
          <a:p>
            <a:r>
              <a:rPr lang="en-US"/>
              <a:t>Small directory records reside entirely within the MFT structure</a:t>
            </a:r>
            <a:endParaRPr lang="sk-SK"/>
          </a:p>
          <a:p>
            <a:endParaRPr lang="sk-SK"/>
          </a:p>
          <a:p>
            <a:endParaRPr lang="sk-SK"/>
          </a:p>
          <a:p>
            <a:r>
              <a:rPr lang="en-US"/>
              <a:t>Large directories are organized into B-trees, having records with pointers to external clusters containing directory entries that could not be contained within the MFT structure.</a:t>
            </a:r>
            <a:endParaRPr lang="sk-SK" dirty="0"/>
          </a:p>
        </p:txBody>
      </p:sp>
      <p:pic>
        <p:nvPicPr>
          <p:cNvPr id="7" name="Picture 6"/>
          <p:cNvPicPr>
            <a:picLocks noChangeAspect="1"/>
          </p:cNvPicPr>
          <p:nvPr/>
        </p:nvPicPr>
        <p:blipFill>
          <a:blip r:embed="rId2" cstate="print"/>
          <a:stretch>
            <a:fillRect/>
          </a:stretch>
        </p:blipFill>
        <p:spPr>
          <a:xfrm>
            <a:off x="2129839" y="2932278"/>
            <a:ext cx="6905625" cy="695325"/>
          </a:xfrm>
          <a:prstGeom prst="rect">
            <a:avLst/>
          </a:prstGeom>
        </p:spPr>
      </p:pic>
    </p:spTree>
    <p:extLst>
      <p:ext uri="{BB962C8B-B14F-4D97-AF65-F5344CB8AC3E}">
        <p14:creationId xmlns:p14="http://schemas.microsoft.com/office/powerpoint/2010/main" val="1247173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a:t>NTFS File Attributes</a:t>
            </a:r>
            <a:endParaRPr lang="sk-SK" dirty="0"/>
          </a:p>
        </p:txBody>
      </p:sp>
      <p:sp>
        <p:nvSpPr>
          <p:cNvPr id="3" name="Content Placeholder 2"/>
          <p:cNvSpPr>
            <a:spLocks noGrp="1"/>
          </p:cNvSpPr>
          <p:nvPr>
            <p:ph idx="1"/>
          </p:nvPr>
        </p:nvSpPr>
        <p:spPr/>
        <p:txBody>
          <a:bodyPr>
            <a:normAutofit fontScale="92500"/>
          </a:bodyPr>
          <a:lstStyle/>
          <a:p>
            <a:r>
              <a:rPr lang="en-US" dirty="0"/>
              <a:t>Elements such as the file's name, its security information, and even its data, are all file attributes</a:t>
            </a:r>
            <a:endParaRPr lang="sk-SK" dirty="0"/>
          </a:p>
          <a:p>
            <a:r>
              <a:rPr lang="en-US" dirty="0"/>
              <a:t>When a file's attributes can fit within the MFT file record, they are called resident attributes</a:t>
            </a:r>
            <a:endParaRPr lang="sk-SK" dirty="0"/>
          </a:p>
          <a:p>
            <a:r>
              <a:rPr lang="en-US" dirty="0"/>
              <a:t>When all of the information for a file is too large to fit in the MFT file record, some of its attributes are nonresident. The nonresident attributes are allocated one or more clusters of disk space elsewhere in the volume.</a:t>
            </a:r>
            <a:endParaRPr lang="sk-SK" dirty="0"/>
          </a:p>
          <a:p>
            <a:r>
              <a:rPr lang="sk-SK" dirty="0" err="1"/>
              <a:t>Attributes</a:t>
            </a:r>
            <a:endParaRPr lang="sk-SK" dirty="0"/>
          </a:p>
          <a:p>
            <a:pPr lvl="1"/>
            <a:r>
              <a:rPr lang="sk-SK" dirty="0"/>
              <a:t>Standard </a:t>
            </a:r>
            <a:r>
              <a:rPr lang="sk-SK" dirty="0" err="1"/>
              <a:t>Information</a:t>
            </a:r>
            <a:r>
              <a:rPr lang="sk-SK" dirty="0"/>
              <a:t>, Standard </a:t>
            </a:r>
            <a:r>
              <a:rPr lang="sk-SK" dirty="0" err="1"/>
              <a:t>Information</a:t>
            </a:r>
            <a:r>
              <a:rPr lang="sk-SK" dirty="0"/>
              <a:t>, </a:t>
            </a:r>
            <a:r>
              <a:rPr lang="sk-SK" dirty="0" err="1"/>
              <a:t>File</a:t>
            </a:r>
            <a:r>
              <a:rPr lang="sk-SK" dirty="0"/>
              <a:t> </a:t>
            </a:r>
            <a:r>
              <a:rPr lang="sk-SK" dirty="0" err="1"/>
              <a:t>Name</a:t>
            </a:r>
            <a:r>
              <a:rPr lang="sk-SK" dirty="0"/>
              <a:t>, </a:t>
            </a:r>
            <a:r>
              <a:rPr lang="sk-SK" dirty="0" err="1"/>
              <a:t>Security</a:t>
            </a:r>
            <a:r>
              <a:rPr lang="sk-SK" dirty="0"/>
              <a:t> </a:t>
            </a:r>
            <a:r>
              <a:rPr lang="sk-SK" dirty="0" err="1"/>
              <a:t>Descriptor</a:t>
            </a:r>
            <a:r>
              <a:rPr lang="sk-SK" dirty="0"/>
              <a:t>, </a:t>
            </a:r>
            <a:r>
              <a:rPr lang="sk-SK" dirty="0" err="1"/>
              <a:t>Data</a:t>
            </a:r>
            <a:r>
              <a:rPr lang="sk-SK" dirty="0"/>
              <a:t>, </a:t>
            </a:r>
            <a:r>
              <a:rPr lang="sk-SK" dirty="0" err="1"/>
              <a:t>Object</a:t>
            </a:r>
            <a:r>
              <a:rPr lang="sk-SK" dirty="0"/>
              <a:t> ID, </a:t>
            </a:r>
            <a:r>
              <a:rPr lang="sk-SK" dirty="0" err="1"/>
              <a:t>Logged</a:t>
            </a:r>
            <a:r>
              <a:rPr lang="sk-SK" dirty="0"/>
              <a:t> Utility Stream, </a:t>
            </a:r>
            <a:r>
              <a:rPr lang="sk-SK" dirty="0" err="1"/>
              <a:t>Reparse</a:t>
            </a:r>
            <a:r>
              <a:rPr lang="sk-SK" dirty="0"/>
              <a:t> Point, Index </a:t>
            </a:r>
            <a:r>
              <a:rPr lang="sk-SK" dirty="0" err="1"/>
              <a:t>Root</a:t>
            </a:r>
            <a:r>
              <a:rPr lang="sk-SK" dirty="0"/>
              <a:t>, Index </a:t>
            </a:r>
            <a:r>
              <a:rPr lang="sk-SK" dirty="0" err="1"/>
              <a:t>Allocation</a:t>
            </a:r>
            <a:r>
              <a:rPr lang="sk-SK" dirty="0"/>
              <a:t>, </a:t>
            </a:r>
            <a:r>
              <a:rPr lang="sk-SK" dirty="0" err="1"/>
              <a:t>Bitmap</a:t>
            </a:r>
            <a:r>
              <a:rPr lang="sk-SK" dirty="0"/>
              <a:t>, </a:t>
            </a:r>
            <a:r>
              <a:rPr lang="sk-SK" dirty="0" err="1"/>
              <a:t>Volume</a:t>
            </a:r>
            <a:r>
              <a:rPr lang="sk-SK" dirty="0"/>
              <a:t> </a:t>
            </a:r>
            <a:r>
              <a:rPr lang="sk-SK" dirty="0" err="1"/>
              <a:t>Information</a:t>
            </a:r>
            <a:r>
              <a:rPr lang="sk-SK" dirty="0"/>
              <a:t>, </a:t>
            </a:r>
            <a:r>
              <a:rPr lang="sk-SK" dirty="0" err="1"/>
              <a:t>Volume</a:t>
            </a:r>
            <a:r>
              <a:rPr lang="sk-SK" dirty="0"/>
              <a:t> </a:t>
            </a:r>
            <a:r>
              <a:rPr lang="sk-SK" dirty="0" err="1"/>
              <a:t>Name</a:t>
            </a:r>
            <a:endParaRPr lang="sk-SK" dirty="0"/>
          </a:p>
        </p:txBody>
      </p:sp>
    </p:spTree>
    <p:extLst>
      <p:ext uri="{BB962C8B-B14F-4D97-AF65-F5344CB8AC3E}">
        <p14:creationId xmlns:p14="http://schemas.microsoft.com/office/powerpoint/2010/main" val="34920658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eaLnBrk="1" hangingPunct="1">
              <a:defRPr/>
            </a:pPr>
            <a:r>
              <a:rPr lang="sk-SK" dirty="0"/>
              <a:t>Súborový systém EFS</a:t>
            </a:r>
            <a:br>
              <a:rPr lang="sk-SK" dirty="0"/>
            </a:br>
            <a:r>
              <a:rPr lang="sk-SK" sz="3600" dirty="0"/>
              <a:t>(</a:t>
            </a:r>
            <a:r>
              <a:rPr lang="sk-SK" sz="3600" dirty="0" err="1"/>
              <a:t>Encrypting</a:t>
            </a:r>
            <a:r>
              <a:rPr lang="sk-SK" sz="3600" dirty="0"/>
              <a:t> </a:t>
            </a:r>
            <a:r>
              <a:rPr lang="sk-SK" sz="3600" dirty="0" err="1"/>
              <a:t>file</a:t>
            </a:r>
            <a:r>
              <a:rPr lang="sk-SK" sz="3600" dirty="0"/>
              <a:t> </a:t>
            </a:r>
            <a:r>
              <a:rPr lang="sk-SK" sz="3600" dirty="0" err="1"/>
              <a:t>system</a:t>
            </a:r>
            <a:r>
              <a:rPr lang="sk-SK" sz="3600" dirty="0"/>
              <a:t>)</a:t>
            </a:r>
          </a:p>
        </p:txBody>
      </p:sp>
      <p:sp>
        <p:nvSpPr>
          <p:cNvPr id="2051" name="Rectangle 3"/>
          <p:cNvSpPr>
            <a:spLocks noGrp="1" noChangeArrowheads="1"/>
          </p:cNvSpPr>
          <p:nvPr>
            <p:ph type="body" idx="1"/>
          </p:nvPr>
        </p:nvSpPr>
        <p:spPr/>
        <p:txBody>
          <a:bodyPr>
            <a:normAutofit fontScale="85000" lnSpcReduction="20000"/>
          </a:bodyPr>
          <a:lstStyle/>
          <a:p>
            <a:pPr algn="l" eaLnBrk="1" hangingPunct="1">
              <a:defRPr/>
            </a:pPr>
            <a:endParaRPr lang="sk-SK" sz="1800"/>
          </a:p>
          <a:p>
            <a:pPr algn="l" eaLnBrk="1" hangingPunct="1">
              <a:defRPr/>
            </a:pPr>
            <a:endParaRPr lang="sk-SK" sz="1800"/>
          </a:p>
          <a:p>
            <a:pPr algn="l" eaLnBrk="1" hangingPunct="1">
              <a:defRPr/>
            </a:pPr>
            <a:endParaRPr lang="sk-SK" sz="1800"/>
          </a:p>
          <a:p>
            <a:pPr algn="l" eaLnBrk="1" hangingPunct="1">
              <a:defRPr/>
            </a:pPr>
            <a:r>
              <a:rPr lang="sk-SK" sz="1800"/>
              <a:t>Vypracoval: </a:t>
            </a:r>
            <a:r>
              <a:rPr lang="sk-SK" sz="1800" b="1"/>
              <a:t>čat. Lacuška Ivan</a:t>
            </a:r>
          </a:p>
          <a:p>
            <a:pPr algn="l" eaLnBrk="1" hangingPunct="1">
              <a:defRPr/>
            </a:pPr>
            <a:r>
              <a:rPr lang="sk-SK" sz="1800"/>
              <a:t>Čata:441</a:t>
            </a:r>
          </a:p>
        </p:txBody>
      </p:sp>
    </p:spTree>
    <p:extLst>
      <p:ext uri="{BB962C8B-B14F-4D97-AF65-F5344CB8AC3E}">
        <p14:creationId xmlns:p14="http://schemas.microsoft.com/office/powerpoint/2010/main" val="2560353890"/>
      </p:ext>
    </p:extLst>
  </p:cSld>
  <p:clrMapOvr>
    <a:masterClrMapping/>
  </p:clrMapOvr>
  <p:transition spd="med" advTm="10000">
    <p:newsfla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cs-CZ" dirty="0"/>
              <a:t>Kryptografické súborové systémy - </a:t>
            </a:r>
            <a:r>
              <a:rPr lang="sk-SK" dirty="0"/>
              <a:t>EFS</a:t>
            </a:r>
          </a:p>
        </p:txBody>
      </p:sp>
      <p:sp>
        <p:nvSpPr>
          <p:cNvPr id="3075" name="Rectangle 3"/>
          <p:cNvSpPr>
            <a:spLocks noGrp="1" noChangeArrowheads="1"/>
          </p:cNvSpPr>
          <p:nvPr>
            <p:ph type="body" idx="1"/>
          </p:nvPr>
        </p:nvSpPr>
        <p:spPr/>
        <p:txBody>
          <a:bodyPr/>
          <a:lstStyle/>
          <a:p>
            <a:r>
              <a:rPr lang="cs-CZ" dirty="0"/>
              <a:t>Typy kryptosystémov</a:t>
            </a:r>
          </a:p>
          <a:p>
            <a:r>
              <a:rPr lang="cs-CZ" dirty="0"/>
              <a:t>Implementácie kryptosystémov sa orientujú na rôzne ciele počnúc kryptovaním celého súborového systému, cez kryptovanie adresárov a súborov v nich až po kryptovanie jednotlivých súborov. Každý z týchto prístupov má svoje výhody i nevýhody. </a:t>
            </a:r>
            <a:endParaRPr lang="sk-SK" dirty="0"/>
          </a:p>
        </p:txBody>
      </p:sp>
    </p:spTree>
    <p:extLst>
      <p:ext uri="{BB962C8B-B14F-4D97-AF65-F5344CB8AC3E}">
        <p14:creationId xmlns:p14="http://schemas.microsoft.com/office/powerpoint/2010/main" val="81761365"/>
      </p:ext>
    </p:extLst>
  </p:cSld>
  <p:clrMapOvr>
    <a:masterClrMapping/>
  </p:clrMapOvr>
  <p:transition spd="med">
    <p:wheel spokes="8"/>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defRPr/>
            </a:pPr>
            <a:r>
              <a:rPr lang="cs-CZ" sz="4000" b="1"/>
              <a:t>Kryptovanie na úrovni adresárov</a:t>
            </a:r>
            <a:br>
              <a:rPr lang="cs-CZ" sz="4000" b="1"/>
            </a:br>
            <a:endParaRPr lang="sk-SK" sz="4000" b="1"/>
          </a:p>
        </p:txBody>
      </p:sp>
      <p:sp>
        <p:nvSpPr>
          <p:cNvPr id="4099" name="Rectangle 3"/>
          <p:cNvSpPr>
            <a:spLocks noGrp="1" noChangeArrowheads="1"/>
          </p:cNvSpPr>
          <p:nvPr>
            <p:ph type="body" idx="1"/>
          </p:nvPr>
        </p:nvSpPr>
        <p:spPr/>
        <p:txBody>
          <a:bodyPr/>
          <a:lstStyle/>
          <a:p>
            <a:pPr eaLnBrk="1" hangingPunct="1">
              <a:defRPr/>
            </a:pPr>
            <a:r>
              <a:rPr lang="cs-CZ" dirty="0"/>
              <a:t>Tieto systém</a:t>
            </a:r>
            <a:r>
              <a:rPr lang="sk-SK" dirty="0"/>
              <a:t>y</a:t>
            </a:r>
            <a:r>
              <a:rPr lang="cs-CZ" dirty="0"/>
              <a:t> umožňujú kryptovanie na úrovni adresá</a:t>
            </a:r>
            <a:r>
              <a:rPr lang="sk-SK" dirty="0"/>
              <a:t>r</a:t>
            </a:r>
            <a:r>
              <a:rPr lang="cs-CZ" dirty="0"/>
              <a:t>ov a súborov v nich, pričom na kryptovanie používajú kľúč.</a:t>
            </a:r>
          </a:p>
          <a:p>
            <a:pPr eaLnBrk="1" hangingPunct="1">
              <a:defRPr/>
            </a:pPr>
            <a:r>
              <a:rPr lang="cs-CZ" dirty="0"/>
              <a:t>Medzi známe implementácie patrí</a:t>
            </a:r>
          </a:p>
          <a:p>
            <a:pPr lvl="1">
              <a:defRPr/>
            </a:pPr>
            <a:r>
              <a:rPr lang="cs-CZ" dirty="0"/>
              <a:t>Cryptographic File System (CFS) navrhnutý Mattom Blazeom,</a:t>
            </a:r>
          </a:p>
          <a:p>
            <a:pPr lvl="1">
              <a:defRPr/>
            </a:pPr>
            <a:r>
              <a:rPr lang="cs-CZ" dirty="0"/>
              <a:t>Transparent Cryptographic File System (TCFS), ktorý je implementovaný na Linux</a:t>
            </a:r>
            <a:r>
              <a:rPr lang="sk-SK" dirty="0"/>
              <a:t>-</a:t>
            </a:r>
            <a:r>
              <a:rPr lang="cs-CZ" dirty="0"/>
              <a:t>e a BSD,</a:t>
            </a:r>
          </a:p>
          <a:p>
            <a:pPr lvl="1">
              <a:defRPr/>
            </a:pPr>
            <a:r>
              <a:rPr lang="cs-CZ" dirty="0"/>
              <a:t>CryptFS ako aj EFS pod Windows 2000. </a:t>
            </a:r>
            <a:endParaRPr lang="sk-SK" dirty="0"/>
          </a:p>
        </p:txBody>
      </p:sp>
    </p:spTree>
    <p:extLst>
      <p:ext uri="{BB962C8B-B14F-4D97-AF65-F5344CB8AC3E}">
        <p14:creationId xmlns:p14="http://schemas.microsoft.com/office/powerpoint/2010/main" val="2025230992"/>
      </p:ext>
    </p:extLst>
  </p:cSld>
  <p:clrMapOvr>
    <a:masterClrMapping/>
  </p:clrMapOvr>
  <p:transition spd="med">
    <p:dissolv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cs-CZ"/>
              <a:t>EFS pod Windows 2000</a:t>
            </a:r>
            <a:br>
              <a:rPr lang="cs-CZ"/>
            </a:br>
            <a:endParaRPr lang="sk-SK"/>
          </a:p>
        </p:txBody>
      </p:sp>
      <p:sp>
        <p:nvSpPr>
          <p:cNvPr id="5123" name="Rectangle 3"/>
          <p:cNvSpPr>
            <a:spLocks noGrp="1" noChangeArrowheads="1"/>
          </p:cNvSpPr>
          <p:nvPr>
            <p:ph type="body" idx="1"/>
          </p:nvPr>
        </p:nvSpPr>
        <p:spPr/>
        <p:txBody>
          <a:bodyPr>
            <a:normAutofit fontScale="85000" lnSpcReduction="10000"/>
          </a:bodyPr>
          <a:lstStyle/>
          <a:p>
            <a:r>
              <a:rPr lang="cs-CZ" dirty="0"/>
              <a:t>EFS je implementované pomocou PKI schémy. Samotné dáta sú kryptované rýchlym symetrickým algoritmom, ktorý je náhodne generovaný. Tento kľúč sa volá file encryption key a po zakryptovaní samotných dát v súbore je následne zakryptovaný verejným PKI kľúčom užívateľa, ktorý sa získa z X.509v3 certifikátu užívateľa. Priv</a:t>
            </a:r>
            <a:r>
              <a:rPr lang="sk-SK" dirty="0"/>
              <a:t>á</a:t>
            </a:r>
            <a:r>
              <a:rPr lang="cs-CZ" dirty="0"/>
              <a:t>tna časť uživateľského PKI kľúča sa použije na rozkryptovanie file encryption key ak chce užívateľ neskôr pristúpiť k dátam. </a:t>
            </a:r>
          </a:p>
          <a:p>
            <a:r>
              <a:rPr lang="cs-CZ" dirty="0"/>
              <a:t>Implementácie EFS podporuje symetrické algoritmy chránené heslom, pretože takéto schémy sú slabé kôli slabým heslám, ktoré si užívatelia volia. EFS navyše kryptuje file encryption key ďa</a:t>
            </a:r>
            <a:r>
              <a:rPr lang="sk-SK" dirty="0"/>
              <a:t>ľ</a:t>
            </a:r>
            <a:r>
              <a:rPr lang="cs-CZ" dirty="0"/>
              <a:t>ším PKI verejným kľúčom, napríklad kľúčom administrátora, takže neskôr v prípade po</a:t>
            </a:r>
            <a:r>
              <a:rPr lang="sk-SK" dirty="0"/>
              <a:t>t</a:t>
            </a:r>
            <a:r>
              <a:rPr lang="cs-CZ" dirty="0"/>
              <a:t>reby môže administrátor použiť svoj tajný PKI kľúč a rozkryptovať file encryption key a pomocou neho následne kozkryptovať samotný súbor (ak napríklad užívateľ stratil svoj tajný kľúč). Zakryptovanie a rozkryptovanie sú naznačené na nasledovných schémach: </a:t>
            </a:r>
            <a:endParaRPr lang="sk-SK" dirty="0"/>
          </a:p>
        </p:txBody>
      </p:sp>
    </p:spTree>
    <p:extLst>
      <p:ext uri="{BB962C8B-B14F-4D97-AF65-F5344CB8AC3E}">
        <p14:creationId xmlns:p14="http://schemas.microsoft.com/office/powerpoint/2010/main" val="2319018849"/>
      </p:ext>
    </p:extLst>
  </p:cSld>
  <p:clrMapOvr>
    <a:masterClrMapping/>
  </p:clrMapOvr>
  <p:transition spd="med">
    <p:strips dir="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0" name="Rectangle 26"/>
          <p:cNvSpPr>
            <a:spLocks noGrp="1" noChangeArrowheads="1"/>
          </p:cNvSpPr>
          <p:nvPr>
            <p:ph type="title"/>
          </p:nvPr>
        </p:nvSpPr>
        <p:spPr/>
        <p:txBody>
          <a:bodyPr/>
          <a:lstStyle/>
          <a:p>
            <a:r>
              <a:rPr lang="sk-SK" dirty="0" err="1"/>
              <a:t>Zakryptovanie</a:t>
            </a:r>
            <a:endParaRPr lang="sk-SK" dirty="0"/>
          </a:p>
        </p:txBody>
      </p:sp>
      <p:graphicFrame>
        <p:nvGraphicFramePr>
          <p:cNvPr id="1026" name="Object 24"/>
          <p:cNvGraphicFramePr>
            <a:graphicFrameLocks noGrp="1" noChangeAspect="1"/>
          </p:cNvGraphicFramePr>
          <p:nvPr>
            <p:ph sz="half" idx="4294967295"/>
            <p:extLst>
              <p:ext uri="{D42A27DB-BD31-4B8C-83A1-F6EECF244321}">
                <p14:modId xmlns:p14="http://schemas.microsoft.com/office/powerpoint/2010/main" val="1254819144"/>
              </p:ext>
            </p:extLst>
          </p:nvPr>
        </p:nvGraphicFramePr>
        <p:xfrm>
          <a:off x="2019299" y="1922181"/>
          <a:ext cx="7343775" cy="4111907"/>
        </p:xfrm>
        <a:graphic>
          <a:graphicData uri="http://schemas.openxmlformats.org/presentationml/2006/ole">
            <mc:AlternateContent xmlns:mc="http://schemas.openxmlformats.org/markup-compatibility/2006">
              <mc:Choice xmlns:v="urn:schemas-microsoft-com:vml" Requires="v">
                <p:oleObj spid="_x0000_s1039" name="Bitmap Image" r:id="rId3" imgW="4610744" imgH="2580952" progId="PBrush">
                  <p:embed/>
                </p:oleObj>
              </mc:Choice>
              <mc:Fallback>
                <p:oleObj name="Bitmap Image" r:id="rId3" imgW="4610744" imgH="2580952" progId="PBrush">
                  <p:embed/>
                  <p:pic>
                    <p:nvPicPr>
                      <p:cNvPr id="0" name="Picture 1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9299" y="1922181"/>
                        <a:ext cx="7343775" cy="41119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12702341"/>
      </p:ext>
    </p:extLst>
  </p:cSld>
  <p:clrMapOvr>
    <a:masterClrMapping/>
  </p:clrMapOvr>
  <p:transition spd="med">
    <p:wheel spokes="2"/>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sk-SK"/>
              <a:t>Rozkryptovanie</a:t>
            </a:r>
            <a:endParaRPr lang="sk-SK" dirty="0"/>
          </a:p>
        </p:txBody>
      </p:sp>
      <p:graphicFrame>
        <p:nvGraphicFramePr>
          <p:cNvPr id="2050" name="Object 4"/>
          <p:cNvGraphicFramePr>
            <a:graphicFrameLocks noGrp="1" noChangeAspect="1"/>
          </p:cNvGraphicFramePr>
          <p:nvPr>
            <p:ph idx="4294967295"/>
            <p:extLst>
              <p:ext uri="{D42A27DB-BD31-4B8C-83A1-F6EECF244321}">
                <p14:modId xmlns:p14="http://schemas.microsoft.com/office/powerpoint/2010/main" val="139550441"/>
              </p:ext>
            </p:extLst>
          </p:nvPr>
        </p:nvGraphicFramePr>
        <p:xfrm>
          <a:off x="1716505" y="1690688"/>
          <a:ext cx="8423275" cy="4659312"/>
        </p:xfrm>
        <a:graphic>
          <a:graphicData uri="http://schemas.openxmlformats.org/presentationml/2006/ole">
            <mc:AlternateContent xmlns:mc="http://schemas.openxmlformats.org/markup-compatibility/2006">
              <mc:Choice xmlns:v="urn:schemas-microsoft-com:vml" Requires="v">
                <p:oleObj spid="_x0000_s2063" name="Bitmap Image" r:id="rId3" imgW="4686954" imgH="2591162" progId="PBrush">
                  <p:embed/>
                </p:oleObj>
              </mc:Choice>
              <mc:Fallback>
                <p:oleObj name="Bitmap Image" r:id="rId3" imgW="4686954" imgH="2591162" progId="PBrush">
                  <p:embed/>
                  <p:pic>
                    <p:nvPicPr>
                      <p:cNvPr id="0" name="Picture 12"/>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6505" y="1690688"/>
                        <a:ext cx="8423275" cy="465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45791005"/>
      </p:ext>
    </p:extLst>
  </p:cSld>
  <p:clrMapOvr>
    <a:masterClrMapping/>
  </p:clrMapOvr>
  <p:transition spd="med">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k-SK" dirty="0"/>
              <a:t>EFS popis</a:t>
            </a:r>
          </a:p>
        </p:txBody>
      </p:sp>
      <p:sp>
        <p:nvSpPr>
          <p:cNvPr id="18435" name="Rectangle 3"/>
          <p:cNvSpPr>
            <a:spLocks noGrp="1" noChangeArrowheads="1"/>
          </p:cNvSpPr>
          <p:nvPr>
            <p:ph idx="1"/>
          </p:nvPr>
        </p:nvSpPr>
        <p:spPr/>
        <p:txBody>
          <a:bodyPr/>
          <a:lstStyle/>
          <a:p>
            <a:pPr eaLnBrk="1" hangingPunct="1">
              <a:lnSpc>
                <a:spcPct val="80000"/>
              </a:lnSpc>
              <a:defRPr/>
            </a:pPr>
            <a:r>
              <a:rPr lang="cs-CZ" sz="2000"/>
              <a:t>EFS je navrhnutý tak, aby bol pre užívateľa transparentný. Ak užívateľ pristupuje na kryptovaný súbor, EFS sa pokúsi nájsť privátny kľúč užívateľa a pomocou neho rozkrypt</a:t>
            </a:r>
            <a:r>
              <a:rPr lang="sk-SK" sz="2000"/>
              <a:t>o</a:t>
            </a:r>
            <a:r>
              <a:rPr lang="cs-CZ" sz="2000"/>
              <a:t>vať file encryption key a tento rozkryptovaný kľúč použiť na rozkryptovanie dát. Takže ak sa iný užívateľ pokúsi pristúpiť ku kryptovanému súboru, nepodarí sa mu rozkryptovať </a:t>
            </a:r>
            <a:r>
              <a:rPr lang="cs-CZ" sz="2000" i="1"/>
              <a:t>File Encryption Key</a:t>
            </a:r>
            <a:r>
              <a:rPr lang="cs-CZ" sz="2000"/>
              <a:t> a dostane hlásenie </a:t>
            </a:r>
            <a:r>
              <a:rPr lang="cs-CZ" sz="2000" i="1"/>
              <a:t>Access Denied</a:t>
            </a:r>
            <a:r>
              <a:rPr lang="cs-CZ" sz="2000"/>
              <a:t>. </a:t>
            </a:r>
          </a:p>
          <a:p>
            <a:pPr eaLnBrk="1" hangingPunct="1">
              <a:lnSpc>
                <a:spcPct val="80000"/>
              </a:lnSpc>
              <a:defRPr/>
            </a:pPr>
            <a:r>
              <a:rPr lang="cs-CZ" sz="2000"/>
              <a:t>Implementácia EFS je naznačená v n</a:t>
            </a:r>
            <a:r>
              <a:rPr lang="sk-SK" sz="2000"/>
              <a:t>á</a:t>
            </a:r>
            <a:r>
              <a:rPr lang="cs-CZ" sz="2000"/>
              <a:t>sledovnej schéme a pozostáva zo štyroch častí. EFS driver, filesystem runtime knižnica, EFS služba a rôzne API. EFS driver je umiestnený nad NTFS driverom a komunikuje s EFS službou na generovanie file encryption keys prípadne iných kryptooperácií. Driver potom posunie dáta do runtime knižnice</a:t>
            </a:r>
            <a:r>
              <a:rPr lang="sk-SK" sz="2000"/>
              <a:t>,</a:t>
            </a:r>
            <a:r>
              <a:rPr lang="cs-CZ" sz="2000"/>
              <a:t> aby sa vykonali rôzne operácie nad súborovým sytémom. Komunikácia však nie je priama, ale používa sa NTFS call control mechanizmus. EFS služba je súčasť security subsystému a používa kanál medzi LSA (Local Security Authority) a kernelovým security monitorom na komunikáciu s EFS driverom. EFS služba komunikuje s CryptoAPI (nemýliť si s linuxovým CryptoAPI) v user-lande a zabezpečuje manažment okolo kľúčov a iné služby. Tiež poskytuje interface pre Win32 API</a:t>
            </a:r>
            <a:r>
              <a:rPr lang="sk-SK" sz="2000"/>
              <a:t>,</a:t>
            </a:r>
            <a:r>
              <a:rPr lang="cs-CZ" sz="2000"/>
              <a:t> teda programátors</a:t>
            </a:r>
            <a:r>
              <a:rPr lang="sk-SK" sz="2000"/>
              <a:t>k</a:t>
            </a:r>
            <a:r>
              <a:rPr lang="cs-CZ" sz="2000"/>
              <a:t>ý interface pre dekryptovanie a enkryptovanie a obnovu súborov, ako aj import a export súbrov. Nasledov</a:t>
            </a:r>
            <a:r>
              <a:rPr lang="sk-SK" sz="2000"/>
              <a:t>n</a:t>
            </a:r>
            <a:r>
              <a:rPr lang="cs-CZ" sz="2000"/>
              <a:t>á schéma znázorňuje implementáciu EFS. </a:t>
            </a:r>
            <a:endParaRPr lang="sk-SK" sz="2000"/>
          </a:p>
        </p:txBody>
      </p:sp>
    </p:spTree>
    <p:extLst>
      <p:ext uri="{BB962C8B-B14F-4D97-AF65-F5344CB8AC3E}">
        <p14:creationId xmlns:p14="http://schemas.microsoft.com/office/powerpoint/2010/main" val="3863200218"/>
      </p:ext>
    </p:extLst>
  </p:cSld>
  <p:clrMapOvr>
    <a:masterClrMapping/>
  </p:clrMapOvr>
  <p:transition spd="med">
    <p:zoom dir="in"/>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5"/>
          <p:cNvSpPr>
            <a:spLocks noGrp="1" noChangeArrowheads="1"/>
          </p:cNvSpPr>
          <p:nvPr>
            <p:ph type="title"/>
          </p:nvPr>
        </p:nvSpPr>
        <p:spPr/>
        <p:txBody>
          <a:bodyPr/>
          <a:lstStyle/>
          <a:p>
            <a:pPr eaLnBrk="1" hangingPunct="1">
              <a:defRPr/>
            </a:pPr>
            <a:r>
              <a:rPr lang="sk-SK" dirty="0"/>
              <a:t>Implementácia EFS</a:t>
            </a:r>
          </a:p>
        </p:txBody>
      </p:sp>
      <p:pic>
        <p:nvPicPr>
          <p:cNvPr id="10243" name="Picture 4" descr="EFS architektura"/>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a:xfrm>
            <a:off x="2135189" y="1174751"/>
            <a:ext cx="8029575" cy="5465763"/>
          </a:xfr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9184411"/>
      </p:ext>
    </p:extLst>
  </p:cSld>
  <p:clrMapOvr>
    <a:masterClrMapping/>
  </p:clrMapOvr>
  <p:transition spd="med">
    <p:dissolv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sk-SK"/>
          </a:p>
        </p:txBody>
      </p:sp>
      <p:sp>
        <p:nvSpPr>
          <p:cNvPr id="21507" name="Rectangle 3"/>
          <p:cNvSpPr>
            <a:spLocks noGrp="1" noChangeArrowheads="1"/>
          </p:cNvSpPr>
          <p:nvPr>
            <p:ph type="body" idx="1"/>
          </p:nvPr>
        </p:nvSpPr>
        <p:spPr/>
        <p:txBody>
          <a:bodyPr/>
          <a:lstStyle/>
          <a:p>
            <a:r>
              <a:rPr lang="en-US"/>
              <a:t>In Windows 7, the architecture of EFS has changed to incorporate ECC</a:t>
            </a:r>
            <a:r>
              <a:rPr lang="sk-SK"/>
              <a:t> and </a:t>
            </a:r>
            <a:r>
              <a:rPr lang="en-US"/>
              <a:t>use of AES, SHA, and ECC cryptographic algorithms for data protection. </a:t>
            </a:r>
            <a:endParaRPr lang="sk-SK"/>
          </a:p>
          <a:p>
            <a:endParaRPr lang="sk-SK"/>
          </a:p>
          <a:p>
            <a:r>
              <a:rPr lang="en-US"/>
              <a:t>Advanced EFS Data Recovery 3.2 Breaks Vista EFS Encryption</a:t>
            </a:r>
            <a:r>
              <a:rPr lang="sk-SK"/>
              <a:t> (March 05, 2007) </a:t>
            </a:r>
            <a:r>
              <a:rPr lang="sk-SK">
                <a:hlinkClick r:id="rId2"/>
              </a:rPr>
              <a:t>http://www.pr.com/press-release/31464</a:t>
            </a:r>
            <a:r>
              <a:rPr lang="sk-SK"/>
              <a:t> </a:t>
            </a:r>
            <a:endParaRPr lang="sk-SK" dirty="0"/>
          </a:p>
        </p:txBody>
      </p:sp>
    </p:spTree>
    <p:extLst>
      <p:ext uri="{BB962C8B-B14F-4D97-AF65-F5344CB8AC3E}">
        <p14:creationId xmlns:p14="http://schemas.microsoft.com/office/powerpoint/2010/main" val="4146550416"/>
      </p:ext>
    </p:extLst>
  </p:cSld>
  <p:clrMapOvr>
    <a:masterClrMapping/>
  </p:clrMapOvr>
  <p:transition spd="med">
    <p:strips dir="ru"/>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EFS benefits</a:t>
            </a:r>
            <a:endParaRPr lang="sk-SK" dirty="0"/>
          </a:p>
        </p:txBody>
      </p:sp>
      <p:sp>
        <p:nvSpPr>
          <p:cNvPr id="3" name="Content Placeholder 2"/>
          <p:cNvSpPr>
            <a:spLocks noGrp="1"/>
          </p:cNvSpPr>
          <p:nvPr>
            <p:ph idx="1"/>
          </p:nvPr>
        </p:nvSpPr>
        <p:spPr/>
        <p:txBody>
          <a:bodyPr>
            <a:normAutofit fontScale="85000" lnSpcReduction="10000"/>
          </a:bodyPr>
          <a:lstStyle/>
          <a:p>
            <a:r>
              <a:rPr lang="en-US" dirty="0"/>
              <a:t>It is transparent for user and any applications. There's no risk for user to forget to encrypt file and leave data unprotected. Once file or folder is marked as encrypted, it will be encrypted in background without interaction with user. User does not need to remember password to decrypt files.</a:t>
            </a:r>
          </a:p>
          <a:p>
            <a:r>
              <a:rPr lang="en-US" dirty="0"/>
              <a:t>Strong key security. In contrast to other solutions when keys are based on user entered pass-phrase, EFS generates keys which are tolerant to dictionary based attacks.</a:t>
            </a:r>
          </a:p>
          <a:p>
            <a:r>
              <a:rPr lang="en-US" dirty="0"/>
              <a:t>All encrypting/decrypting processes are performed in kernel mode, excluding the risk of leaving key in paging file, from where it could be possibly extracted.</a:t>
            </a:r>
          </a:p>
          <a:p>
            <a:r>
              <a:rPr lang="en-US" dirty="0"/>
              <a:t>EFS provides data recovery mechanism which is valuable in business environment, giving an organization an opportunity to restore data even if the employee who encrypted it left the company.</a:t>
            </a:r>
          </a:p>
          <a:p>
            <a:endParaRPr lang="sk-SK" dirty="0"/>
          </a:p>
        </p:txBody>
      </p:sp>
    </p:spTree>
    <p:extLst>
      <p:ext uri="{BB962C8B-B14F-4D97-AF65-F5344CB8AC3E}">
        <p14:creationId xmlns:p14="http://schemas.microsoft.com/office/powerpoint/2010/main" val="32318466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sk-SK" dirty="0"/>
              <a:t>Doštudovať</a:t>
            </a:r>
          </a:p>
        </p:txBody>
      </p:sp>
      <p:sp>
        <p:nvSpPr>
          <p:cNvPr id="3" name="Zástupný symbol obsahu 2"/>
          <p:cNvSpPr>
            <a:spLocks noGrp="1"/>
          </p:cNvSpPr>
          <p:nvPr>
            <p:ph idx="1"/>
          </p:nvPr>
        </p:nvSpPr>
        <p:spPr/>
        <p:txBody>
          <a:bodyPr/>
          <a:lstStyle/>
          <a:p>
            <a:r>
              <a:rPr lang="sk-SK" dirty="0" err="1"/>
              <a:t>Vavrečková</a:t>
            </a:r>
            <a:r>
              <a:rPr lang="sk-SK" dirty="0"/>
              <a:t>, Š.: Operační systémy – prednášky</a:t>
            </a:r>
          </a:p>
          <a:p>
            <a:pPr lvl="1"/>
            <a:r>
              <a:rPr lang="sk-SK" dirty="0"/>
              <a:t>Kapitola 8 Pamäťové médiá časť 8.5 súborové systémy pre Linux</a:t>
            </a:r>
          </a:p>
          <a:p>
            <a:pPr lvl="0"/>
            <a:r>
              <a:rPr lang="sk-SK" b="1" dirty="0"/>
              <a:t>SILBERSCHATZ, </a:t>
            </a:r>
            <a:r>
              <a:rPr lang="sk-SK" b="1" dirty="0" err="1"/>
              <a:t>Abraham</a:t>
            </a:r>
            <a:r>
              <a:rPr lang="sk-SK" b="1" dirty="0"/>
              <a:t>, Peter B GALVIN a </a:t>
            </a:r>
            <a:r>
              <a:rPr lang="sk-SK" b="1" dirty="0" err="1"/>
              <a:t>Greg</a:t>
            </a:r>
            <a:r>
              <a:rPr lang="sk-SK" b="1" dirty="0"/>
              <a:t> GAGNE</a:t>
            </a:r>
            <a:r>
              <a:rPr lang="sk-SK" dirty="0"/>
              <a:t>. </a:t>
            </a:r>
            <a:r>
              <a:rPr lang="sk-SK" i="1" dirty="0" err="1"/>
              <a:t>Operating</a:t>
            </a:r>
            <a:r>
              <a:rPr lang="sk-SK" i="1" dirty="0"/>
              <a:t> </a:t>
            </a:r>
            <a:r>
              <a:rPr lang="sk-SK" i="1" dirty="0" err="1"/>
              <a:t>system</a:t>
            </a:r>
            <a:r>
              <a:rPr lang="sk-SK" i="1" dirty="0"/>
              <a:t> </a:t>
            </a:r>
            <a:r>
              <a:rPr lang="sk-SK" i="1" dirty="0" err="1"/>
              <a:t>concepts</a:t>
            </a:r>
            <a:r>
              <a:rPr lang="sk-SK" dirty="0"/>
              <a:t>. 9th </a:t>
            </a:r>
            <a:r>
              <a:rPr lang="sk-SK" dirty="0" err="1"/>
              <a:t>ed</a:t>
            </a:r>
            <a:r>
              <a:rPr lang="sk-SK" dirty="0"/>
              <a:t>. </a:t>
            </a:r>
            <a:r>
              <a:rPr lang="sk-SK" dirty="0" err="1"/>
              <a:t>Hoboken</a:t>
            </a:r>
            <a:r>
              <a:rPr lang="sk-SK" dirty="0"/>
              <a:t>, NJ: </a:t>
            </a:r>
            <a:r>
              <a:rPr lang="sk-SK" dirty="0" err="1"/>
              <a:t>Wiley</a:t>
            </a:r>
            <a:r>
              <a:rPr lang="sk-SK" dirty="0"/>
              <a:t>, c2013, </a:t>
            </a:r>
            <a:r>
              <a:rPr lang="sk-SK" dirty="0" err="1"/>
              <a:t>xxii</a:t>
            </a:r>
            <a:r>
              <a:rPr lang="sk-SK" dirty="0"/>
              <a:t>, 919 s. ISBN 978-111-8063-330.</a:t>
            </a:r>
          </a:p>
          <a:p>
            <a:pPr lvl="1"/>
            <a:r>
              <a:rPr lang="sk-SK" dirty="0"/>
              <a:t>Part </a:t>
            </a:r>
            <a:r>
              <a:rPr lang="sk-SK" dirty="0" err="1"/>
              <a:t>Four</a:t>
            </a:r>
            <a:r>
              <a:rPr lang="sk-SK" dirty="0"/>
              <a:t> – </a:t>
            </a:r>
            <a:r>
              <a:rPr lang="sk-SK" dirty="0" err="1"/>
              <a:t>Storage</a:t>
            </a:r>
            <a:r>
              <a:rPr lang="sk-SK"/>
              <a:t> Management</a:t>
            </a:r>
            <a:endParaRPr lang="sk-SK"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Zástupný symbol čísla snímky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238DADF7-F687-4C21-8663-A1934FF7C845}" type="slidenum">
              <a:rPr lang="sk-SK" sz="1400"/>
              <a:pPr/>
              <a:t>57</a:t>
            </a:fld>
            <a:endParaRPr lang="sk-SK" sz="1400"/>
          </a:p>
        </p:txBody>
      </p:sp>
      <p:sp>
        <p:nvSpPr>
          <p:cNvPr id="1028" name="Rectangle 2"/>
          <p:cNvSpPr>
            <a:spLocks noGrp="1" noChangeArrowheads="1"/>
          </p:cNvSpPr>
          <p:nvPr>
            <p:ph type="title" idx="4294967295"/>
          </p:nvPr>
        </p:nvSpPr>
        <p:spPr/>
        <p:txBody>
          <a:bodyPr/>
          <a:lstStyle/>
          <a:p>
            <a:r>
              <a:rPr lang="sk-SK"/>
              <a:t>Záver</a:t>
            </a:r>
          </a:p>
        </p:txBody>
      </p:sp>
      <p:sp>
        <p:nvSpPr>
          <p:cNvPr id="1029" name="Text Box 3"/>
          <p:cNvSpPr txBox="1">
            <a:spLocks noChangeArrowheads="1"/>
          </p:cNvSpPr>
          <p:nvPr/>
        </p:nvSpPr>
        <p:spPr bwMode="auto">
          <a:xfrm>
            <a:off x="2911476" y="2330450"/>
            <a:ext cx="3184525"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sk-SK" sz="6600"/>
              <a:t>Otázky ?</a:t>
            </a:r>
            <a:endParaRPr lang="sk-SK" sz="5400"/>
          </a:p>
        </p:txBody>
      </p:sp>
      <p:graphicFrame>
        <p:nvGraphicFramePr>
          <p:cNvPr id="1026" name="Object 4"/>
          <p:cNvGraphicFramePr>
            <a:graphicFrameLocks noChangeAspect="1"/>
          </p:cNvGraphicFramePr>
          <p:nvPr/>
        </p:nvGraphicFramePr>
        <p:xfrm>
          <a:off x="6362700" y="604838"/>
          <a:ext cx="3848100" cy="5478462"/>
        </p:xfrm>
        <a:graphic>
          <a:graphicData uri="http://schemas.openxmlformats.org/presentationml/2006/ole">
            <mc:AlternateContent xmlns:mc="http://schemas.openxmlformats.org/markup-compatibility/2006">
              <mc:Choice xmlns:v="urn:schemas-microsoft-com:vml" Requires="v">
                <p:oleObj spid="_x0000_s3087" name="Clip" r:id="rId3" imgW="3929400" imgH="5682600" progId="">
                  <p:embed/>
                </p:oleObj>
              </mc:Choice>
              <mc:Fallback>
                <p:oleObj name="Clip" r:id="rId3" imgW="3929400" imgH="5682600" progId="">
                  <p:embed/>
                  <p:pic>
                    <p:nvPicPr>
                      <p:cNvPr id="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2700" y="604838"/>
                        <a:ext cx="3848100" cy="5478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31600480"/>
      </p:ext>
    </p:extLst>
  </p:cSld>
  <p:clrMapOvr>
    <a:masterClrMapping/>
  </p:clrMapOvr>
  <p:transition>
    <p:zoom/>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3213</Words>
  <Application>Microsoft Office PowerPoint</Application>
  <PresentationFormat>Širokouhlá</PresentationFormat>
  <Paragraphs>383</Paragraphs>
  <Slides>57</Slides>
  <Notes>0</Notes>
  <HiddenSlides>0</HiddenSlides>
  <MMClips>0</MMClips>
  <ScaleCrop>false</ScaleCrop>
  <HeadingPairs>
    <vt:vector size="4" baseType="variant">
      <vt:variant>
        <vt:lpstr>Motív</vt:lpstr>
      </vt:variant>
      <vt:variant>
        <vt:i4>1</vt:i4>
      </vt:variant>
      <vt:variant>
        <vt:lpstr>Nadpisy snímok</vt:lpstr>
      </vt:variant>
      <vt:variant>
        <vt:i4>57</vt:i4>
      </vt:variant>
    </vt:vector>
  </HeadingPairs>
  <TitlesOfParts>
    <vt:vector size="58" baseType="lpstr">
      <vt:lpstr>Office Theme</vt:lpstr>
      <vt:lpstr>Správa a organizácia diskov</vt:lpstr>
      <vt:lpstr>File Systems</vt:lpstr>
      <vt:lpstr>Fyzická organizácia dát</vt:lpstr>
      <vt:lpstr>Zväzok</vt:lpstr>
      <vt:lpstr>Súbory na magnetickej páske</vt:lpstr>
      <vt:lpstr>Dáta na diskoch</vt:lpstr>
      <vt:lpstr>Pevný disk</vt:lpstr>
      <vt:lpstr>Kluster</vt:lpstr>
      <vt:lpstr>Prezentácia programu PowerPoint</vt:lpstr>
      <vt:lpstr>Príklad – uloženie 2KB súboru </vt:lpstr>
      <vt:lpstr>Vzťah bloku a záznamu</vt:lpstr>
      <vt:lpstr>Vzťah bloku a záznamu</vt:lpstr>
      <vt:lpstr>Atribúty súboru</vt:lpstr>
      <vt:lpstr>Adresár</vt:lpstr>
      <vt:lpstr>Jednoúrovňový adresár</vt:lpstr>
      <vt:lpstr>Dvojúrovňový adresár</vt:lpstr>
      <vt:lpstr>Dvojúrovňový adresár II.</vt:lpstr>
      <vt:lpstr>Dvojúrovňový adresár III.</vt:lpstr>
      <vt:lpstr>Stromová štruktúra adresárov</vt:lpstr>
      <vt:lpstr>Stromová štruktúra adresárov II.</vt:lpstr>
      <vt:lpstr>Acyklická štruktúra adresárov</vt:lpstr>
      <vt:lpstr>Acyklická štruktúra adresárov II.</vt:lpstr>
      <vt:lpstr>Cyklická štruktúra adresárov</vt:lpstr>
      <vt:lpstr>Operácie so súbormi</vt:lpstr>
      <vt:lpstr>Operácie so súbormi II.</vt:lpstr>
      <vt:lpstr>Prístupové metódy k záznamom súborov</vt:lpstr>
      <vt:lpstr>Sekvenčný prístup</vt:lpstr>
      <vt:lpstr>Priamy prístup</vt:lpstr>
      <vt:lpstr>Index - sekvenčný prístup</vt:lpstr>
      <vt:lpstr>Index - sekvenčný prístup II.</vt:lpstr>
      <vt:lpstr>Alokácia súborov - Súvislá alokácia </vt:lpstr>
      <vt:lpstr>Zreťazená alokácia </vt:lpstr>
      <vt:lpstr>Indexovaná alokácia</vt:lpstr>
      <vt:lpstr>Súborové systémy</vt:lpstr>
      <vt:lpstr>Súborové systémy windows</vt:lpstr>
      <vt:lpstr>Čo sa deje počas formátovania FAT?</vt:lpstr>
      <vt:lpstr>Čo sa deje počas formátovania?</vt:lpstr>
      <vt:lpstr>FAT16 tabuľka</vt:lpstr>
      <vt:lpstr>Dátová časť (FAT16)</vt:lpstr>
      <vt:lpstr>FAT32</vt:lpstr>
      <vt:lpstr>NTFS</vt:lpstr>
      <vt:lpstr>NTFS Partition Boot Sector</vt:lpstr>
      <vt:lpstr>NTFS Master File Table (MFT)</vt:lpstr>
      <vt:lpstr>MFT Record for a Small File or Directory</vt:lpstr>
      <vt:lpstr>NTFS File Attributes</vt:lpstr>
      <vt:lpstr>Súborový systém EFS (Encrypting file system)</vt:lpstr>
      <vt:lpstr>Kryptografické súborové systémy - EFS</vt:lpstr>
      <vt:lpstr>Kryptovanie na úrovni adresárov </vt:lpstr>
      <vt:lpstr>EFS pod Windows 2000 </vt:lpstr>
      <vt:lpstr>Zakryptovanie</vt:lpstr>
      <vt:lpstr>Rozkryptovanie</vt:lpstr>
      <vt:lpstr>EFS popis</vt:lpstr>
      <vt:lpstr>Implementácia EFS</vt:lpstr>
      <vt:lpstr>Prezentácia programu PowerPoint</vt:lpstr>
      <vt:lpstr>EFS benefits</vt:lpstr>
      <vt:lpstr>Doštudovať</vt:lpstr>
      <vt:lpstr>Záver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Správa a organizácia diskov</dc:title>
  <dc:creator>Julius Barath</dc:creator>
  <cp:lastModifiedBy>barath</cp:lastModifiedBy>
  <cp:revision>22</cp:revision>
  <dcterms:created xsi:type="dcterms:W3CDTF">2013-05-28T08:11:49Z</dcterms:created>
  <dcterms:modified xsi:type="dcterms:W3CDTF">2022-02-11T09:08:36Z</dcterms:modified>
</cp:coreProperties>
</file>