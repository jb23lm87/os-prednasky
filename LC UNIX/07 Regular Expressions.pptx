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76" r:id="rId13"/>
    <p:sldId id="269" r:id="rId14"/>
    <p:sldId id="270" r:id="rId15"/>
    <p:sldId id="271" r:id="rId16"/>
    <p:sldId id="272" r:id="rId17"/>
    <p:sldId id="275" r:id="rId18"/>
    <p:sldId id="274" r:id="rId19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32933D-EE68-DB44-892B-73EFEAB72A24}" v="1" dt="2026-03-12T05:58:55.615"/>
  </p1510:revLst>
</p1510:revInfo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609"/>
    <p:restoredTop sz="94734"/>
  </p:normalViewPr>
  <p:slideViewPr>
    <p:cSldViewPr snapToGrid="0">
      <p:cViewPr varScale="1">
        <p:scale>
          <a:sx n="128" d="100"/>
          <a:sy n="128" d="100"/>
        </p:scale>
        <p:origin x="176" y="6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custSel modSld">
      <pc:chgData name="Baráth, Július" userId="aebde9b9-dccc-4475-a9ac-c05e78323d7a" providerId="ADAL" clId="{4A0811C8-ED2F-505E-B787-C8270CED5046}" dt="2026-03-12T06:06:47.435" v="22" actId="20577"/>
      <pc:docMkLst>
        <pc:docMk/>
      </pc:docMkLst>
      <pc:sldChg chg="modSp mod">
        <pc:chgData name="Baráth, Július" userId="aebde9b9-dccc-4475-a9ac-c05e78323d7a" providerId="ADAL" clId="{4A0811C8-ED2F-505E-B787-C8270CED5046}" dt="2026-03-11T13:44:22.243" v="0" actId="6549"/>
        <pc:sldMkLst>
          <pc:docMk/>
          <pc:sldMk cId="0" sldId="261"/>
        </pc:sldMkLst>
        <pc:spChg chg="mod">
          <ac:chgData name="Baráth, Július" userId="aebde9b9-dccc-4475-a9ac-c05e78323d7a" providerId="ADAL" clId="{4A0811C8-ED2F-505E-B787-C8270CED5046}" dt="2026-03-11T13:44:22.243" v="0" actId="6549"/>
          <ac:spMkLst>
            <pc:docMk/>
            <pc:sldMk cId="0" sldId="261"/>
            <ac:spMk id="54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2T05:59:34.986" v="11" actId="207"/>
        <pc:sldMkLst>
          <pc:docMk/>
          <pc:sldMk cId="0" sldId="270"/>
        </pc:sldMkLst>
        <pc:spChg chg="mod">
          <ac:chgData name="Baráth, Július" userId="aebde9b9-dccc-4475-a9ac-c05e78323d7a" providerId="ADAL" clId="{4A0811C8-ED2F-505E-B787-C8270CED5046}" dt="2026-03-12T05:59:34.986" v="11" actId="207"/>
          <ac:spMkLst>
            <pc:docMk/>
            <pc:sldMk cId="0" sldId="270"/>
            <ac:spMk id="117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2T06:06:47.435" v="22" actId="20577"/>
        <pc:sldMkLst>
          <pc:docMk/>
          <pc:sldMk cId="2299823048" sldId="275"/>
        </pc:sldMkLst>
        <pc:spChg chg="mod">
          <ac:chgData name="Baráth, Július" userId="aebde9b9-dccc-4475-a9ac-c05e78323d7a" providerId="ADAL" clId="{4A0811C8-ED2F-505E-B787-C8270CED5046}" dt="2026-03-12T06:06:41.103" v="20" actId="20577"/>
          <ac:spMkLst>
            <pc:docMk/>
            <pc:sldMk cId="2299823048" sldId="275"/>
            <ac:spMk id="3" creationId="{6D8FAB66-205C-93C0-C547-0814BCD352C2}"/>
          </ac:spMkLst>
        </pc:spChg>
        <pc:spChg chg="mod">
          <ac:chgData name="Baráth, Július" userId="aebde9b9-dccc-4475-a9ac-c05e78323d7a" providerId="ADAL" clId="{4A0811C8-ED2F-505E-B787-C8270CED5046}" dt="2026-03-12T06:06:47.435" v="22" actId="20577"/>
          <ac:spMkLst>
            <pc:docMk/>
            <pc:sldMk cId="2299823048" sldId="275"/>
            <ac:spMk id="5" creationId="{ADE6F42E-3830-A463-1DC5-8FDDE0AB6F28}"/>
          </ac:spMkLst>
        </pc:spChg>
        <pc:picChg chg="mod">
          <ac:chgData name="Baráth, Július" userId="aebde9b9-dccc-4475-a9ac-c05e78323d7a" providerId="ADAL" clId="{4A0811C8-ED2F-505E-B787-C8270CED5046}" dt="2026-03-12T06:06:28.946" v="13" actId="1076"/>
          <ac:picMkLst>
            <pc:docMk/>
            <pc:sldMk cId="2299823048" sldId="275"/>
            <ac:picMk id="7" creationId="{C2E1F55B-6F50-7370-FB8B-82B516B737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856503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egeekstuff.com/2009/10/unix-sed-tutorial-advanced-sed-substitution-examples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62min (4)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tasks: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grep nefunguje dobre pre \&lt; (akceptuje aj znaky ako ., :, -, ...)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grep nefunguje dobre pre \X (nefunguje vobec? :-)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zrejme bolo potrebne to uzatvorit do '...'</a:t>
            </a:r>
          </a:p>
        </p:txBody>
      </p:sp>
    </p:spTree>
    <p:extLst>
      <p:ext uri="{BB962C8B-B14F-4D97-AF65-F5344CB8AC3E}">
        <p14:creationId xmlns:p14="http://schemas.microsoft.com/office/powerpoint/2010/main" val="3698852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3162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0287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429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'\&lt;key' =&gt; keyword, keyboard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'\\' =&gt; \janko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'\.' =&gt; koniec vety.</a:t>
            </a:r>
          </a:p>
        </p:txBody>
      </p:sp>
    </p:spTree>
    <p:extLst>
      <p:ext uri="{BB962C8B-B14F-4D97-AF65-F5344CB8AC3E}">
        <p14:creationId xmlns:p14="http://schemas.microsoft.com/office/powerpoint/2010/main" val="2203186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1072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0425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005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8665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8476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1465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5113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6962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http://www.thegeekstuff.com/2009/10/unix-sed-tutorial-advanced-sed-substitution-examples/</a:t>
            </a:r>
          </a:p>
        </p:txBody>
      </p:sp>
    </p:spTree>
    <p:extLst>
      <p:ext uri="{BB962C8B-B14F-4D97-AF65-F5344CB8AC3E}">
        <p14:creationId xmlns:p14="http://schemas.microsoft.com/office/powerpoint/2010/main" val="832878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9440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25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regexr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regex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3942275" y="1781525"/>
            <a:ext cx="5512499" cy="28137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Regular Expressions</a:t>
            </a:r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1991425" y="6118925"/>
            <a:ext cx="6553200" cy="10939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Miroslav Biňas</a:t>
            </a:r>
          </a:p>
          <a:p>
            <a:pPr marL="0" marR="0" indent="0" algn="ctr" rtl="0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(c) 2010 - 2013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Regular Expressions I.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regexp is a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special text string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for describing a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search pattern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they are complicated:</a:t>
            </a:r>
            <a:b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^([a-z\d\._-]+@([a-z\d-]+\.)+[a-z]{2,6})$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useful for string recognition: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user's input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forms validation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recognition of e-mail addresses, IP address, URLs, ...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7" name="Shape 2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Regular Expressions II.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support in text editors, programming languages, many tools</a:t>
            </a:r>
            <a:endParaRPr lang="en-US" sz="3300" dirty="0"/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0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regexp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types:</a:t>
            </a:r>
            <a:endParaRPr lang="en-US" sz="330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00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POSIX</a:t>
            </a:r>
            <a:r>
              <a:rPr lang="en-US" sz="3300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UNIX compatible</a:t>
            </a:r>
            <a:endParaRPr lang="en-US" sz="330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00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PCRE</a:t>
            </a:r>
            <a:r>
              <a:rPr lang="en-US" sz="3300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Perl Compatible </a:t>
            </a:r>
            <a:r>
              <a:rPr lang="en-US" sz="3300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RegExps</a:t>
            </a:r>
            <a:endParaRPr lang="en-US" sz="3300" b="0" dirty="0" err="1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00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regexp</a:t>
            </a:r>
            <a:r>
              <a:rPr lang="en-US" sz="3300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test tools:</a:t>
            </a:r>
            <a:endParaRPr lang="en-US" sz="330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00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r>
              <a:rPr lang="en-US" sz="3300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apps</a:t>
            </a:r>
            <a:endParaRPr lang="en-US" sz="330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762000" lvl="1" indent="-262255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00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online tools </a:t>
            </a:r>
            <a:r>
              <a:rPr lang="en-US" sz="3300" dirty="0">
                <a:solidFill>
                  <a:srgbClr val="666666"/>
                </a:solidFill>
              </a:rPr>
              <a:t>(</a:t>
            </a:r>
            <a:r>
              <a:rPr lang="en-US" sz="3300" dirty="0">
                <a:solidFill>
                  <a:srgbClr val="666666"/>
                </a:solidFill>
                <a:hlinkClick r:id="rId4"/>
              </a:rPr>
              <a:t>https://regexr.com</a:t>
            </a:r>
            <a:r>
              <a:rPr lang="en-US" sz="3300" dirty="0">
                <a:solidFill>
                  <a:srgbClr val="666666"/>
                </a:solidFill>
              </a:rPr>
              <a:t> )</a:t>
            </a:r>
            <a:endParaRPr lang="en-US" sz="330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egrep</a:t>
            </a:r>
            <a:r>
              <a:rPr lang="en-US" sz="3300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(alias </a:t>
            </a:r>
            <a:r>
              <a:rPr lang="en-US" sz="3300" dirty="0">
                <a:solidFill>
                  <a:srgbClr val="666666"/>
                </a:solidFill>
              </a:rPr>
              <a:t>for</a:t>
            </a:r>
            <a:r>
              <a:rPr lang="en-US" sz="3300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grep -E</a:t>
            </a:r>
            <a:r>
              <a:rPr lang="en-US" sz="3300" b="0" dirty="0">
                <a:solidFill>
                  <a:srgbClr val="666666"/>
                </a:solidFill>
              </a:rPr>
              <a:t>)</a:t>
            </a: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endParaRPr lang="en-US" sz="3300" b="0" dirty="0">
              <a:solidFill>
                <a:srgbClr val="666666"/>
              </a:solidFill>
            </a:endParaRPr>
          </a:p>
          <a:p>
            <a:pPr marL="762000" lvl="1" indent="-262255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sk-SK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man </a:t>
            </a:r>
            <a:r>
              <a:rPr lang="sk-SK" sz="4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re_format</a:t>
            </a:r>
            <a:endParaRPr lang="sk-SK" sz="4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endParaRPr lang="en-US" sz="3300" dirty="0">
              <a:solidFill>
                <a:srgbClr val="666666"/>
              </a:solidFill>
            </a:endParaRPr>
          </a:p>
        </p:txBody>
      </p:sp>
      <p:sp>
        <p:nvSpPr>
          <p:cNvPr id="34" name="Shape 3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99" cy="12480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Basics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regexp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are case sensitive</a:t>
            </a:r>
            <a:b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"Hello, world„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"Hello" -&gt; "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, world„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"HELLO" -&gt; "Hello, world"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ignore case sensitive, use opt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–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"HELLO" -&gt; "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, world"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character counts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"Hello, " -&gt; "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Hello,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world„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"Hello,  " -&gt; "Hello, world"</a:t>
            </a:r>
          </a:p>
        </p:txBody>
      </p:sp>
      <p:sp>
        <p:nvSpPr>
          <p:cNvPr id="41" name="Shape 4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3E33032F-D0D5-D4AF-2A09-0AE0797E1740}"/>
              </a:ext>
            </a:extLst>
          </p:cNvPr>
          <p:cNvSpPr txBox="1"/>
          <p:nvPr/>
        </p:nvSpPr>
        <p:spPr>
          <a:xfrm>
            <a:off x="2218038" y="6550223"/>
            <a:ext cx="5078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egrep</a:t>
            </a:r>
            <a:r>
              <a:rPr lang="sk-SK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--</a:t>
            </a:r>
            <a:r>
              <a:rPr lang="sk-SK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colour</a:t>
            </a:r>
            <a:r>
              <a:rPr lang="sk-SK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sk-SK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always</a:t>
            </a:r>
            <a:r>
              <a:rPr lang="sk-SK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"</a:t>
            </a:r>
            <a:r>
              <a:rPr lang="sk-SK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Hello</a:t>
            </a:r>
            <a:r>
              <a:rPr lang="sk-SK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 </a:t>
            </a:r>
            <a:r>
              <a:rPr lang="sk-SK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x.txt</a:t>
            </a:r>
            <a:endParaRPr lang="sk-SK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Main Metacharacters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\&lt;KEY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words beginning with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KEY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KEY\&gt;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words ending with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KEY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beginning of line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end of a line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\X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match special character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escaping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match any single character </a:t>
            </a:r>
          </a:p>
        </p:txBody>
      </p:sp>
      <p:sp>
        <p:nvSpPr>
          <p:cNvPr id="48" name="Shape 4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29EDA87E-A9F2-089F-8092-74CF08084319}"/>
              </a:ext>
            </a:extLst>
          </p:cNvPr>
          <p:cNvSpPr txBox="1"/>
          <p:nvPr/>
        </p:nvSpPr>
        <p:spPr>
          <a:xfrm>
            <a:off x="1954399" y="5726668"/>
            <a:ext cx="78725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echo "ako Ako 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dko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 | 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egrep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--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colour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always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"\&lt;A"</a:t>
            </a:r>
          </a:p>
          <a:p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echo "ako Ako 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dko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 | 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egrep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--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colour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always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"</a:t>
            </a:r>
            <a:r>
              <a:rPr lang="sk-SK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ko</a:t>
            </a:r>
            <a:r>
              <a:rPr lang="sk-SK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\&gt;“</a:t>
            </a:r>
          </a:p>
          <a:p>
            <a:r>
              <a:rPr lang="sk-SK" sz="2000" dirty="0">
                <a:latin typeface="Menlo" panose="020B0609030804020204" pitchFamily="49" charset="0"/>
              </a:rPr>
              <a:t>echo "ako Ako </a:t>
            </a:r>
            <a:r>
              <a:rPr lang="sk-SK" sz="2000" dirty="0" err="1">
                <a:latin typeface="Menlo" panose="020B0609030804020204" pitchFamily="49" charset="0"/>
              </a:rPr>
              <a:t>dko</a:t>
            </a:r>
            <a:r>
              <a:rPr lang="sk-SK" sz="2000" dirty="0">
                <a:latin typeface="Menlo" panose="020B0609030804020204" pitchFamily="49" charset="0"/>
              </a:rPr>
              <a:t>" | </a:t>
            </a:r>
            <a:r>
              <a:rPr lang="sk-SK" sz="2000" dirty="0" err="1">
                <a:latin typeface="Menlo" panose="020B0609030804020204" pitchFamily="49" charset="0"/>
              </a:rPr>
              <a:t>egrep</a:t>
            </a:r>
            <a:r>
              <a:rPr lang="sk-SK" sz="2000" dirty="0">
                <a:latin typeface="Menlo" panose="020B0609030804020204" pitchFamily="49" charset="0"/>
              </a:rPr>
              <a:t> --</a:t>
            </a:r>
            <a:r>
              <a:rPr lang="sk-SK" sz="2000" dirty="0" err="1">
                <a:latin typeface="Menlo" panose="020B0609030804020204" pitchFamily="49" charset="0"/>
              </a:rPr>
              <a:t>colour</a:t>
            </a:r>
            <a:r>
              <a:rPr lang="sk-SK" sz="2000" dirty="0">
                <a:latin typeface="Menlo" panose="020B0609030804020204" pitchFamily="49" charset="0"/>
              </a:rPr>
              <a:t>=</a:t>
            </a:r>
            <a:r>
              <a:rPr lang="sk-SK" sz="2000" dirty="0" err="1">
                <a:latin typeface="Menlo" panose="020B0609030804020204" pitchFamily="49" charset="0"/>
              </a:rPr>
              <a:t>always</a:t>
            </a:r>
            <a:r>
              <a:rPr lang="sk-SK" sz="2000" dirty="0">
                <a:latin typeface="Menlo" panose="020B0609030804020204" pitchFamily="49" charset="0"/>
              </a:rPr>
              <a:t> ".k"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 Character Classes I.</a:t>
            </a:r>
          </a:p>
        </p:txBody>
      </p:sp>
      <p:sp>
        <p:nvSpPr>
          <p:cNvPr id="54" name="Shape 54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character class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character set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enclosed inside of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lang="en-US" dirty="0"/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match, if any character from character class was found</a:t>
            </a:r>
            <a:endParaRPr lang="en-US" sz="3333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order is insignificant </a:t>
            </a:r>
            <a:endParaRPr lang="en-US" sz="3333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3333" b="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How are you?„</a:t>
            </a:r>
            <a:endParaRPr lang="sk-SK" sz="3333" b="0" dirty="0">
              <a:solidFill>
                <a:schemeClr val="tx1"/>
              </a:solidFill>
              <a:latin typeface="Courier New"/>
              <a:ea typeface="Courier New"/>
              <a:cs typeface="Courier New"/>
            </a:endParaRPr>
          </a:p>
          <a:p>
            <a:pPr marL="118110">
              <a:buClr>
                <a:srgbClr val="666666"/>
              </a:buClr>
              <a:buSzPct val="168350"/>
            </a:pP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"[</a:t>
            </a: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oyu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]" -&gt; "H</a:t>
            </a:r>
            <a:r>
              <a:rPr lang="en-US" sz="3300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 are </a:t>
            </a:r>
            <a:r>
              <a:rPr lang="en-US" sz="3300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you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?"</a:t>
            </a:r>
            <a:r>
              <a:rPr lang="en-US" sz="3300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"[</a:t>
            </a: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aH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]." -&gt; "</a:t>
            </a:r>
            <a:r>
              <a:rPr lang="en-US" sz="3300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Ho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 </a:t>
            </a:r>
            <a:r>
              <a:rPr lang="en-US" sz="3300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ar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 you?"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aH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jeden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znak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za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ním</a:t>
            </a:r>
            <a:br>
              <a:rPr lang="en-US" sz="2000" b="1" dirty="0">
                <a:latin typeface="Courier New"/>
                <a:ea typeface="Courier New"/>
                <a:cs typeface="Courier New"/>
              </a:rPr>
            </a:b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"[o][wu]" -&gt; "H</a:t>
            </a:r>
            <a:r>
              <a:rPr lang="en-US" sz="3300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ow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are y</a:t>
            </a:r>
            <a:r>
              <a:rPr lang="en-US" sz="3300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?"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 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jeden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znak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z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prvej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nasledovany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jedným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znakom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z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druhej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skupiny</a:t>
            </a:r>
            <a:endParaRPr lang="en-US" sz="2800" b="1" dirty="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5" name="Shape 5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 Character Classes II.</a:t>
            </a:r>
          </a:p>
        </p:txBody>
      </p:sp>
      <p:sp>
        <p:nvSpPr>
          <p:cNvPr id="61" name="Shape 61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range of characters can be specified with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 - ]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several ranges can be specified in one expression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examples: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a-z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A-Z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A-z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0-9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notice: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[a-d]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not always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abcd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depends on locale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[a-d]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can be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aBbCcDd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[A-z]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then different to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[a-Z]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"abcde01234567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„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"[c-k2-6]"-&gt;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cde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23456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7"</a:t>
            </a:r>
          </a:p>
        </p:txBody>
      </p:sp>
      <p:sp>
        <p:nvSpPr>
          <p:cNvPr id="62" name="Shape 6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 Character Classes III.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indent="-262466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sk-SK" sz="3333" dirty="0" err="1">
                <a:solidFill>
                  <a:srgbClr val="666666"/>
                </a:solidFill>
              </a:rPr>
              <a:t>negation</a:t>
            </a:r>
            <a:r>
              <a:rPr lang="sk-SK" sz="3333" dirty="0">
                <a:solidFill>
                  <a:srgbClr val="666666"/>
                </a:solidFill>
              </a:rPr>
              <a:t> </a:t>
            </a:r>
            <a:r>
              <a:rPr lang="sk-SK" sz="3333" dirty="0" err="1">
                <a:solidFill>
                  <a:srgbClr val="666666"/>
                </a:solidFill>
              </a:rPr>
              <a:t>operator</a:t>
            </a:r>
            <a:r>
              <a:rPr lang="en-US" sz="3333" dirty="0">
                <a:solidFill>
                  <a:srgbClr val="666666"/>
                </a:solidFill>
              </a:rPr>
              <a:t>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char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"abcde01234567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„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"[^c-k2-6]"-&gt;"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cde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23456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</p:txBody>
      </p:sp>
      <p:sp>
        <p:nvSpPr>
          <p:cNvPr id="69" name="Shape 6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 Quantifiers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star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'*'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matches zero or more times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plus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'+'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matches once or more times 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question mark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'?'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matches zero or once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aabc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bc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b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"a*b" -&gt; "</a:t>
            </a:r>
            <a:r>
              <a:rPr lang="en-US" sz="3333" b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aab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b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a+b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 -&gt; "</a:t>
            </a:r>
            <a:r>
              <a:rPr lang="en-US" sz="3333" b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aab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bc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b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a?b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 -&gt; "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3333" b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 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0" name="Shape 9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07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Matching Alternatives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parenthesis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are used for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grouping (and back-referencing)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matching alternatives separated with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'|'</a:t>
            </a:r>
          </a:p>
        </p:txBody>
      </p:sp>
      <p:sp>
        <p:nvSpPr>
          <p:cNvPr id="97" name="Shape 9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333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Matching Alternatives Examples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1645540" y="1524000"/>
            <a:ext cx="8173259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dni.txt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3200" dirty="0">
                <a:solidFill>
                  <a:srgbClr val="666666"/>
                </a:solidFill>
                <a:ea typeface="Courier New"/>
                <a:sym typeface="courier new"/>
              </a:rPr>
              <a:t>Monday, Tuesday, Wednesday, Thursday, Friday, Saturday, Sunday</a:t>
            </a: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br>
              <a:rPr lang="en-US" sz="3200" b="0" dirty="0">
                <a:latin typeface="Courier New"/>
                <a:ea typeface="Courier New"/>
                <a:cs typeface="Courier New"/>
              </a:rPr>
            </a:b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: "(</a:t>
            </a: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on|ues|rida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)" </a:t>
            </a:r>
            <a:endParaRPr lang="en-US" sz="3300" dirty="0"/>
          </a:p>
          <a:p>
            <a:pPr rtl="0">
              <a:lnSpc>
                <a:spcPct val="100000"/>
              </a:lnSpc>
              <a:buNone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match: "M</a:t>
            </a:r>
            <a:r>
              <a:rPr lang="en-US" sz="3333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day T</a:t>
            </a:r>
            <a:r>
              <a:rPr lang="en-US" sz="3333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ues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day F</a:t>
            </a:r>
            <a:r>
              <a:rPr lang="en-US" sz="3333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rida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y" 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: "(</a:t>
            </a: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Mon|Tues|Fri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)day"</a:t>
            </a:r>
            <a:endParaRPr lang="en-US" sz="3300" b="0" dirty="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match: "</a:t>
            </a:r>
            <a:r>
              <a:rPr lang="en-US" sz="3333" b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Monday Tuesday Friday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"..(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es</a:t>
            </a:r>
            <a:r>
              <a:rPr lang="en-US" sz="3300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lang="en-US" sz="3333" b="0" dirty="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r>
              <a:rPr lang="en-US" sz="3300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match: "</a:t>
            </a:r>
            <a:r>
              <a:rPr lang="en-US" sz="3300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Monday Tuesday </a:t>
            </a:r>
            <a:r>
              <a:rPr lang="en-US" sz="3300" dirty="0">
                <a:solidFill>
                  <a:schemeClr val="tx1"/>
                </a:solidFill>
                <a:latin typeface="Courier New"/>
                <a:cs typeface="Courier New"/>
                <a:sym typeface="courier new"/>
              </a:rPr>
              <a:t>We</a:t>
            </a:r>
            <a:r>
              <a:rPr lang="en-US" sz="3300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dnesday Friday Sunday</a:t>
            </a:r>
            <a:r>
              <a:rPr lang="en-US" sz="3300" dirty="0">
                <a:solidFill>
                  <a:srgbClr val="666666"/>
                </a:solidFill>
                <a:ea typeface="Courier New"/>
                <a:sym typeface="courier new"/>
              </a:rPr>
              <a:t>"</a:t>
            </a:r>
            <a:endParaRPr lang="en-US" dirty="0"/>
          </a:p>
          <a:p>
            <a:r>
              <a:rPr lang="en-US" sz="3300" dirty="0" err="1">
                <a:solidFill>
                  <a:srgbClr val="666666"/>
                </a:solidFill>
                <a:latin typeface="Courier New"/>
                <a:cs typeface="Courier New"/>
              </a:rPr>
              <a:t>regexp</a:t>
            </a:r>
            <a:r>
              <a:rPr lang="en-US" sz="3300" dirty="0">
                <a:solidFill>
                  <a:srgbClr val="666666"/>
                </a:solidFill>
                <a:latin typeface="Courier New"/>
                <a:cs typeface="Courier New"/>
              </a:rPr>
              <a:t>: "...(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cs typeface="Courier New"/>
              </a:rPr>
              <a:t>i|es|n</a:t>
            </a:r>
            <a:r>
              <a:rPr lang="en-US" sz="3300" dirty="0">
                <a:solidFill>
                  <a:srgbClr val="666666"/>
                </a:solidFill>
                <a:latin typeface="Courier New"/>
                <a:cs typeface="Courier New"/>
              </a:rPr>
              <a:t>)day"</a:t>
            </a:r>
          </a:p>
          <a:p>
            <a:r>
              <a:rPr lang="en-US" sz="3300" dirty="0">
                <a:solidFill>
                  <a:srgbClr val="666666"/>
                </a:solidFill>
                <a:latin typeface="Courier New"/>
                <a:cs typeface="Courier New"/>
              </a:rPr>
              <a:t>match: "</a:t>
            </a:r>
            <a:r>
              <a:rPr lang="en-US" sz="3300" dirty="0">
                <a:solidFill>
                  <a:srgbClr val="FF0000"/>
                </a:solidFill>
                <a:latin typeface="Courier New"/>
                <a:cs typeface="Courier New"/>
              </a:rPr>
              <a:t>Wednesday</a:t>
            </a:r>
            <a:r>
              <a:rPr lang="en-US" sz="3300" dirty="0">
                <a:solidFill>
                  <a:srgbClr val="666666"/>
                </a:solidFill>
              </a:rPr>
              <a:t>"</a:t>
            </a:r>
            <a:endParaRPr lang="en-US" dirty="0"/>
          </a:p>
        </p:txBody>
      </p:sp>
      <p:sp>
        <p:nvSpPr>
          <p:cNvPr id="104" name="Shape 10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5BF01C-44B1-5736-33C1-2CAEC6C8BA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3" t="7109" r="47101" b="36730"/>
          <a:stretch/>
        </p:blipFill>
        <p:spPr>
          <a:xfrm>
            <a:off x="120493" y="1802630"/>
            <a:ext cx="9909142" cy="382018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FBB14D7-399B-9221-8211-B841EBBB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50" dirty="0" err="1"/>
              <a:t>Egrep</a:t>
            </a:r>
            <a:r>
              <a:rPr lang="en-US" sz="4250" dirty="0"/>
              <a:t> </a:t>
            </a:r>
            <a:r>
              <a:rPr lang="en-US" sz="4250" dirty="0" err="1"/>
              <a:t>výstup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710056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1958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Character Repetition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{m}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matches exactly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times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{m,n}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matches min.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times and max.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times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{m,}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matches min.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times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{,n}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- matches max. n times</a:t>
            </a:r>
          </a:p>
        </p:txBody>
      </p:sp>
      <p:sp>
        <p:nvSpPr>
          <p:cNvPr id="111" name="Shape 11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1958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Character Repetition Examples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source: "Regular expressions"</a:t>
            </a:r>
          </a:p>
          <a:p>
            <a:pPr rtl="0">
              <a:lnSpc>
                <a:spcPct val="100000"/>
              </a:lnSpc>
              <a:buNone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: "s{2}" </a:t>
            </a:r>
            <a:endParaRPr lang="en-US" sz="3300" dirty="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match: "</a:t>
            </a:r>
            <a:r>
              <a:rPr lang="en-US" sz="33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Regular expre</a:t>
            </a:r>
            <a:r>
              <a:rPr lang="en-US" sz="33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ss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ions"</a:t>
            </a:r>
            <a:br>
              <a:rPr lang="en-US" sz="3300" dirty="0">
                <a:latin typeface="Courier New"/>
                <a:ea typeface="Courier New"/>
                <a:cs typeface="Courier New"/>
              </a:rPr>
            </a:br>
            <a:br>
              <a:rPr lang="en-US" sz="3300" dirty="0">
                <a:latin typeface="Courier New"/>
                <a:ea typeface="Courier New"/>
                <a:cs typeface="Courier New"/>
              </a:rPr>
            </a:b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: "[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esr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]{1,3}"</a:t>
            </a:r>
            <a:endParaRPr lang="en-US" sz="3300" dirty="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match: "R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gula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xp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ress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ion</a:t>
            </a:r>
            <a:r>
              <a:rPr lang="en-US" sz="3333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: "[r-s]{1,}"</a:t>
            </a:r>
          </a:p>
          <a:p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match: "</a:t>
            </a:r>
            <a:r>
              <a:rPr lang="en-US" sz="33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Regula</a:t>
            </a:r>
            <a:r>
              <a:rPr lang="en-US" sz="33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33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 exp</a:t>
            </a:r>
            <a:r>
              <a:rPr lang="en-US" sz="33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33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33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ss</a:t>
            </a:r>
            <a:r>
              <a:rPr lang="en-US" sz="33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ion</a:t>
            </a:r>
            <a:r>
              <a:rPr lang="en-US" sz="33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lang="en-US" sz="3300" dirty="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1727200" y="0"/>
            <a:ext cx="8093399" cy="12098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Back-Referencing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re-using of a part of a Regular Expression selected by grouping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can be used in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sed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in the replacement part of the substitute command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echo "12:34" | sed -E 's/([0-9]{2})\:([0-9]{2})/It is \1 hours and \2 minutes/’</a:t>
            </a:r>
            <a:endParaRPr lang="en-US" sz="3333" dirty="0">
              <a:solidFill>
                <a:srgbClr val="666666"/>
              </a:solidFill>
              <a:ea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</a:p>
          <a:p>
            <a:pPr marL="118534">
              <a:buClr>
                <a:srgbClr val="666666"/>
              </a:buClr>
              <a:buSzPct val="168350"/>
            </a:pPr>
            <a:r>
              <a:rPr lang="sk-SK" sz="4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</a:t>
            </a:r>
            <a:r>
              <a:rPr lang="sk-SK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4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sk-SK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12 </a:t>
            </a:r>
            <a:r>
              <a:rPr lang="sk-SK" sz="4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hours</a:t>
            </a:r>
            <a:r>
              <a:rPr lang="sk-SK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and 34 </a:t>
            </a:r>
            <a:r>
              <a:rPr lang="sk-SK" sz="4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minutes</a:t>
            </a:r>
            <a:endParaRPr lang="sk-SK" sz="4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Shape 12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1727200" y="0"/>
            <a:ext cx="8078099" cy="12378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grep Options For </a:t>
            </a:r>
            <a:r>
              <a:rPr lang="en-US" sz="4000" b="1" dirty="0" err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RegExps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5973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177"/>
              <a:buFont typeface="Arial"/>
              <a:buChar char="•"/>
            </a:pPr>
            <a:r>
              <a:rPr lang="en-US" sz="32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329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egrep</a:t>
            </a:r>
            <a:r>
              <a:rPr lang="en-US" sz="32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instead of </a:t>
            </a:r>
            <a:r>
              <a:rPr lang="en-US" sz="329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</a:p>
          <a:p>
            <a:pPr marL="762000" marR="0" lvl="1" indent="-25973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99706"/>
              <a:buFont typeface="Courier New"/>
              <a:buChar char="o"/>
            </a:pPr>
            <a:r>
              <a:rPr lang="en-US" sz="329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egrep</a:t>
            </a:r>
            <a:r>
              <a:rPr lang="en-US" sz="32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lang="en-US" sz="329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grep -E</a:t>
            </a:r>
          </a:p>
          <a:p>
            <a:pPr marL="381000" marR="0" lvl="0" indent="-25973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177"/>
              <a:buFont typeface="Arial"/>
              <a:buChar char="•"/>
            </a:pPr>
            <a:r>
              <a:rPr lang="en-US" sz="329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-i</a:t>
            </a:r>
            <a:r>
              <a:rPr lang="en-US" sz="32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ignore case</a:t>
            </a:r>
          </a:p>
          <a:p>
            <a:pPr marL="381000" marR="0" lvl="0" indent="-25973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177"/>
              <a:buFont typeface="Arial"/>
              <a:buChar char="•"/>
            </a:pPr>
            <a:r>
              <a:rPr lang="en-US" sz="329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-o</a:t>
            </a:r>
            <a:r>
              <a:rPr lang="en-US" sz="32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print only matched parts of a matching line</a:t>
            </a:r>
          </a:p>
          <a:p>
            <a:pPr marL="381000" marR="0" lvl="0" indent="-25973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177"/>
              <a:buFont typeface="Arial"/>
              <a:buChar char="•"/>
            </a:pPr>
            <a:r>
              <a:rPr lang="en-US" sz="329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--color=auto</a:t>
            </a:r>
            <a:r>
              <a:rPr lang="en-US" sz="32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display the matched strings in colors</a:t>
            </a:r>
          </a:p>
        </p:txBody>
      </p:sp>
      <p:sp>
        <p:nvSpPr>
          <p:cNvPr id="132" name="Shape 13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1590-0E27-672F-23A3-46A641BB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50" dirty="0" err="1"/>
              <a:t>Egrep</a:t>
            </a:r>
            <a:r>
              <a:rPr lang="en-US" sz="4250" dirty="0"/>
              <a:t> </a:t>
            </a:r>
            <a:r>
              <a:rPr lang="en-US" sz="4250" dirty="0" err="1"/>
              <a:t>príklad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AB66-205C-93C0-C547-0814BCD3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828800"/>
            <a:ext cx="9550400" cy="564655"/>
          </a:xfrm>
        </p:spPr>
        <p:txBody>
          <a:bodyPr/>
          <a:lstStyle/>
          <a:p>
            <a:r>
              <a:rPr lang="en-US" sz="2000" dirty="0"/>
              <a:t>grep -Ei "\&lt;an" osoby.txt</a:t>
            </a:r>
            <a:endParaRPr lang="en-US" dirty="0"/>
          </a:p>
          <a:p>
            <a:endParaRPr lang="en-US" sz="2000" b="1" dirty="0"/>
          </a:p>
          <a:p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6F42E-3830-A463-1DC5-8FDDE0AB6F28}"/>
              </a:ext>
            </a:extLst>
          </p:cNvPr>
          <p:cNvSpPr txBox="1"/>
          <p:nvPr/>
        </p:nvSpPr>
        <p:spPr>
          <a:xfrm>
            <a:off x="388483" y="6016006"/>
            <a:ext cx="90259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grep -Ei "</a:t>
            </a:r>
            <a:r>
              <a:rPr lang="en-US" sz="2000" dirty="0" err="1"/>
              <a:t>na</a:t>
            </a:r>
            <a:r>
              <a:rPr lang="en-US" sz="2000" dirty="0"/>
              <a:t>\&gt;" osoby.txt     #aký </a:t>
            </a:r>
            <a:r>
              <a:rPr lang="en-US" sz="2000" dirty="0" err="1"/>
              <a:t>bude</a:t>
            </a:r>
            <a:r>
              <a:rPr lang="en-US" sz="2000" dirty="0"/>
              <a:t> </a:t>
            </a:r>
            <a:r>
              <a:rPr lang="en-US" sz="2000" dirty="0" err="1"/>
              <a:t>výstup</a:t>
            </a:r>
            <a:r>
              <a:rPr lang="en-US" sz="2000" dirty="0"/>
              <a:t>?</a:t>
            </a:r>
          </a:p>
        </p:txBody>
      </p:sp>
      <p:pic>
        <p:nvPicPr>
          <p:cNvPr id="7" name="Obrázok 6" descr="Obrázok, na ktorom je text, písmo, číslo, softvér&#10;&#10;Obsah vygenerovaný umelou inteligenciou môže byť nesprávny.">
            <a:extLst>
              <a:ext uri="{FF2B5EF4-FFF2-40B4-BE49-F238E27FC236}">
                <a16:creationId xmlns:a16="http://schemas.microsoft.com/office/drawing/2014/main" id="{C2E1F55B-6F50-7370-FB8B-82B516B73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77" y="2111127"/>
            <a:ext cx="7772400" cy="430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23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Links and Resources</a:t>
            </a:r>
          </a:p>
        </p:txBody>
      </p:sp>
      <p:sp>
        <p:nvSpPr>
          <p:cNvPr id="144" name="Shape 144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255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0000FF"/>
              </a:buClr>
              <a:buSzPct val="168350"/>
              <a:buFont typeface="Arial"/>
              <a:buChar char="•"/>
            </a:pPr>
            <a:endParaRPr lang="en-US" sz="3300" u="sng" dirty="0">
              <a:solidFill>
                <a:srgbClr val="0000FF"/>
              </a:solidFill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68350"/>
              <a:buFont typeface="Arial"/>
              <a:buChar char="•"/>
            </a:pPr>
            <a:r>
              <a:rPr lang="en-US" sz="3300" u="sng" dirty="0">
                <a:solidFill>
                  <a:srgbClr val="0000FF"/>
                </a:solidFill>
              </a:rPr>
              <a:t>http://www.regular-expressions.info/</a:t>
            </a:r>
            <a:endParaRPr lang="en-US" sz="3300" u="sng" dirty="0">
              <a:solidFill>
                <a:srgbClr val="0000FF"/>
              </a:solidFill>
              <a:latin typeface="Arial"/>
              <a:ea typeface="Arial"/>
              <a:cs typeface="Arial"/>
            </a:endParaRPr>
          </a:p>
          <a:p>
            <a:pPr marL="381000" indent="-262255">
              <a:buClr>
                <a:srgbClr val="0000FF"/>
              </a:buClr>
              <a:buSzPct val="168350"/>
              <a:buFont typeface="Arial"/>
              <a:buChar char="•"/>
            </a:pPr>
            <a:endParaRPr lang="en-US" sz="3300" u="sng" dirty="0">
              <a:solidFill>
                <a:srgbClr val="0000FF"/>
              </a:solidFill>
            </a:endParaRPr>
          </a:p>
          <a:p>
            <a:pPr marL="381000" indent="-262255">
              <a:buClr>
                <a:srgbClr val="0000FF"/>
              </a:buClr>
              <a:buSzPct val="168350"/>
              <a:buFont typeface="Arial"/>
              <a:buChar char="•"/>
            </a:pPr>
            <a:r>
              <a:rPr lang="en-US" sz="3300" dirty="0">
                <a:solidFill>
                  <a:srgbClr val="0000FF"/>
                </a:solidFill>
                <a:hlinkClick r:id="rId4"/>
              </a:rPr>
              <a:t>RegExr: Learn, Build, &amp; Test RegEx</a:t>
            </a:r>
          </a:p>
          <a:p>
            <a:pPr marL="381000" lvl="3" indent="-262255">
              <a:buClr>
                <a:srgbClr val="0000FF"/>
              </a:buClr>
              <a:buSzPct val="168350"/>
              <a:buFont typeface="Arial"/>
              <a:buChar char="•"/>
            </a:pPr>
            <a:r>
              <a:rPr lang="en-US" sz="3300" dirty="0">
                <a:solidFill>
                  <a:srgbClr val="0000FF"/>
                </a:solidFill>
              </a:rPr>
              <a:t>https://regexr.com/</a:t>
            </a:r>
          </a:p>
          <a:p>
            <a:pPr marL="381000" indent="-262255">
              <a:buClr>
                <a:srgbClr val="0000FF"/>
              </a:buClr>
              <a:buSzPct val="168350"/>
              <a:buFont typeface="Arial"/>
              <a:buChar char="•"/>
            </a:pPr>
            <a:endParaRPr lang="en-US" sz="3300" dirty="0">
              <a:solidFill>
                <a:srgbClr val="0000FF"/>
              </a:solidFill>
            </a:endParaRPr>
          </a:p>
          <a:p>
            <a:pPr marL="381000" indent="-262255">
              <a:buClr>
                <a:srgbClr val="0000FF"/>
              </a:buClr>
              <a:buSzPct val="168350"/>
              <a:buFont typeface="Arial"/>
              <a:buChar char="•"/>
            </a:pPr>
            <a:endParaRPr lang="en-US" sz="3300" dirty="0">
              <a:solidFill>
                <a:srgbClr val="0000FF"/>
              </a:solidFill>
            </a:endParaRPr>
          </a:p>
          <a:p>
            <a:pPr marL="118745" algn="ctr">
              <a:buClr>
                <a:srgbClr val="0000FF"/>
              </a:buClr>
              <a:buSzPct val="168350"/>
            </a:pPr>
            <a:r>
              <a:rPr lang="en-US" sz="4000" b="1" dirty="0">
                <a:solidFill>
                  <a:srgbClr val="444444"/>
                </a:solidFill>
              </a:rPr>
              <a:t>Questions?</a:t>
            </a:r>
            <a:endParaRPr lang="en-US" sz="3300" dirty="0">
              <a:solidFill>
                <a:srgbClr val="0000FF"/>
              </a:solidFill>
            </a:endParaRPr>
          </a:p>
        </p:txBody>
      </p:sp>
      <p:sp>
        <p:nvSpPr>
          <p:cNvPr id="145" name="Shape 145"/>
          <p:cNvSpPr/>
          <p:nvPr/>
        </p:nvSpPr>
        <p:spPr>
          <a:xfrm>
            <a:off x="0" y="6098625"/>
            <a:ext cx="1270000" cy="1524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Theme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966</Words>
  <Application>Microsoft Macintosh PowerPoint</Application>
  <PresentationFormat>Vlastná</PresentationFormat>
  <Paragraphs>129</Paragraphs>
  <Slides>18</Slides>
  <Notes>16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18</vt:i4>
      </vt:variant>
    </vt:vector>
  </HeadingPairs>
  <TitlesOfParts>
    <vt:vector size="23" baseType="lpstr">
      <vt:lpstr>Arial</vt:lpstr>
      <vt:lpstr>Arial</vt:lpstr>
      <vt:lpstr>Courier New</vt:lpstr>
      <vt:lpstr>Menlo</vt:lpstr>
      <vt:lpstr>Custom Theme</vt:lpstr>
      <vt:lpstr>Regular Expressions</vt:lpstr>
      <vt:lpstr>Regular Expressions I.</vt:lpstr>
      <vt:lpstr>Regular Expressions II.</vt:lpstr>
      <vt:lpstr>The Basics</vt:lpstr>
      <vt:lpstr>Main Metacharacters</vt:lpstr>
      <vt:lpstr>RE Character Classes I.</vt:lpstr>
      <vt:lpstr>RE Character Classes II.</vt:lpstr>
      <vt:lpstr>RE Character Classes III.</vt:lpstr>
      <vt:lpstr>RE Quantifiers</vt:lpstr>
      <vt:lpstr>Matching Alternatives</vt:lpstr>
      <vt:lpstr>Matching Alternatives Examples</vt:lpstr>
      <vt:lpstr>Egrep výstup</vt:lpstr>
      <vt:lpstr>Character Repetition</vt:lpstr>
      <vt:lpstr>Character Repetition Examples</vt:lpstr>
      <vt:lpstr>Back-Referencing</vt:lpstr>
      <vt:lpstr>grep Options For RegExps</vt:lpstr>
      <vt:lpstr>Egrep príklad</vt:lpstr>
      <vt:lpstr>Links and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</dc:title>
  <cp:lastModifiedBy>Baráth, Július</cp:lastModifiedBy>
  <cp:revision>130</cp:revision>
  <dcterms:modified xsi:type="dcterms:W3CDTF">2026-03-12T06:06:49Z</dcterms:modified>
</cp:coreProperties>
</file>