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75" r:id="rId9"/>
    <p:sldId id="262" r:id="rId10"/>
    <p:sldId id="263" r:id="rId11"/>
    <p:sldId id="264" r:id="rId12"/>
    <p:sldId id="265" r:id="rId13"/>
    <p:sldId id="266" r:id="rId14"/>
    <p:sldId id="267" r:id="rId15"/>
    <p:sldId id="278" r:id="rId16"/>
    <p:sldId id="277" r:id="rId17"/>
    <p:sldId id="271" r:id="rId18"/>
  </p:sldIdLst>
  <p:sldSz cx="10160000" cy="7620000"/>
  <p:notesSz cx="7620000" cy="10160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>
        <p15:guide id="1" orient="horz" pos="2400">
          <p15:clr>
            <a:srgbClr val="A4A3A4"/>
          </p15:clr>
        </p15:guide>
        <p15:guide id="2" pos="32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8" d="100"/>
          <a:sy n="108" d="100"/>
        </p:scale>
        <p:origin x="1960" y="192"/>
      </p:cViewPr>
      <p:guideLst>
        <p:guide orient="horz" pos="2400"/>
        <p:guide pos="320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aebde9b9-dccc-4475-a9ac-c05e78323d7a" providerId="ADAL" clId="{4A0811C8-ED2F-505E-B787-C8270CED5046}"/>
    <pc:docChg chg="custSel modSld">
      <pc:chgData name="Baráth, Július" userId="aebde9b9-dccc-4475-a9ac-c05e78323d7a" providerId="ADAL" clId="{4A0811C8-ED2F-505E-B787-C8270CED5046}" dt="2026-02-26T11:49:49.268" v="24" actId="20577"/>
      <pc:docMkLst>
        <pc:docMk/>
      </pc:docMkLst>
      <pc:sldChg chg="modSp mod">
        <pc:chgData name="Baráth, Július" userId="aebde9b9-dccc-4475-a9ac-c05e78323d7a" providerId="ADAL" clId="{4A0811C8-ED2F-505E-B787-C8270CED5046}" dt="2026-02-26T11:49:49.268" v="24" actId="20577"/>
        <pc:sldMkLst>
          <pc:docMk/>
          <pc:sldMk cId="3759222479" sldId="278"/>
        </pc:sldMkLst>
        <pc:spChg chg="mod">
          <ac:chgData name="Baráth, Július" userId="aebde9b9-dccc-4475-a9ac-c05e78323d7a" providerId="ADAL" clId="{4A0811C8-ED2F-505E-B787-C8270CED5046}" dt="2026-02-26T11:49:49.268" v="24" actId="20577"/>
          <ac:spMkLst>
            <pc:docMk/>
            <pc:sldMk cId="3759222479" sldId="27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6840635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 min (2)</a:t>
            </a:r>
          </a:p>
          <a:p>
            <a:endParaRPr lang="en-US" sz="1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5402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7081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6544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1195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965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387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9360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103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4283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04088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2491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54565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3343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 txBox="1">
            <a:spLocks noGrp="1"/>
          </p:cNvSpPr>
          <p:nvPr>
            <p:ph type="ctrTitle"/>
          </p:nvPr>
        </p:nvSpPr>
        <p:spPr>
          <a:xfrm>
            <a:off x="914400" y="3048000"/>
            <a:ext cx="8331200" cy="1219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4800"/>
            </a:lvl1pPr>
            <a:lvl2pPr algn="ctr">
              <a:buSzPct val="100000"/>
              <a:defRPr sz="4800"/>
            </a:lvl2pPr>
            <a:lvl3pPr algn="ctr">
              <a:buSzPct val="100000"/>
              <a:defRPr sz="4800"/>
            </a:lvl3pPr>
            <a:lvl4pPr algn="ctr">
              <a:buSzPct val="100000"/>
              <a:defRPr sz="4800"/>
            </a:lvl4pPr>
            <a:lvl5pPr algn="ctr">
              <a:buSzPct val="100000"/>
              <a:defRPr sz="4800"/>
            </a:lvl5pPr>
            <a:lvl6pPr algn="ctr">
              <a:buSzPct val="100000"/>
              <a:defRPr sz="4800"/>
            </a:lvl6pPr>
            <a:lvl7pPr algn="ctr">
              <a:buSzPct val="100000"/>
              <a:defRPr sz="4800"/>
            </a:lvl7pPr>
            <a:lvl8pPr algn="ctr">
              <a:buSzPct val="100000"/>
              <a:defRPr sz="4800"/>
            </a:lvl8pPr>
            <a:lvl9pPr algn="ctr">
              <a:buSzPct val="100000"/>
              <a:defRPr sz="4800"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ubTitle" idx="1"/>
          </p:nvPr>
        </p:nvSpPr>
        <p:spPr>
          <a:xfrm>
            <a:off x="1828800" y="4572000"/>
            <a:ext cx="6502399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9550400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ColTx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2"/>
          </p:nvPr>
        </p:nvSpPr>
        <p:spPr>
          <a:xfrm>
            <a:off x="538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304800" y="6705600"/>
            <a:ext cx="9550400" cy="6095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2028472"/>
            <a:ext cx="4318000" cy="48348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0" y="2028472"/>
            <a:ext cx="4318000" cy="48348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6AA6-8243-4B62-886A-5E6B71847E7F}" type="datetimeFigureOut">
              <a:rPr lang="sk-SK" smtClean="0"/>
              <a:t>26.2.2026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FA705-9A83-488D-8A72-35E13D0C854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4422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6AA6-8243-4B62-886A-5E6B71847E7F}" type="datetimeFigureOut">
              <a:rPr lang="sk-SK" smtClean="0"/>
              <a:t>26.2.2026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FA705-9A83-488D-8A72-35E13D0C854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5877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ctrTitle"/>
          </p:nvPr>
        </p:nvSpPr>
        <p:spPr>
          <a:xfrm>
            <a:off x="3942275" y="1781525"/>
            <a:ext cx="5512499" cy="28137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44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Multi-User Concepts</a:t>
            </a:r>
          </a:p>
        </p:txBody>
      </p:sp>
      <p:sp>
        <p:nvSpPr>
          <p:cNvPr id="20" name="Shape 20"/>
          <p:cNvSpPr txBox="1">
            <a:spLocks noGrp="1"/>
          </p:cNvSpPr>
          <p:nvPr>
            <p:ph type="subTitle" idx="1"/>
          </p:nvPr>
        </p:nvSpPr>
        <p:spPr>
          <a:xfrm>
            <a:off x="1991425" y="6118925"/>
            <a:ext cx="6553200" cy="109395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0" marR="0" indent="0" algn="ctr" rtl="0">
              <a:lnSpc>
                <a:spcPct val="108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Miroslav Biňas</a:t>
            </a:r>
          </a:p>
          <a:p>
            <a:pPr marL="0" marR="0" indent="0" algn="ctr" rtl="0">
              <a:lnSpc>
                <a:spcPct val="108036"/>
              </a:lnSpc>
              <a:spcBef>
                <a:spcPts val="563"/>
              </a:spcBef>
              <a:spcAft>
                <a:spcPts val="0"/>
              </a:spcAft>
              <a:buNone/>
            </a:pPr>
            <a:r>
              <a:rPr lang="en-US" sz="31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(c) 2010 - 2012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got root?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root – system superuser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root privileges – root can 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run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anything and 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access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to everything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can't read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encrypted data, but 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can access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to the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root account is locked in modern distributions (Ubuntu)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not only for security reasons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way to obtain root access through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sudo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command</a:t>
            </a:r>
          </a:p>
        </p:txBody>
      </p:sp>
      <p:sp>
        <p:nvSpPr>
          <p:cNvPr id="27" name="Shape 27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sudo</a:t>
            </a: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Concept Explained ;)</a:t>
            </a:r>
          </a:p>
        </p:txBody>
      </p:sp>
      <p:sp>
        <p:nvSpPr>
          <p:cNvPr id="33" name="Shape 33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34" name="Shape 34"/>
          <p:cNvSpPr/>
          <p:nvPr/>
        </p:nvSpPr>
        <p:spPr>
          <a:xfrm>
            <a:off x="2641600" y="1625600"/>
            <a:ext cx="6429349" cy="5339924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Logging in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log in, you have to provide your </a:t>
            </a:r>
            <a:r>
              <a:rPr lang="en-US" sz="3300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username</a:t>
            </a:r>
            <a:r>
              <a:rPr lang="en-US" sz="3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300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password</a:t>
            </a:r>
            <a:endParaRPr lang="en-US" sz="3300"/>
          </a:p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log out, use command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or press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CTRL+D</a:t>
            </a:r>
            <a:endParaRPr lang="en-US" sz="3333">
              <a:solidFill>
                <a:srgbClr val="666666"/>
              </a:solidFill>
              <a:latin typeface="Courier New"/>
              <a:ea typeface="Courier New"/>
              <a:cs typeface="Courier New"/>
            </a:endParaRPr>
          </a:p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change password with </a:t>
            </a:r>
            <a:r>
              <a:rPr lang="en-US" sz="33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passwd</a:t>
            </a:r>
            <a:r>
              <a:rPr lang="en-US" sz="3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command</a:t>
            </a:r>
            <a:endParaRPr lang="en-US" sz="3300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381000" indent="-262255"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00">
                <a:solidFill>
                  <a:srgbClr val="666666"/>
                </a:solidFill>
              </a:rPr>
              <a:t>/</a:t>
            </a:r>
            <a:r>
              <a:rPr lang="en-US" sz="3300" err="1">
                <a:solidFill>
                  <a:srgbClr val="666666"/>
                </a:solidFill>
              </a:rPr>
              <a:t>etc</a:t>
            </a:r>
            <a:r>
              <a:rPr lang="en-US" sz="3300">
                <a:solidFill>
                  <a:srgbClr val="666666"/>
                </a:solidFill>
              </a:rPr>
              <a:t>/passwd - list of users and user settings|</a:t>
            </a:r>
          </a:p>
          <a:p>
            <a:pPr marL="381000" indent="-262255">
              <a:buClr>
                <a:srgbClr val="666666"/>
              </a:buClr>
              <a:buSzPct val="168350"/>
              <a:buFont typeface="Arial"/>
              <a:buChar char="•"/>
            </a:pPr>
            <a:endParaRPr lang="en-US" sz="3300">
              <a:solidFill>
                <a:srgbClr val="666666"/>
              </a:solidFill>
            </a:endParaRPr>
          </a:p>
          <a:p>
            <a:pPr marL="381000" indent="-262255"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00">
                <a:solidFill>
                  <a:srgbClr val="666666"/>
                </a:solidFill>
              </a:rPr>
              <a:t>cat /</a:t>
            </a:r>
            <a:r>
              <a:rPr lang="en-US" sz="3300" err="1">
                <a:solidFill>
                  <a:srgbClr val="666666"/>
                </a:solidFill>
              </a:rPr>
              <a:t>etc</a:t>
            </a:r>
            <a:r>
              <a:rPr lang="en-US" sz="3300">
                <a:solidFill>
                  <a:srgbClr val="666666"/>
                </a:solidFill>
              </a:rPr>
              <a:t>/passwd | grep student | </a:t>
            </a:r>
            <a:r>
              <a:rPr lang="en-US" sz="3300" err="1">
                <a:solidFill>
                  <a:srgbClr val="666666"/>
                </a:solidFill>
              </a:rPr>
              <a:t>wc</a:t>
            </a:r>
            <a:r>
              <a:rPr lang="en-US" sz="3300">
                <a:solidFill>
                  <a:srgbClr val="666666"/>
                </a:solidFill>
              </a:rPr>
              <a:t> –l</a:t>
            </a:r>
          </a:p>
          <a:p>
            <a:pPr marL="575945" indent="-457200"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00"/>
              <a:t>who -q | grep student --count</a:t>
            </a:r>
            <a:endParaRPr lang="en-US" sz="3300">
              <a:solidFill>
                <a:srgbClr val="666666"/>
              </a:solidFill>
            </a:endParaRPr>
          </a:p>
          <a:p>
            <a:pPr marL="118745">
              <a:buClr>
                <a:srgbClr val="666666"/>
              </a:buClr>
              <a:buSzPct val="168350"/>
            </a:pPr>
            <a:endParaRPr lang="en-US" sz="3300">
              <a:solidFill>
                <a:srgbClr val="666666"/>
              </a:solidFill>
            </a:endParaRPr>
          </a:p>
          <a:p>
            <a:pPr marL="381000" indent="-262255">
              <a:buClr>
                <a:srgbClr val="666666"/>
              </a:buClr>
              <a:buSzPct val="168350"/>
              <a:buFont typeface="Arial"/>
              <a:buChar char="•"/>
            </a:pPr>
            <a:endParaRPr lang="en-US" sz="3300">
              <a:solidFill>
                <a:srgbClr val="666666"/>
              </a:solidFill>
            </a:endParaRPr>
          </a:p>
        </p:txBody>
      </p:sp>
      <p:sp>
        <p:nvSpPr>
          <p:cNvPr id="41" name="Shape 41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Switching User Context</a:t>
            </a:r>
            <a:r>
              <a:rPr lang="en-US" sz="4000" b="1">
                <a:solidFill>
                  <a:srgbClr val="2E2C2B"/>
                </a:solidFill>
                <a:latin typeface="Arial"/>
                <a:ea typeface="Arial"/>
                <a:cs typeface="Arial"/>
                <a:sym typeface="Arial"/>
              </a:rPr>
              <a:t>s I.</a:t>
            </a:r>
          </a:p>
        </p:txBody>
      </p:sp>
      <p:sp>
        <p:nvSpPr>
          <p:cNvPr id="47" name="Shape 47"/>
          <p:cNvSpPr txBox="1"/>
          <p:nvPr/>
        </p:nvSpPr>
        <p:spPr>
          <a:xfrm>
            <a:off x="1954375" y="1621000"/>
            <a:ext cx="7872575" cy="560574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useful for quick actions without the need to log off and log back in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su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command is used to become another user or superuser during login session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su [OPTIONS] [USER]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no user is provided,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su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defaults become superuser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option provides similar environment to what the user would expect, when user logs in directly</a:t>
            </a:r>
          </a:p>
        </p:txBody>
      </p:sp>
      <p:sp>
        <p:nvSpPr>
          <p:cNvPr id="48" name="Shape 48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Switching User Context</a:t>
            </a:r>
            <a:r>
              <a:rPr lang="en-US" sz="4000" b="1">
                <a:solidFill>
                  <a:srgbClr val="2E2C2B"/>
                </a:solidFill>
                <a:latin typeface="Arial"/>
                <a:ea typeface="Arial"/>
                <a:cs typeface="Arial"/>
                <a:sym typeface="Arial"/>
              </a:rPr>
              <a:t>s II.</a:t>
            </a:r>
          </a:p>
        </p:txBody>
      </p:sp>
      <p:sp>
        <p:nvSpPr>
          <p:cNvPr id="54" name="Shape 54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sudo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allows limited administrative access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 need to know root's password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executes command as another user (superuser)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sudo command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based on configuration in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/etc/sudoers</a:t>
            </a:r>
          </a:p>
        </p:txBody>
      </p:sp>
      <p:sp>
        <p:nvSpPr>
          <p:cNvPr id="55" name="Shape 55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BDD46FAC-582B-4D95-8614-A78F0DA0D748}"/>
              </a:ext>
            </a:extLst>
          </p:cNvPr>
          <p:cNvSpPr txBox="1"/>
          <p:nvPr/>
        </p:nvSpPr>
        <p:spPr>
          <a:xfrm>
            <a:off x="1137486" y="5648861"/>
            <a:ext cx="50793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FF0000"/>
                </a:solidFill>
              </a:rPr>
              <a:t>Before we start … centos 7 </a:t>
            </a:r>
          </a:p>
          <a:p>
            <a:r>
              <a:rPr lang="en-US" sz="1600">
                <a:solidFill>
                  <a:srgbClr val="FF0000"/>
                </a:solidFill>
              </a:rPr>
              <a:t>date</a:t>
            </a:r>
          </a:p>
          <a:p>
            <a:r>
              <a:rPr lang="en-US" sz="1600" err="1">
                <a:solidFill>
                  <a:srgbClr val="FF0000"/>
                </a:solidFill>
              </a:rPr>
              <a:t>Timedatectl</a:t>
            </a:r>
            <a:endParaRPr lang="en-US" sz="1600">
              <a:solidFill>
                <a:srgbClr val="FF0000"/>
              </a:solidFill>
            </a:endParaRPr>
          </a:p>
          <a:p>
            <a:r>
              <a:rPr lang="sk-SK" sz="1600" err="1">
                <a:solidFill>
                  <a:srgbClr val="FF0000"/>
                </a:solidFill>
              </a:rPr>
              <a:t>timedatectl</a:t>
            </a:r>
            <a:r>
              <a:rPr lang="sk-SK" sz="1600">
                <a:solidFill>
                  <a:srgbClr val="FF0000"/>
                </a:solidFill>
              </a:rPr>
              <a:t> list-</a:t>
            </a:r>
            <a:r>
              <a:rPr lang="sk-SK" sz="1600" err="1">
                <a:solidFill>
                  <a:srgbClr val="FF0000"/>
                </a:solidFill>
              </a:rPr>
              <a:t>timezones</a:t>
            </a:r>
            <a:endParaRPr lang="en-US" sz="1600">
              <a:solidFill>
                <a:srgbClr val="FF0000"/>
              </a:solidFill>
            </a:endParaRPr>
          </a:p>
          <a:p>
            <a:r>
              <a:rPr lang="sk-SK" sz="1600" err="1">
                <a:solidFill>
                  <a:srgbClr val="FF0000"/>
                </a:solidFill>
              </a:rPr>
              <a:t>sudo</a:t>
            </a:r>
            <a:r>
              <a:rPr lang="sk-SK" sz="1600">
                <a:solidFill>
                  <a:srgbClr val="FF0000"/>
                </a:solidFill>
              </a:rPr>
              <a:t> </a:t>
            </a:r>
            <a:r>
              <a:rPr lang="sk-SK" sz="1600" err="1">
                <a:solidFill>
                  <a:srgbClr val="FF0000"/>
                </a:solidFill>
              </a:rPr>
              <a:t>timedatectl</a:t>
            </a:r>
            <a:r>
              <a:rPr lang="sk-SK" sz="1600">
                <a:solidFill>
                  <a:srgbClr val="FF0000"/>
                </a:solidFill>
              </a:rPr>
              <a:t> set-</a:t>
            </a:r>
            <a:r>
              <a:rPr lang="sk-SK" sz="1600" err="1">
                <a:solidFill>
                  <a:srgbClr val="FF0000"/>
                </a:solidFill>
              </a:rPr>
              <a:t>timezone</a:t>
            </a:r>
            <a:r>
              <a:rPr lang="sk-SK" sz="1600">
                <a:solidFill>
                  <a:srgbClr val="FF0000"/>
                </a:solidFill>
              </a:rPr>
              <a:t> </a:t>
            </a:r>
            <a:r>
              <a:rPr lang="sk-SK" sz="1600" err="1">
                <a:solidFill>
                  <a:srgbClr val="FF0000"/>
                </a:solidFill>
              </a:rPr>
              <a:t>Europe</a:t>
            </a:r>
            <a:r>
              <a:rPr lang="sk-SK" sz="1600">
                <a:solidFill>
                  <a:srgbClr val="FF0000"/>
                </a:solidFill>
              </a:rPr>
              <a:t>/Bratislava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6793EB-1C78-9178-1E95-5B3456829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95" y="294459"/>
            <a:ext cx="9903614" cy="698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297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5C1BDB-11AA-5EE4-E940-0D2FFA419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40" y="224034"/>
            <a:ext cx="9824488" cy="554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85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Gathering Login Session Info I.</a:t>
            </a:r>
          </a:p>
        </p:txBody>
      </p:sp>
      <p:sp>
        <p:nvSpPr>
          <p:cNvPr id="61" name="Shape 61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particular identity of user includes: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username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group name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user ID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group ID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Linux keeps track of login session: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when user logs in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how long is user idle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where user logs in from</a:t>
            </a:r>
          </a:p>
        </p:txBody>
      </p:sp>
      <p:sp>
        <p:nvSpPr>
          <p:cNvPr id="62" name="Shape 62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Gathering</a:t>
            </a:r>
            <a:r>
              <a:rPr lang="en-US" sz="4000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Login Session Info II.</a:t>
            </a:r>
          </a:p>
        </p:txBody>
      </p:sp>
      <p:sp>
        <p:nvSpPr>
          <p:cNvPr id="68" name="Shape 68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2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find out more info about identity, use the </a:t>
            </a:r>
            <a:r>
              <a:rPr lang="en-US" sz="28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-US" sz="2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command</a:t>
            </a:r>
            <a:endParaRPr lang="sk-SK" sz="2800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11811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28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2800" b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lang="sk-SK" sz="2800" b="1">
              <a:solidFill>
                <a:srgbClr val="666666"/>
              </a:solidFill>
              <a:latin typeface="Courier New"/>
              <a:ea typeface="Courier New"/>
              <a:cs typeface="Courier New"/>
            </a:endParaRPr>
          </a:p>
          <a:p>
            <a:pPr marL="11811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2800" b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uid</a:t>
            </a:r>
            <a:r>
              <a:rPr lang="en-US" sz="20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=1000(</a:t>
            </a:r>
            <a:r>
              <a:rPr lang="en-US" sz="200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mirek</a:t>
            </a:r>
            <a:r>
              <a:rPr lang="en-US" sz="20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)gid=1000(</a:t>
            </a:r>
            <a:r>
              <a:rPr lang="en-US" sz="200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mirek</a:t>
            </a:r>
            <a:r>
              <a:rPr lang="en-US" sz="20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) groups=4(</a:t>
            </a:r>
            <a:r>
              <a:rPr lang="en-US" sz="200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adm</a:t>
            </a:r>
            <a:r>
              <a:rPr lang="en-US" sz="20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),100(users),1000(</a:t>
            </a:r>
            <a:r>
              <a:rPr lang="en-US" sz="200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mirek</a:t>
            </a:r>
            <a:r>
              <a:rPr lang="en-US" sz="20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lang="en-US" sz="2000">
              <a:solidFill>
                <a:srgbClr val="666666"/>
              </a:solidFill>
              <a:latin typeface="Courier New"/>
              <a:ea typeface="Courier New"/>
              <a:cs typeface="Courier New"/>
            </a:endParaRPr>
          </a:p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2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other groups represents the permissions, that </a:t>
            </a:r>
            <a:r>
              <a:rPr lang="en-US" sz="280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mirek</a:t>
            </a:r>
            <a:r>
              <a:rPr lang="en-US" sz="2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has to access computer resources</a:t>
            </a:r>
            <a:endParaRPr lang="en-US" sz="2800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381000" lvl="0" indent="-262255"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2800" err="1">
                <a:solidFill>
                  <a:srgbClr val="666666"/>
                </a:solidFill>
              </a:rPr>
              <a:t>newgrp</a:t>
            </a:r>
            <a:r>
              <a:rPr lang="en-US" sz="2800">
                <a:solidFill>
                  <a:srgbClr val="666666"/>
                </a:solidFill>
              </a:rPr>
              <a:t> - </a:t>
            </a:r>
            <a:r>
              <a:rPr lang="en-US" sz="2800"/>
              <a:t>log in to a new group</a:t>
            </a:r>
          </a:p>
          <a:p>
            <a:pPr marL="838200" lvl="1" indent="-262255">
              <a:buClr>
                <a:srgbClr val="666666"/>
              </a:buClr>
              <a:buSzPct val="168350"/>
              <a:buFont typeface="Courier New"/>
              <a:buChar char="o"/>
            </a:pPr>
            <a:r>
              <a:rPr lang="en-US" sz="2800" err="1"/>
              <a:t>newgrp</a:t>
            </a:r>
            <a:r>
              <a:rPr lang="en-US" sz="2800"/>
              <a:t> users</a:t>
            </a:r>
          </a:p>
          <a:p>
            <a:pPr marL="838200" lvl="1" indent="-262255">
              <a:buClr>
                <a:srgbClr val="666666"/>
              </a:buClr>
              <a:buSzPct val="168350"/>
              <a:buFont typeface="Courier New"/>
              <a:buChar char="o"/>
            </a:pPr>
            <a:r>
              <a:rPr lang="en-US" sz="2800"/>
              <a:t>groups - </a:t>
            </a:r>
            <a:r>
              <a:rPr lang="en-US" sz="2800" err="1"/>
              <a:t>vypíše</a:t>
            </a:r>
            <a:r>
              <a:rPr lang="en-US" sz="2800"/>
              <a:t> do </a:t>
            </a:r>
            <a:r>
              <a:rPr lang="en-US" sz="2800" err="1"/>
              <a:t>ktorých</a:t>
            </a:r>
            <a:r>
              <a:rPr lang="en-US" sz="2800"/>
              <a:t> </a:t>
            </a:r>
            <a:r>
              <a:rPr lang="en-US" sz="2800" err="1"/>
              <a:t>skupín</a:t>
            </a:r>
            <a:r>
              <a:rPr lang="en-US" sz="2800"/>
              <a:t> </a:t>
            </a:r>
            <a:r>
              <a:rPr lang="en-US" sz="2800" err="1"/>
              <a:t>patríte</a:t>
            </a:r>
            <a:endParaRPr lang="en-US" sz="2800"/>
          </a:p>
          <a:p>
            <a:pPr marL="381000" lvl="0" indent="-262255"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2800" err="1"/>
              <a:t>gpasswd</a:t>
            </a:r>
            <a:r>
              <a:rPr lang="en-US" sz="2800"/>
              <a:t> - administer /</a:t>
            </a:r>
            <a:r>
              <a:rPr lang="en-US" sz="2800" err="1"/>
              <a:t>etc</a:t>
            </a:r>
            <a:r>
              <a:rPr lang="en-US" sz="2800"/>
              <a:t>/group and /</a:t>
            </a:r>
            <a:r>
              <a:rPr lang="en-US" sz="2800" err="1"/>
              <a:t>etc</a:t>
            </a:r>
            <a:r>
              <a:rPr lang="en-US" sz="2800"/>
              <a:t>/</a:t>
            </a:r>
            <a:r>
              <a:rPr lang="en-US" sz="2800" err="1"/>
              <a:t>gshadow</a:t>
            </a:r>
            <a:endParaRPr lang="en-US" sz="280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hape 69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Gathering</a:t>
            </a:r>
            <a:r>
              <a:rPr lang="en-US" sz="4000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Login Session Info III.</a:t>
            </a:r>
          </a:p>
        </p:txBody>
      </p:sp>
      <p:sp>
        <p:nvSpPr>
          <p:cNvPr id="75" name="Shape 75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who am </a:t>
            </a:r>
            <a:r>
              <a:rPr lang="en-US" sz="3333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exactly?</a:t>
            </a:r>
            <a:endParaRPr lang="sk-SK" sz="3333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whoami</a:t>
            </a:r>
            <a:endParaRPr lang="sk-SK" sz="3333" b="1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b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66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mirek</a:t>
            </a:r>
            <a:endParaRPr lang="en-US" sz="2666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" name="Shape 76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Gathering</a:t>
            </a:r>
            <a:r>
              <a:rPr lang="en-US" sz="4000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Login Session Info IV.</a:t>
            </a:r>
          </a:p>
        </p:txBody>
      </p:sp>
      <p:sp>
        <p:nvSpPr>
          <p:cNvPr id="82" name="Shape 82"/>
          <p:cNvSpPr txBox="1"/>
          <p:nvPr/>
        </p:nvSpPr>
        <p:spPr>
          <a:xfrm>
            <a:off x="1930400" y="1422375"/>
            <a:ext cx="7872575" cy="5711824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what groups I am in?</a:t>
            </a:r>
            <a:endParaRPr lang="sk-SK" sz="3333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groups</a:t>
            </a:r>
            <a:endParaRPr lang="sk-SK" sz="3333" b="1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b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66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mirek</a:t>
            </a:r>
            <a:r>
              <a:rPr lang="en-US" sz="2666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66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adm</a:t>
            </a:r>
            <a:r>
              <a:rPr lang="en-US" sz="2666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66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dialout</a:t>
            </a:r>
            <a:r>
              <a:rPr lang="en-US" sz="2666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66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cdrom</a:t>
            </a:r>
            <a:r>
              <a:rPr lang="en-US" sz="2666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66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plugdev</a:t>
            </a:r>
            <a:r>
              <a:rPr lang="en-US" sz="2666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users </a:t>
            </a:r>
            <a:r>
              <a:rPr lang="en-US" sz="2666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lpadmin</a:t>
            </a:r>
            <a:r>
              <a:rPr lang="en-US" sz="2666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66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netdev</a:t>
            </a:r>
            <a:r>
              <a:rPr lang="en-US" sz="2666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admin </a:t>
            </a:r>
            <a:r>
              <a:rPr lang="en-US" sz="2666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sambashare</a:t>
            </a:r>
            <a:endParaRPr lang="en-US" sz="2666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what groups are other users in?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b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groups </a:t>
            </a:r>
            <a:r>
              <a:rPr lang="en-US" sz="3333" b="1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luba</a:t>
            </a:r>
            <a:endParaRPr lang="sk-SK" sz="3333" b="1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2666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luba</a:t>
            </a:r>
            <a:r>
              <a:rPr lang="en-US" sz="2666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: users </a:t>
            </a:r>
            <a:r>
              <a:rPr lang="en-US" sz="2666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adm</a:t>
            </a:r>
            <a:r>
              <a:rPr lang="en-US" sz="2666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66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dialout</a:t>
            </a:r>
            <a:r>
              <a:rPr lang="en-US" sz="2666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fax </a:t>
            </a:r>
            <a:r>
              <a:rPr lang="en-US" sz="2666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cdrom</a:t>
            </a:r>
            <a:r>
              <a:rPr lang="en-US" sz="2666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tape audio dip video </a:t>
            </a:r>
            <a:r>
              <a:rPr lang="en-US" sz="2666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plugdev</a:t>
            </a:r>
            <a:r>
              <a:rPr lang="en-US" sz="2666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fuse </a:t>
            </a:r>
            <a:r>
              <a:rPr lang="en-US" sz="2666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netdev</a:t>
            </a:r>
            <a:endParaRPr lang="en-US" sz="2666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" name="Shape 83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Gathering Login Session Info V.</a:t>
            </a:r>
          </a:p>
        </p:txBody>
      </p:sp>
      <p:sp>
        <p:nvSpPr>
          <p:cNvPr id="89" name="Shape 89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see information about user's current login session, use the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who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command</a:t>
            </a:r>
            <a:endParaRPr lang="sk-SK" sz="3333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who –H</a:t>
            </a:r>
            <a:endParaRPr lang="sk-SK" sz="3333" b="1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2666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NAME  LINE TIME         COMMENT</a:t>
            </a:r>
            <a:endParaRPr lang="sk-SK" sz="2666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2666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mirek</a:t>
            </a:r>
            <a:r>
              <a:rPr lang="en-US" sz="2666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tty1 Sep 7 19:41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who options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-H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adds header to output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-b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time of last system boot</a:t>
            </a:r>
          </a:p>
        </p:txBody>
      </p:sp>
      <p:sp>
        <p:nvSpPr>
          <p:cNvPr id="90" name="Shape 90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Gathering System Info</a:t>
            </a:r>
          </a:p>
        </p:txBody>
      </p:sp>
      <p:sp>
        <p:nvSpPr>
          <p:cNvPr id="96" name="Shape 96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version of kernel</a:t>
            </a:r>
            <a:endParaRPr lang="sk-SK" sz="3333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11811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uname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-a</a:t>
            </a:r>
            <a:endParaRPr lang="en-US" sz="3333">
              <a:solidFill>
                <a:srgbClr val="666666"/>
              </a:solidFill>
              <a:latin typeface="Courier New"/>
              <a:ea typeface="Courier New"/>
              <a:cs typeface="Courier New"/>
            </a:endParaRPr>
          </a:p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last boot time</a:t>
            </a:r>
            <a:endParaRPr lang="sk-SK" sz="3333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11811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who -b</a:t>
            </a:r>
            <a:endParaRPr lang="en-US" sz="3333">
              <a:solidFill>
                <a:srgbClr val="666666"/>
              </a:solidFill>
              <a:latin typeface="Courier New"/>
              <a:ea typeface="Courier New"/>
              <a:cs typeface="Courier New"/>
            </a:endParaRPr>
          </a:p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running </a:t>
            </a:r>
            <a:r>
              <a:rPr lang="en-US" sz="3333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runlevel</a:t>
            </a:r>
            <a:endParaRPr lang="sk-SK" sz="3333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11811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who -r</a:t>
            </a:r>
            <a:endParaRPr lang="en-US" sz="3333">
              <a:solidFill>
                <a:srgbClr val="666666"/>
              </a:solidFill>
              <a:latin typeface="Courier New"/>
              <a:ea typeface="Courier New"/>
              <a:cs typeface="Courier New"/>
            </a:endParaRPr>
          </a:p>
          <a:p>
            <a:pPr marL="381000" marR="0" lvl="0" indent="-2622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computer's uptime</a:t>
            </a:r>
            <a:endParaRPr lang="sk-SK" sz="3333">
              <a:solidFill>
                <a:srgbClr val="666666"/>
              </a:solidFill>
              <a:latin typeface="Arial"/>
              <a:ea typeface="Arial"/>
              <a:cs typeface="Arial"/>
            </a:endParaRPr>
          </a:p>
          <a:p>
            <a:pPr marL="11811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uptime</a:t>
            </a:r>
            <a:endParaRPr lang="en-US" sz="3333">
              <a:solidFill>
                <a:srgbClr val="666666"/>
              </a:solidFill>
              <a:latin typeface="Courier New"/>
              <a:ea typeface="Courier New"/>
              <a:cs typeface="Courier New"/>
            </a:endParaRPr>
          </a:p>
          <a:p>
            <a:pPr marL="57531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 panose="020B0604020202020204" pitchFamily="34" charset="0"/>
              <a:buChar char="•"/>
            </a:pPr>
            <a:r>
              <a:rPr lang="en-US" sz="3333">
                <a:solidFill>
                  <a:srgbClr val="666666"/>
                </a:solidFill>
                <a:sym typeface="courier new"/>
              </a:rPr>
              <a:t>Info about system / OS </a:t>
            </a:r>
            <a:r>
              <a:rPr lang="en-US" sz="3333" err="1">
                <a:solidFill>
                  <a:srgbClr val="666666"/>
                </a:solidFill>
                <a:sym typeface="courier new"/>
              </a:rPr>
              <a:t>distrib</a:t>
            </a:r>
            <a:endParaRPr lang="en-US" sz="3333">
              <a:solidFill>
                <a:srgbClr val="666666"/>
              </a:solidFill>
            </a:endParaRPr>
          </a:p>
          <a:p>
            <a:pPr marL="118110" lvl="0">
              <a:buClr>
                <a:srgbClr val="666666"/>
              </a:buClr>
              <a:buSzPct val="168350"/>
            </a:pPr>
            <a:r>
              <a:rPr lang="en-US" sz="33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00" err="1">
                <a:solidFill>
                  <a:srgbClr val="666666"/>
                </a:solidFill>
                <a:latin typeface="Courier New"/>
                <a:cs typeface="Courier New"/>
                <a:sym typeface="courier new"/>
              </a:rPr>
              <a:t>hostnamectl</a:t>
            </a:r>
            <a:endParaRPr lang="en-US" sz="3300" err="1">
              <a:solidFill>
                <a:srgbClr val="666666"/>
              </a:solidFill>
              <a:latin typeface="Courier New"/>
              <a:cs typeface="Courier New"/>
            </a:endParaRPr>
          </a:p>
          <a:p>
            <a:pPr marL="118110"/>
            <a:r>
              <a:rPr lang="en-US" sz="3300" err="1">
                <a:solidFill>
                  <a:srgbClr val="666666"/>
                </a:solidFill>
                <a:latin typeface="Courier New"/>
                <a:cs typeface="Courier New"/>
              </a:rPr>
              <a:t>lsb_release</a:t>
            </a:r>
            <a:r>
              <a:rPr lang="en-US" sz="3300">
                <a:solidFill>
                  <a:srgbClr val="666666"/>
                </a:solidFill>
                <a:latin typeface="Courier New"/>
                <a:cs typeface="Courier New"/>
              </a:rPr>
              <a:t> –a </a:t>
            </a:r>
            <a:r>
              <a:rPr lang="en-US" sz="3300" err="1">
                <a:solidFill>
                  <a:srgbClr val="666666"/>
                </a:solidFill>
                <a:latin typeface="Courier New"/>
                <a:cs typeface="Courier New"/>
              </a:rPr>
              <a:t>verzia</a:t>
            </a:r>
            <a:r>
              <a:rPr lang="en-US" sz="3300">
                <a:solidFill>
                  <a:srgbClr val="666666"/>
                </a:solidFill>
                <a:latin typeface="Courier New"/>
                <a:cs typeface="Courier New"/>
              </a:rPr>
              <a:t> ubuntu</a:t>
            </a:r>
          </a:p>
        </p:txBody>
      </p:sp>
      <p:sp>
        <p:nvSpPr>
          <p:cNvPr id="97" name="Shape 97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pic>
        <p:nvPicPr>
          <p:cNvPr id="4" name="Obrázok 3" descr="Obrázok, na ktorom je text, snímka obrazovky, písmo, softvér&#10;&#10;Automaticky generovaný popis">
            <a:extLst>
              <a:ext uri="{FF2B5EF4-FFF2-40B4-BE49-F238E27FC236}">
                <a16:creationId xmlns:a16="http://schemas.microsoft.com/office/drawing/2014/main" id="{C441E959-CBEF-D83B-115A-955CF7932E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0408" y="1621000"/>
            <a:ext cx="4940917" cy="3147842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err="1"/>
              <a:t>Help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04800" y="1219200"/>
            <a:ext cx="9550400" cy="6095999"/>
          </a:xfrm>
        </p:spPr>
        <p:txBody>
          <a:bodyPr>
            <a:normAutofit fontScale="92500" lnSpcReduction="10000"/>
          </a:bodyPr>
          <a:lstStyle/>
          <a:p>
            <a:r>
              <a:rPr lang="sk-SK" sz="2650" b="1" dirty="0"/>
              <a:t>man </a:t>
            </a:r>
            <a:r>
              <a:rPr lang="sk-SK" sz="2650" dirty="0"/>
              <a:t>+ názov príkazu</a:t>
            </a:r>
          </a:p>
          <a:p>
            <a:pPr marL="457200" lvl="1" indent="-457200">
              <a:buFont typeface="Arial"/>
              <a:buChar char="•"/>
            </a:pPr>
            <a:r>
              <a:rPr lang="sk-SK" sz="2650" dirty="0"/>
              <a:t>1 user </a:t>
            </a:r>
            <a:r>
              <a:rPr lang="sk-SK" sz="2650" dirty="0" err="1"/>
              <a:t>commands</a:t>
            </a:r>
            <a:r>
              <a:rPr lang="sk-SK" sz="2650" dirty="0"/>
              <a:t>, 2 </a:t>
            </a:r>
            <a:r>
              <a:rPr lang="sk-SK" sz="2650" dirty="0" err="1"/>
              <a:t>system</a:t>
            </a:r>
            <a:r>
              <a:rPr lang="sk-SK" sz="2650" dirty="0"/>
              <a:t> </a:t>
            </a:r>
            <a:r>
              <a:rPr lang="sk-SK" sz="2650" dirty="0" err="1"/>
              <a:t>calls</a:t>
            </a:r>
            <a:r>
              <a:rPr lang="sk-SK" sz="2650" dirty="0"/>
              <a:t>, 3 C </a:t>
            </a:r>
            <a:r>
              <a:rPr lang="sk-SK" sz="2650" dirty="0" err="1"/>
              <a:t>library</a:t>
            </a:r>
            <a:r>
              <a:rPr lang="sk-SK" sz="2650" dirty="0"/>
              <a:t> </a:t>
            </a:r>
            <a:r>
              <a:rPr lang="sk-SK" sz="2650" dirty="0" err="1"/>
              <a:t>functions</a:t>
            </a:r>
            <a:r>
              <a:rPr lang="sk-SK" sz="2650" dirty="0"/>
              <a:t>, 4 </a:t>
            </a:r>
            <a:r>
              <a:rPr lang="sk-SK" sz="2650" dirty="0" err="1"/>
              <a:t>devices</a:t>
            </a:r>
            <a:r>
              <a:rPr lang="sk-SK" sz="2650" dirty="0"/>
              <a:t> and </a:t>
            </a:r>
            <a:r>
              <a:rPr lang="sk-SK" sz="2650" dirty="0" err="1"/>
              <a:t>special</a:t>
            </a:r>
            <a:r>
              <a:rPr lang="sk-SK" sz="2650" dirty="0"/>
              <a:t> </a:t>
            </a:r>
            <a:r>
              <a:rPr lang="sk-SK" sz="2650" dirty="0" err="1"/>
              <a:t>files</a:t>
            </a:r>
            <a:r>
              <a:rPr lang="sk-SK" sz="2650" dirty="0"/>
              <a:t>, 5 </a:t>
            </a:r>
            <a:r>
              <a:rPr lang="sk-SK" sz="2650" dirty="0" err="1"/>
              <a:t>file</a:t>
            </a:r>
            <a:r>
              <a:rPr lang="sk-SK" sz="2650" dirty="0"/>
              <a:t> </a:t>
            </a:r>
            <a:r>
              <a:rPr lang="sk-SK" sz="2650" dirty="0" err="1"/>
              <a:t>formats</a:t>
            </a:r>
            <a:r>
              <a:rPr lang="sk-SK" sz="2650" dirty="0"/>
              <a:t> and </a:t>
            </a:r>
            <a:r>
              <a:rPr lang="sk-SK" sz="2650" dirty="0" err="1"/>
              <a:t>conventions</a:t>
            </a:r>
            <a:r>
              <a:rPr lang="sk-SK" sz="2650" dirty="0"/>
              <a:t>, 6 </a:t>
            </a:r>
            <a:r>
              <a:rPr lang="sk-SK" sz="2650" dirty="0" err="1"/>
              <a:t>games</a:t>
            </a:r>
            <a:r>
              <a:rPr lang="sk-SK" sz="2650" dirty="0"/>
              <a:t> a pod, 7 </a:t>
            </a:r>
            <a:r>
              <a:rPr lang="sk-SK" sz="2650" dirty="0" err="1"/>
              <a:t>miscelaanea</a:t>
            </a:r>
            <a:r>
              <a:rPr lang="sk-SK" sz="2650" dirty="0"/>
              <a:t>, 8 </a:t>
            </a:r>
            <a:r>
              <a:rPr lang="sk-SK" sz="2650" dirty="0" err="1"/>
              <a:t>system</a:t>
            </a:r>
            <a:r>
              <a:rPr lang="sk-SK" sz="2650" dirty="0"/>
              <a:t> </a:t>
            </a:r>
            <a:r>
              <a:rPr lang="sk-SK" sz="2650" dirty="0" err="1"/>
              <a:t>administration</a:t>
            </a:r>
            <a:r>
              <a:rPr lang="sk-SK" sz="2650" dirty="0"/>
              <a:t> </a:t>
            </a:r>
            <a:r>
              <a:rPr lang="sk-SK" sz="2650" dirty="0" err="1"/>
              <a:t>tools</a:t>
            </a:r>
            <a:r>
              <a:rPr lang="sk-SK" sz="2650" dirty="0"/>
              <a:t> and </a:t>
            </a:r>
            <a:r>
              <a:rPr lang="sk-SK" sz="2650" dirty="0" err="1"/>
              <a:t>Deamons</a:t>
            </a:r>
            <a:endParaRPr lang="sk-SK" sz="2650" dirty="0"/>
          </a:p>
          <a:p>
            <a:pPr marL="457200" lvl="1" indent="-457200">
              <a:buFont typeface="Arial"/>
              <a:buChar char="•"/>
            </a:pPr>
            <a:r>
              <a:rPr lang="sk-SK" sz="2650" dirty="0"/>
              <a:t>man 3 </a:t>
            </a:r>
            <a:r>
              <a:rPr lang="sk-SK" sz="2650" dirty="0" err="1"/>
              <a:t>clock</a:t>
            </a:r>
            <a:endParaRPr lang="sk-SK" sz="2650" dirty="0"/>
          </a:p>
          <a:p>
            <a:pPr marL="457200" lvl="1" indent="-457200">
              <a:buFont typeface="Arial"/>
              <a:buChar char="•"/>
            </a:pPr>
            <a:r>
              <a:rPr lang="sk-SK" sz="2650" dirty="0"/>
              <a:t>man 3p </a:t>
            </a:r>
            <a:r>
              <a:rPr lang="sk-SK" sz="2650" dirty="0" err="1"/>
              <a:t>clock</a:t>
            </a:r>
            <a:endParaRPr lang="sk-SK" sz="2650" dirty="0"/>
          </a:p>
          <a:p>
            <a:pPr marL="457200" lvl="1" indent="-457200">
              <a:buFont typeface="Arial"/>
              <a:buChar char="•"/>
            </a:pPr>
            <a:r>
              <a:rPr lang="sk-SK" sz="2650" dirty="0"/>
              <a:t>man 8 </a:t>
            </a:r>
            <a:r>
              <a:rPr lang="sk-SK" sz="2650" dirty="0" err="1"/>
              <a:t>clock</a:t>
            </a:r>
            <a:endParaRPr lang="sk-SK" sz="2650" dirty="0"/>
          </a:p>
          <a:p>
            <a:r>
              <a:rPr lang="sk-SK" sz="2650" b="1" dirty="0" err="1"/>
              <a:t>apropos</a:t>
            </a:r>
            <a:r>
              <a:rPr lang="sk-SK" sz="2650" b="1" dirty="0"/>
              <a:t> </a:t>
            </a:r>
            <a:r>
              <a:rPr lang="sk-SK" sz="2650" dirty="0"/>
              <a:t>oblasť ktorú hľadáme</a:t>
            </a:r>
          </a:p>
          <a:p>
            <a:pPr marL="457200" lvl="1" indent="-457200">
              <a:buFont typeface="Arial"/>
              <a:buChar char="•"/>
            </a:pPr>
            <a:r>
              <a:rPr lang="sk-SK" sz="2650" dirty="0" err="1"/>
              <a:t>apropos</a:t>
            </a:r>
            <a:r>
              <a:rPr lang="sk-SK" sz="2650" dirty="0"/>
              <a:t> –s1 disk </a:t>
            </a:r>
            <a:r>
              <a:rPr lang="sk-SK" sz="2650" dirty="0" err="1"/>
              <a:t>space</a:t>
            </a:r>
            <a:r>
              <a:rPr lang="sk-SK" sz="2650" dirty="0"/>
              <a:t> (</a:t>
            </a:r>
            <a:r>
              <a:rPr lang="sk-SK" sz="2650"/>
              <a:t>len príkazy)</a:t>
            </a:r>
            <a:endParaRPr lang="sk-SK" sz="2650" dirty="0"/>
          </a:p>
          <a:p>
            <a:r>
              <a:rPr lang="sk-SK" sz="2650" b="1" dirty="0" err="1"/>
              <a:t>whatis</a:t>
            </a:r>
            <a:r>
              <a:rPr lang="sk-SK" sz="2650" b="1" dirty="0"/>
              <a:t> </a:t>
            </a:r>
            <a:r>
              <a:rPr lang="sk-SK" sz="2650" dirty="0" err="1"/>
              <a:t>clock</a:t>
            </a:r>
            <a:endParaRPr lang="sk-SK" sz="2650" dirty="0"/>
          </a:p>
          <a:p>
            <a:r>
              <a:rPr lang="sk-SK" sz="2650" b="1" dirty="0" err="1"/>
              <a:t>Info</a:t>
            </a:r>
            <a:r>
              <a:rPr lang="sk-SK" sz="2650" b="1" dirty="0"/>
              <a:t> </a:t>
            </a:r>
            <a:r>
              <a:rPr lang="sk-SK" sz="2650" dirty="0" err="1"/>
              <a:t>clock</a:t>
            </a:r>
            <a:endParaRPr lang="sk-SK" sz="2650" dirty="0"/>
          </a:p>
          <a:p>
            <a:r>
              <a:rPr lang="sk-SK" dirty="0"/>
              <a:t>V grafickom režime </a:t>
            </a:r>
            <a:r>
              <a:rPr lang="sk-SK" dirty="0" err="1"/>
              <a:t>yelp</a:t>
            </a:r>
            <a:r>
              <a:rPr lang="sk-SK" dirty="0"/>
              <a:t> alebo </a:t>
            </a:r>
            <a:r>
              <a:rPr lang="sk-SK" dirty="0" err="1"/>
              <a:t>khelpcenter</a:t>
            </a:r>
            <a:endParaRPr lang="sk-SK" dirty="0"/>
          </a:p>
          <a:p>
            <a:r>
              <a:rPr lang="sk-SK" dirty="0"/>
              <a:t>Alebo web a HOWTO, FAQ ...</a:t>
            </a:r>
          </a:p>
          <a:p>
            <a:r>
              <a:rPr lang="sk-SK" b="1" dirty="0"/>
              <a:t>Zrušenie podfarbenia man</a:t>
            </a:r>
          </a:p>
          <a:p>
            <a:r>
              <a:rPr lang="sk-SK" dirty="0" err="1"/>
              <a:t>julius@unix</a:t>
            </a:r>
            <a:r>
              <a:rPr lang="sk-SK" dirty="0"/>
              <a:t>:~$ echo 'export PAGER=more' &gt;&gt; ~/.</a:t>
            </a:r>
            <a:r>
              <a:rPr lang="sk-SK" dirty="0" err="1"/>
              <a:t>bashrc</a:t>
            </a:r>
            <a:endParaRPr lang="sk-SK" dirty="0"/>
          </a:p>
          <a:p>
            <a:r>
              <a:rPr lang="sk-SK" dirty="0" err="1"/>
              <a:t>julius@unix</a:t>
            </a:r>
            <a:r>
              <a:rPr lang="sk-SK" dirty="0"/>
              <a:t>:~$ </a:t>
            </a:r>
            <a:r>
              <a:rPr lang="sk-SK" dirty="0" err="1"/>
              <a:t>source</a:t>
            </a:r>
            <a:r>
              <a:rPr lang="sk-SK" dirty="0"/>
              <a:t> ~/.</a:t>
            </a:r>
            <a:r>
              <a:rPr lang="sk-SK" dirty="0" err="1"/>
              <a:t>bashrc</a:t>
            </a:r>
            <a:endParaRPr lang="sk-SK" dirty="0"/>
          </a:p>
          <a:p>
            <a:endParaRPr lang="sk-SK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373" y="2688483"/>
            <a:ext cx="3222625" cy="265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22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err="1"/>
              <a:t>Help</a:t>
            </a:r>
            <a:endParaRPr lang="sk-SK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948776" y="1256353"/>
            <a:ext cx="8088776" cy="576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714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1727200" y="3657600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ctr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</a:p>
        </p:txBody>
      </p:sp>
      <p:sp>
        <p:nvSpPr>
          <p:cNvPr id="124" name="Shape 124"/>
          <p:cNvSpPr/>
          <p:nvPr/>
        </p:nvSpPr>
        <p:spPr>
          <a:xfrm>
            <a:off x="0" y="60854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Custom Theme">
  <a:themeElements>
    <a:clrScheme name="blank">
      <a:dk1>
        <a:srgbClr val="000000"/>
      </a:dk1>
      <a:lt1>
        <a:srgbClr val="FFFFFF"/>
      </a:lt1>
      <a:dk2>
        <a:srgbClr val="073763"/>
      </a:dk2>
      <a:lt2>
        <a:srgbClr val="CFE2F3"/>
      </a:lt2>
      <a:accent1>
        <a:srgbClr val="404040"/>
      </a:accent1>
      <a:accent2>
        <a:srgbClr val="808080"/>
      </a:accent2>
      <a:accent3>
        <a:srgbClr val="C0C0C0"/>
      </a:accent3>
      <a:accent4>
        <a:srgbClr val="396187"/>
      </a:accent4>
      <a:accent5>
        <a:srgbClr val="6B8CAB"/>
      </a:accent5>
      <a:accent6>
        <a:srgbClr val="9DB7CF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650</Words>
  <Application>Microsoft Macintosh PowerPoint</Application>
  <PresentationFormat>Vlastná</PresentationFormat>
  <Paragraphs>103</Paragraphs>
  <Slides>17</Slides>
  <Notes>13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17</vt:i4>
      </vt:variant>
    </vt:vector>
  </HeadingPairs>
  <TitlesOfParts>
    <vt:vector size="21" baseType="lpstr">
      <vt:lpstr>Arial</vt:lpstr>
      <vt:lpstr>Courier New</vt:lpstr>
      <vt:lpstr>Courier New</vt:lpstr>
      <vt:lpstr>Custom Theme</vt:lpstr>
      <vt:lpstr>Multi-User Concepts</vt:lpstr>
      <vt:lpstr>got root?</vt:lpstr>
      <vt:lpstr>sudo Concept Explained ;)</vt:lpstr>
      <vt:lpstr>Logging in</vt:lpstr>
      <vt:lpstr>Switching User Contexts I.</vt:lpstr>
      <vt:lpstr>Switching User Contexts II.</vt:lpstr>
      <vt:lpstr>Prezentácia programu PowerPoint</vt:lpstr>
      <vt:lpstr>Prezentácia programu PowerPoint</vt:lpstr>
      <vt:lpstr>Gathering Login Session Info I.</vt:lpstr>
      <vt:lpstr>Gathering Login Session Info II.</vt:lpstr>
      <vt:lpstr>Gathering Login Session Info III.</vt:lpstr>
      <vt:lpstr>Gathering Login Session Info IV.</vt:lpstr>
      <vt:lpstr>Gathering Login Session Info V.</vt:lpstr>
      <vt:lpstr>Gathering System Info</vt:lpstr>
      <vt:lpstr>Help</vt:lpstr>
      <vt:lpstr>Help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Multi-User Concepts</dc:title>
  <cp:lastModifiedBy>Baráth, Július</cp:lastModifiedBy>
  <cp:revision>1</cp:revision>
  <dcterms:modified xsi:type="dcterms:W3CDTF">2026-02-26T11:49:52Z</dcterms:modified>
</cp:coreProperties>
</file>