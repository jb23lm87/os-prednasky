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15"/>
  </p:notesMasterIdLst>
  <p:sldIdLst>
    <p:sldId id="256" r:id="rId2"/>
    <p:sldId id="257" r:id="rId3"/>
    <p:sldId id="258" r:id="rId4"/>
    <p:sldId id="263" r:id="rId5"/>
    <p:sldId id="264" r:id="rId6"/>
    <p:sldId id="259" r:id="rId7"/>
    <p:sldId id="260" r:id="rId8"/>
    <p:sldId id="261" r:id="rId9"/>
    <p:sldId id="262" r:id="rId10"/>
    <p:sldId id="265" r:id="rId11"/>
    <p:sldId id="266" r:id="rId12"/>
    <p:sldId id="267" r:id="rId13"/>
    <p:sldId id="268" r:id="rId14"/>
  </p:sldIdLst>
  <p:sldSz cx="10160000" cy="7620000"/>
  <p:notesSz cx="7620000" cy="10160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32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E9DA39-D982-4847-B799-4064F65EDC56}" v="3" dt="2026-03-11T13:21:44.543"/>
  </p1510:revLst>
</p1510:revInfo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072"/>
    <p:restoredTop sz="96327"/>
  </p:normalViewPr>
  <p:slideViewPr>
    <p:cSldViewPr snapToGrid="0">
      <p:cViewPr varScale="1">
        <p:scale>
          <a:sx n="134" d="100"/>
          <a:sy n="134" d="100"/>
        </p:scale>
        <p:origin x="200" y="576"/>
      </p:cViewPr>
      <p:guideLst>
        <p:guide orient="horz" pos="2400"/>
        <p:guide pos="32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4A0811C8-ED2F-505E-B787-C8270CED5046}"/>
    <pc:docChg chg="custSel modSld">
      <pc:chgData name="Baráth, Július" userId="aebde9b9-dccc-4475-a9ac-c05e78323d7a" providerId="ADAL" clId="{4A0811C8-ED2F-505E-B787-C8270CED5046}" dt="2026-03-11T13:24:28.503" v="60" actId="20577"/>
      <pc:docMkLst>
        <pc:docMk/>
      </pc:docMkLst>
      <pc:sldChg chg="modSp mod">
        <pc:chgData name="Baráth, Július" userId="aebde9b9-dccc-4475-a9ac-c05e78323d7a" providerId="ADAL" clId="{4A0811C8-ED2F-505E-B787-C8270CED5046}" dt="2026-03-11T13:18:10.050" v="28" actId="5793"/>
        <pc:sldMkLst>
          <pc:docMk/>
          <pc:sldMk cId="0" sldId="260"/>
        </pc:sldMkLst>
        <pc:spChg chg="mod">
          <ac:chgData name="Baráth, Július" userId="aebde9b9-dccc-4475-a9ac-c05e78323d7a" providerId="ADAL" clId="{4A0811C8-ED2F-505E-B787-C8270CED5046}" dt="2026-03-11T13:18:10.050" v="28" actId="5793"/>
          <ac:spMkLst>
            <pc:docMk/>
            <pc:sldMk cId="0" sldId="260"/>
            <ac:spMk id="47" creationId="{00000000-0000-0000-0000-000000000000}"/>
          </ac:spMkLst>
        </pc:spChg>
      </pc:sldChg>
      <pc:sldChg chg="modSp mod">
        <pc:chgData name="Baráth, Július" userId="aebde9b9-dccc-4475-a9ac-c05e78323d7a" providerId="ADAL" clId="{4A0811C8-ED2F-505E-B787-C8270CED5046}" dt="2026-03-11T13:24:28.503" v="60" actId="20577"/>
        <pc:sldMkLst>
          <pc:docMk/>
          <pc:sldMk cId="0" sldId="266"/>
        </pc:sldMkLst>
        <pc:spChg chg="mod">
          <ac:chgData name="Baráth, Július" userId="aebde9b9-dccc-4475-a9ac-c05e78323d7a" providerId="ADAL" clId="{4A0811C8-ED2F-505E-B787-C8270CED5046}" dt="2026-03-11T13:24:28.503" v="60" actId="20577"/>
          <ac:spMkLst>
            <pc:docMk/>
            <pc:sldMk cId="0" sldId="266"/>
            <ac:spMk id="8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66823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 min (3)</a:t>
            </a:r>
          </a:p>
          <a:p>
            <a:pPr lvl="0" rtl="0">
              <a:lnSpc>
                <a:spcPct val="100000"/>
              </a:lnSpc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rar </a:t>
            </a:r>
          </a:p>
        </p:txBody>
      </p:sp>
    </p:spTree>
    <p:extLst>
      <p:ext uri="{BB962C8B-B14F-4D97-AF65-F5344CB8AC3E}">
        <p14:creationId xmlns:p14="http://schemas.microsoft.com/office/powerpoint/2010/main" val="2969247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6754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9892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9233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4680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7652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9222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654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2366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3209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-s</a:t>
            </a: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- sets split size and creates split archive (size as number followed by </a:t>
            </a:r>
            <a:r>
              <a:rPr lang="en-US" sz="1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(kb), </a:t>
            </a:r>
            <a:r>
              <a:rPr lang="en-US" sz="1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(MB), </a:t>
            </a:r>
            <a:r>
              <a:rPr lang="en-US" sz="1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(GB) or </a:t>
            </a:r>
            <a:r>
              <a:rPr lang="en-US" sz="1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(TB)</a:t>
            </a:r>
          </a:p>
        </p:txBody>
      </p:sp>
    </p:spTree>
    <p:extLst>
      <p:ext uri="{BB962C8B-B14F-4D97-AF65-F5344CB8AC3E}">
        <p14:creationId xmlns:p14="http://schemas.microsoft.com/office/powerpoint/2010/main" val="1182720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4224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4383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 txBox="1">
            <a:spLocks noGrp="1"/>
          </p:cNvSpPr>
          <p:nvPr>
            <p:ph type="ctrTitle"/>
          </p:nvPr>
        </p:nvSpPr>
        <p:spPr>
          <a:xfrm>
            <a:off x="914400" y="3048000"/>
            <a:ext cx="8331200" cy="1219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4800"/>
            </a:lvl1pPr>
            <a:lvl2pPr algn="ctr">
              <a:buSzPct val="100000"/>
              <a:defRPr sz="4800"/>
            </a:lvl2pPr>
            <a:lvl3pPr algn="ctr">
              <a:buSzPct val="100000"/>
              <a:defRPr sz="4800"/>
            </a:lvl3pPr>
            <a:lvl4pPr algn="ctr">
              <a:buSzPct val="100000"/>
              <a:defRPr sz="4800"/>
            </a:lvl4pPr>
            <a:lvl5pPr algn="ctr">
              <a:buSzPct val="100000"/>
              <a:defRPr sz="4800"/>
            </a:lvl5pPr>
            <a:lvl6pPr algn="ctr">
              <a:buSzPct val="100000"/>
              <a:defRPr sz="4800"/>
            </a:lvl6pPr>
            <a:lvl7pPr algn="ctr">
              <a:buSzPct val="100000"/>
              <a:defRPr sz="4800"/>
            </a:lvl7pPr>
            <a:lvl8pPr algn="ctr">
              <a:buSzPct val="100000"/>
              <a:defRPr sz="4800"/>
            </a:lvl8pPr>
            <a:lvl9pPr algn="ctr">
              <a:buSzPct val="100000"/>
              <a:defRPr sz="4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ubTitle" idx="1"/>
          </p:nvPr>
        </p:nvSpPr>
        <p:spPr>
          <a:xfrm>
            <a:off x="1828800" y="4572000"/>
            <a:ext cx="6502399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550400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2"/>
          </p:nvPr>
        </p:nvSpPr>
        <p:spPr>
          <a:xfrm>
            <a:off x="538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04800" y="6705600"/>
            <a:ext cx="9550400" cy="609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3942275" y="1781525"/>
            <a:ext cx="5512499" cy="28137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44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Archiving and Compression</a:t>
            </a:r>
          </a:p>
        </p:txBody>
      </p:sp>
      <p:sp>
        <p:nvSpPr>
          <p:cNvPr id="20" name="Shape 20"/>
          <p:cNvSpPr txBox="1">
            <a:spLocks noGrp="1"/>
          </p:cNvSpPr>
          <p:nvPr>
            <p:ph type="subTitle" idx="1"/>
          </p:nvPr>
        </p:nvSpPr>
        <p:spPr>
          <a:xfrm>
            <a:off x="1991425" y="6118925"/>
            <a:ext cx="6553200" cy="10939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0" marR="0" indent="0" algn="ctr" rtl="0">
              <a:lnSpc>
                <a:spcPct val="108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Miroslav Biňas</a:t>
            </a:r>
          </a:p>
          <a:p>
            <a:pPr marL="0" marR="0" indent="0" algn="ctr" rtl="0">
              <a:lnSpc>
                <a:spcPct val="108036"/>
              </a:lnSpc>
              <a:spcBef>
                <a:spcPts val="563"/>
              </a:spcBef>
              <a:spcAft>
                <a:spcPts val="0"/>
              </a:spcAft>
              <a:buNone/>
            </a:pPr>
            <a:r>
              <a:rPr lang="en-US" sz="31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(c) 2010-201</a:t>
            </a:r>
            <a:r>
              <a:rPr lang="en-US" sz="311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 idx="4294967295"/>
          </p:nvPr>
        </p:nvSpPr>
        <p:spPr>
          <a:xfrm>
            <a:off x="2038350" y="342900"/>
            <a:ext cx="8121650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Archive with </a:t>
            </a:r>
            <a:r>
              <a:rPr lang="en-US" sz="4000" b="1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tar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I.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2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tar</a:t>
            </a:r>
            <a:r>
              <a:rPr lang="en-US" sz="32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archiving utility, originally created for tape archiving, creates archives known as </a:t>
            </a:r>
            <a:r>
              <a:rPr lang="en-US" sz="3200" i="1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tarballs</a:t>
            </a:r>
            <a:r>
              <a:rPr lang="en-US" sz="3200" i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collects all the data to single file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24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-v</a:t>
            </a:r>
            <a:r>
              <a:rPr lang="en-US" sz="24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verbosely list files processed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24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-t</a:t>
            </a:r>
            <a:r>
              <a:rPr lang="en-US" sz="24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list the contents of an archive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24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-x</a:t>
            </a:r>
            <a:r>
              <a:rPr lang="en-US" sz="24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extract files from an archive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24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-c</a:t>
            </a:r>
            <a:r>
              <a:rPr lang="en-US" sz="24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create a new archive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2400" dirty="0">
                <a:solidFill>
                  <a:srgbClr val="666666"/>
                </a:solidFill>
                <a:latin typeface="Courier New"/>
                <a:cs typeface="Courier New"/>
              </a:rPr>
              <a:t>-z - </a:t>
            </a:r>
            <a:r>
              <a:rPr lang="en-US" sz="2400" dirty="0">
                <a:solidFill>
                  <a:srgbClr val="666666"/>
                </a:solidFill>
              </a:rPr>
              <a:t>compress the resulting archive with </a:t>
            </a:r>
            <a:r>
              <a:rPr lang="en-US" sz="2400" dirty="0" err="1">
                <a:solidFill>
                  <a:srgbClr val="666666"/>
                </a:solidFill>
              </a:rPr>
              <a:t>gzip</a:t>
            </a:r>
            <a:endParaRPr lang="en-US" sz="240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2400" dirty="0">
                <a:solidFill>
                  <a:srgbClr val="666666"/>
                </a:solidFill>
                <a:latin typeface="Courier New"/>
                <a:cs typeface="Courier New"/>
              </a:rPr>
              <a:t>-r </a:t>
            </a:r>
            <a:r>
              <a:rPr lang="en-US" sz="24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- new entries are appended to the archive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24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-f</a:t>
            </a:r>
            <a:r>
              <a:rPr lang="en-US" sz="24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source/destination of </a:t>
            </a:r>
            <a:r>
              <a:rPr lang="en-US" sz="240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tarball</a:t>
            </a:r>
            <a:r>
              <a:rPr lang="en-US" sz="24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2400" dirty="0">
                <a:solidFill>
                  <a:srgbClr val="666666"/>
                </a:solidFill>
                <a:latin typeface="Courier New"/>
                <a:cs typeface="Courier New"/>
              </a:rPr>
              <a:t>-C </a:t>
            </a:r>
            <a:r>
              <a:rPr lang="en-US" sz="2400" dirty="0">
                <a:solidFill>
                  <a:srgbClr val="666666"/>
                </a:solidFill>
              </a:rPr>
              <a:t>- changes the directory before adding the following files.</a:t>
            </a:r>
            <a:endParaRPr lang="en-US" sz="240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Archive with </a:t>
            </a:r>
            <a:r>
              <a:rPr lang="en-US" sz="4000" b="1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tar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II.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6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creating archives</a:t>
            </a:r>
            <a:endParaRPr lang="sk-SK" sz="360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tar -</a:t>
            </a:r>
            <a:r>
              <a:rPr lang="en-US" sz="36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cf</a:t>
            </a:r>
            <a:r>
              <a:rPr lang="en-US" sz="3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home.tar /home</a:t>
            </a:r>
            <a:endParaRPr lang="sk-SK" sz="360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tar -c /home &gt; </a:t>
            </a:r>
            <a:r>
              <a:rPr lang="en-US" sz="36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home.tar</a:t>
            </a:r>
            <a:endParaRPr lang="en-US" sz="360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6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extracting archives</a:t>
            </a:r>
            <a:endParaRPr lang="sk-SK" sz="360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tar </a:t>
            </a:r>
            <a:r>
              <a:rPr lang="en-US" sz="36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xf</a:t>
            </a:r>
            <a:r>
              <a:rPr lang="en-US" sz="3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home.tar</a:t>
            </a:r>
            <a:endParaRPr lang="sk-SK" sz="360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tar </a:t>
            </a:r>
            <a:r>
              <a:rPr lang="en-US" sz="36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xf</a:t>
            </a:r>
            <a:r>
              <a:rPr lang="en-US" sz="3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home.tar -C /</a:t>
            </a:r>
            <a:r>
              <a:rPr lang="en-US" sz="36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en-US" sz="3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6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preview of archive context</a:t>
            </a:r>
            <a:endParaRPr lang="sk-SK" sz="360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tar </a:t>
            </a:r>
            <a:r>
              <a:rPr lang="en-US" sz="36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vtf</a:t>
            </a:r>
            <a:r>
              <a:rPr lang="en-US" sz="3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home.tar</a:t>
            </a:r>
          </a:p>
        </p:txBody>
      </p:sp>
      <p:sp>
        <p:nvSpPr>
          <p:cNvPr id="34" name="Shape 34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Compressing Tarballs I.</a:t>
            </a:r>
          </a:p>
        </p:txBody>
      </p:sp>
      <p:sp>
        <p:nvSpPr>
          <p:cNvPr id="68" name="Shape 68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compress tools can compress/decompress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tarballs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381000" lvl="2" indent="-262466"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gzip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foo.tar</a:t>
            </a: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used file postfix: </a:t>
            </a:r>
            <a:r>
              <a:rPr lang="en-US" sz="3333" i="1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tar.gz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3333" i="1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tgz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tar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has options to automatically compress/decompress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tarball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during creation/extraction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-j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filter archive through bzip2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-z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filter archive through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gzip</a:t>
            </a:r>
            <a:endParaRPr lang="en-US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Shape 69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Compressing Tarballs II.</a:t>
            </a:r>
          </a:p>
        </p:txBody>
      </p:sp>
      <p:sp>
        <p:nvSpPr>
          <p:cNvPr id="75" name="Shape 75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creating compressed archive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tar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cv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z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foo.tgz *.pdf</a:t>
            </a: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sk-SK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tar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foo.tar.bz2 doc/ f1.txt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extracting compressed archive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tar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z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foo.tgz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tar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xv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foo.tar.bz2</a:t>
            </a:r>
          </a:p>
        </p:txBody>
      </p:sp>
      <p:sp>
        <p:nvSpPr>
          <p:cNvPr id="76" name="Shape 76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Archive with </a:t>
            </a:r>
            <a:r>
              <a:rPr lang="en-US" sz="4000" b="1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cpio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I.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1954374" y="1389994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cpio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copy files to and from archives</a:t>
            </a:r>
            <a:b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list of files must be given to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cpio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directly from standard input or pipe output from other command (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-o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creates an archive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extract files from an archive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-v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verbose mode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cs typeface="Courier New"/>
              </a:rPr>
              <a:t>-F </a:t>
            </a:r>
            <a:r>
              <a:rPr lang="en-US" sz="3333" dirty="0">
                <a:solidFill>
                  <a:srgbClr val="666666"/>
                </a:solidFill>
              </a:rPr>
              <a:t>- Read archive from or write archive to file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cs typeface="Courier New"/>
              </a:rPr>
              <a:t>- t </a:t>
            </a:r>
            <a:r>
              <a:rPr lang="en-US" sz="3333" dirty="0">
                <a:solidFill>
                  <a:srgbClr val="666666"/>
                </a:solidFill>
              </a:rPr>
              <a:t>- (</a:t>
            </a:r>
            <a:r>
              <a:rPr lang="en-US" sz="3333" dirty="0" err="1">
                <a:solidFill>
                  <a:srgbClr val="666666"/>
                </a:solidFill>
              </a:rPr>
              <a:t>i</a:t>
            </a:r>
            <a:r>
              <a:rPr lang="en-US" sz="3333" dirty="0">
                <a:solidFill>
                  <a:srgbClr val="666666"/>
                </a:solidFill>
              </a:rPr>
              <a:t> mode only) List the contents of the archive to </a:t>
            </a:r>
            <a:r>
              <a:rPr lang="en-US" sz="3333" dirty="0" err="1">
                <a:solidFill>
                  <a:srgbClr val="666666"/>
                </a:solidFill>
              </a:rPr>
              <a:t>stdout</a:t>
            </a:r>
            <a:r>
              <a:rPr lang="en-US" sz="3333" dirty="0">
                <a:solidFill>
                  <a:srgbClr val="666666"/>
                </a:solidFill>
              </a:rPr>
              <a:t>; do not restore the contents to disk.</a:t>
            </a:r>
            <a:endParaRPr lang="en-US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Shape 41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Archive with </a:t>
            </a:r>
            <a:r>
              <a:rPr lang="en-US" sz="4000" b="1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cpio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II.</a:t>
            </a:r>
          </a:p>
        </p:txBody>
      </p:sp>
      <p:sp>
        <p:nvSpPr>
          <p:cNvPr id="47" name="Shape 47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creating archive from list of file names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ls|cpio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ov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&gt;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archive.cpio</a:t>
            </a: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creating archive with directories and their content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24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find . –name “*.txt”|</a:t>
            </a:r>
            <a:r>
              <a:rPr lang="en-US" sz="24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cpio</a:t>
            </a:r>
            <a:r>
              <a:rPr lang="en-US" sz="24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-o &gt; </a:t>
            </a:r>
            <a:r>
              <a:rPr lang="en-US" sz="24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arch.cpio</a:t>
            </a:r>
            <a:endParaRPr lang="en-US" sz="240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extracting archive (verbose)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cpio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-iv &lt;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archive.cpio</a:t>
            </a: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list archive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cpio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-it &lt;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archive.cpio</a:t>
            </a: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indent="-262466"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sym typeface="courier new"/>
              </a:rPr>
              <a:t>Je </a:t>
            </a:r>
            <a:r>
              <a:rPr lang="en-US" sz="3333" dirty="0" err="1">
                <a:solidFill>
                  <a:srgbClr val="666666"/>
                </a:solidFill>
                <a:sym typeface="courier new"/>
              </a:rPr>
              <a:t>možné</a:t>
            </a:r>
            <a:r>
              <a:rPr lang="en-US" sz="3333" dirty="0">
                <a:solidFill>
                  <a:srgbClr val="666666"/>
                </a:solidFill>
                <a:sym typeface="courier new"/>
              </a:rPr>
              <a:t> </a:t>
            </a:r>
            <a:r>
              <a:rPr lang="en-US" sz="3333" dirty="0" err="1">
                <a:solidFill>
                  <a:srgbClr val="666666"/>
                </a:solidFill>
                <a:sym typeface="courier new"/>
              </a:rPr>
              <a:t>aj</a:t>
            </a:r>
            <a:r>
              <a:rPr lang="en-US" sz="3333" dirty="0">
                <a:solidFill>
                  <a:srgbClr val="666666"/>
                </a:solidFill>
                <a:sym typeface="courier new"/>
              </a:rPr>
              <a:t> s tar …</a:t>
            </a:r>
          </a:p>
          <a:p>
            <a:pPr marL="118534" lvl="0">
              <a:buClr>
                <a:srgbClr val="666666"/>
              </a:buClr>
              <a:buSzPct val="168350"/>
            </a:pPr>
            <a:r>
              <a:rPr lang="sk-SK" sz="3333" dirty="0">
                <a:solidFill>
                  <a:srgbClr val="666666"/>
                </a:solidFill>
                <a:latin typeface="Courier New"/>
                <a:cs typeface="Courier New"/>
              </a:rPr>
              <a:t>$</a:t>
            </a:r>
            <a:r>
              <a:rPr lang="sk-SK" sz="3333" dirty="0" err="1">
                <a:solidFill>
                  <a:srgbClr val="666666"/>
                </a:solidFill>
                <a:latin typeface="Courier New"/>
                <a:cs typeface="Courier New"/>
              </a:rPr>
              <a:t>tar</a:t>
            </a:r>
            <a:r>
              <a:rPr lang="sk-SK" sz="3333" dirty="0">
                <a:solidFill>
                  <a:srgbClr val="666666"/>
                </a:solidFill>
                <a:latin typeface="Courier New"/>
                <a:cs typeface="Courier New"/>
              </a:rPr>
              <a:t> -</a:t>
            </a:r>
            <a:r>
              <a:rPr lang="sk-SK" sz="3333" dirty="0" err="1">
                <a:solidFill>
                  <a:srgbClr val="666666"/>
                </a:solidFill>
                <a:latin typeface="Courier New"/>
                <a:cs typeface="Courier New"/>
              </a:rPr>
              <a:t>cvf</a:t>
            </a:r>
            <a:r>
              <a:rPr lang="sk-SK" sz="3333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sk-SK" sz="3333" dirty="0" err="1">
                <a:solidFill>
                  <a:srgbClr val="666666"/>
                </a:solidFill>
                <a:latin typeface="Courier New"/>
                <a:cs typeface="Courier New"/>
              </a:rPr>
              <a:t>archiv.tar</a:t>
            </a:r>
            <a:r>
              <a:rPr lang="sk-SK" sz="3333" dirty="0">
                <a:solidFill>
                  <a:srgbClr val="666666"/>
                </a:solidFill>
                <a:latin typeface="Courier New"/>
                <a:cs typeface="Courier New"/>
              </a:rPr>
              <a:t> --</a:t>
            </a:r>
            <a:r>
              <a:rPr lang="sk-SK" sz="3333" dirty="0" err="1">
                <a:solidFill>
                  <a:srgbClr val="666666"/>
                </a:solidFill>
                <a:latin typeface="Courier New"/>
                <a:cs typeface="Courier New"/>
              </a:rPr>
              <a:t>files-from</a:t>
            </a:r>
            <a:r>
              <a:rPr lang="sk-SK" sz="3333" dirty="0">
                <a:solidFill>
                  <a:srgbClr val="666666"/>
                </a:solidFill>
                <a:latin typeface="Courier New"/>
                <a:cs typeface="Courier New"/>
              </a:rPr>
              <a:t>=&lt;(</a:t>
            </a:r>
            <a:r>
              <a:rPr lang="sk-SK" sz="3333" dirty="0" err="1">
                <a:solidFill>
                  <a:srgbClr val="666666"/>
                </a:solidFill>
                <a:latin typeface="Courier New"/>
                <a:cs typeface="Courier New"/>
              </a:rPr>
              <a:t>ls</a:t>
            </a:r>
            <a:r>
              <a:rPr lang="sk-SK" sz="3333" dirty="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lang="en-US" sz="3333" dirty="0">
              <a:solidFill>
                <a:srgbClr val="666666"/>
              </a:solidFill>
              <a:latin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" name="Shape 4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4000" b="1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gzip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compression utility</a:t>
            </a:r>
          </a:p>
        </p:txBody>
      </p:sp>
      <p:sp>
        <p:nvSpPr>
          <p:cNvPr id="54" name="Shape 54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gzip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compress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each file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will be replaced with another file with the suffix .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gz</a:t>
            </a:r>
            <a:endParaRPr lang="en-US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lang="en-US" sz="3333" i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Lempel-Ziv coding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(LZ77)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compress file: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gzip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FILE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uncompress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file: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gzip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-d FILE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endParaRPr lang="en-US" sz="3333" dirty="0">
              <a:solidFill>
                <a:srgbClr val="666666"/>
              </a:solidFill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Try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zcat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for .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gz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compressed text file</a:t>
            </a:r>
          </a:p>
        </p:txBody>
      </p:sp>
      <p:sp>
        <p:nvSpPr>
          <p:cNvPr id="55" name="Shape 55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4000" b="1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bzip2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compression utility</a:t>
            </a:r>
          </a:p>
        </p:txBody>
      </p:sp>
      <p:sp>
        <p:nvSpPr>
          <p:cNvPr id="61" name="Shape 61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bzip2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 a block-sorting file compressor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uses the </a:t>
            </a:r>
            <a:r>
              <a:rPr lang="en-US" sz="3333" i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Burrows-Wheeler block sorting text compression algorithm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333" i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Huffman coding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adds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.bz2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postfix to the file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compress file:</a:t>
            </a:r>
            <a:b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bzip2 FILE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uncompress file:</a:t>
            </a:r>
            <a:b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bzip2 -d FILE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62" name="Shape 62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1705675" y="56425"/>
            <a:ext cx="8121299" cy="121950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4000" b="1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xz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4000" b="1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lzma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>
                <a:solidFill>
                  <a:srgbClr val="444444"/>
                </a:solidFill>
              </a:rPr>
              <a:t>C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ompression </a:t>
            </a:r>
            <a:r>
              <a:rPr lang="en-US" sz="4000" b="1">
                <a:solidFill>
                  <a:srgbClr val="444444"/>
                </a:solidFill>
              </a:rPr>
              <a:t>U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tility</a:t>
            </a:r>
          </a:p>
        </p:txBody>
      </p:sp>
      <p:sp>
        <p:nvSpPr>
          <p:cNvPr id="82" name="Shape 82"/>
          <p:cNvSpPr txBox="1"/>
          <p:nvPr/>
        </p:nvSpPr>
        <p:spPr>
          <a:xfrm>
            <a:off x="1954375" y="1621000"/>
            <a:ext cx="7872600" cy="557430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xz</a:t>
            </a:r>
            <a:r>
              <a:rPr lang="en-US" sz="3333" dirty="0">
                <a:solidFill>
                  <a:srgbClr val="666666"/>
                </a:solidFill>
              </a:rPr>
              <a:t> and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lzma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 </a:t>
            </a:r>
            <a:r>
              <a:rPr lang="en-US" sz="3333" dirty="0">
                <a:solidFill>
                  <a:srgbClr val="666666"/>
                </a:solidFill>
              </a:rPr>
              <a:t>c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ompress or decompress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xz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lzma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files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adds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xz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lzma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postfix to the file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compress file: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xz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FILE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lzma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FILE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uncompress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file: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xz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-d FILE</a:t>
            </a: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sk-SK" sz="3333" dirty="0">
                <a:solidFill>
                  <a:srgbClr val="666666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lzma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-d FILE</a:t>
            </a:r>
            <a:r>
              <a:rPr lang="en-US" sz="3333" dirty="0">
                <a:solidFill>
                  <a:srgbClr val="666666"/>
                </a:solidFill>
              </a:rPr>
              <a:t> </a:t>
            </a:r>
          </a:p>
        </p:txBody>
      </p:sp>
      <p:sp>
        <p:nvSpPr>
          <p:cNvPr id="83" name="Shape 83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Processing </a:t>
            </a:r>
            <a:r>
              <a:rPr lang="en-US" sz="4000" b="1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.zip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Packages I.</a:t>
            </a:r>
          </a:p>
        </p:txBody>
      </p:sp>
      <p:sp>
        <p:nvSpPr>
          <p:cNvPr id="89" name="Shape 89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package and compress files</a:t>
            </a:r>
            <a:endParaRPr lang="en-US" dirty="0"/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create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archive: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ARCHIVE FILES...</a:t>
            </a: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28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options</a:t>
            </a:r>
            <a:endParaRPr lang="en-US" sz="280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762000" marR="0" lvl="1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28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</a:t>
            </a:r>
            <a:r>
              <a:rPr lang="en-US" sz="28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2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- recurse-path if </a:t>
            </a:r>
            <a:r>
              <a:rPr lang="en-US" sz="28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compressing directory</a:t>
            </a:r>
            <a:endParaRPr lang="en-US" sz="280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762000" marR="0" lvl="1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28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-m</a:t>
            </a:r>
            <a:r>
              <a:rPr lang="en-US" sz="28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moves files to archive (to save space on disk)</a:t>
            </a:r>
          </a:p>
          <a:p>
            <a:pPr marL="762000" lvl="1" indent="-262255"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2800" dirty="0">
                <a:solidFill>
                  <a:srgbClr val="666666"/>
                </a:solidFill>
                <a:latin typeface="Courier New"/>
                <a:cs typeface="Courier New"/>
              </a:rPr>
              <a:t>-d </a:t>
            </a:r>
            <a:r>
              <a:rPr lang="en-US" sz="280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- delete entries from a zip archive</a:t>
            </a:r>
          </a:p>
          <a:p>
            <a:pPr marL="762000" marR="0" lvl="1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28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-e</a:t>
            </a:r>
            <a:r>
              <a:rPr lang="en-US" sz="28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-P</a:t>
            </a:r>
            <a:r>
              <a:rPr lang="en-US" sz="28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set password</a:t>
            </a:r>
            <a:endParaRPr lang="en-US" sz="2800" dirty="0">
              <a:solidFill>
                <a:srgbClr val="666666"/>
              </a:solidFill>
            </a:endParaRPr>
          </a:p>
          <a:p>
            <a:pPr marL="499110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2800" dirty="0">
                <a:solidFill>
                  <a:srgbClr val="666666"/>
                </a:solidFill>
                <a:latin typeface="Courier New"/>
                <a:cs typeface="Courier New"/>
              </a:rPr>
              <a:t>zip x.zip x*</a:t>
            </a:r>
          </a:p>
          <a:p>
            <a:pPr marL="499110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2800" dirty="0">
                <a:solidFill>
                  <a:srgbClr val="666666"/>
                </a:solidFill>
                <a:latin typeface="Courier New"/>
                <a:cs typeface="Courier New"/>
              </a:rPr>
              <a:t>unzip x.zip</a:t>
            </a:r>
          </a:p>
        </p:txBody>
      </p:sp>
      <p:sp>
        <p:nvSpPr>
          <p:cNvPr id="90" name="Shape 90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Processing </a:t>
            </a:r>
            <a:r>
              <a:rPr lang="en-US" sz="4000" b="1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.zip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Packages II.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unzip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list, test and extract compressed files in ZIP archive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-l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- list archive files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-v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- list archive files (verbose)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-d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- directory to which to extract files</a:t>
            </a:r>
          </a:p>
        </p:txBody>
      </p:sp>
      <p:sp>
        <p:nvSpPr>
          <p:cNvPr id="97" name="Shape 9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1727200" y="3657600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ctr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</a:p>
        </p:txBody>
      </p:sp>
      <p:sp>
        <p:nvSpPr>
          <p:cNvPr id="103" name="Shape 103"/>
          <p:cNvSpPr/>
          <p:nvPr/>
        </p:nvSpPr>
        <p:spPr>
          <a:xfrm>
            <a:off x="0" y="60854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Theme">
  <a:themeElements>
    <a:clrScheme name="blank">
      <a:dk1>
        <a:srgbClr val="000000"/>
      </a:dk1>
      <a:lt1>
        <a:srgbClr val="FFFFFF"/>
      </a:lt1>
      <a:dk2>
        <a:srgbClr val="073763"/>
      </a:dk2>
      <a:lt2>
        <a:srgbClr val="CFE2F3"/>
      </a:lt2>
      <a:accent1>
        <a:srgbClr val="404040"/>
      </a:accent1>
      <a:accent2>
        <a:srgbClr val="808080"/>
      </a:accent2>
      <a:accent3>
        <a:srgbClr val="C0C0C0"/>
      </a:accent3>
      <a:accent4>
        <a:srgbClr val="396187"/>
      </a:accent4>
      <a:accent5>
        <a:srgbClr val="6B8CAB"/>
      </a:accent5>
      <a:accent6>
        <a:srgbClr val="9DB7CF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748</Words>
  <Application>Microsoft Macintosh PowerPoint</Application>
  <PresentationFormat>Vlastná</PresentationFormat>
  <Paragraphs>92</Paragraphs>
  <Slides>13</Slides>
  <Notes>13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13</vt:i4>
      </vt:variant>
    </vt:vector>
  </HeadingPairs>
  <TitlesOfParts>
    <vt:vector size="18" baseType="lpstr">
      <vt:lpstr>Arial</vt:lpstr>
      <vt:lpstr>Arial</vt:lpstr>
      <vt:lpstr>Courier New</vt:lpstr>
      <vt:lpstr>Courier New</vt:lpstr>
      <vt:lpstr>Custom Theme</vt:lpstr>
      <vt:lpstr>Archiving and Compression</vt:lpstr>
      <vt:lpstr>Archive with tar I.</vt:lpstr>
      <vt:lpstr>Archive with tar II.</vt:lpstr>
      <vt:lpstr>Compressing Tarballs I.</vt:lpstr>
      <vt:lpstr>Compressing Tarballs II.</vt:lpstr>
      <vt:lpstr>Archive with cpio I.</vt:lpstr>
      <vt:lpstr>Archive with cpio II.</vt:lpstr>
      <vt:lpstr>The gzip compression utility</vt:lpstr>
      <vt:lpstr>The bzip2 compression utility</vt:lpstr>
      <vt:lpstr>The xz and lzma Compression Utility</vt:lpstr>
      <vt:lpstr>Processing .zip Packages I.</vt:lpstr>
      <vt:lpstr>Processing .zip Packages II.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Archiving and Compression</dc:title>
  <cp:lastModifiedBy>Baráth, Július</cp:lastModifiedBy>
  <cp:revision>5</cp:revision>
  <dcterms:modified xsi:type="dcterms:W3CDTF">2026-03-11T13:24:32Z</dcterms:modified>
</cp:coreProperties>
</file>