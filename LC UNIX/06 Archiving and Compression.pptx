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3" r:id="rId1"/>
  </p:sldMasterIdLst>
  <p:notesMasterIdLst>
    <p:notesMasterId r:id="rId15"/>
  </p:notesMasterIdLst>
  <p:sldIdLst>
    <p:sldId id="256" r:id="rId2"/>
    <p:sldId id="257" r:id="rId3"/>
    <p:sldId id="258" r:id="rId4"/>
    <p:sldId id="263" r:id="rId5"/>
    <p:sldId id="264" r:id="rId6"/>
    <p:sldId id="259" r:id="rId7"/>
    <p:sldId id="260" r:id="rId8"/>
    <p:sldId id="261" r:id="rId9"/>
    <p:sldId id="262" r:id="rId10"/>
    <p:sldId id="265" r:id="rId11"/>
    <p:sldId id="266" r:id="rId12"/>
    <p:sldId id="267" r:id="rId13"/>
    <p:sldId id="268" r:id="rId14"/>
  </p:sldIdLst>
  <p:sldSz cx="10160000" cy="7620000"/>
  <p:notesSz cx="7620000" cy="10160000"/>
  <p:defaultTextStyle>
    <a:defPPr marR="0" algn="l" rtl="0">
      <a:lnSpc>
        <a:spcPct val="100000"/>
      </a:lnSpc>
      <a:spcBef>
        <a:spcPts val="0"/>
      </a:spcBef>
      <a:spcAft>
        <a:spcPts val="0"/>
      </a:spcAft>
    </a:defPPr>
    <a:lvl1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1pPr>
    <a:lvl2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2pPr>
    <a:lvl3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3pPr>
    <a:lvl4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4pPr>
    <a:lvl5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5pPr>
    <a:lvl6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6pPr>
    <a:lvl7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7pPr>
    <a:lvl8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8pPr>
    <a:lvl9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9pPr>
  </p:defaultTextStyle>
  <p:extLst>
    <p:ext uri="{EFAFB233-063F-42B5-8137-9DF3F51BA10A}">
      <p15:sldGuideLst xmlns:p15="http://schemas.microsoft.com/office/powerpoint/2012/main">
        <p15:guide id="1" orient="horz" pos="2400">
          <p15:clr>
            <a:srgbClr val="A4A3A4"/>
          </p15:clr>
        </p15:guide>
        <p15:guide id="2" pos="320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0072"/>
    <p:restoredTop sz="96292"/>
  </p:normalViewPr>
  <p:slideViewPr>
    <p:cSldViewPr snapToGrid="0">
      <p:cViewPr varScale="1">
        <p:scale>
          <a:sx n="133" d="100"/>
          <a:sy n="133" d="100"/>
        </p:scale>
        <p:origin x="192" y="568"/>
      </p:cViewPr>
      <p:guideLst>
        <p:guide orient="horz" pos="2400"/>
        <p:guide pos="320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áth, Július" userId="aebde9b9-dccc-4475-a9ac-c05e78323d7a" providerId="ADAL" clId="{76B06D55-3DB5-8A4F-A457-E91FDCE1978B}"/>
    <pc:docChg chg="undo custSel modSld sldOrd">
      <pc:chgData name="Baráth, Július" userId="aebde9b9-dccc-4475-a9ac-c05e78323d7a" providerId="ADAL" clId="{76B06D55-3DB5-8A4F-A457-E91FDCE1978B}" dt="2025-03-28T09:14:20.542" v="179" actId="404"/>
      <pc:docMkLst>
        <pc:docMk/>
      </pc:docMkLst>
      <pc:sldChg chg="modSp mod">
        <pc:chgData name="Baráth, Július" userId="aebde9b9-dccc-4475-a9ac-c05e78323d7a" providerId="ADAL" clId="{76B06D55-3DB5-8A4F-A457-E91FDCE1978B}" dt="2025-03-28T09:07:26.332" v="123" actId="404"/>
        <pc:sldMkLst>
          <pc:docMk/>
          <pc:sldMk cId="0" sldId="257"/>
        </pc:sldMkLst>
        <pc:spChg chg="mod">
          <ac:chgData name="Baráth, Július" userId="aebde9b9-dccc-4475-a9ac-c05e78323d7a" providerId="ADAL" clId="{76B06D55-3DB5-8A4F-A457-E91FDCE1978B}" dt="2025-03-28T09:07:26.332" v="123" actId="404"/>
          <ac:spMkLst>
            <pc:docMk/>
            <pc:sldMk cId="0" sldId="257"/>
            <ac:spMk id="26" creationId="{00000000-0000-0000-0000-000000000000}"/>
          </ac:spMkLst>
        </pc:spChg>
      </pc:sldChg>
      <pc:sldChg chg="modSp mod">
        <pc:chgData name="Baráth, Július" userId="aebde9b9-dccc-4475-a9ac-c05e78323d7a" providerId="ADAL" clId="{76B06D55-3DB5-8A4F-A457-E91FDCE1978B}" dt="2025-03-28T09:14:20.542" v="179" actId="404"/>
        <pc:sldMkLst>
          <pc:docMk/>
          <pc:sldMk cId="0" sldId="258"/>
        </pc:sldMkLst>
        <pc:spChg chg="mod">
          <ac:chgData name="Baráth, Július" userId="aebde9b9-dccc-4475-a9ac-c05e78323d7a" providerId="ADAL" clId="{76B06D55-3DB5-8A4F-A457-E91FDCE1978B}" dt="2025-03-28T09:14:20.542" v="179" actId="404"/>
          <ac:spMkLst>
            <pc:docMk/>
            <pc:sldMk cId="0" sldId="258"/>
            <ac:spMk id="33" creationId="{00000000-0000-0000-0000-000000000000}"/>
          </ac:spMkLst>
        </pc:spChg>
      </pc:sldChg>
      <pc:sldChg chg="modSp mod">
        <pc:chgData name="Baráth, Július" userId="aebde9b9-dccc-4475-a9ac-c05e78323d7a" providerId="ADAL" clId="{76B06D55-3DB5-8A4F-A457-E91FDCE1978B}" dt="2025-03-25T09:46:13.116" v="34" actId="1036"/>
        <pc:sldMkLst>
          <pc:docMk/>
          <pc:sldMk cId="0" sldId="259"/>
        </pc:sldMkLst>
        <pc:spChg chg="mod">
          <ac:chgData name="Baráth, Július" userId="aebde9b9-dccc-4475-a9ac-c05e78323d7a" providerId="ADAL" clId="{76B06D55-3DB5-8A4F-A457-E91FDCE1978B}" dt="2025-03-25T09:46:13.116" v="34" actId="1036"/>
          <ac:spMkLst>
            <pc:docMk/>
            <pc:sldMk cId="0" sldId="259"/>
            <ac:spMk id="40" creationId="{00000000-0000-0000-0000-000000000000}"/>
          </ac:spMkLst>
        </pc:spChg>
      </pc:sldChg>
      <pc:sldChg chg="modSp mod">
        <pc:chgData name="Baráth, Július" userId="aebde9b9-dccc-4475-a9ac-c05e78323d7a" providerId="ADAL" clId="{76B06D55-3DB5-8A4F-A457-E91FDCE1978B}" dt="2025-03-28T09:13:01.401" v="172" actId="404"/>
        <pc:sldMkLst>
          <pc:docMk/>
          <pc:sldMk cId="0" sldId="260"/>
        </pc:sldMkLst>
        <pc:spChg chg="mod">
          <ac:chgData name="Baráth, Július" userId="aebde9b9-dccc-4475-a9ac-c05e78323d7a" providerId="ADAL" clId="{76B06D55-3DB5-8A4F-A457-E91FDCE1978B}" dt="2025-03-28T09:13:01.401" v="172" actId="404"/>
          <ac:spMkLst>
            <pc:docMk/>
            <pc:sldMk cId="0" sldId="260"/>
            <ac:spMk id="47" creationId="{00000000-0000-0000-0000-000000000000}"/>
          </ac:spMkLst>
        </pc:spChg>
      </pc:sldChg>
      <pc:sldChg chg="modSp mod ord">
        <pc:chgData name="Baráth, Július" userId="aebde9b9-dccc-4475-a9ac-c05e78323d7a" providerId="ADAL" clId="{76B06D55-3DB5-8A4F-A457-E91FDCE1978B}" dt="2025-03-28T09:13:44.862" v="174" actId="20578"/>
        <pc:sldMkLst>
          <pc:docMk/>
          <pc:sldMk cId="0" sldId="263"/>
        </pc:sldMkLst>
        <pc:spChg chg="mod">
          <ac:chgData name="Baráth, Július" userId="aebde9b9-dccc-4475-a9ac-c05e78323d7a" providerId="ADAL" clId="{76B06D55-3DB5-8A4F-A457-E91FDCE1978B}" dt="2025-03-25T09:51:54.858" v="60" actId="113"/>
          <ac:spMkLst>
            <pc:docMk/>
            <pc:sldMk cId="0" sldId="263"/>
            <ac:spMk id="68" creationId="{00000000-0000-0000-0000-000000000000}"/>
          </ac:spMkLst>
        </pc:spChg>
      </pc:sldChg>
      <pc:sldChg chg="ord">
        <pc:chgData name="Baráth, Július" userId="aebde9b9-dccc-4475-a9ac-c05e78323d7a" providerId="ADAL" clId="{76B06D55-3DB5-8A4F-A457-E91FDCE1978B}" dt="2025-03-28T09:13:33.158" v="173" actId="20578"/>
        <pc:sldMkLst>
          <pc:docMk/>
          <pc:sldMk cId="0" sldId="264"/>
        </pc:sldMkLst>
      </pc:sldChg>
    </pc:docChg>
  </pc:docChgLst>
  <pc:docChgLst>
    <pc:chgData name="Baráth, Július" userId="aebde9b9-dccc-4475-a9ac-c05e78323d7a" providerId="ADAL" clId="{7E64E23F-DDD5-B344-A102-997DB99EBA9E}"/>
    <pc:docChg chg="custSel modSld">
      <pc:chgData name="Baráth, Július" userId="aebde9b9-dccc-4475-a9ac-c05e78323d7a" providerId="ADAL" clId="{7E64E23F-DDD5-B344-A102-997DB99EBA9E}" dt="2023-03-17T07:38:06.236" v="50" actId="20577"/>
      <pc:docMkLst>
        <pc:docMk/>
      </pc:docMkLst>
      <pc:sldChg chg="modSp mod">
        <pc:chgData name="Baráth, Július" userId="aebde9b9-dccc-4475-a9ac-c05e78323d7a" providerId="ADAL" clId="{7E64E23F-DDD5-B344-A102-997DB99EBA9E}" dt="2023-03-17T07:38:06.236" v="50" actId="20577"/>
        <pc:sldMkLst>
          <pc:docMk/>
          <pc:sldMk cId="0" sldId="266"/>
        </pc:sldMkLst>
      </pc:sldChg>
    </pc:docChg>
  </pc:docChgLst>
  <pc:docChgLst>
    <pc:chgData name="Baráth, Július" userId="S::julius.barath@aos.sk::aebde9b9-dccc-4475-a9ac-c05e78323d7a" providerId="AD" clId="Web-{BB755127-32E2-D102-D48A-E8F4522EDCD9}"/>
    <pc:docChg chg="modSld">
      <pc:chgData name="Baráth, Július" userId="S::julius.barath@aos.sk::aebde9b9-dccc-4475-a9ac-c05e78323d7a" providerId="AD" clId="Web-{BB755127-32E2-D102-D48A-E8F4522EDCD9}" dt="2023-12-19T09:52:24.484" v="4" actId="20577"/>
      <pc:docMkLst>
        <pc:docMk/>
      </pc:docMkLst>
      <pc:sldChg chg="modSp">
        <pc:chgData name="Baráth, Július" userId="S::julius.barath@aos.sk::aebde9b9-dccc-4475-a9ac-c05e78323d7a" providerId="AD" clId="Web-{BB755127-32E2-D102-D48A-E8F4522EDCD9}" dt="2023-12-19T09:52:24.484" v="4" actId="20577"/>
        <pc:sldMkLst>
          <pc:docMk/>
          <pc:sldMk cId="0" sldId="266"/>
        </pc:sldMkLst>
      </pc:sldChg>
    </pc:docChg>
  </pc:docChgLst>
  <pc:docChgLst>
    <pc:chgData name="Baráth, Július" userId="aebde9b9-dccc-4475-a9ac-c05e78323d7a" providerId="ADAL" clId="{62B813C2-2C6B-8844-A1AB-EABC3B040B4C}"/>
    <pc:docChg chg="undo custSel modSld">
      <pc:chgData name="Baráth, Július" userId="aebde9b9-dccc-4475-a9ac-c05e78323d7a" providerId="ADAL" clId="{62B813C2-2C6B-8844-A1AB-EABC3B040B4C}" dt="2024-03-19T12:43:33.741" v="116" actId="20577"/>
      <pc:docMkLst>
        <pc:docMk/>
      </pc:docMkLst>
      <pc:sldChg chg="modSp mod chgLayout">
        <pc:chgData name="Baráth, Július" userId="aebde9b9-dccc-4475-a9ac-c05e78323d7a" providerId="ADAL" clId="{62B813C2-2C6B-8844-A1AB-EABC3B040B4C}" dt="2024-03-18T09:24:14.617" v="28" actId="108"/>
        <pc:sldMkLst>
          <pc:docMk/>
          <pc:sldMk cId="0" sldId="257"/>
        </pc:sldMkLst>
      </pc:sldChg>
      <pc:sldChg chg="modSp mod">
        <pc:chgData name="Baráth, Július" userId="aebde9b9-dccc-4475-a9ac-c05e78323d7a" providerId="ADAL" clId="{62B813C2-2C6B-8844-A1AB-EABC3B040B4C}" dt="2024-03-18T09:36:17.726" v="41" actId="6549"/>
        <pc:sldMkLst>
          <pc:docMk/>
          <pc:sldMk cId="0" sldId="259"/>
        </pc:sldMkLst>
      </pc:sldChg>
      <pc:sldChg chg="modSp mod">
        <pc:chgData name="Baráth, Július" userId="aebde9b9-dccc-4475-a9ac-c05e78323d7a" providerId="ADAL" clId="{62B813C2-2C6B-8844-A1AB-EABC3B040B4C}" dt="2024-03-19T12:43:33.741" v="116" actId="20577"/>
        <pc:sldMkLst>
          <pc:docMk/>
          <pc:sldMk cId="0" sldId="260"/>
        </pc:sldMkLst>
      </pc:sldChg>
      <pc:sldChg chg="modSp mod">
        <pc:chgData name="Baráth, Július" userId="aebde9b9-dccc-4475-a9ac-c05e78323d7a" providerId="ADAL" clId="{62B813C2-2C6B-8844-A1AB-EABC3B040B4C}" dt="2024-03-18T10:12:45.486" v="60" actId="113"/>
        <pc:sldMkLst>
          <pc:docMk/>
          <pc:sldMk cId="0" sldId="261"/>
        </pc:sldMkLst>
      </pc:sldChg>
      <pc:sldChg chg="modSp mod">
        <pc:chgData name="Baráth, Július" userId="aebde9b9-dccc-4475-a9ac-c05e78323d7a" providerId="ADAL" clId="{62B813C2-2C6B-8844-A1AB-EABC3B040B4C}" dt="2024-03-18T10:29:30.013" v="84" actId="6549"/>
        <pc:sldMkLst>
          <pc:docMk/>
          <pc:sldMk cId="0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 noRot="1" noChangeAspect="1"/>
          </p:cNvSpPr>
          <p:nvPr>
            <p:ph type="sldImg" idx="2"/>
          </p:nvPr>
        </p:nvSpPr>
        <p:spPr>
          <a:xfrm>
            <a:off x="1270250" y="762000"/>
            <a:ext cx="5080250" cy="3809999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" name="Shape 3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3668236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" name="Shape 23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rtl="0">
              <a:lnSpc>
                <a:spcPct val="100000"/>
              </a:lnSpc>
              <a:buNone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25 min (3)</a:t>
            </a:r>
          </a:p>
          <a:p>
            <a:pPr lvl="0" rtl="0">
              <a:lnSpc>
                <a:spcPct val="100000"/>
              </a:lnSpc>
              <a:buNone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  <a:p>
            <a:pPr rtl="0">
              <a:lnSpc>
                <a:spcPct val="100000"/>
              </a:lnSpc>
              <a:buNone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rar </a:t>
            </a:r>
          </a:p>
        </p:txBody>
      </p:sp>
    </p:spTree>
    <p:extLst>
      <p:ext uri="{BB962C8B-B14F-4D97-AF65-F5344CB8AC3E}">
        <p14:creationId xmlns:p14="http://schemas.microsoft.com/office/powerpoint/2010/main" val="29692478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29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" name="Shape 30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6754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36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Shape 37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598928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Shape 72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792330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78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Shape 79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846804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3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" name="Shape 44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17652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50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Shape 51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092221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Shape 58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26547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64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Shape 65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823661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Shape 85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Shape 86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132091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92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Shape 93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rtl="0">
              <a:lnSpc>
                <a:spcPct val="100000"/>
              </a:lnSpc>
              <a:buNone/>
            </a:pPr>
            <a:r>
              <a:rPr lang="en-US" sz="100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-s</a:t>
            </a:r>
            <a:r>
              <a:rPr lang="en-US" sz="10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- sets split size and creates split archive (size as number followed by </a:t>
            </a:r>
            <a:r>
              <a:rPr lang="en-US" sz="100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k</a:t>
            </a:r>
            <a:r>
              <a:rPr lang="en-US" sz="10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(kb), </a:t>
            </a:r>
            <a:r>
              <a:rPr lang="en-US" sz="100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</a:t>
            </a:r>
            <a:r>
              <a:rPr lang="en-US" sz="10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(MB), </a:t>
            </a:r>
            <a:r>
              <a:rPr lang="en-US" sz="100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g</a:t>
            </a:r>
            <a:r>
              <a:rPr lang="en-US" sz="10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(GB) or </a:t>
            </a:r>
            <a:r>
              <a:rPr lang="en-US" sz="100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-US" sz="10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(TB)</a:t>
            </a:r>
          </a:p>
        </p:txBody>
      </p:sp>
    </p:spTree>
    <p:extLst>
      <p:ext uri="{BB962C8B-B14F-4D97-AF65-F5344CB8AC3E}">
        <p14:creationId xmlns:p14="http://schemas.microsoft.com/office/powerpoint/2010/main" val="11827208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99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Shape 100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542249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Shape 106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34383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7"/>
          <p:cNvSpPr txBox="1">
            <a:spLocks noGrp="1"/>
          </p:cNvSpPr>
          <p:nvPr>
            <p:ph type="ctrTitle"/>
          </p:nvPr>
        </p:nvSpPr>
        <p:spPr>
          <a:xfrm>
            <a:off x="914400" y="3048000"/>
            <a:ext cx="8331200" cy="12191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buSzPct val="100000"/>
              <a:defRPr sz="4800"/>
            </a:lvl1pPr>
            <a:lvl2pPr algn="ctr">
              <a:buSzPct val="100000"/>
              <a:defRPr sz="4800"/>
            </a:lvl2pPr>
            <a:lvl3pPr algn="ctr">
              <a:buSzPct val="100000"/>
              <a:defRPr sz="4800"/>
            </a:lvl3pPr>
            <a:lvl4pPr algn="ctr">
              <a:buSzPct val="100000"/>
              <a:defRPr sz="4800"/>
            </a:lvl4pPr>
            <a:lvl5pPr algn="ctr">
              <a:buSzPct val="100000"/>
              <a:defRPr sz="4800"/>
            </a:lvl5pPr>
            <a:lvl6pPr algn="ctr">
              <a:buSzPct val="100000"/>
              <a:defRPr sz="4800"/>
            </a:lvl6pPr>
            <a:lvl7pPr algn="ctr">
              <a:buSzPct val="100000"/>
              <a:defRPr sz="4800"/>
            </a:lvl7pPr>
            <a:lvl8pPr algn="ctr">
              <a:buSzPct val="100000"/>
              <a:defRPr sz="4800"/>
            </a:lvl8pPr>
            <a:lvl9pPr algn="ctr">
              <a:buSzPct val="100000"/>
              <a:defRPr sz="4800"/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ubTitle" idx="1"/>
          </p:nvPr>
        </p:nvSpPr>
        <p:spPr>
          <a:xfrm>
            <a:off x="1828800" y="4572000"/>
            <a:ext cx="6502399" cy="914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buSzPct val="100000"/>
              <a:defRPr sz="3200"/>
            </a:lvl1pPr>
            <a:lvl2pPr algn="ctr">
              <a:buSzPct val="100000"/>
              <a:defRPr sz="3200"/>
            </a:lvl2pPr>
            <a:lvl3pPr algn="ctr">
              <a:buSzPct val="100000"/>
              <a:defRPr sz="3200"/>
            </a:lvl3pPr>
            <a:lvl4pPr algn="ctr">
              <a:buSzPct val="100000"/>
              <a:defRPr sz="3200"/>
            </a:lvl4pPr>
            <a:lvl5pPr algn="ctr">
              <a:buSzPct val="100000"/>
              <a:defRPr sz="3200"/>
            </a:lvl5pPr>
            <a:lvl6pPr algn="ctr">
              <a:buSzPct val="100000"/>
              <a:defRPr sz="3200"/>
            </a:lvl6pPr>
            <a:lvl7pPr algn="ctr">
              <a:buSzPct val="100000"/>
              <a:defRPr sz="3200"/>
            </a:lvl7pPr>
            <a:lvl8pPr algn="ctr">
              <a:buSzPct val="100000"/>
              <a:defRPr sz="3200"/>
            </a:lvl8pPr>
            <a:lvl9pPr algn="ctr">
              <a:buSzPct val="100000"/>
              <a:defRPr sz="3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x" type="tx">
  <p:cSld name="TITLE_AND_BOD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title"/>
          </p:nvPr>
        </p:nvSpPr>
        <p:spPr>
          <a:xfrm>
            <a:off x="304800" y="304800"/>
            <a:ext cx="9550400" cy="914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9224"/>
              <a:defRPr sz="4266"/>
            </a:lvl1pPr>
            <a:lvl2pPr>
              <a:buSzPct val="99224"/>
              <a:defRPr sz="4266"/>
            </a:lvl2pPr>
            <a:lvl3pPr>
              <a:buSzPct val="99224"/>
              <a:defRPr sz="4266"/>
            </a:lvl3pPr>
            <a:lvl4pPr>
              <a:buSzPct val="99224"/>
              <a:defRPr sz="4266"/>
            </a:lvl4pPr>
            <a:lvl5pPr>
              <a:buSzPct val="99224"/>
              <a:defRPr sz="4266"/>
            </a:lvl5pPr>
            <a:lvl6pPr>
              <a:buSzPct val="99224"/>
              <a:defRPr sz="4266"/>
            </a:lvl6pPr>
            <a:lvl7pPr>
              <a:buSzPct val="99224"/>
              <a:defRPr sz="4266"/>
            </a:lvl7pPr>
            <a:lvl8pPr>
              <a:buSzPct val="99224"/>
              <a:defRPr sz="4266"/>
            </a:lvl8pPr>
            <a:lvl9pPr>
              <a:buSzPct val="99224"/>
              <a:defRPr sz="4266"/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304800" y="1828800"/>
            <a:ext cx="9550400" cy="5486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8765"/>
              <a:defRPr sz="2666"/>
            </a:lvl1pPr>
            <a:lvl2pPr>
              <a:buSzPct val="98765"/>
              <a:defRPr sz="2666"/>
            </a:lvl2pPr>
            <a:lvl3pPr>
              <a:buSzPct val="98765"/>
              <a:defRPr sz="2666"/>
            </a:lvl3pPr>
            <a:lvl4pPr>
              <a:buSzPct val="98765"/>
              <a:defRPr sz="2666"/>
            </a:lvl4pPr>
            <a:lvl5pPr>
              <a:buSzPct val="98765"/>
              <a:defRPr sz="2666"/>
            </a:lvl5pPr>
            <a:lvl6pPr>
              <a:buSzPct val="98765"/>
              <a:defRPr sz="2666"/>
            </a:lvl6pPr>
            <a:lvl7pPr>
              <a:buSzPct val="98765"/>
              <a:defRPr sz="2666"/>
            </a:lvl7pPr>
            <a:lvl8pPr>
              <a:buSzPct val="98765"/>
              <a:defRPr sz="2666"/>
            </a:lvl8pPr>
            <a:lvl9pPr>
              <a:buSzPct val="98765"/>
              <a:defRPr sz="2666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ColTx" type="twoColTx">
  <p:cSld name="TITLE_AND_TWO_COLUMNS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3"/>
          <p:cNvSpPr txBox="1">
            <a:spLocks noGrp="1"/>
          </p:cNvSpPr>
          <p:nvPr>
            <p:ph type="title"/>
          </p:nvPr>
        </p:nvSpPr>
        <p:spPr>
          <a:xfrm>
            <a:off x="304800" y="304800"/>
            <a:ext cx="9550400" cy="914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9224"/>
              <a:defRPr sz="4266"/>
            </a:lvl1pPr>
            <a:lvl2pPr>
              <a:buSzPct val="99224"/>
              <a:defRPr sz="4266"/>
            </a:lvl2pPr>
            <a:lvl3pPr>
              <a:buSzPct val="99224"/>
              <a:defRPr sz="4266"/>
            </a:lvl3pPr>
            <a:lvl4pPr>
              <a:buSzPct val="99224"/>
              <a:defRPr sz="4266"/>
            </a:lvl4pPr>
            <a:lvl5pPr>
              <a:buSzPct val="99224"/>
              <a:defRPr sz="4266"/>
            </a:lvl5pPr>
            <a:lvl6pPr>
              <a:buSzPct val="99224"/>
              <a:defRPr sz="4266"/>
            </a:lvl6pPr>
            <a:lvl7pPr>
              <a:buSzPct val="99224"/>
              <a:defRPr sz="4266"/>
            </a:lvl7pPr>
            <a:lvl8pPr>
              <a:buSzPct val="99224"/>
              <a:defRPr sz="4266"/>
            </a:lvl8pPr>
            <a:lvl9pPr>
              <a:buSzPct val="99224"/>
              <a:defRPr sz="4266"/>
            </a:lvl9pPr>
          </a:lstStyle>
          <a:p>
            <a:endParaRPr/>
          </a:p>
        </p:txBody>
      </p:sp>
      <p:sp>
        <p:nvSpPr>
          <p:cNvPr id="14" name="Shape 14"/>
          <p:cNvSpPr txBox="1">
            <a:spLocks noGrp="1"/>
          </p:cNvSpPr>
          <p:nvPr>
            <p:ph type="body" idx="1"/>
          </p:nvPr>
        </p:nvSpPr>
        <p:spPr>
          <a:xfrm>
            <a:off x="304800" y="1828800"/>
            <a:ext cx="4470399" cy="5486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8765"/>
              <a:defRPr sz="2666"/>
            </a:lvl1pPr>
            <a:lvl2pPr>
              <a:buSzPct val="98765"/>
              <a:defRPr sz="2666"/>
            </a:lvl2pPr>
            <a:lvl3pPr>
              <a:buSzPct val="98765"/>
              <a:defRPr sz="2666"/>
            </a:lvl3pPr>
            <a:lvl4pPr>
              <a:buSzPct val="98765"/>
              <a:defRPr sz="2666"/>
            </a:lvl4pPr>
            <a:lvl5pPr>
              <a:buSzPct val="98765"/>
              <a:defRPr sz="2666"/>
            </a:lvl5pPr>
            <a:lvl6pPr>
              <a:buSzPct val="98765"/>
              <a:defRPr sz="2666"/>
            </a:lvl6pPr>
            <a:lvl7pPr>
              <a:buSzPct val="98765"/>
              <a:defRPr sz="2666"/>
            </a:lvl7pPr>
            <a:lvl8pPr>
              <a:buSzPct val="98765"/>
              <a:defRPr sz="2666"/>
            </a:lvl8pPr>
            <a:lvl9pPr>
              <a:buSzPct val="98765"/>
              <a:defRPr sz="2666"/>
            </a:lvl9pPr>
          </a:lstStyle>
          <a:p>
            <a:endParaRPr/>
          </a:p>
        </p:txBody>
      </p:sp>
      <p:sp>
        <p:nvSpPr>
          <p:cNvPr id="15" name="Shape 15"/>
          <p:cNvSpPr txBox="1">
            <a:spLocks noGrp="1"/>
          </p:cNvSpPr>
          <p:nvPr>
            <p:ph type="body" idx="2"/>
          </p:nvPr>
        </p:nvSpPr>
        <p:spPr>
          <a:xfrm>
            <a:off x="5384800" y="1828800"/>
            <a:ext cx="4470399" cy="5486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8765"/>
              <a:defRPr sz="2666"/>
            </a:lvl1pPr>
            <a:lvl2pPr>
              <a:buSzPct val="98765"/>
              <a:defRPr sz="2666"/>
            </a:lvl2pPr>
            <a:lvl3pPr>
              <a:buSzPct val="98765"/>
              <a:defRPr sz="2666"/>
            </a:lvl3pPr>
            <a:lvl4pPr>
              <a:buSzPct val="98765"/>
              <a:defRPr sz="2666"/>
            </a:lvl4pPr>
            <a:lvl5pPr>
              <a:buSzPct val="98765"/>
              <a:defRPr sz="2666"/>
            </a:lvl5pPr>
            <a:lvl6pPr>
              <a:buSzPct val="98765"/>
              <a:defRPr sz="2666"/>
            </a:lvl6pPr>
            <a:lvl7pPr>
              <a:buSzPct val="98765"/>
              <a:defRPr sz="2666"/>
            </a:lvl7pPr>
            <a:lvl8pPr>
              <a:buSzPct val="98765"/>
              <a:defRPr sz="2666"/>
            </a:lvl8pPr>
            <a:lvl9pPr>
              <a:buSzPct val="98765"/>
              <a:defRPr sz="2666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_ONLY">
  <p:cSld name="CAPTION_ONL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304800" y="6705600"/>
            <a:ext cx="9550400" cy="6095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buSzPct val="100000"/>
              <a:defRPr sz="3200"/>
            </a:lvl1pPr>
            <a:lvl2pPr algn="ctr">
              <a:buSzPct val="100000"/>
              <a:defRPr sz="3200"/>
            </a:lvl2pPr>
            <a:lvl3pPr algn="ctr">
              <a:buSzPct val="100000"/>
              <a:defRPr sz="3200"/>
            </a:lvl3pPr>
            <a:lvl4pPr algn="ctr">
              <a:buSzPct val="100000"/>
              <a:defRPr sz="3200"/>
            </a:lvl4pPr>
            <a:lvl5pPr algn="ctr">
              <a:buSzPct val="100000"/>
              <a:defRPr sz="3200"/>
            </a:lvl5pPr>
            <a:lvl6pPr algn="ctr">
              <a:buSzPct val="100000"/>
              <a:defRPr sz="3200"/>
            </a:lvl6pPr>
            <a:lvl7pPr algn="ctr">
              <a:buSzPct val="100000"/>
              <a:defRPr sz="3200"/>
            </a:lvl7pPr>
            <a:lvl8pPr algn="ctr">
              <a:buSzPct val="100000"/>
              <a:defRPr sz="3200"/>
            </a:lvl8pPr>
            <a:lvl9pPr algn="ctr">
              <a:buSzPct val="100000"/>
              <a:defRPr sz="3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txStyles>
    <p:title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</p:titleStyle>
    <p:body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9"/>
          <p:cNvSpPr txBox="1">
            <a:spLocks noGrp="1"/>
          </p:cNvSpPr>
          <p:nvPr>
            <p:ph type="ctrTitle"/>
          </p:nvPr>
        </p:nvSpPr>
        <p:spPr>
          <a:xfrm>
            <a:off x="3942275" y="1781525"/>
            <a:ext cx="5512499" cy="28137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44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Archiving and Compression</a:t>
            </a:r>
          </a:p>
        </p:txBody>
      </p:sp>
      <p:sp>
        <p:nvSpPr>
          <p:cNvPr id="20" name="Shape 20"/>
          <p:cNvSpPr txBox="1">
            <a:spLocks noGrp="1"/>
          </p:cNvSpPr>
          <p:nvPr>
            <p:ph type="subTitle" idx="1"/>
          </p:nvPr>
        </p:nvSpPr>
        <p:spPr>
          <a:xfrm>
            <a:off x="1991425" y="6118925"/>
            <a:ext cx="6553200" cy="1093950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0" marR="0" indent="0" algn="ctr" rtl="0">
              <a:lnSpc>
                <a:spcPct val="108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1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Miroslav Biňas</a:t>
            </a:r>
          </a:p>
          <a:p>
            <a:pPr marL="0" marR="0" indent="0" algn="ctr" rtl="0">
              <a:lnSpc>
                <a:spcPct val="108036"/>
              </a:lnSpc>
              <a:spcBef>
                <a:spcPts val="563"/>
              </a:spcBef>
              <a:spcAft>
                <a:spcPts val="0"/>
              </a:spcAft>
              <a:buNone/>
            </a:pPr>
            <a:r>
              <a:rPr lang="en-US" sz="311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(c) 2010-201</a:t>
            </a:r>
            <a:r>
              <a:rPr lang="en-US" sz="311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  <p:transition spd="slow"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25"/>
          <p:cNvSpPr txBox="1">
            <a:spLocks noGrp="1"/>
          </p:cNvSpPr>
          <p:nvPr>
            <p:ph type="title" idx="4294967295"/>
          </p:nvPr>
        </p:nvSpPr>
        <p:spPr>
          <a:xfrm>
            <a:off x="2038350" y="342900"/>
            <a:ext cx="8121650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Archive with </a:t>
            </a:r>
            <a:r>
              <a:rPr lang="en-US" sz="4000" b="1">
                <a:solidFill>
                  <a:srgbClr val="444444"/>
                </a:solidFill>
                <a:latin typeface="Courier New"/>
                <a:ea typeface="Courier New"/>
                <a:cs typeface="Courier New"/>
                <a:sym typeface="courier new"/>
              </a:rPr>
              <a:t>tar</a:t>
            </a: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 I.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2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tar</a:t>
            </a:r>
            <a:r>
              <a:rPr lang="en-US" sz="32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archiving utility, originally created for tape archiving, creates archives known as </a:t>
            </a:r>
            <a:r>
              <a:rPr lang="en-US" sz="3200" i="1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tarballs</a:t>
            </a:r>
            <a:r>
              <a:rPr lang="en-US" sz="3200" i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collects all the data to single file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24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-v</a:t>
            </a:r>
            <a:r>
              <a:rPr lang="en-US" sz="24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verbosely list files processed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24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-t</a:t>
            </a:r>
            <a:r>
              <a:rPr lang="en-US" sz="24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list the contents of an archive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24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-x</a:t>
            </a:r>
            <a:r>
              <a:rPr lang="en-US" sz="24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extract files from an archive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24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-c</a:t>
            </a:r>
            <a:r>
              <a:rPr lang="en-US" sz="24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create a new archive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2400" dirty="0">
                <a:solidFill>
                  <a:srgbClr val="666666"/>
                </a:solidFill>
                <a:latin typeface="Courier New"/>
                <a:cs typeface="Courier New"/>
              </a:rPr>
              <a:t>-z - </a:t>
            </a:r>
            <a:r>
              <a:rPr lang="en-US" sz="2400" dirty="0">
                <a:solidFill>
                  <a:srgbClr val="666666"/>
                </a:solidFill>
              </a:rPr>
              <a:t>compress the resulting archive with </a:t>
            </a:r>
            <a:r>
              <a:rPr lang="en-US" sz="2400" dirty="0" err="1">
                <a:solidFill>
                  <a:srgbClr val="666666"/>
                </a:solidFill>
              </a:rPr>
              <a:t>gzip</a:t>
            </a:r>
            <a:endParaRPr lang="en-US" sz="2400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2400" dirty="0">
                <a:solidFill>
                  <a:srgbClr val="666666"/>
                </a:solidFill>
                <a:latin typeface="Courier New"/>
                <a:cs typeface="Courier New"/>
              </a:rPr>
              <a:t>-r </a:t>
            </a:r>
            <a:r>
              <a:rPr lang="en-US" sz="24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- new entries are appended to the archive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24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-f</a:t>
            </a:r>
            <a:r>
              <a:rPr lang="en-US" sz="24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source/destination of </a:t>
            </a:r>
            <a:r>
              <a:rPr lang="en-US" sz="2400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tarball</a:t>
            </a:r>
            <a:r>
              <a:rPr lang="en-US" sz="24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2400" dirty="0">
                <a:solidFill>
                  <a:srgbClr val="666666"/>
                </a:solidFill>
                <a:latin typeface="Courier New"/>
                <a:cs typeface="Courier New"/>
              </a:rPr>
              <a:t>-C </a:t>
            </a:r>
            <a:r>
              <a:rPr lang="en-US" sz="2400" dirty="0">
                <a:solidFill>
                  <a:srgbClr val="666666"/>
                </a:solidFill>
              </a:rPr>
              <a:t>- changes the directory before adding the following files.</a:t>
            </a:r>
            <a:endParaRPr lang="en-US" sz="2400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32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Archive with </a:t>
            </a:r>
            <a:r>
              <a:rPr lang="en-US" sz="4000" b="1">
                <a:solidFill>
                  <a:srgbClr val="444444"/>
                </a:solidFill>
                <a:latin typeface="Courier New"/>
                <a:ea typeface="Courier New"/>
                <a:cs typeface="Courier New"/>
                <a:sym typeface="courier new"/>
              </a:rPr>
              <a:t>tar</a:t>
            </a: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 II.</a:t>
            </a:r>
          </a:p>
        </p:txBody>
      </p:sp>
      <p:sp>
        <p:nvSpPr>
          <p:cNvPr id="33" name="Shape 33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6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creating archives</a:t>
            </a:r>
            <a:endParaRPr lang="sk-SK" sz="3600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6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tar -</a:t>
            </a:r>
            <a:r>
              <a:rPr lang="en-US" sz="36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cf</a:t>
            </a:r>
            <a:r>
              <a:rPr lang="en-US" sz="36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home.tar /home</a:t>
            </a:r>
            <a:endParaRPr lang="sk-SK" sz="3600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6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tar -c /home &gt; </a:t>
            </a:r>
            <a:r>
              <a:rPr lang="en-US" sz="36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home.tar</a:t>
            </a:r>
            <a:endParaRPr lang="en-US" sz="3600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6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extracting archives</a:t>
            </a:r>
            <a:endParaRPr lang="sk-SK" sz="3600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6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tar </a:t>
            </a:r>
            <a:r>
              <a:rPr lang="en-US" sz="36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xf</a:t>
            </a:r>
            <a:r>
              <a:rPr lang="en-US" sz="36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home.tar</a:t>
            </a:r>
            <a:endParaRPr lang="sk-SK" sz="3600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6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tar </a:t>
            </a:r>
            <a:r>
              <a:rPr lang="en-US" sz="36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xf</a:t>
            </a:r>
            <a:r>
              <a:rPr lang="en-US" sz="36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home.tar -C /</a:t>
            </a:r>
            <a:r>
              <a:rPr lang="en-US" sz="36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tmp</a:t>
            </a:r>
            <a:r>
              <a:rPr lang="en-US" sz="36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/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6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preview of archive context</a:t>
            </a:r>
            <a:endParaRPr lang="sk-SK" sz="3600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6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tar </a:t>
            </a:r>
            <a:r>
              <a:rPr lang="en-US" sz="36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vtf</a:t>
            </a:r>
            <a:r>
              <a:rPr lang="en-US" sz="36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home.tar</a:t>
            </a:r>
          </a:p>
        </p:txBody>
      </p:sp>
      <p:sp>
        <p:nvSpPr>
          <p:cNvPr id="34" name="Shape 34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67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b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Compressing Tarballs I.</a:t>
            </a:r>
          </a:p>
        </p:txBody>
      </p:sp>
      <p:sp>
        <p:nvSpPr>
          <p:cNvPr id="68" name="Shape 68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compress tools can compress/decompress </a:t>
            </a:r>
            <a:r>
              <a:rPr lang="en-US" sz="3333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tarballs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381000" lvl="2" indent="-262466"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gzip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foo.tar</a:t>
            </a:r>
            <a:endParaRPr lang="en-US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used file postfix: </a:t>
            </a:r>
            <a:r>
              <a:rPr lang="en-US" sz="3333" i="1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tar.gz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or </a:t>
            </a:r>
            <a:r>
              <a:rPr lang="en-US" sz="3333" i="1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tgz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tar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has options to automatically compress/decompress </a:t>
            </a:r>
            <a:r>
              <a:rPr lang="en-US" sz="3333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tarball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during creation/extraction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-j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filter archive through bzip2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-z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filter archive through </a:t>
            </a:r>
            <a:r>
              <a:rPr lang="en-US" sz="3333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gzip</a:t>
            </a:r>
            <a:endParaRPr lang="en-US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Shape 69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74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b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Compressing Tarballs II.</a:t>
            </a:r>
          </a:p>
        </p:txBody>
      </p:sp>
      <p:sp>
        <p:nvSpPr>
          <p:cNvPr id="75" name="Shape 75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creating compressed archive</a:t>
            </a:r>
            <a:b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tar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cv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z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f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foo.tgz *.pdf</a:t>
            </a:r>
            <a:endParaRPr lang="sk-SK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sk-SK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tar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j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f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foo.tar.bz2 doc/ f1.txt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extracting compressed archive</a:t>
            </a:r>
            <a:endParaRPr lang="sk-SK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tar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z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f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foo.tgz</a:t>
            </a:r>
            <a:b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tar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xv</a:t>
            </a:r>
            <a:r>
              <a:rPr lang="en-US" sz="3333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j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f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foo.tar.bz2</a:t>
            </a:r>
          </a:p>
        </p:txBody>
      </p:sp>
      <p:sp>
        <p:nvSpPr>
          <p:cNvPr id="76" name="Shape 76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9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Archive with </a:t>
            </a:r>
            <a:r>
              <a:rPr lang="en-US" sz="4000" b="1">
                <a:solidFill>
                  <a:srgbClr val="444444"/>
                </a:solidFill>
                <a:latin typeface="Courier New"/>
                <a:ea typeface="Courier New"/>
                <a:cs typeface="Courier New"/>
                <a:sym typeface="courier new"/>
              </a:rPr>
              <a:t>cpio</a:t>
            </a: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 I.</a:t>
            </a:r>
          </a:p>
        </p:txBody>
      </p:sp>
      <p:sp>
        <p:nvSpPr>
          <p:cNvPr id="40" name="Shape 40"/>
          <p:cNvSpPr txBox="1"/>
          <p:nvPr/>
        </p:nvSpPr>
        <p:spPr>
          <a:xfrm>
            <a:off x="1954374" y="1389994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cpio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copy files to and from archives</a:t>
            </a:r>
            <a:b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list of files must be given to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cpio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directly from standard input or pipe output from other command (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ls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find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-o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creates an archive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extract files from an archive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-v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verbose mode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cs typeface="Courier New"/>
              </a:rPr>
              <a:t>-F </a:t>
            </a:r>
            <a:r>
              <a:rPr lang="en-US" sz="3333" dirty="0">
                <a:solidFill>
                  <a:srgbClr val="666666"/>
                </a:solidFill>
              </a:rPr>
              <a:t>- Read archive from or write archive to file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cs typeface="Courier New"/>
              </a:rPr>
              <a:t>- t </a:t>
            </a:r>
            <a:r>
              <a:rPr lang="en-US" sz="3333" dirty="0">
                <a:solidFill>
                  <a:srgbClr val="666666"/>
                </a:solidFill>
              </a:rPr>
              <a:t>- (</a:t>
            </a:r>
            <a:r>
              <a:rPr lang="en-US" sz="3333" dirty="0" err="1">
                <a:solidFill>
                  <a:srgbClr val="666666"/>
                </a:solidFill>
              </a:rPr>
              <a:t>i</a:t>
            </a:r>
            <a:r>
              <a:rPr lang="en-US" sz="3333" dirty="0">
                <a:solidFill>
                  <a:srgbClr val="666666"/>
                </a:solidFill>
              </a:rPr>
              <a:t> mode only) List the contents of the archive to </a:t>
            </a:r>
            <a:r>
              <a:rPr lang="en-US" sz="3333" dirty="0" err="1">
                <a:solidFill>
                  <a:srgbClr val="666666"/>
                </a:solidFill>
              </a:rPr>
              <a:t>stdout</a:t>
            </a:r>
            <a:r>
              <a:rPr lang="en-US" sz="3333" dirty="0">
                <a:solidFill>
                  <a:srgbClr val="666666"/>
                </a:solidFill>
              </a:rPr>
              <a:t>; do not restore the contents to disk.</a:t>
            </a:r>
            <a:endParaRPr lang="en-US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Shape 41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46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Archive with </a:t>
            </a:r>
            <a:r>
              <a:rPr lang="en-US" sz="4000" b="1">
                <a:solidFill>
                  <a:srgbClr val="444444"/>
                </a:solidFill>
                <a:latin typeface="Courier New"/>
                <a:ea typeface="Courier New"/>
                <a:cs typeface="Courier New"/>
                <a:sym typeface="courier new"/>
              </a:rPr>
              <a:t>cpio</a:t>
            </a: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 II.</a:t>
            </a:r>
          </a:p>
        </p:txBody>
      </p:sp>
      <p:sp>
        <p:nvSpPr>
          <p:cNvPr id="47" name="Shape 47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creating archive from list of file names</a:t>
            </a:r>
            <a:endParaRPr lang="sk-SK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ls|cpio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-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ov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&gt;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archive.cpio</a:t>
            </a:r>
            <a:endParaRPr lang="en-US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creating archive with directories and their content</a:t>
            </a:r>
            <a:endParaRPr lang="sk-SK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24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find . –name “*.txt”|</a:t>
            </a:r>
            <a:r>
              <a:rPr lang="en-US" sz="24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cpio</a:t>
            </a:r>
            <a:r>
              <a:rPr lang="en-US" sz="24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-o &gt; </a:t>
            </a:r>
            <a:r>
              <a:rPr lang="en-US" sz="24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arch.cpio</a:t>
            </a:r>
            <a:endParaRPr lang="en-US" sz="2400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extracting archive (verbose)</a:t>
            </a:r>
            <a:endParaRPr lang="sk-SK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cpio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-iv &lt;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archive.cpio</a:t>
            </a:r>
            <a:endParaRPr lang="en-US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list archive</a:t>
            </a:r>
            <a:endParaRPr lang="sk-SK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cpio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-it &lt;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archive.cpio</a:t>
            </a:r>
            <a:endParaRPr lang="en-US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endParaRPr lang="en-US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8" name="Shape 48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53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4000" b="1">
                <a:solidFill>
                  <a:srgbClr val="444444"/>
                </a:solidFill>
                <a:latin typeface="Courier New"/>
                <a:ea typeface="Courier New"/>
                <a:cs typeface="Courier New"/>
                <a:sym typeface="courier new"/>
              </a:rPr>
              <a:t>gzip</a:t>
            </a: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 compression utility</a:t>
            </a:r>
          </a:p>
        </p:txBody>
      </p:sp>
      <p:sp>
        <p:nvSpPr>
          <p:cNvPr id="54" name="Shape 54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gzip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compress </a:t>
            </a: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each file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, will be replaced with another file with the suffix .</a:t>
            </a:r>
            <a:r>
              <a:rPr lang="en-US" sz="3333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gz</a:t>
            </a:r>
            <a:endParaRPr lang="en-US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uses </a:t>
            </a:r>
            <a:r>
              <a:rPr lang="en-US" sz="3333" i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Lempel-Ziv coding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(LZ77)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to compress file:</a:t>
            </a:r>
            <a:b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gzip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FILE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to </a:t>
            </a:r>
            <a:r>
              <a:rPr lang="en-US" sz="3333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uncompress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file:</a:t>
            </a:r>
            <a:b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gzip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-d FILE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endParaRPr lang="en-US" sz="3333" dirty="0">
              <a:solidFill>
                <a:srgbClr val="666666"/>
              </a:solidFill>
            </a:endParaRP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Try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</a:rPr>
              <a:t>zcat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for .</a:t>
            </a:r>
            <a:r>
              <a:rPr lang="en-US" sz="3333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gz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compressed text file</a:t>
            </a:r>
          </a:p>
        </p:txBody>
      </p:sp>
      <p:sp>
        <p:nvSpPr>
          <p:cNvPr id="55" name="Shape 55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60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4000" b="1">
                <a:solidFill>
                  <a:srgbClr val="444444"/>
                </a:solidFill>
                <a:latin typeface="Courier New"/>
                <a:ea typeface="Courier New"/>
                <a:cs typeface="Courier New"/>
                <a:sym typeface="courier new"/>
              </a:rPr>
              <a:t>bzip2</a:t>
            </a: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 compression utility</a:t>
            </a:r>
          </a:p>
        </p:txBody>
      </p:sp>
      <p:sp>
        <p:nvSpPr>
          <p:cNvPr id="61" name="Shape 61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bzip2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 a block-sorting file compressor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uses the </a:t>
            </a:r>
            <a:r>
              <a:rPr lang="en-US" sz="3333" i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Burrows-Wheeler block sorting text compression algorithm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3333" i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Huffman coding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adds 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.bz2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postfix to the file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to compress file:</a:t>
            </a:r>
            <a:b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bzip2 FILE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to uncompress file:</a:t>
            </a:r>
            <a:b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bzip2 -d FILE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</p:txBody>
      </p:sp>
      <p:sp>
        <p:nvSpPr>
          <p:cNvPr id="62" name="Shape 62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/>
          <p:cNvSpPr txBox="1">
            <a:spLocks noGrp="1"/>
          </p:cNvSpPr>
          <p:nvPr>
            <p:ph type="title"/>
          </p:nvPr>
        </p:nvSpPr>
        <p:spPr>
          <a:xfrm>
            <a:off x="1705675" y="56425"/>
            <a:ext cx="8121299" cy="121950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4000" b="1">
                <a:solidFill>
                  <a:srgbClr val="444444"/>
                </a:solidFill>
                <a:latin typeface="Courier New"/>
                <a:ea typeface="Courier New"/>
                <a:cs typeface="Courier New"/>
                <a:sym typeface="courier new"/>
              </a:rPr>
              <a:t>xz</a:t>
            </a: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4000" b="1">
                <a:solidFill>
                  <a:srgbClr val="444444"/>
                </a:solidFill>
                <a:latin typeface="Courier New"/>
                <a:ea typeface="Courier New"/>
                <a:cs typeface="Courier New"/>
                <a:sym typeface="Courier New"/>
              </a:rPr>
              <a:t>lzma</a:t>
            </a: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4000" b="1">
                <a:solidFill>
                  <a:srgbClr val="444444"/>
                </a:solidFill>
              </a:rPr>
              <a:t>C</a:t>
            </a: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ompression </a:t>
            </a:r>
            <a:r>
              <a:rPr lang="en-US" sz="4000" b="1">
                <a:solidFill>
                  <a:srgbClr val="444444"/>
                </a:solidFill>
              </a:rPr>
              <a:t>U</a:t>
            </a: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tility</a:t>
            </a:r>
          </a:p>
        </p:txBody>
      </p:sp>
      <p:sp>
        <p:nvSpPr>
          <p:cNvPr id="82" name="Shape 82"/>
          <p:cNvSpPr txBox="1"/>
          <p:nvPr/>
        </p:nvSpPr>
        <p:spPr>
          <a:xfrm>
            <a:off x="1954375" y="1621000"/>
            <a:ext cx="7872600" cy="5574300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xz</a:t>
            </a:r>
            <a:r>
              <a:rPr lang="en-US" sz="3333" dirty="0">
                <a:solidFill>
                  <a:srgbClr val="666666"/>
                </a:solidFill>
              </a:rPr>
              <a:t> and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lzma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 </a:t>
            </a:r>
            <a:r>
              <a:rPr lang="en-US" sz="3333" dirty="0">
                <a:solidFill>
                  <a:srgbClr val="666666"/>
                </a:solidFill>
              </a:rPr>
              <a:t>c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ompress or decompress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xz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lzma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files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adds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xz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or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lzma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postfix to the file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to compress file:</a:t>
            </a:r>
            <a:b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xz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FILE</a:t>
            </a:r>
            <a:b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lzma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FILE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to </a:t>
            </a:r>
            <a:r>
              <a:rPr lang="en-US" sz="3333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uncompress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file:</a:t>
            </a:r>
            <a:b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xz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-d FILE</a:t>
            </a:r>
            <a:endParaRPr lang="sk-SK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sk-SK" sz="3333" dirty="0">
                <a:solidFill>
                  <a:srgbClr val="666666"/>
                </a:solidFill>
                <a:latin typeface="Courier New"/>
                <a:cs typeface="Courier New"/>
                <a:sym typeface="courier new"/>
              </a:rPr>
              <a:t>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lzma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-d FILE</a:t>
            </a:r>
            <a:r>
              <a:rPr lang="en-US" sz="3333" dirty="0">
                <a:solidFill>
                  <a:srgbClr val="666666"/>
                </a:solidFill>
              </a:rPr>
              <a:t> </a:t>
            </a:r>
          </a:p>
        </p:txBody>
      </p:sp>
      <p:sp>
        <p:nvSpPr>
          <p:cNvPr id="83" name="Shape 83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88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Processing </a:t>
            </a:r>
            <a:r>
              <a:rPr lang="en-US" sz="4000" b="1">
                <a:solidFill>
                  <a:srgbClr val="444444"/>
                </a:solidFill>
                <a:latin typeface="Courier New"/>
                <a:ea typeface="Courier New"/>
                <a:cs typeface="Courier New"/>
                <a:sym typeface="courier new"/>
              </a:rPr>
              <a:t>.zip</a:t>
            </a: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 Packages I.</a:t>
            </a:r>
          </a:p>
        </p:txBody>
      </p:sp>
      <p:sp>
        <p:nvSpPr>
          <p:cNvPr id="89" name="Shape 89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zip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package and compress files</a:t>
            </a:r>
            <a:endParaRPr lang="en-US" dirty="0"/>
          </a:p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to create </a:t>
            </a:r>
            <a:r>
              <a:rPr lang="en-US" sz="3333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archive: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zip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ARCHIVE FILES...</a:t>
            </a:r>
            <a:endParaRPr lang="en-US" sz="3333" dirty="0">
              <a:solidFill>
                <a:srgbClr val="666666"/>
              </a:solidFill>
              <a:latin typeface="Courier New"/>
              <a:ea typeface="Courier New"/>
              <a:cs typeface="Courier New"/>
            </a:endParaRPr>
          </a:p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28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options</a:t>
            </a:r>
            <a:endParaRPr lang="en-US" sz="2800" dirty="0">
              <a:solidFill>
                <a:srgbClr val="666666"/>
              </a:solidFill>
              <a:latin typeface="arial"/>
              <a:ea typeface="arial"/>
              <a:cs typeface="arial"/>
            </a:endParaRPr>
          </a:p>
          <a:p>
            <a:pPr marL="762000" marR="0" lvl="1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28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-r</a:t>
            </a:r>
            <a:r>
              <a:rPr lang="en-US" sz="28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- if compressing directory</a:t>
            </a:r>
            <a:endParaRPr lang="en-US" sz="2800" dirty="0">
              <a:solidFill>
                <a:srgbClr val="666666"/>
              </a:solidFill>
              <a:latin typeface="arial"/>
              <a:ea typeface="arial"/>
              <a:cs typeface="arial"/>
            </a:endParaRPr>
          </a:p>
          <a:p>
            <a:pPr marL="762000" marR="0" lvl="1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28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-m</a:t>
            </a:r>
            <a:r>
              <a:rPr lang="en-US" sz="28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removes files added to archive (to save space on disk)</a:t>
            </a:r>
            <a:endParaRPr lang="en-US" sz="2800" dirty="0">
              <a:solidFill>
                <a:srgbClr val="666666"/>
              </a:solidFill>
              <a:latin typeface="arial"/>
              <a:ea typeface="arial"/>
              <a:cs typeface="arial"/>
            </a:endParaRPr>
          </a:p>
          <a:p>
            <a:pPr marL="762000" marR="0" lvl="1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28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-e</a:t>
            </a:r>
            <a:r>
              <a:rPr lang="en-US" sz="28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8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-P</a:t>
            </a:r>
            <a:r>
              <a:rPr lang="en-US" sz="28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set password</a:t>
            </a:r>
            <a:endParaRPr lang="en-US" sz="2800" dirty="0">
              <a:solidFill>
                <a:srgbClr val="666666"/>
              </a:solidFill>
            </a:endParaRPr>
          </a:p>
          <a:p>
            <a:pPr marL="499110" marR="0"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</a:pPr>
            <a:r>
              <a:rPr lang="en-US" sz="2800" dirty="0">
                <a:solidFill>
                  <a:srgbClr val="666666"/>
                </a:solidFill>
                <a:latin typeface="Courier New"/>
                <a:cs typeface="Courier New"/>
              </a:rPr>
              <a:t>zip x.zip x*</a:t>
            </a:r>
          </a:p>
          <a:p>
            <a:pPr marL="499110" marR="0"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</a:pPr>
            <a:r>
              <a:rPr lang="en-US" sz="2800" dirty="0">
                <a:solidFill>
                  <a:srgbClr val="666666"/>
                </a:solidFill>
                <a:latin typeface="Courier New"/>
                <a:cs typeface="Courier New"/>
              </a:rPr>
              <a:t>unzip x.zip</a:t>
            </a:r>
          </a:p>
        </p:txBody>
      </p:sp>
      <p:sp>
        <p:nvSpPr>
          <p:cNvPr id="90" name="Shape 90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95"/>
          <p:cNvSpPr txBox="1">
            <a:spLocks noGrp="1"/>
          </p:cNvSpPr>
          <p:nvPr>
            <p:ph type="title"/>
          </p:nvPr>
        </p:nvSpPr>
        <p:spPr>
          <a:xfrm>
            <a:off x="1705675" y="342175"/>
            <a:ext cx="8121274" cy="9334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Processing </a:t>
            </a:r>
            <a:r>
              <a:rPr lang="en-US" sz="4000" b="1">
                <a:solidFill>
                  <a:srgbClr val="444444"/>
                </a:solidFill>
                <a:latin typeface="Courier New"/>
                <a:ea typeface="Courier New"/>
                <a:cs typeface="Courier New"/>
                <a:sym typeface="courier new"/>
              </a:rPr>
              <a:t>.zip</a:t>
            </a: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 Packages II.</a:t>
            </a:r>
          </a:p>
        </p:txBody>
      </p:sp>
      <p:sp>
        <p:nvSpPr>
          <p:cNvPr id="96" name="Shape 96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unzip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list, test and extract compressed files in ZIP archive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options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-l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- list archive files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-v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- list archive files (verbose)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-d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- directory to which to extract files</a:t>
            </a:r>
          </a:p>
        </p:txBody>
      </p:sp>
      <p:sp>
        <p:nvSpPr>
          <p:cNvPr id="97" name="Shape 97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 txBox="1">
            <a:spLocks noGrp="1"/>
          </p:cNvSpPr>
          <p:nvPr>
            <p:ph type="title"/>
          </p:nvPr>
        </p:nvSpPr>
        <p:spPr>
          <a:xfrm>
            <a:off x="1727200" y="3657600"/>
            <a:ext cx="8121274" cy="933450"/>
          </a:xfrm>
          <a:prstGeom prst="rect">
            <a:avLst/>
          </a:prstGeom>
        </p:spPr>
        <p:txBody>
          <a:bodyPr lIns="38100" tIns="38100" rIns="38100" bIns="38100" anchor="b" anchorCtr="0">
            <a:noAutofit/>
          </a:bodyPr>
          <a:lstStyle/>
          <a:p>
            <a:pPr marL="0" marR="0" indent="0" algn="ctr" rtl="0">
              <a:lnSpc>
                <a:spcPct val="1201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</a:p>
        </p:txBody>
      </p:sp>
      <p:sp>
        <p:nvSpPr>
          <p:cNvPr id="103" name="Shape 103"/>
          <p:cNvSpPr/>
          <p:nvPr/>
        </p:nvSpPr>
        <p:spPr>
          <a:xfrm>
            <a:off x="0" y="60854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theme/theme1.xml><?xml version="1.0" encoding="utf-8"?>
<a:theme xmlns:a="http://schemas.openxmlformats.org/drawingml/2006/main" name="Custom Theme">
  <a:themeElements>
    <a:clrScheme name="blank">
      <a:dk1>
        <a:srgbClr val="000000"/>
      </a:dk1>
      <a:lt1>
        <a:srgbClr val="FFFFFF"/>
      </a:lt1>
      <a:dk2>
        <a:srgbClr val="073763"/>
      </a:dk2>
      <a:lt2>
        <a:srgbClr val="CFE2F3"/>
      </a:lt2>
      <a:accent1>
        <a:srgbClr val="404040"/>
      </a:accent1>
      <a:accent2>
        <a:srgbClr val="808080"/>
      </a:accent2>
      <a:accent3>
        <a:srgbClr val="C0C0C0"/>
      </a:accent3>
      <a:accent4>
        <a:srgbClr val="396187"/>
      </a:accent4>
      <a:accent5>
        <a:srgbClr val="6B8CAB"/>
      </a:accent5>
      <a:accent6>
        <a:srgbClr val="9DB7CF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721</Words>
  <Application>Microsoft Macintosh PowerPoint</Application>
  <PresentationFormat>Vlastná</PresentationFormat>
  <Paragraphs>89</Paragraphs>
  <Slides>13</Slides>
  <Notes>13</Notes>
  <HiddenSlides>0</HiddenSlides>
  <MMClips>0</MMClips>
  <ScaleCrop>false</ScaleCrop>
  <HeadingPairs>
    <vt:vector size="6" baseType="variant">
      <vt:variant>
        <vt:lpstr>Použité písma</vt:lpstr>
      </vt:variant>
      <vt:variant>
        <vt:i4>3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13</vt:i4>
      </vt:variant>
    </vt:vector>
  </HeadingPairs>
  <TitlesOfParts>
    <vt:vector size="17" baseType="lpstr">
      <vt:lpstr>Arial</vt:lpstr>
      <vt:lpstr>Arial</vt:lpstr>
      <vt:lpstr>Courier New</vt:lpstr>
      <vt:lpstr>Custom Theme</vt:lpstr>
      <vt:lpstr>Archiving and Compression</vt:lpstr>
      <vt:lpstr>Archive with tar I.</vt:lpstr>
      <vt:lpstr>Archive with tar II.</vt:lpstr>
      <vt:lpstr>Compressing Tarballs I.</vt:lpstr>
      <vt:lpstr>Compressing Tarballs II.</vt:lpstr>
      <vt:lpstr>Archive with cpio I.</vt:lpstr>
      <vt:lpstr>Archive with cpio II.</vt:lpstr>
      <vt:lpstr>The gzip compression utility</vt:lpstr>
      <vt:lpstr>The bzip2 compression utility</vt:lpstr>
      <vt:lpstr>The xz and lzma Compression Utility</vt:lpstr>
      <vt:lpstr>Processing .zip Packages I.</vt:lpstr>
      <vt:lpstr>Processing .zip Packages II.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Archiving and Compression</dc:title>
  <cp:lastModifiedBy>Július Baráth</cp:lastModifiedBy>
  <cp:revision>5</cp:revision>
  <dcterms:modified xsi:type="dcterms:W3CDTF">2025-03-28T09:14:25Z</dcterms:modified>
</cp:coreProperties>
</file>