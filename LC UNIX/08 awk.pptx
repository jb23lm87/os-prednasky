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</p:sldIdLst>
  <p:sldSz cx="9144000" cy="6858000" type="screen4x3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750"/>
  </p:normalViewPr>
  <p:slideViewPr>
    <p:cSldViewPr>
      <p:cViewPr varScale="1">
        <p:scale>
          <a:sx n="149" d="100"/>
          <a:sy n="149" d="100"/>
        </p:scale>
        <p:origin x="184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modSld">
      <pc:chgData name="Baráth, Július" userId="aebde9b9-dccc-4475-a9ac-c05e78323d7a" providerId="ADAL" clId="{4A0811C8-ED2F-505E-B787-C8270CED5046}" dt="2026-03-12T06:13:35.801" v="2" actId="20577"/>
      <pc:docMkLst>
        <pc:docMk/>
      </pc:docMkLst>
      <pc:sldChg chg="modSp mod">
        <pc:chgData name="Baráth, Július" userId="aebde9b9-dccc-4475-a9ac-c05e78323d7a" providerId="ADAL" clId="{4A0811C8-ED2F-505E-B787-C8270CED5046}" dt="2026-03-12T06:10:59.755" v="0" actId="113"/>
        <pc:sldMkLst>
          <pc:docMk/>
          <pc:sldMk cId="0" sldId="257"/>
        </pc:sldMkLst>
        <pc:spChg chg="mod">
          <ac:chgData name="Baráth, Július" userId="aebde9b9-dccc-4475-a9ac-c05e78323d7a" providerId="ADAL" clId="{4A0811C8-ED2F-505E-B787-C8270CED5046}" dt="2026-03-12T06:10:59.755" v="0" actId="11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06:13:35.801" v="2" actId="20577"/>
        <pc:sldMkLst>
          <pc:docMk/>
          <pc:sldMk cId="0" sldId="259"/>
        </pc:sldMkLst>
        <pc:spChg chg="mod">
          <ac:chgData name="Baráth, Július" userId="aebde9b9-dccc-4475-a9ac-c05e78323d7a" providerId="ADAL" clId="{4A0811C8-ED2F-505E-B787-C8270CED5046}" dt="2026-03-12T06:13:35.801" v="2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E67C6-56A4-4935-9E9B-5A79F4E75DED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FCE1F-0B2C-411E-8BB2-0B89545CC6B6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687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FCE1F-0B2C-411E-8BB2-0B89545CC6B6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7418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4875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FCE1F-0B2C-411E-8BB2-0B89545CC6B6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6218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6417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422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Kliknite sem a upravte štýl predlohy podnadpisov.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214CC-5E63-4C66-809C-6D4931786226}" type="datetimeFigureOut">
              <a:rPr lang="sk-SK" smtClean="0"/>
              <a:t>12.3.2026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5AB95-FA6E-48A9-8103-5B63F14B174A}" type="slidenum">
              <a:rPr lang="sk-SK" smtClean="0"/>
              <a:t>‹#›</a:t>
            </a:fld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AWK a pr</a:t>
            </a:r>
            <a:r>
              <a:rPr lang="sk-SK" dirty="0" err="1"/>
              <a:t>íklady</a:t>
            </a:r>
            <a:r>
              <a:rPr lang="sk-SK" dirty="0"/>
              <a:t> na použitie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Načo slúži AWK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fontAlgn="base"/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Awk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scripting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language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used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u="sng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manipulating</a:t>
            </a:r>
            <a:r>
              <a:rPr lang="sk-SK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u="sng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data</a:t>
            </a:r>
            <a:r>
              <a:rPr lang="sk-SK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b="0" i="0" u="sng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generating</a:t>
            </a:r>
            <a:r>
              <a:rPr lang="sk-SK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u="sng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reports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awk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command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programming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language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requires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no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compiling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allows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user to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use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variables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,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numeric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functions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,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string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functions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, and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logical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operators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 </a:t>
            </a:r>
          </a:p>
          <a:p>
            <a:pPr algn="l" fontAlgn="base"/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Awk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creates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programs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form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of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statements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that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define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text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patterns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that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are to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be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searched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in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each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of a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document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action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that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be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taken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when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match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found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within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 </a:t>
            </a:r>
          </a:p>
          <a:p>
            <a:pPr algn="l" fontAlgn="base"/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Awk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mostly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used</a:t>
            </a:r>
            <a:r>
              <a:rPr lang="sk-SK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</a:t>
            </a:r>
            <a:r>
              <a:rPr lang="sk-SK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pattern</a:t>
            </a:r>
            <a:r>
              <a:rPr lang="sk-SK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scanning</a:t>
            </a:r>
            <a:r>
              <a:rPr lang="sk-SK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processing</a:t>
            </a:r>
            <a:r>
              <a:rPr lang="sk-SK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</a:p>
          <a:p>
            <a:pPr lvl="1" fontAlgn="base"/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It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searches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one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or more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files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to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see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if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they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contain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that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matches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with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specified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patterns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then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perform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associated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actions</a:t>
            </a:r>
            <a:r>
              <a:rPr lang="sk-SK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.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34290" tIns="34290" rIns="34290" bIns="3429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Text Processing with </a:t>
            </a:r>
            <a:r>
              <a:rPr lang="en-US" sz="3600" b="1" dirty="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awk</a:t>
            </a:r>
            <a:r>
              <a:rPr lang="en-US" sz="3600" b="1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I.</a:t>
            </a:r>
          </a:p>
        </p:txBody>
      </p:sp>
      <p:sp>
        <p:nvSpPr>
          <p:cNvPr id="2" name="Zástupný objekt pre obsah 1">
            <a:extLst>
              <a:ext uri="{FF2B5EF4-FFF2-40B4-BE49-F238E27FC236}">
                <a16:creationId xmlns:a16="http://schemas.microsoft.com/office/drawing/2014/main" id="{4920990C-7CEE-B0F3-9929-13B41E2FC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sk-SK" sz="32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AWK </a:t>
            </a:r>
            <a:r>
              <a:rPr lang="sk-SK" sz="32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Operations</a:t>
            </a:r>
            <a:r>
              <a:rPr lang="sk-SK" sz="32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:</a:t>
            </a:r>
            <a:endParaRPr lang="sk-SK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Scans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file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by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</a:t>
            </a: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Splits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each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input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into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fields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</a:t>
            </a: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Compares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input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/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fields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to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pattern</a:t>
            </a:r>
            <a:endParaRPr lang="sk-SK" sz="3200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Performs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action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(s) on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matched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lines</a:t>
            </a:r>
            <a:endParaRPr lang="sk-SK" sz="3200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sk-SK" sz="32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Useful</a:t>
            </a:r>
            <a:r>
              <a:rPr lang="sk-SK" sz="32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</a:t>
            </a:r>
            <a:r>
              <a:rPr lang="sk-SK" sz="32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:</a:t>
            </a:r>
            <a:endParaRPr lang="sk-SK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Transform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data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files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</a:t>
            </a:r>
            <a:endParaRPr lang="sk-SK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Produce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formatted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reports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sk-SK" sz="32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Programming</a:t>
            </a:r>
            <a:r>
              <a:rPr lang="sk-SK" sz="32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Constructs</a:t>
            </a:r>
            <a:r>
              <a:rPr lang="sk-SK" sz="32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:</a:t>
            </a:r>
            <a:endParaRPr lang="sk-SK" sz="3200" dirty="0">
              <a:solidFill>
                <a:srgbClr val="273239"/>
              </a:solidFill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Format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output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lines</a:t>
            </a:r>
            <a:endParaRPr lang="sk-SK" sz="3200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Arithmetic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string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operations</a:t>
            </a:r>
            <a:endParaRPr lang="sk-SK" sz="3200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Conditionals</a:t>
            </a:r>
            <a:r>
              <a:rPr lang="sk-SK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and </a:t>
            </a:r>
            <a:r>
              <a:rPr lang="sk-SK" sz="32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loops</a:t>
            </a:r>
            <a:endParaRPr lang="sk-SK" sz="3200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</p:txBody>
      </p:sp>
      <p:sp>
        <p:nvSpPr>
          <p:cNvPr id="90" name="Shape 90"/>
          <p:cNvSpPr txBox="1"/>
          <p:nvPr/>
        </p:nvSpPr>
        <p:spPr>
          <a:xfrm>
            <a:off x="683568" y="1052736"/>
            <a:ext cx="8160688" cy="5016803"/>
          </a:xfrm>
          <a:prstGeom prst="rect">
            <a:avLst/>
          </a:prstGeom>
        </p:spPr>
        <p:txBody>
          <a:bodyPr lIns="34290" tIns="34290" rIns="34290" bIns="34290" anchor="t" anchorCtr="0">
            <a:noAutofit/>
          </a:bodyPr>
          <a:lstStyle/>
          <a:p>
            <a:pPr marL="457200" indent="-457200" algn="l" fontAlgn="base">
              <a:buFont typeface="Arial" panose="020B0604020202020204" pitchFamily="34" charset="0"/>
              <a:buChar char="•"/>
            </a:pPr>
            <a:endParaRPr lang="sk-SK" sz="3200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Nunito" pitchFamily="2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Vzorový súbor – </a:t>
            </a:r>
            <a:r>
              <a:rPr lang="sk-SK" dirty="0" err="1"/>
              <a:t>osoby.txt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k-SK" u="sng" dirty="0"/>
              <a:t>Údaje sú vo formáte:</a:t>
            </a:r>
          </a:p>
          <a:p>
            <a:pPr>
              <a:buNone/>
            </a:pPr>
            <a:r>
              <a:rPr lang="sk-SK" dirty="0"/>
              <a:t>ID – meno – pohlavie – vek</a:t>
            </a:r>
          </a:p>
          <a:p>
            <a:pPr>
              <a:buNone/>
            </a:pPr>
            <a:endParaRPr lang="sk-SK" dirty="0"/>
          </a:p>
          <a:p>
            <a:pPr>
              <a:buNone/>
            </a:pPr>
            <a:r>
              <a:rPr lang="en-US" dirty="0"/>
              <a:t>1 </a:t>
            </a:r>
            <a:r>
              <a:rPr lang="en-US" dirty="0" err="1"/>
              <a:t>jozef</a:t>
            </a:r>
            <a:r>
              <a:rPr lang="en-US" dirty="0"/>
              <a:t> m 18</a:t>
            </a:r>
          </a:p>
          <a:p>
            <a:pPr>
              <a:buNone/>
            </a:pPr>
            <a:r>
              <a:rPr lang="en-US" dirty="0"/>
              <a:t>2 peter m 22</a:t>
            </a:r>
          </a:p>
          <a:p>
            <a:pPr>
              <a:buNone/>
            </a:pPr>
            <a:r>
              <a:rPr lang="en-US" dirty="0"/>
              <a:t>3 </a:t>
            </a:r>
            <a:r>
              <a:rPr lang="en-US" dirty="0" err="1"/>
              <a:t>ivan</a:t>
            </a:r>
            <a:r>
              <a:rPr lang="en-US" dirty="0"/>
              <a:t> m 51</a:t>
            </a:r>
          </a:p>
          <a:p>
            <a:pPr>
              <a:buNone/>
            </a:pPr>
            <a:r>
              <a:rPr lang="en-US" dirty="0"/>
              <a:t>4 </a:t>
            </a:r>
            <a:r>
              <a:rPr lang="en-US" dirty="0" err="1"/>
              <a:t>anna</a:t>
            </a:r>
            <a:r>
              <a:rPr lang="en-US" dirty="0"/>
              <a:t> z 39</a:t>
            </a:r>
          </a:p>
          <a:p>
            <a:pPr>
              <a:buNone/>
            </a:pPr>
            <a:r>
              <a:rPr lang="en-US" dirty="0"/>
              <a:t>5 </a:t>
            </a:r>
            <a:r>
              <a:rPr lang="en-US" dirty="0" err="1"/>
              <a:t>jana</a:t>
            </a:r>
            <a:r>
              <a:rPr lang="en-US" dirty="0"/>
              <a:t> z 23</a:t>
            </a:r>
            <a:endParaRPr lang="sk-SK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sk-SK" dirty="0"/>
              <a:t>Výpis celého súbor bez podmienok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cat</a:t>
            </a:r>
            <a:r>
              <a:rPr lang="sk-SK" dirty="0"/>
              <a:t> osoby.txt		// pomocou </a:t>
            </a:r>
            <a:r>
              <a:rPr lang="sk-SK" dirty="0" err="1"/>
              <a:t>cat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endParaRPr lang="sk-SK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awk  '{print;}' </a:t>
            </a:r>
            <a:r>
              <a:rPr lang="en-US" dirty="0" err="1">
                <a:ea typeface="+mn-lt"/>
                <a:cs typeface="+mn-lt"/>
              </a:rPr>
              <a:t>osoby.txt</a:t>
            </a:r>
            <a:r>
              <a:rPr lang="en-US" dirty="0">
                <a:ea typeface="+mn-lt"/>
                <a:cs typeface="+mn-lt"/>
              </a:rPr>
              <a:t> </a:t>
            </a:r>
            <a:endParaRPr lang="sk-SK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V</a:t>
            </a:r>
            <a:r>
              <a:rPr lang="sk-SK" dirty="0" err="1"/>
              <a:t>ýpis</a:t>
            </a:r>
            <a:r>
              <a:rPr lang="sk-SK" dirty="0"/>
              <a:t> s filtráciou mena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514350" indent="-514350"/>
            <a:r>
              <a:rPr lang="sk-SK" dirty="0">
                <a:ea typeface="Calibri"/>
                <a:cs typeface="Calibri"/>
              </a:rPr>
              <a:t>Znalosť regulárnych výrazov ...</a:t>
            </a:r>
          </a:p>
          <a:p>
            <a:pPr marL="514350" indent="-514350"/>
            <a:endParaRPr lang="sk-SK" dirty="0">
              <a:ea typeface="Calibri"/>
              <a:cs typeface="Calibri"/>
            </a:endParaRPr>
          </a:p>
          <a:p>
            <a:pPr marL="514350" indent="-514350">
              <a:buFont typeface="Arial"/>
              <a:buChar char="•"/>
            </a:pPr>
            <a:r>
              <a:rPr lang="sk-SK" dirty="0" err="1"/>
              <a:t>awk</a:t>
            </a:r>
            <a:r>
              <a:rPr lang="sk-SK" dirty="0"/>
              <a:t>  '/</a:t>
            </a:r>
            <a:r>
              <a:rPr lang="sk-SK" dirty="0" err="1"/>
              <a:t>joz</a:t>
            </a:r>
            <a:r>
              <a:rPr lang="sk-SK" dirty="0"/>
              <a:t>/</a:t>
            </a:r>
            <a:r>
              <a:rPr lang="en-US" dirty="0"/>
              <a:t>' osoby.txt</a:t>
            </a:r>
            <a:endParaRPr lang="sk-SK" dirty="0">
              <a:ea typeface="Calibri"/>
              <a:cs typeface="Calibri"/>
            </a:endParaRPr>
          </a:p>
          <a:p>
            <a:pPr marL="514350" indent="-514350">
              <a:buFont typeface="Arial"/>
              <a:buChar char="•"/>
            </a:pPr>
            <a:r>
              <a:rPr lang="sk-SK" dirty="0" err="1"/>
              <a:t>awk</a:t>
            </a:r>
            <a:r>
              <a:rPr lang="sk-SK" dirty="0"/>
              <a:t>  '/</a:t>
            </a:r>
            <a:r>
              <a:rPr lang="sk-SK" dirty="0" err="1"/>
              <a:t>jozef</a:t>
            </a:r>
            <a:r>
              <a:rPr lang="sk-SK" dirty="0"/>
              <a:t>/'</a:t>
            </a:r>
            <a:r>
              <a:rPr lang="en-US" dirty="0"/>
              <a:t> osoby.txt</a:t>
            </a:r>
            <a:endParaRPr lang="sk-SK" dirty="0">
              <a:ea typeface="Calibri"/>
              <a:cs typeface="Calibri"/>
            </a:endParaRPr>
          </a:p>
          <a:p>
            <a:pPr marL="514350" indent="-514350">
              <a:buFont typeface="Arial"/>
              <a:buChar char="•"/>
            </a:pPr>
            <a:r>
              <a:rPr lang="sk-SK" dirty="0" err="1"/>
              <a:t>awk</a:t>
            </a:r>
            <a:r>
              <a:rPr lang="sk-SK" dirty="0"/>
              <a:t>  '/</a:t>
            </a:r>
            <a:r>
              <a:rPr lang="sk-SK" dirty="0" err="1"/>
              <a:t>an</a:t>
            </a:r>
            <a:r>
              <a:rPr lang="sk-SK" dirty="0"/>
              <a:t>/'</a:t>
            </a:r>
            <a:r>
              <a:rPr lang="en-US" dirty="0"/>
              <a:t> osoby.txt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buFont typeface="Arial"/>
              <a:buChar char="•"/>
            </a:pPr>
            <a:r>
              <a:rPr lang="sk-SK" dirty="0" err="1"/>
              <a:t>awk</a:t>
            </a:r>
            <a:r>
              <a:rPr lang="sk-SK" dirty="0"/>
              <a:t> '/ </a:t>
            </a:r>
            <a:r>
              <a:rPr lang="sk-SK" dirty="0" err="1"/>
              <a:t>an</a:t>
            </a:r>
            <a:r>
              <a:rPr lang="sk-SK" dirty="0"/>
              <a:t>/' </a:t>
            </a:r>
            <a:r>
              <a:rPr lang="sk-SK" dirty="0" err="1"/>
              <a:t>osoby.txt</a:t>
            </a:r>
            <a:endParaRPr lang="sk-SK" dirty="0"/>
          </a:p>
          <a:p>
            <a:pPr marL="514350" indent="-514350">
              <a:buFont typeface="Arial"/>
              <a:buChar char="•"/>
            </a:pPr>
            <a:r>
              <a:rPr lang="sk-SK" dirty="0" err="1"/>
              <a:t>awk</a:t>
            </a:r>
            <a:r>
              <a:rPr lang="sk-SK" dirty="0"/>
              <a:t> '/na\&gt;/' </a:t>
            </a:r>
            <a:r>
              <a:rPr lang="sk-SK" dirty="0" err="1"/>
              <a:t>osoby.txt</a:t>
            </a:r>
            <a:endParaRPr lang="sk-SK" dirty="0"/>
          </a:p>
          <a:p>
            <a:pPr marL="514350" indent="-514350">
              <a:buFont typeface="Arial"/>
              <a:buChar char="•"/>
            </a:pPr>
            <a:endParaRPr lang="en-US" dirty="0">
              <a:sym typeface="Arial"/>
            </a:endParaRPr>
          </a:p>
          <a:p>
            <a:pPr marL="0" indent="0">
              <a:buNone/>
            </a:pPr>
            <a:r>
              <a:rPr lang="en-US" dirty="0">
                <a:sym typeface="Arial"/>
              </a:rPr>
              <a:t>option to identify separator </a:t>
            </a:r>
            <a:r>
              <a:rPr lang="en-US" dirty="0">
                <a:sym typeface="courier new"/>
              </a:rPr>
              <a:t>–F</a:t>
            </a:r>
            <a:endParaRPr lang="sk-SK" dirty="0">
              <a:ea typeface="Calibri"/>
              <a:cs typeface="Calibri"/>
            </a:endParaRPr>
          </a:p>
          <a:p>
            <a:pPr marL="514350" marR="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ym typeface="courier new"/>
              </a:rPr>
              <a:t>awk -F: '/student/{print $1,$6}' /</a:t>
            </a:r>
            <a:r>
              <a:rPr lang="en-US" dirty="0" err="1">
                <a:sym typeface="courier new"/>
              </a:rPr>
              <a:t>etc</a:t>
            </a:r>
            <a:r>
              <a:rPr lang="en-US" dirty="0">
                <a:sym typeface="courier new"/>
              </a:rPr>
              <a:t>/passwd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spcBef>
                <a:spcPts val="0"/>
              </a:spcBef>
              <a:buClr>
                <a:srgbClr val="666666"/>
              </a:buClr>
              <a:buSzPct val="168350"/>
            </a:pPr>
            <a:r>
              <a:rPr lang="en-US" dirty="0" err="1">
                <a:ea typeface="+mn-lt"/>
                <a:cs typeface="+mn-lt"/>
              </a:rPr>
              <a:t>ps</a:t>
            </a:r>
            <a:r>
              <a:rPr lang="en-US" dirty="0">
                <a:ea typeface="+mn-lt"/>
                <a:cs typeface="+mn-lt"/>
              </a:rPr>
              <a:t> aux |awk  '{print $1,$2}'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V</a:t>
            </a:r>
            <a:r>
              <a:rPr lang="sk-SK" dirty="0" err="1"/>
              <a:t>ýpis</a:t>
            </a:r>
            <a:r>
              <a:rPr lang="sk-SK" dirty="0"/>
              <a:t> vybraných stĺpcov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awk</a:t>
            </a:r>
            <a:r>
              <a:rPr lang="sk-SK" dirty="0"/>
              <a:t>  '</a:t>
            </a:r>
            <a:r>
              <a:rPr lang="en-US" dirty="0"/>
              <a:t>{print</a:t>
            </a:r>
            <a:r>
              <a:rPr lang="sk-SK" dirty="0"/>
              <a:t> </a:t>
            </a:r>
            <a:r>
              <a:rPr lang="en-US" dirty="0"/>
              <a:t>$2;}' osoby.txt	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awk</a:t>
            </a:r>
            <a:r>
              <a:rPr lang="sk-SK" dirty="0"/>
              <a:t>  '</a:t>
            </a:r>
            <a:r>
              <a:rPr lang="en-US" dirty="0"/>
              <a:t>{print</a:t>
            </a:r>
            <a:r>
              <a:rPr lang="sk-SK" dirty="0"/>
              <a:t> </a:t>
            </a:r>
            <a:r>
              <a:rPr lang="en-US" dirty="0"/>
              <a:t>$2 , $4 ;}' osoby.txt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awk</a:t>
            </a:r>
            <a:r>
              <a:rPr lang="sk-SK" dirty="0"/>
              <a:t>  '</a:t>
            </a:r>
            <a:r>
              <a:rPr lang="en-US" dirty="0"/>
              <a:t>{print</a:t>
            </a:r>
            <a:r>
              <a:rPr lang="sk-SK" dirty="0"/>
              <a:t> </a:t>
            </a:r>
            <a:r>
              <a:rPr lang="en-US" dirty="0"/>
              <a:t>$2 , $NF ;}' </a:t>
            </a:r>
            <a:r>
              <a:rPr lang="en-US" dirty="0" err="1"/>
              <a:t>osoby.txt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awk</a:t>
            </a:r>
            <a:r>
              <a:rPr lang="sk-SK" dirty="0"/>
              <a:t> '{</a:t>
            </a:r>
            <a:r>
              <a:rPr lang="sk-SK" dirty="0" err="1"/>
              <a:t>print</a:t>
            </a:r>
            <a:r>
              <a:rPr lang="sk-SK" dirty="0"/>
              <a:t> NR “ - " </a:t>
            </a:r>
            <a:r>
              <a:rPr lang="sk-SK" dirty="0" err="1"/>
              <a:t>toupper</a:t>
            </a:r>
            <a:r>
              <a:rPr lang="sk-SK"/>
              <a:t>($2) </a:t>
            </a:r>
            <a:r>
              <a:rPr lang="sk-SK" dirty="0"/>
              <a:t>}' </a:t>
            </a:r>
            <a:r>
              <a:rPr lang="sk-SK" dirty="0" err="1"/>
              <a:t>osoby.txt</a:t>
            </a:r>
            <a:endParaRPr lang="sk-SK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sk-SK" dirty="0" err="1"/>
              <a:t>variable</a:t>
            </a:r>
            <a:r>
              <a:rPr lang="sk-SK" dirty="0"/>
              <a:t> (</a:t>
            </a:r>
            <a:r>
              <a:rPr lang="sk-SK" b="1" dirty="0"/>
              <a:t>NF)</a:t>
            </a:r>
            <a:r>
              <a:rPr lang="sk-SK" dirty="0"/>
              <a:t> </a:t>
            </a:r>
            <a:r>
              <a:rPr lang="sk-SK" dirty="0" err="1"/>
              <a:t>is</a:t>
            </a:r>
            <a:r>
              <a:rPr lang="sk-SK" dirty="0"/>
              <a:t> set to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total</a:t>
            </a:r>
            <a:r>
              <a:rPr lang="sk-SK" dirty="0"/>
              <a:t> </a:t>
            </a:r>
            <a:r>
              <a:rPr lang="sk-SK" dirty="0" err="1"/>
              <a:t>number</a:t>
            </a:r>
            <a:r>
              <a:rPr lang="sk-SK" dirty="0"/>
              <a:t> of </a:t>
            </a:r>
            <a:r>
              <a:rPr lang="sk-SK" dirty="0" err="1"/>
              <a:t>fields</a:t>
            </a:r>
            <a:r>
              <a:rPr lang="sk-SK" dirty="0"/>
              <a:t> in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input</a:t>
            </a:r>
            <a:r>
              <a:rPr lang="sk-SK" dirty="0"/>
              <a:t> </a:t>
            </a:r>
            <a:r>
              <a:rPr lang="sk-SK" dirty="0" err="1"/>
              <a:t>record</a:t>
            </a:r>
            <a:r>
              <a:rPr lang="sk-SK" dirty="0"/>
              <a:t>, </a:t>
            </a:r>
            <a:r>
              <a:rPr lang="sk-SK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row</a:t>
            </a:r>
            <a:r>
              <a:rPr lang="sk-SK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 </a:t>
            </a:r>
            <a:r>
              <a:rPr lang="sk-SK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number</a:t>
            </a:r>
            <a:r>
              <a:rPr lang="sk-SK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(NR)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sk-SK" dirty="0"/>
          </a:p>
          <a:p>
            <a:pPr marL="514350" indent="-514350">
              <a:buFont typeface="+mj-lt"/>
              <a:buAutoNum type="arabicPeriod"/>
            </a:pPr>
            <a:endParaRPr lang="sk-SK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3</a:t>
            </a:r>
            <a:r>
              <a:rPr lang="en-US" dirty="0"/>
              <a:t>. V</a:t>
            </a:r>
            <a:r>
              <a:rPr lang="sk-SK" dirty="0" err="1"/>
              <a:t>ýpis</a:t>
            </a:r>
            <a:r>
              <a:rPr lang="sk-SK" dirty="0"/>
              <a:t> s hlavičkou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3801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514350" indent="-514350">
              <a:buNone/>
            </a:pPr>
            <a:r>
              <a:rPr lang="en-US" b="1" dirty="0"/>
              <a:t>Z</a:t>
            </a:r>
            <a:r>
              <a:rPr lang="sk-SK" b="1" dirty="0" err="1"/>
              <a:t>ápis</a:t>
            </a:r>
            <a:r>
              <a:rPr lang="sk-SK" b="1" dirty="0"/>
              <a:t> je nutné spraviť do jedného riadku</a:t>
            </a:r>
            <a:r>
              <a:rPr lang="en-US" b="1" dirty="0"/>
              <a:t> </a:t>
            </a:r>
            <a:r>
              <a:rPr lang="en-US" b="1" dirty="0" err="1"/>
              <a:t>alebo</a:t>
            </a:r>
            <a:r>
              <a:rPr lang="en-US" b="1" dirty="0"/>
              <a:t> </a:t>
            </a:r>
            <a:r>
              <a:rPr lang="en-US" b="1" dirty="0" err="1"/>
              <a:t>rozdeliť</a:t>
            </a:r>
            <a:r>
              <a:rPr lang="en-US" b="1" dirty="0"/>
              <a:t> "\"!!!</a:t>
            </a:r>
            <a:endParaRPr lang="sk-SK" b="1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r>
              <a:rPr lang="sk-SK" dirty="0" err="1"/>
              <a:t>awk</a:t>
            </a:r>
            <a:r>
              <a:rPr lang="sk-SK" dirty="0"/>
              <a:t>  '</a:t>
            </a:r>
            <a:r>
              <a:rPr lang="en-US" dirty="0"/>
              <a:t>BEGIN  {print “Meno\</a:t>
            </a:r>
            <a:r>
              <a:rPr lang="en-US" dirty="0" err="1"/>
              <a:t>tVek</a:t>
            </a:r>
            <a:r>
              <a:rPr lang="en-US" dirty="0"/>
              <a:t>”;} </a:t>
            </a:r>
          </a:p>
          <a:p>
            <a:pPr marL="514350" indent="-514350">
              <a:buNone/>
            </a:pPr>
            <a:r>
              <a:rPr lang="en-US" dirty="0"/>
              <a:t>{print</a:t>
            </a:r>
            <a:r>
              <a:rPr lang="sk-SK" dirty="0"/>
              <a:t> </a:t>
            </a:r>
            <a:r>
              <a:rPr lang="en-US" dirty="0"/>
              <a:t>$2 ,”\t”, $4 ;}</a:t>
            </a:r>
          </a:p>
          <a:p>
            <a:pPr marL="514350" indent="-514350">
              <a:buNone/>
            </a:pPr>
            <a:r>
              <a:rPr lang="en-US" dirty="0"/>
              <a:t>END {};'</a:t>
            </a:r>
            <a:endParaRPr lang="en-US" dirty="0">
              <a:ea typeface="Calibri"/>
              <a:cs typeface="Calibri"/>
            </a:endParaRPr>
          </a:p>
          <a:p>
            <a:pPr marL="514350" indent="-514350">
              <a:buNone/>
            </a:pPr>
            <a:r>
              <a:rPr lang="en-US" dirty="0"/>
              <a:t>osoby.txt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sk-SK" dirty="0"/>
          </a:p>
          <a:p>
            <a:pPr marL="514350" indent="-514350">
              <a:buNone/>
            </a:pPr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A4E9F-D4B4-93B6-C84C-211F7E6796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7" t="7547" r="22430" b="49596"/>
          <a:stretch/>
        </p:blipFill>
        <p:spPr>
          <a:xfrm>
            <a:off x="503846" y="3798192"/>
            <a:ext cx="8132751" cy="28198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sk-SK" dirty="0"/>
              <a:t>Výber osôb podľa veku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/>
              <a:t>V</a:t>
            </a:r>
            <a:r>
              <a:rPr lang="sk-SK" b="1" dirty="0" err="1"/>
              <a:t>ýber</a:t>
            </a:r>
            <a:r>
              <a:rPr lang="sk-SK" b="1" dirty="0"/>
              <a:t> osôb starších a mladších ako 2</a:t>
            </a:r>
            <a:r>
              <a:rPr lang="en-US" b="1" dirty="0"/>
              <a:t>3</a:t>
            </a:r>
            <a:r>
              <a:rPr lang="sk-SK" b="1" dirty="0"/>
              <a:t> rokov</a:t>
            </a:r>
          </a:p>
          <a:p>
            <a:pPr>
              <a:buNone/>
            </a:pPr>
            <a:endParaRPr lang="sk-SK" dirty="0"/>
          </a:p>
          <a:p>
            <a:pPr>
              <a:buNone/>
            </a:pPr>
            <a:r>
              <a:rPr lang="en-US" dirty="0"/>
              <a:t>a</a:t>
            </a:r>
            <a:r>
              <a:rPr lang="sk-SK" dirty="0" err="1"/>
              <a:t>wk</a:t>
            </a:r>
            <a:r>
              <a:rPr lang="sk-SK" dirty="0"/>
              <a:t> '</a:t>
            </a:r>
            <a:r>
              <a:rPr lang="en-US" dirty="0"/>
              <a:t>$4&gt;2</a:t>
            </a:r>
            <a:r>
              <a:rPr lang="sk-SK" dirty="0"/>
              <a:t>3'</a:t>
            </a:r>
            <a:r>
              <a:rPr lang="en-US" dirty="0"/>
              <a:t> osoby.txt</a:t>
            </a:r>
            <a:endParaRPr lang="sk-SK" dirty="0"/>
          </a:p>
          <a:p>
            <a:pPr>
              <a:buNone/>
            </a:pPr>
            <a:r>
              <a:rPr lang="en-US" dirty="0"/>
              <a:t>a</a:t>
            </a:r>
            <a:r>
              <a:rPr lang="sk-SK" dirty="0" err="1"/>
              <a:t>wk</a:t>
            </a:r>
            <a:r>
              <a:rPr lang="sk-SK" dirty="0"/>
              <a:t> '</a:t>
            </a:r>
            <a:r>
              <a:rPr lang="en-US" dirty="0"/>
              <a:t>$4&lt;2</a:t>
            </a:r>
            <a:r>
              <a:rPr lang="sk-SK" dirty="0"/>
              <a:t>3'</a:t>
            </a:r>
            <a:r>
              <a:rPr lang="en-US" dirty="0"/>
              <a:t> osoby.txt</a:t>
            </a:r>
            <a:endParaRPr lang="sk-SK" dirty="0"/>
          </a:p>
          <a:p>
            <a:endParaRPr lang="sk-SK" dirty="0"/>
          </a:p>
          <a:p>
            <a:endParaRPr lang="sk-SK" dirty="0"/>
          </a:p>
          <a:p>
            <a:r>
              <a:rPr lang="en-US" b="1" dirty="0"/>
              <a:t>V</a:t>
            </a:r>
            <a:r>
              <a:rPr lang="sk-SK" b="1" dirty="0" err="1"/>
              <a:t>ýber</a:t>
            </a:r>
            <a:r>
              <a:rPr lang="sk-SK" b="1" dirty="0"/>
              <a:t> osôb, ktoré majú 23 rokov</a:t>
            </a:r>
          </a:p>
          <a:p>
            <a:pPr>
              <a:buNone/>
            </a:pPr>
            <a:r>
              <a:rPr lang="en-US" dirty="0"/>
              <a:t>a</a:t>
            </a:r>
            <a:r>
              <a:rPr lang="sk-SK" dirty="0" err="1"/>
              <a:t>wk</a:t>
            </a:r>
            <a:r>
              <a:rPr lang="sk-SK" dirty="0"/>
              <a:t> '</a:t>
            </a:r>
            <a:r>
              <a:rPr lang="en-US" dirty="0"/>
              <a:t>$4==23' osoby.txt</a:t>
            </a:r>
          </a:p>
          <a:p>
            <a:endParaRPr lang="sk-SK" dirty="0"/>
          </a:p>
          <a:p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18881-0FBC-DB62-D4FA-D6218A551F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4" t="8625" r="31357" b="70889"/>
          <a:stretch/>
        </p:blipFill>
        <p:spPr>
          <a:xfrm>
            <a:off x="534112" y="3664308"/>
            <a:ext cx="6634627" cy="1239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6</a:t>
            </a:r>
            <a:r>
              <a:rPr lang="en-US" dirty="0"/>
              <a:t>. </a:t>
            </a:r>
            <a:r>
              <a:rPr lang="sk-SK" dirty="0"/>
              <a:t>Výber osôb podľa </a:t>
            </a:r>
            <a:r>
              <a:rPr lang="en-US" dirty="0" err="1"/>
              <a:t>pohlav</a:t>
            </a:r>
            <a:r>
              <a:rPr lang="sk-SK" dirty="0"/>
              <a:t>i</a:t>
            </a:r>
            <a:r>
              <a:rPr lang="en-US" dirty="0"/>
              <a:t>a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V</a:t>
            </a:r>
            <a:r>
              <a:rPr lang="sk-SK" b="1" dirty="0" err="1"/>
              <a:t>ýber</a:t>
            </a:r>
            <a:r>
              <a:rPr lang="sk-SK" b="1" dirty="0"/>
              <a:t> </a:t>
            </a:r>
            <a:r>
              <a:rPr lang="en-US" b="1" dirty="0"/>
              <a:t>mu</a:t>
            </a:r>
            <a:r>
              <a:rPr lang="sk-SK" b="1" dirty="0" err="1"/>
              <a:t>žov</a:t>
            </a:r>
            <a:r>
              <a:rPr lang="sk-SK" b="1" dirty="0"/>
              <a:t> </a:t>
            </a:r>
          </a:p>
          <a:p>
            <a:r>
              <a:rPr lang="en-US" dirty="0">
                <a:ea typeface="+mn-lt"/>
                <a:cs typeface="+mn-lt"/>
              </a:rPr>
              <a:t>awk '$3 == "m"' </a:t>
            </a:r>
            <a:r>
              <a:rPr lang="en-US" dirty="0" err="1">
                <a:ea typeface="+mn-lt"/>
                <a:cs typeface="+mn-lt"/>
              </a:rPr>
              <a:t>osoby.txt</a:t>
            </a:r>
            <a:endParaRPr lang="en-US" dirty="0">
              <a:ea typeface="Calibri"/>
              <a:cs typeface="Calibri"/>
            </a:endParaRPr>
          </a:p>
          <a:p>
            <a:endParaRPr lang="sk-SK" dirty="0"/>
          </a:p>
          <a:p>
            <a:endParaRPr lang="sk-SK" dirty="0"/>
          </a:p>
          <a:p>
            <a:endParaRPr lang="en-US" b="1" dirty="0"/>
          </a:p>
          <a:p>
            <a:r>
              <a:rPr lang="en-US" b="1" dirty="0"/>
              <a:t>V</a:t>
            </a:r>
            <a:r>
              <a:rPr lang="sk-SK" b="1" dirty="0" err="1"/>
              <a:t>ýber</a:t>
            </a:r>
            <a:r>
              <a:rPr lang="sk-SK" b="1" dirty="0"/>
              <a:t> žien</a:t>
            </a:r>
          </a:p>
          <a:p>
            <a:r>
              <a:rPr lang="en-US" dirty="0">
                <a:ea typeface="+mn-lt"/>
                <a:cs typeface="+mn-lt"/>
              </a:rPr>
              <a:t>awk '$3 == "z"' </a:t>
            </a:r>
            <a:r>
              <a:rPr lang="en-US" dirty="0" err="1">
                <a:ea typeface="+mn-lt"/>
                <a:cs typeface="+mn-lt"/>
              </a:rPr>
              <a:t>osoby.txt</a:t>
            </a:r>
            <a:endParaRPr lang="en-US" dirty="0">
              <a:ea typeface="Calibri"/>
              <a:cs typeface="Calibri"/>
            </a:endParaRPr>
          </a:p>
          <a:p>
            <a:endParaRPr lang="sk-SK" dirty="0"/>
          </a:p>
          <a:p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D650D-2FAA-B20F-298C-0AD0F1DDCE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2" t="7547" r="23832" b="69754"/>
          <a:stretch/>
        </p:blipFill>
        <p:spPr>
          <a:xfrm>
            <a:off x="576842" y="2831092"/>
            <a:ext cx="7470453" cy="13829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7. </a:t>
            </a:r>
            <a:r>
              <a:rPr lang="sk-SK" dirty="0"/>
              <a:t>Zistenie sumy rokov a </a:t>
            </a:r>
            <a:r>
              <a:rPr lang="en-US" dirty="0" err="1"/>
              <a:t>po</a:t>
            </a:r>
            <a:r>
              <a:rPr lang="sk-SK" dirty="0" err="1"/>
              <a:t>čtu</a:t>
            </a:r>
            <a:r>
              <a:rPr lang="sk-SK" dirty="0"/>
              <a:t> osôb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awk '{ </a:t>
            </a:r>
            <a:r>
              <a:rPr lang="en-US" dirty="0" err="1">
                <a:ea typeface="Calibri"/>
                <a:cs typeface="Calibri"/>
              </a:rPr>
              <a:t>suma</a:t>
            </a:r>
            <a:r>
              <a:rPr lang="en-US" dirty="0">
                <a:ea typeface="Calibri"/>
                <a:cs typeface="Calibri"/>
              </a:rPr>
              <a:t> += $4; 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+=1;} END {print "Suma:", </a:t>
            </a:r>
            <a:r>
              <a:rPr lang="en-US" dirty="0" err="1">
                <a:ea typeface="Calibri"/>
                <a:cs typeface="Calibri"/>
              </a:rPr>
              <a:t>suma</a:t>
            </a:r>
            <a:r>
              <a:rPr lang="en-US" dirty="0">
                <a:ea typeface="Calibri"/>
                <a:cs typeface="Calibri"/>
              </a:rPr>
              <a:t>, "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:", 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;}' </a:t>
            </a:r>
            <a:r>
              <a:rPr lang="en-US" dirty="0" err="1">
                <a:ea typeface="Calibri"/>
                <a:cs typeface="Calibri"/>
              </a:rPr>
              <a:t>osoby.txt</a:t>
            </a:r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44EEF8-542E-22F4-33CD-524CF4C827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61" t="5930" r="4673" b="71429"/>
          <a:stretch/>
        </p:blipFill>
        <p:spPr>
          <a:xfrm>
            <a:off x="-78336" y="3528999"/>
            <a:ext cx="9407504" cy="1352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8. </a:t>
            </a:r>
            <a:r>
              <a:rPr lang="sk-SK" dirty="0"/>
              <a:t>Výpočet vekového priemeru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awk '{</a:t>
            </a:r>
            <a:r>
              <a:rPr lang="en-US" dirty="0" err="1">
                <a:ea typeface="Calibri"/>
                <a:cs typeface="Calibri"/>
              </a:rPr>
              <a:t>suma</a:t>
            </a:r>
            <a:r>
              <a:rPr lang="en-US" dirty="0">
                <a:ea typeface="Calibri"/>
                <a:cs typeface="Calibri"/>
              </a:rPr>
              <a:t> += $4; 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 += 1;} END { print "Suma:", </a:t>
            </a:r>
            <a:r>
              <a:rPr lang="en-US" dirty="0" err="1">
                <a:ea typeface="Calibri"/>
                <a:cs typeface="Calibri"/>
              </a:rPr>
              <a:t>suma</a:t>
            </a:r>
            <a:r>
              <a:rPr lang="en-US" dirty="0">
                <a:ea typeface="Calibri"/>
                <a:cs typeface="Calibri"/>
              </a:rPr>
              <a:t>, "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:", 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, "Priemer:",</a:t>
            </a:r>
            <a:r>
              <a:rPr lang="en-US" dirty="0" err="1">
                <a:ea typeface="Calibri"/>
                <a:cs typeface="Calibri"/>
              </a:rPr>
              <a:t>suma</a:t>
            </a:r>
            <a:r>
              <a:rPr lang="en-US" dirty="0">
                <a:ea typeface="Calibri"/>
                <a:cs typeface="Calibri"/>
              </a:rPr>
              <a:t>/</a:t>
            </a:r>
            <a:r>
              <a:rPr lang="en-US" dirty="0" err="1">
                <a:ea typeface="Calibri"/>
                <a:cs typeface="Calibri"/>
              </a:rPr>
              <a:t>pocet</a:t>
            </a:r>
            <a:r>
              <a:rPr lang="en-US" dirty="0">
                <a:ea typeface="Calibri"/>
                <a:cs typeface="Calibri"/>
              </a:rPr>
              <a:t>;}' </a:t>
            </a:r>
            <a:r>
              <a:rPr lang="en-US" dirty="0" err="1">
                <a:ea typeface="Calibri"/>
                <a:cs typeface="Calibri"/>
              </a:rPr>
              <a:t>osoby.txt</a:t>
            </a:r>
            <a:endParaRPr lang="sk-S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470BF-9055-CDD0-C9F1-85F61AF683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3" t="5930" r="4984" b="71429"/>
          <a:stretch/>
        </p:blipFill>
        <p:spPr>
          <a:xfrm>
            <a:off x="0" y="3970531"/>
            <a:ext cx="9186736" cy="12959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1535107" y="307958"/>
            <a:ext cx="7309147" cy="840105"/>
          </a:xfrm>
          <a:prstGeom prst="rect">
            <a:avLst/>
          </a:prstGeom>
        </p:spPr>
        <p:txBody>
          <a:bodyPr lIns="34290" tIns="34290" rIns="34290" bIns="34290" anchor="b" anchorCtr="0">
            <a:noAutofit/>
          </a:bodyPr>
          <a:lstStyle/>
          <a:p>
            <a:pPr algn="l">
              <a:lnSpc>
                <a:spcPct val="120139"/>
              </a:lnSpc>
              <a:spcBef>
                <a:spcPts val="0"/>
              </a:spcBef>
            </a:pPr>
            <a:r>
              <a:rPr lang="en-US" sz="36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Text Sorting I.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467544" y="1458900"/>
            <a:ext cx="8376712" cy="5016803"/>
          </a:xfrm>
          <a:prstGeom prst="rect">
            <a:avLst/>
          </a:prstGeom>
        </p:spPr>
        <p:txBody>
          <a:bodyPr lIns="34290" tIns="34290" rIns="34290" bIns="34290" anchor="t" anchorCtr="0">
            <a:noAutofit/>
          </a:bodyPr>
          <a:lstStyle/>
          <a:p>
            <a:pPr marL="342900" indent="-236219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lang="en-US" sz="30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sort lines of text files</a:t>
            </a:r>
          </a:p>
          <a:p>
            <a:pPr marL="342900" indent="-236219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0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swithes</a:t>
            </a:r>
            <a:endParaRPr lang="en-US" sz="30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-f, --ignore-case</a:t>
            </a: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-n, --numeric-sort</a:t>
            </a: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-r, --reverse </a:t>
            </a: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-k, --key=POS1[,POS2]</a:t>
            </a:r>
            <a:r>
              <a:rPr lang="en-US" sz="3000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 - start a key at POS1, end it at POS2 (origin 1)</a:t>
            </a: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-o, --output=FILE </a:t>
            </a: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-t, --field-separator=SEP</a:t>
            </a:r>
          </a:p>
          <a:p>
            <a:pPr marL="685800" lvl="1" indent="-236219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-R, --random-sort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 idx="4294967295"/>
          </p:nvPr>
        </p:nvSpPr>
        <p:spPr>
          <a:xfrm>
            <a:off x="1835150" y="307975"/>
            <a:ext cx="3577187" cy="839788"/>
          </a:xfrm>
          <a:prstGeom prst="rect">
            <a:avLst/>
          </a:prstGeom>
        </p:spPr>
        <p:txBody>
          <a:bodyPr lIns="34290" tIns="34290" rIns="34290" bIns="34290" anchor="b" anchorCtr="0">
            <a:noAutofit/>
          </a:bodyPr>
          <a:lstStyle/>
          <a:p>
            <a:pPr algn="l">
              <a:lnSpc>
                <a:spcPct val="120139"/>
              </a:lnSpc>
              <a:spcBef>
                <a:spcPts val="0"/>
              </a:spcBef>
            </a:pPr>
            <a:r>
              <a:rPr lang="en-US" sz="36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Text Sorting II.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395536" y="1412776"/>
            <a:ext cx="8448720" cy="5016803"/>
          </a:xfrm>
          <a:prstGeom prst="rect">
            <a:avLst/>
          </a:prstGeom>
        </p:spPr>
        <p:txBody>
          <a:bodyPr lIns="34290" tIns="34290" rIns="34290" bIns="34290" anchor="t" anchorCtr="0">
            <a:noAutofit/>
          </a:bodyPr>
          <a:lstStyle/>
          <a:p>
            <a:r>
              <a:rPr lang="sk-SK" sz="2150" b="1" dirty="0">
                <a:solidFill>
                  <a:srgbClr val="666666"/>
                </a:solidFill>
                <a:latin typeface="Courier New"/>
                <a:cs typeface="Courier New"/>
              </a:rPr>
              <a:t>$ </a:t>
            </a:r>
            <a:r>
              <a:rPr lang="sk-SK" sz="2150" b="1" dirty="0" err="1">
                <a:solidFill>
                  <a:srgbClr val="666666"/>
                </a:solidFill>
                <a:latin typeface="Courier New"/>
                <a:cs typeface="Courier New"/>
              </a:rPr>
              <a:t>cat</a:t>
            </a:r>
            <a:r>
              <a:rPr lang="sk-SK" sz="2150" b="1" dirty="0">
                <a:solidFill>
                  <a:srgbClr val="666666"/>
                </a:solidFill>
                <a:latin typeface="Courier New"/>
                <a:cs typeface="Courier New"/>
              </a:rPr>
              <a:t> osoby.txt | sort -k 4</a:t>
            </a:r>
            <a:endParaRPr lang="sk-SK" sz="21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sk-SK" dirty="0"/>
              <a:t>1 </a:t>
            </a:r>
            <a:r>
              <a:rPr lang="sk-SK" dirty="0" err="1"/>
              <a:t>jozef</a:t>
            </a:r>
            <a:r>
              <a:rPr lang="sk-SK" dirty="0"/>
              <a:t> m 18</a:t>
            </a:r>
          </a:p>
          <a:p>
            <a:r>
              <a:rPr lang="sk-SK" dirty="0"/>
              <a:t>2 </a:t>
            </a:r>
            <a:r>
              <a:rPr lang="sk-SK" dirty="0" err="1"/>
              <a:t>peter</a:t>
            </a:r>
            <a:r>
              <a:rPr lang="sk-SK" dirty="0"/>
              <a:t> m 22</a:t>
            </a:r>
          </a:p>
          <a:p>
            <a:r>
              <a:rPr lang="sk-SK" dirty="0"/>
              <a:t>5 </a:t>
            </a:r>
            <a:r>
              <a:rPr lang="sk-SK" dirty="0" err="1"/>
              <a:t>jana</a:t>
            </a:r>
            <a:r>
              <a:rPr lang="sk-SK" dirty="0"/>
              <a:t> z 23</a:t>
            </a:r>
          </a:p>
          <a:p>
            <a:r>
              <a:rPr lang="sk-SK" dirty="0"/>
              <a:t>4 </a:t>
            </a:r>
            <a:r>
              <a:rPr lang="sk-SK" dirty="0" err="1"/>
              <a:t>anna</a:t>
            </a:r>
            <a:r>
              <a:rPr lang="sk-SK" dirty="0"/>
              <a:t> z 39</a:t>
            </a:r>
          </a:p>
          <a:p>
            <a:r>
              <a:rPr lang="sk-SK" dirty="0"/>
              <a:t>3 </a:t>
            </a:r>
            <a:r>
              <a:rPr lang="sk-SK" dirty="0" err="1"/>
              <a:t>ivan</a:t>
            </a:r>
            <a:r>
              <a:rPr lang="sk-SK" dirty="0"/>
              <a:t> m 51</a:t>
            </a:r>
          </a:p>
          <a:p>
            <a:endParaRPr lang="sk-SK" sz="2160" b="1" dirty="0">
              <a:solidFill>
                <a:srgbClr val="666666"/>
              </a:solidFill>
              <a:latin typeface="Courier New"/>
              <a:cs typeface="Courier New"/>
            </a:endParaRPr>
          </a:p>
          <a:p>
            <a:r>
              <a:rPr lang="sk-SK" sz="2150" b="1" dirty="0" err="1">
                <a:solidFill>
                  <a:srgbClr val="666666"/>
                </a:solidFill>
                <a:latin typeface="Courier New"/>
                <a:cs typeface="Courier New"/>
              </a:rPr>
              <a:t>awk</a:t>
            </a:r>
            <a:r>
              <a:rPr lang="sk-SK" sz="2150" b="1" dirty="0">
                <a:solidFill>
                  <a:srgbClr val="666666"/>
                </a:solidFill>
                <a:latin typeface="Courier New"/>
                <a:cs typeface="Courier New"/>
              </a:rPr>
              <a:t> '{</a:t>
            </a:r>
            <a:r>
              <a:rPr lang="sk-SK" sz="2150" b="1" dirty="0" err="1">
                <a:solidFill>
                  <a:srgbClr val="666666"/>
                </a:solidFill>
                <a:latin typeface="Courier New"/>
                <a:cs typeface="Courier New"/>
              </a:rPr>
              <a:t>print</a:t>
            </a:r>
            <a:r>
              <a:rPr lang="sk-SK" sz="2150" b="1" dirty="0">
                <a:solidFill>
                  <a:srgbClr val="666666"/>
                </a:solidFill>
                <a:latin typeface="Courier New"/>
                <a:cs typeface="Courier New"/>
              </a:rPr>
              <a:t>;}' osoby.txt | sort –k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DD46B4-3957-5C3D-8A4F-CC5D5511B6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31" t="7189" r="18380" b="62803"/>
          <a:stretch/>
        </p:blipFill>
        <p:spPr>
          <a:xfrm>
            <a:off x="14243" y="4060761"/>
            <a:ext cx="9108396" cy="210301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730</Words>
  <Application>Microsoft Macintosh PowerPoint</Application>
  <PresentationFormat>Prezentácia na obrazovke (4:3)</PresentationFormat>
  <Paragraphs>108</Paragraphs>
  <Slides>14</Slides>
  <Notes>5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Courier New</vt:lpstr>
      <vt:lpstr>Nunito</vt:lpstr>
      <vt:lpstr>Trebuchet MS</vt:lpstr>
      <vt:lpstr>Motív Office</vt:lpstr>
      <vt:lpstr>AWK a príklady na použitie</vt:lpstr>
      <vt:lpstr>Načo slúži AWK</vt:lpstr>
      <vt:lpstr>Text Processing with awk I.</vt:lpstr>
      <vt:lpstr>Vzorový súbor – osoby.txt</vt:lpstr>
      <vt:lpstr>1. Výpis celého súbor bez podmienok</vt:lpstr>
      <vt:lpstr>2. Výpis s filtráciou mena</vt:lpstr>
      <vt:lpstr>4. Výpis vybraných stĺpcov</vt:lpstr>
      <vt:lpstr>3. Výpis s hlavičkou</vt:lpstr>
      <vt:lpstr>5. Výber osôb podľa veku</vt:lpstr>
      <vt:lpstr>6. Výber osôb podľa pohlavia</vt:lpstr>
      <vt:lpstr>7. Zistenie sumy rokov a počtu osôb</vt:lpstr>
      <vt:lpstr>8. Výpočet vekového priemeru</vt:lpstr>
      <vt:lpstr>Text Sorting I.</vt:lpstr>
      <vt:lpstr>Text Sorting II.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AWK a príklady na použitie</dc:title>
  <dc:creator>IT207aII</dc:creator>
  <cp:lastModifiedBy>Baráth, Július</cp:lastModifiedBy>
  <cp:revision>124</cp:revision>
  <dcterms:created xsi:type="dcterms:W3CDTF">2014-04-16T08:25:46Z</dcterms:created>
  <dcterms:modified xsi:type="dcterms:W3CDTF">2026-03-12T06:13:43Z</dcterms:modified>
</cp:coreProperties>
</file>