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3" r:id="rId47"/>
    <p:sldId id="304" r:id="rId48"/>
    <p:sldId id="305" r:id="rId49"/>
    <p:sldId id="302" r:id="rId50"/>
  </p:sldIdLst>
  <p:sldSz cx="10160000" cy="7620000"/>
  <p:notesSz cx="7620000" cy="10160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400">
          <p15:clr>
            <a:srgbClr val="A4A3A4"/>
          </p15:clr>
        </p15:guide>
        <p15:guide id="2" pos="32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C622CF-F19B-A54D-9E2D-F2583FEFDF8C}" v="2" dt="2026-02-26T12:08:12.468"/>
  </p1510:revLst>
</p1510:revInfo>
</file>

<file path=ppt/tableStyles.xml><?xml version="1.0" encoding="utf-8"?>
<a:tblStyleLst xmlns:a="http://schemas.openxmlformats.org/drawingml/2006/main" def="{1BE6E7EB-CF90-419B-88AA-14FC79CEE34F}">
  <a:tblStyle styleId="{1BE6E7EB-CF90-419B-88AA-14FC79CEE34F}" styleName="Table_0"/>
  <a:tblStyle styleId="{6EF152AD-34B9-447D-825A-957DBCF3A84C}" styleName="Table_1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51" autoAdjust="0"/>
    <p:restoredTop sz="96315" autoAdjust="0"/>
  </p:normalViewPr>
  <p:slideViewPr>
    <p:cSldViewPr snapToGrid="0">
      <p:cViewPr varScale="1">
        <p:scale>
          <a:sx n="112" d="100"/>
          <a:sy n="112" d="100"/>
        </p:scale>
        <p:origin x="208" y="1096"/>
      </p:cViewPr>
      <p:guideLst>
        <p:guide orient="horz" pos="2400"/>
        <p:guide pos="320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9" d="100"/>
        <a:sy n="8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áth, Július" userId="aebde9b9-dccc-4475-a9ac-c05e78323d7a" providerId="ADAL" clId="{4A0811C8-ED2F-505E-B787-C8270CED5046}"/>
    <pc:docChg chg="custSel modSld">
      <pc:chgData name="Baráth, Július" userId="aebde9b9-dccc-4475-a9ac-c05e78323d7a" providerId="ADAL" clId="{4A0811C8-ED2F-505E-B787-C8270CED5046}" dt="2026-02-26T12:09:00.649" v="83" actId="1076"/>
      <pc:docMkLst>
        <pc:docMk/>
      </pc:docMkLst>
      <pc:sldChg chg="modSp mod">
        <pc:chgData name="Baráth, Július" userId="aebde9b9-dccc-4475-a9ac-c05e78323d7a" providerId="ADAL" clId="{4A0811C8-ED2F-505E-B787-C8270CED5046}" dt="2026-02-26T11:41:06.315" v="26" actId="12"/>
        <pc:sldMkLst>
          <pc:docMk/>
          <pc:sldMk cId="0" sldId="269"/>
        </pc:sldMkLst>
        <pc:spChg chg="mod">
          <ac:chgData name="Baráth, Július" userId="aebde9b9-dccc-4475-a9ac-c05e78323d7a" providerId="ADAL" clId="{4A0811C8-ED2F-505E-B787-C8270CED5046}" dt="2026-02-26T11:41:06.315" v="26" actId="12"/>
          <ac:spMkLst>
            <pc:docMk/>
            <pc:sldMk cId="0" sldId="269"/>
            <ac:spMk id="110" creationId="{00000000-0000-0000-0000-000000000000}"/>
          </ac:spMkLst>
        </pc:spChg>
      </pc:sldChg>
      <pc:sldChg chg="addSp modSp mod">
        <pc:chgData name="Baráth, Július" userId="aebde9b9-dccc-4475-a9ac-c05e78323d7a" providerId="ADAL" clId="{4A0811C8-ED2F-505E-B787-C8270CED5046}" dt="2026-02-26T12:09:00.649" v="83" actId="1076"/>
        <pc:sldMkLst>
          <pc:docMk/>
          <pc:sldMk cId="1867364700" sldId="303"/>
        </pc:sldMkLst>
        <pc:spChg chg="add mod">
          <ac:chgData name="Baráth, Július" userId="aebde9b9-dccc-4475-a9ac-c05e78323d7a" providerId="ADAL" clId="{4A0811C8-ED2F-505E-B787-C8270CED5046}" dt="2026-02-26T12:09:00.649" v="83" actId="1076"/>
          <ac:spMkLst>
            <pc:docMk/>
            <pc:sldMk cId="1867364700" sldId="303"/>
            <ac:spMk id="2" creationId="{BAD9AA20-FACB-9CD6-35B3-42350701E86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270250" y="762000"/>
            <a:ext cx="5080250" cy="38099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4858125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uxnix.com/2010/02/file-types-in-linux.html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oob.com/2012/03/linoobs-guide-to-ubuntu-filesystem-structure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nixcraft.com/centos-rhel-fedora/14005-what-grace-time-period-disk-quota.html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yolinux.com/TUTORIALS/LinuxTutorialQuotas.html" TargetMode="Externa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158 min (4)</a:t>
            </a:r>
          </a:p>
          <a:p>
            <a:endParaRPr lang="en-US"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rtl="0">
              <a:lnSpc>
                <a:spcPct val="100000"/>
              </a:lnSpc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doplnit:</a:t>
            </a:r>
          </a:p>
          <a:p>
            <a:pPr marL="381000" marR="0" lvl="0" indent="-1143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chyba sposob zapisu prav v absolutnom rezime (je az neskor)</a:t>
            </a:r>
          </a:p>
          <a:p>
            <a:pPr marL="381000" marR="0" lvl="0" indent="-1143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prezriet slajdy o SGID-e - v nazvoch je 2x - aj pri suboroch aj pri priecinkoch, ale venuje sa mu iba slajd s priecinkami </a:t>
            </a:r>
          </a:p>
          <a:p>
            <a:pPr marL="381000" marR="0" lvl="0" indent="-1143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obrazok o inodoch</a:t>
            </a:r>
          </a:p>
          <a:p>
            <a:pPr marL="381000" marR="0" lvl="0" indent="-1143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treba prehodit slajd o file/dir pristupovych pravach az za temu o ich modifikacii/pracu s nimi</a:t>
            </a:r>
          </a:p>
          <a:p>
            <a:pPr marL="381000" marR="0" lvl="0" indent="-1143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 znamena grace doplnit</a:t>
            </a:r>
          </a:p>
          <a:p>
            <a:pPr marL="381000" marR="0" lvl="0" indent="-1143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66666"/>
              <a:buFont typeface="Arial"/>
              <a:buChar char="•"/>
            </a:pPr>
            <a:r>
              <a:rPr lang="en-US" sz="1000"/>
              <a:t>ku du by bolo dobre pridat slajd o tom, ako je to s diskom, sektormi a ukladanim udajov</a:t>
            </a:r>
          </a:p>
        </p:txBody>
      </p:sp>
    </p:spTree>
    <p:extLst>
      <p:ext uri="{BB962C8B-B14F-4D97-AF65-F5344CB8AC3E}">
        <p14:creationId xmlns:p14="http://schemas.microsoft.com/office/powerpoint/2010/main" val="2760885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8738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41870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Shape 4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http://www.linuxnix.com/2010/02/file-types-in-linux.html</a:t>
            </a:r>
          </a:p>
          <a:p>
            <a:endParaRPr lang="en-US" u="sng">
              <a:solidFill>
                <a:schemeClr val="hlink"/>
              </a:solidFill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99234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7084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33551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Shape 6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3088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24826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1466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http://www.linoob.com/2012/03/linoobs-guide-to-ubuntu-filesystem-structure/</a:t>
            </a:r>
          </a:p>
        </p:txBody>
      </p:sp>
    </p:spTree>
    <p:extLst>
      <p:ext uri="{BB962C8B-B14F-4D97-AF65-F5344CB8AC3E}">
        <p14:creationId xmlns:p14="http://schemas.microsoft.com/office/powerpoint/2010/main" val="2613083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73010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09604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8393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Shape 10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32713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Shape 11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446286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078104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666402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 df</a:t>
            </a:r>
          </a:p>
        </p:txBody>
      </p:sp>
    </p:spTree>
    <p:extLst>
      <p:ext uri="{BB962C8B-B14F-4D97-AF65-F5344CB8AC3E}">
        <p14:creationId xmlns:p14="http://schemas.microsoft.com/office/powerpoint/2010/main" val="20354630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84932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Shape 149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grace period - </a:t>
            </a:r>
            <a:r>
              <a:rPr lang="en-US" sz="1466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http://nixcraft.com/centos-rhel-fedora/14005-what-grace-time-period-disk-quota.html</a:t>
            </a:r>
          </a:p>
          <a:p>
            <a:endParaRPr lang="en-US" sz="1466" u="sng">
              <a:solidFill>
                <a:srgbClr val="0000FF"/>
              </a:solidFill>
              <a:latin typeface="Arial"/>
              <a:ea typeface="Arial"/>
              <a:cs typeface="Arial"/>
              <a:sym typeface="Arial"/>
              <a:hlinkClick r:id="rId3"/>
            </a:endParaRPr>
          </a:p>
          <a:p>
            <a:pPr rtl="0">
              <a:lnSpc>
                <a:spcPct val="100000"/>
              </a:lnSpc>
              <a:buNone/>
            </a:pPr>
            <a:r>
              <a:rPr lang="en-US" sz="1466" u="sng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http://www.yolinux.com/TUTORIALS/LinuxTutorialQuotas.html</a:t>
            </a:r>
          </a:p>
          <a:p>
            <a:endParaRPr lang="en-US" sz="1466" u="sng">
              <a:solidFill>
                <a:srgbClr val="0000FF"/>
              </a:solidFill>
              <a:latin typeface="Arial"/>
              <a:ea typeface="Arial"/>
              <a:cs typeface="Arial"/>
              <a:sym typeface="Arial"/>
              <a:hlinkClick r:id="rId4"/>
            </a:endParaRPr>
          </a:p>
          <a:p>
            <a:pPr rtl="0">
              <a:lnSpc>
                <a:spcPct val="100000"/>
              </a:lnSpc>
              <a:buNone/>
            </a:pPr>
            <a:r>
              <a:rPr lang="en-US" sz="1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????</a:t>
            </a:r>
          </a:p>
        </p:txBody>
      </p:sp>
    </p:spTree>
    <p:extLst>
      <p:ext uri="{BB962C8B-B14F-4D97-AF65-F5344CB8AC3E}">
        <p14:creationId xmlns:p14="http://schemas.microsoft.com/office/powerpoint/2010/main" val="588917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Shape 156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sz="1466"/>
              <a:t>ako oddelovac moze byt pouzity aj znak .</a:t>
            </a:r>
          </a:p>
        </p:txBody>
      </p:sp>
    </p:spTree>
    <p:extLst>
      <p:ext uri="{BB962C8B-B14F-4D97-AF65-F5344CB8AC3E}">
        <p14:creationId xmlns:p14="http://schemas.microsoft.com/office/powerpoint/2010/main" val="16715832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Shape 16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5465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Shape 17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04313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Shape 17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52345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Shape 18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49156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Shape 192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0985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Shape 199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60842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Shape 206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88815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Shape 23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36995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Shape 24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49646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249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Shape 25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7870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Shape 25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01585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Shape 26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13097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270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Shape 27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842051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Shape 278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51960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284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Shape 28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026866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291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Shape 292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39536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Shape 299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478871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312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Shape 313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58189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Shape 320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459811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Shape 327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20243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Shape 333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Shape 334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81494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340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Shape 341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5333539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Shape 348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96364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354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Shape 355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239502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361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Shape 362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597945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Shape 367"/>
          <p:cNvSpPr>
            <a:spLocks noGrp="1" noRot="1" noChangeAspect="1"/>
          </p:cNvSpPr>
          <p:nvPr>
            <p:ph type="sldImg" idx="2"/>
          </p:nvPr>
        </p:nvSpPr>
        <p:spPr>
          <a:xfrm>
            <a:off x="1270000" y="762000"/>
            <a:ext cx="5080000" cy="3810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Shape 368"/>
          <p:cNvSpPr txBox="1">
            <a:spLocks noGrp="1"/>
          </p:cNvSpPr>
          <p:nvPr>
            <p:ph type="body" idx="1"/>
          </p:nvPr>
        </p:nvSpPr>
        <p:spPr>
          <a:xfrm>
            <a:off x="762000" y="4826000"/>
            <a:ext cx="6096000" cy="45720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948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 txBox="1">
            <a:spLocks noGrp="1"/>
          </p:cNvSpPr>
          <p:nvPr>
            <p:ph type="ctrTitle"/>
          </p:nvPr>
        </p:nvSpPr>
        <p:spPr>
          <a:xfrm>
            <a:off x="914400" y="3048000"/>
            <a:ext cx="8331200" cy="12191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4800"/>
            </a:lvl1pPr>
            <a:lvl2pPr algn="ctr">
              <a:buSzPct val="100000"/>
              <a:defRPr sz="4800"/>
            </a:lvl2pPr>
            <a:lvl3pPr algn="ctr">
              <a:buSzPct val="100000"/>
              <a:defRPr sz="4800"/>
            </a:lvl3pPr>
            <a:lvl4pPr algn="ctr">
              <a:buSzPct val="100000"/>
              <a:defRPr sz="4800"/>
            </a:lvl4pPr>
            <a:lvl5pPr algn="ctr">
              <a:buSzPct val="100000"/>
              <a:defRPr sz="4800"/>
            </a:lvl5pPr>
            <a:lvl6pPr algn="ctr">
              <a:buSzPct val="100000"/>
              <a:defRPr sz="4800"/>
            </a:lvl6pPr>
            <a:lvl7pPr algn="ctr">
              <a:buSzPct val="100000"/>
              <a:defRPr sz="4800"/>
            </a:lvl7pPr>
            <a:lvl8pPr algn="ctr">
              <a:buSzPct val="100000"/>
              <a:defRPr sz="4800"/>
            </a:lvl8pPr>
            <a:lvl9pPr algn="ctr">
              <a:buSzPct val="100000"/>
              <a:defRPr sz="4800"/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ubTitle" idx="1"/>
          </p:nvPr>
        </p:nvSpPr>
        <p:spPr>
          <a:xfrm>
            <a:off x="1828800" y="4572000"/>
            <a:ext cx="6502399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3200"/>
            </a:lvl1pPr>
            <a:lvl2pPr algn="ctr">
              <a:buSzPct val="100000"/>
              <a:defRPr sz="3200"/>
            </a:lvl2pPr>
            <a:lvl3pPr algn="ctr">
              <a:buSzPct val="100000"/>
              <a:defRPr sz="3200"/>
            </a:lvl3pPr>
            <a:lvl4pPr algn="ctr">
              <a:buSzPct val="100000"/>
              <a:defRPr sz="3200"/>
            </a:lvl4pPr>
            <a:lvl5pPr algn="ctr">
              <a:buSzPct val="100000"/>
              <a:defRPr sz="3200"/>
            </a:lvl5pPr>
            <a:lvl6pPr algn="ctr">
              <a:buSzPct val="100000"/>
              <a:defRPr sz="3200"/>
            </a:lvl6pPr>
            <a:lvl7pPr algn="ctr">
              <a:buSzPct val="100000"/>
              <a:defRPr sz="3200"/>
            </a:lvl7pPr>
            <a:lvl8pPr algn="ctr">
              <a:buSzPct val="100000"/>
              <a:defRPr sz="3200"/>
            </a:lvl8pPr>
            <a:lvl9pPr algn="ctr">
              <a:buSzPct val="100000"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x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9224"/>
              <a:defRPr sz="4266"/>
            </a:lvl1pPr>
            <a:lvl2pPr>
              <a:buSzPct val="99224"/>
              <a:defRPr sz="4266"/>
            </a:lvl2pPr>
            <a:lvl3pPr>
              <a:buSzPct val="99224"/>
              <a:defRPr sz="4266"/>
            </a:lvl3pPr>
            <a:lvl4pPr>
              <a:buSzPct val="99224"/>
              <a:defRPr sz="4266"/>
            </a:lvl4pPr>
            <a:lvl5pPr>
              <a:buSzPct val="99224"/>
              <a:defRPr sz="4266"/>
            </a:lvl5pPr>
            <a:lvl6pPr>
              <a:buSzPct val="99224"/>
              <a:defRPr sz="4266"/>
            </a:lvl6pPr>
            <a:lvl7pPr>
              <a:buSzPct val="99224"/>
              <a:defRPr sz="4266"/>
            </a:lvl7pPr>
            <a:lvl8pPr>
              <a:buSzPct val="99224"/>
              <a:defRPr sz="4266"/>
            </a:lvl8pPr>
            <a:lvl9pPr>
              <a:buSzPct val="99224"/>
              <a:defRPr sz="4266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9550400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ColTx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9550400" cy="91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9224"/>
              <a:defRPr sz="4266"/>
            </a:lvl1pPr>
            <a:lvl2pPr>
              <a:buSzPct val="99224"/>
              <a:defRPr sz="4266"/>
            </a:lvl2pPr>
            <a:lvl3pPr>
              <a:buSzPct val="99224"/>
              <a:defRPr sz="4266"/>
            </a:lvl3pPr>
            <a:lvl4pPr>
              <a:buSzPct val="99224"/>
              <a:defRPr sz="4266"/>
            </a:lvl4pPr>
            <a:lvl5pPr>
              <a:buSzPct val="99224"/>
              <a:defRPr sz="4266"/>
            </a:lvl5pPr>
            <a:lvl6pPr>
              <a:buSzPct val="99224"/>
              <a:defRPr sz="4266"/>
            </a:lvl6pPr>
            <a:lvl7pPr>
              <a:buSzPct val="99224"/>
              <a:defRPr sz="4266"/>
            </a:lvl7pPr>
            <a:lvl8pPr>
              <a:buSzPct val="99224"/>
              <a:defRPr sz="4266"/>
            </a:lvl8pPr>
            <a:lvl9pPr>
              <a:buSzPct val="99224"/>
              <a:defRPr sz="4266"/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body" idx="1"/>
          </p:nvPr>
        </p:nvSpPr>
        <p:spPr>
          <a:xfrm>
            <a:off x="304800" y="1828800"/>
            <a:ext cx="4470399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body" idx="2"/>
          </p:nvPr>
        </p:nvSpPr>
        <p:spPr>
          <a:xfrm>
            <a:off x="5384800" y="1828800"/>
            <a:ext cx="4470399" cy="5486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buSzPct val="98765"/>
              <a:defRPr sz="2666"/>
            </a:lvl1pPr>
            <a:lvl2pPr>
              <a:buSzPct val="98765"/>
              <a:defRPr sz="2666"/>
            </a:lvl2pPr>
            <a:lvl3pPr>
              <a:buSzPct val="98765"/>
              <a:defRPr sz="2666"/>
            </a:lvl3pPr>
            <a:lvl4pPr>
              <a:buSzPct val="98765"/>
              <a:defRPr sz="2666"/>
            </a:lvl4pPr>
            <a:lvl5pPr>
              <a:buSzPct val="98765"/>
              <a:defRPr sz="2666"/>
            </a:lvl5pPr>
            <a:lvl6pPr>
              <a:buSzPct val="98765"/>
              <a:defRPr sz="2666"/>
            </a:lvl6pPr>
            <a:lvl7pPr>
              <a:buSzPct val="98765"/>
              <a:defRPr sz="2666"/>
            </a:lvl7pPr>
            <a:lvl8pPr>
              <a:buSzPct val="98765"/>
              <a:defRPr sz="2666"/>
            </a:lvl8pPr>
            <a:lvl9pPr>
              <a:buSzPct val="98765"/>
              <a:defRPr sz="2666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304800" y="6705600"/>
            <a:ext cx="9550400" cy="6095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buSzPct val="100000"/>
              <a:defRPr sz="3200"/>
            </a:lvl1pPr>
            <a:lvl2pPr algn="ctr">
              <a:buSzPct val="100000"/>
              <a:defRPr sz="3200"/>
            </a:lvl2pPr>
            <a:lvl3pPr algn="ctr">
              <a:buSzPct val="100000"/>
              <a:defRPr sz="3200"/>
            </a:lvl3pPr>
            <a:lvl4pPr algn="ctr">
              <a:buSzPct val="100000"/>
              <a:defRPr sz="3200"/>
            </a:lvl4pPr>
            <a:lvl5pPr algn="ctr">
              <a:buSzPct val="100000"/>
              <a:defRPr sz="3200"/>
            </a:lvl5pPr>
            <a:lvl6pPr algn="ctr">
              <a:buSzPct val="100000"/>
              <a:defRPr sz="3200"/>
            </a:lvl6pPr>
            <a:lvl7pPr algn="ctr">
              <a:buSzPct val="100000"/>
              <a:defRPr sz="3200"/>
            </a:lvl7pPr>
            <a:lvl8pPr algn="ctr">
              <a:buSzPct val="100000"/>
              <a:defRPr sz="3200"/>
            </a:lvl8pPr>
            <a:lvl9pPr algn="ctr">
              <a:buSzPct val="100000"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ctrTitle"/>
          </p:nvPr>
        </p:nvSpPr>
        <p:spPr>
          <a:xfrm>
            <a:off x="3942275" y="1781525"/>
            <a:ext cx="5512499" cy="28137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44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Linux Filesystem</a:t>
            </a:r>
          </a:p>
        </p:txBody>
      </p:sp>
      <p:sp>
        <p:nvSpPr>
          <p:cNvPr id="20" name="Shape 20"/>
          <p:cNvSpPr txBox="1">
            <a:spLocks noGrp="1"/>
          </p:cNvSpPr>
          <p:nvPr>
            <p:ph type="subTitle" idx="1"/>
          </p:nvPr>
        </p:nvSpPr>
        <p:spPr>
          <a:xfrm>
            <a:off x="1991425" y="6118925"/>
            <a:ext cx="6553200" cy="1093950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0" marR="0" indent="0" algn="ctr" rtl="0">
              <a:lnSpc>
                <a:spcPct val="108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Miroslav Biňas</a:t>
            </a:r>
          </a:p>
          <a:p>
            <a:pPr marL="0" marR="0" indent="0" algn="ctr" rtl="0">
              <a:lnSpc>
                <a:spcPct val="108036"/>
              </a:lnSpc>
              <a:spcBef>
                <a:spcPts val="563"/>
              </a:spcBef>
              <a:spcAft>
                <a:spcPts val="0"/>
              </a:spcAft>
              <a:buNone/>
            </a:pPr>
            <a:r>
              <a:rPr lang="en-US" sz="311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(c) 2010 - 201</a:t>
            </a:r>
            <a:r>
              <a:rPr lang="en-US" sz="3111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Filesystem Support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filesystem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method of storing and organizing computer files and their data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used on data storage devices to maintain the physical location of the files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Linux supports many filesystems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able to coexist with other OS</a:t>
            </a:r>
          </a:p>
        </p:txBody>
      </p:sp>
      <p:sp>
        <p:nvSpPr>
          <p:cNvPr id="27" name="Shape 27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1705675" y="0"/>
            <a:ext cx="8121299" cy="1275599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UNIX/Linux Filesystem Features</a:t>
            </a:r>
          </a:p>
        </p:txBody>
      </p:sp>
      <p:sp>
        <p:nvSpPr>
          <p:cNvPr id="33" name="Shape 33"/>
          <p:cNvSpPr txBox="1"/>
          <p:nvPr/>
        </p:nvSpPr>
        <p:spPr>
          <a:xfrm>
            <a:off x="1954500" y="1621025"/>
            <a:ext cx="8055200" cy="55890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everything is file!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tree hierarchy</a:t>
            </a: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root / (only one)</a:t>
            </a: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cAsE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33" b="0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SenSItiVitY</a:t>
            </a:r>
            <a:endParaRPr lang="en-US" sz="3333" b="0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long file names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supports links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virtual filesystem (VFS)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provides filesystem abstraction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kernel translates abstract-to-actual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very flexible (coexistence with other filesystems and OS)</a:t>
            </a:r>
          </a:p>
        </p:txBody>
      </p:sp>
      <p:sp>
        <p:nvSpPr>
          <p:cNvPr id="34" name="Shape 34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705675" y="0"/>
            <a:ext cx="8121299" cy="1275599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444444"/>
                </a:solidFill>
              </a:rPr>
              <a:t>Different File Types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1954500" y="1621025"/>
            <a:ext cx="8055300" cy="5589000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1" dirty="0">
                <a:solidFill>
                  <a:srgbClr val="666666"/>
                </a:solidFill>
              </a:rPr>
              <a:t>regular files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1" dirty="0">
                <a:solidFill>
                  <a:srgbClr val="666666"/>
                </a:solidFill>
              </a:rPr>
              <a:t>directories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</a:rPr>
              <a:t>special files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1" dirty="0">
                <a:solidFill>
                  <a:srgbClr val="666666"/>
                </a:solidFill>
              </a:rPr>
              <a:t>symbolic links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1" dirty="0">
                <a:solidFill>
                  <a:srgbClr val="666666"/>
                </a:solidFill>
              </a:rPr>
              <a:t>named pipe files</a:t>
            </a:r>
            <a:r>
              <a:rPr lang="en-US" sz="3333" dirty="0">
                <a:solidFill>
                  <a:srgbClr val="666666"/>
                </a:solidFill>
              </a:rPr>
              <a:t> - FIFO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1" dirty="0">
                <a:solidFill>
                  <a:srgbClr val="666666"/>
                </a:solidFill>
              </a:rPr>
              <a:t>block files</a:t>
            </a:r>
            <a:r>
              <a:rPr lang="en-US" sz="3333" dirty="0">
                <a:solidFill>
                  <a:srgbClr val="666666"/>
                </a:solidFill>
              </a:rPr>
              <a:t> - </a:t>
            </a:r>
            <a:r>
              <a:rPr lang="en-US" sz="3333" dirty="0" err="1">
                <a:solidFill>
                  <a:srgbClr val="666666"/>
                </a:solidFill>
              </a:rPr>
              <a:t>hw</a:t>
            </a:r>
            <a:r>
              <a:rPr lang="en-US" sz="3333" dirty="0">
                <a:solidFill>
                  <a:srgbClr val="666666"/>
                </a:solidFill>
              </a:rPr>
              <a:t> devices (in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/dev/</a:t>
            </a:r>
            <a:r>
              <a:rPr lang="en-US" sz="3333" dirty="0">
                <a:solidFill>
                  <a:srgbClr val="666666"/>
                </a:solidFill>
              </a:rPr>
              <a:t>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1" dirty="0">
                <a:solidFill>
                  <a:srgbClr val="666666"/>
                </a:solidFill>
              </a:rPr>
              <a:t>character device files</a:t>
            </a:r>
            <a:r>
              <a:rPr lang="en-US" sz="3333" dirty="0">
                <a:solidFill>
                  <a:srgbClr val="666666"/>
                </a:solidFill>
              </a:rPr>
              <a:t> - serial stream of I/O (terminals -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/dev/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tty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 sz="3333" dirty="0">
                <a:solidFill>
                  <a:srgbClr val="666666"/>
                </a:solidFill>
              </a:rPr>
              <a:t>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1" dirty="0">
                <a:solidFill>
                  <a:srgbClr val="666666"/>
                </a:solidFill>
              </a:rPr>
              <a:t>socket files</a:t>
            </a:r>
            <a:r>
              <a:rPr lang="en-US" sz="3333" dirty="0">
                <a:solidFill>
                  <a:srgbClr val="666666"/>
                </a:solidFill>
              </a:rPr>
              <a:t> - used to pass information between apps for communication purposes</a:t>
            </a:r>
          </a:p>
        </p:txBody>
      </p:sp>
      <p:sp>
        <p:nvSpPr>
          <p:cNvPr id="41" name="Shape 41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title"/>
          </p:nvPr>
        </p:nvSpPr>
        <p:spPr>
          <a:xfrm>
            <a:off x="1705675" y="0"/>
            <a:ext cx="8121299" cy="1275599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Filesystem Hierarchy Standard I.</a:t>
            </a:r>
          </a:p>
        </p:txBody>
      </p:sp>
      <p:sp>
        <p:nvSpPr>
          <p:cNvPr id="47" name="Shape 47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defines the main directories and their contents in Linux operating systems</a:t>
            </a:r>
          </a:p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maintained by the Free Standards Group, now the Linux Foundation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members such as HP, Red Hat, IBM and Dell </a:t>
            </a:r>
          </a:p>
        </p:txBody>
      </p:sp>
      <p:sp>
        <p:nvSpPr>
          <p:cNvPr id="48" name="Shape 48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title"/>
          </p:nvPr>
        </p:nvSpPr>
        <p:spPr>
          <a:xfrm>
            <a:off x="1683650" y="0"/>
            <a:ext cx="8265300" cy="1257299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Filesystem Hierarchy Standard II.</a:t>
            </a:r>
          </a:p>
        </p:txBody>
      </p:sp>
      <p:sp>
        <p:nvSpPr>
          <p:cNvPr id="54" name="Shape 54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/>
              <a:buChar char="•"/>
            </a:pP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/bin</a:t>
            </a:r>
            <a:r>
              <a:rPr lang="en-US" sz="3300" dirty="0">
                <a:solidFill>
                  <a:srgbClr val="666666"/>
                </a:solidFill>
              </a:rPr>
              <a:t> - Essential command binaries, that need to be available in single user mode</a:t>
            </a:r>
          </a:p>
          <a:p>
            <a:pPr marL="381000" marR="0" lvl="0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/>
              <a:buChar char="•"/>
            </a:pP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/boot</a:t>
            </a:r>
            <a:r>
              <a:rPr lang="en-US" sz="3300" dirty="0">
                <a:solidFill>
                  <a:srgbClr val="666666"/>
                </a:solidFill>
              </a:rPr>
              <a:t> - Static files of the boot loader</a:t>
            </a:r>
          </a:p>
          <a:p>
            <a:pPr marL="381000" marR="0" lvl="0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/>
              <a:buChar char="•"/>
            </a:pP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/dev</a:t>
            </a:r>
            <a:r>
              <a:rPr lang="en-US" sz="3300" dirty="0">
                <a:solidFill>
                  <a:srgbClr val="666666"/>
                </a:solidFill>
              </a:rPr>
              <a:t> - Device files</a:t>
            </a:r>
          </a:p>
          <a:p>
            <a:pPr marL="381000" marR="0" lvl="0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/>
              <a:buChar char="•"/>
            </a:pP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etc</a:t>
            </a:r>
            <a:r>
              <a:rPr lang="en-US" sz="3300" dirty="0">
                <a:solidFill>
                  <a:srgbClr val="666666"/>
                </a:solidFill>
              </a:rPr>
              <a:t> - Host-specific system configuration</a:t>
            </a:r>
          </a:p>
          <a:p>
            <a:pPr marL="381000" marR="0" lvl="0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/>
              <a:buChar char="•"/>
            </a:pP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/lib</a:t>
            </a:r>
            <a:r>
              <a:rPr lang="en-US" sz="3300" dirty="0">
                <a:solidFill>
                  <a:srgbClr val="666666"/>
                </a:solidFill>
              </a:rPr>
              <a:t> - Essential shared libraries and kernel modules</a:t>
            </a:r>
          </a:p>
        </p:txBody>
      </p:sp>
      <p:sp>
        <p:nvSpPr>
          <p:cNvPr id="55" name="Shape 55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>
            <a:spLocks noGrp="1"/>
          </p:cNvSpPr>
          <p:nvPr>
            <p:ph type="title"/>
          </p:nvPr>
        </p:nvSpPr>
        <p:spPr>
          <a:xfrm>
            <a:off x="1672025" y="0"/>
            <a:ext cx="8413199" cy="125010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Filesystem Hierarchy Standard III.</a:t>
            </a:r>
          </a:p>
        </p:txBody>
      </p:sp>
      <p:sp>
        <p:nvSpPr>
          <p:cNvPr id="61" name="Shape 61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/>
              <a:buChar char="•"/>
            </a:pP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/media</a:t>
            </a:r>
            <a:r>
              <a:rPr lang="en-US" sz="3300" dirty="0">
                <a:solidFill>
                  <a:srgbClr val="666666"/>
                </a:solidFill>
              </a:rPr>
              <a:t> - Mount point for removeable media</a:t>
            </a:r>
          </a:p>
          <a:p>
            <a:pPr marL="381000" marR="0" lvl="0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/>
              <a:buChar char="•"/>
            </a:pP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mnt</a:t>
            </a:r>
            <a:r>
              <a:rPr lang="en-US" sz="3300" dirty="0">
                <a:solidFill>
                  <a:srgbClr val="666666"/>
                </a:solidFill>
              </a:rPr>
              <a:t> - Mount point for mounting a filesystem temporarily</a:t>
            </a:r>
          </a:p>
          <a:p>
            <a:pPr marL="381000" marR="0" lvl="0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/>
              <a:buChar char="•"/>
            </a:pP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/opt</a:t>
            </a:r>
            <a:r>
              <a:rPr lang="en-US" sz="3300" dirty="0">
                <a:solidFill>
                  <a:srgbClr val="666666"/>
                </a:solidFill>
              </a:rPr>
              <a:t> - Add-on application software packages</a:t>
            </a:r>
          </a:p>
          <a:p>
            <a:pPr marL="381000" marR="0" lvl="0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/>
              <a:buChar char="•"/>
            </a:pP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sbin</a:t>
            </a:r>
            <a:r>
              <a:rPr lang="en-US" sz="3300" dirty="0">
                <a:solidFill>
                  <a:srgbClr val="666666"/>
                </a:solidFill>
              </a:rPr>
              <a:t> - Essential system binaries</a:t>
            </a:r>
          </a:p>
          <a:p>
            <a:pPr marL="381000" marR="0" lvl="0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/>
              <a:buChar char="•"/>
            </a:pP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srv</a:t>
            </a:r>
            <a:r>
              <a:rPr lang="en-US" sz="3300" dirty="0">
                <a:solidFill>
                  <a:srgbClr val="666666"/>
                </a:solidFill>
              </a:rPr>
              <a:t> - Data for services provided by this system</a:t>
            </a:r>
          </a:p>
        </p:txBody>
      </p:sp>
      <p:sp>
        <p:nvSpPr>
          <p:cNvPr id="62" name="Shape 62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>
            <a:spLocks noGrp="1"/>
          </p:cNvSpPr>
          <p:nvPr>
            <p:ph type="title"/>
          </p:nvPr>
        </p:nvSpPr>
        <p:spPr>
          <a:xfrm>
            <a:off x="1672025" y="0"/>
            <a:ext cx="8413199" cy="125010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Filesystem Hierarchy Standard IV.</a:t>
            </a:r>
          </a:p>
        </p:txBody>
      </p:sp>
      <p:sp>
        <p:nvSpPr>
          <p:cNvPr id="68" name="Shape 68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/>
              <a:buChar char="•"/>
            </a:pP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  <a:r>
              <a:rPr lang="en-US" sz="3300" dirty="0">
                <a:solidFill>
                  <a:srgbClr val="666666"/>
                </a:solidFill>
              </a:rPr>
              <a:t> - Temporary files </a:t>
            </a:r>
          </a:p>
          <a:p>
            <a:pPr marL="381000" marR="0" lvl="0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/>
              <a:buChar char="•"/>
            </a:pP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usr</a:t>
            </a:r>
            <a:r>
              <a:rPr lang="en-US" sz="3300" dirty="0">
                <a:solidFill>
                  <a:srgbClr val="666666"/>
                </a:solidFill>
              </a:rPr>
              <a:t> - Secondary hierarchy</a:t>
            </a:r>
          </a:p>
          <a:p>
            <a:pPr marL="381000" marR="0" lvl="0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/>
              <a:buChar char="•"/>
            </a:pP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/var</a:t>
            </a:r>
            <a:r>
              <a:rPr lang="en-US" sz="3300" dirty="0">
                <a:solidFill>
                  <a:srgbClr val="666666"/>
                </a:solidFill>
              </a:rPr>
              <a:t> - Variable data</a:t>
            </a:r>
          </a:p>
          <a:p>
            <a:pPr marL="381000" marR="0" lvl="0" indent="-260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/>
              <a:buChar char="•"/>
            </a:pP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/proc</a:t>
            </a:r>
            <a:r>
              <a:rPr lang="en-US" sz="3300" dirty="0">
                <a:solidFill>
                  <a:srgbClr val="666666"/>
                </a:solidFill>
              </a:rPr>
              <a:t> - Virtual filesystem documenting kernel and process status as text files</a:t>
            </a:r>
          </a:p>
        </p:txBody>
      </p:sp>
      <p:sp>
        <p:nvSpPr>
          <p:cNvPr id="69" name="Shape 69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>
            <a:off x="1672025" y="0"/>
            <a:ext cx="8413199" cy="126480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Filesystem Overview</a:t>
            </a:r>
          </a:p>
        </p:txBody>
      </p:sp>
      <p:sp>
        <p:nvSpPr>
          <p:cNvPr id="75" name="Shape 75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76" name="Shape 76"/>
          <p:cNvSpPr/>
          <p:nvPr/>
        </p:nvSpPr>
        <p:spPr>
          <a:xfrm>
            <a:off x="2717800" y="1320800"/>
            <a:ext cx="7096700" cy="575915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61EAA371-6D5C-AF02-A9D6-05E4AA3817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320800"/>
            <a:ext cx="2717800" cy="48006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" name="BlokTextu 1">
            <a:extLst>
              <a:ext uri="{FF2B5EF4-FFF2-40B4-BE49-F238E27FC236}">
                <a16:creationId xmlns:a16="http://schemas.microsoft.com/office/drawing/2014/main" id="{C0812ABE-91B1-0BAB-A3C9-2BE51AE49559}"/>
              </a:ext>
            </a:extLst>
          </p:cNvPr>
          <p:cNvSpPr txBox="1"/>
          <p:nvPr/>
        </p:nvSpPr>
        <p:spPr>
          <a:xfrm>
            <a:off x="1127343" y="1706322"/>
            <a:ext cx="20649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 </a:t>
            </a:r>
            <a:r>
              <a:rPr lang="en-US" dirty="0" err="1"/>
              <a:t>nefunguje</a:t>
            </a:r>
            <a:r>
              <a:rPr lang="en-US" dirty="0"/>
              <a:t> v WSL2</a:t>
            </a:r>
            <a:endParaRPr lang="sk-SK" dirty="0"/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title"/>
          </p:nvPr>
        </p:nvSpPr>
        <p:spPr>
          <a:xfrm>
            <a:off x="1705675" y="0"/>
            <a:ext cx="8121299" cy="1275599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Navigating the Filesystem I.</a:t>
            </a:r>
          </a:p>
        </p:txBody>
      </p:sp>
      <p:sp>
        <p:nvSpPr>
          <p:cNvPr id="82" name="Shape 82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paths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absolute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relative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(current/working)</a:t>
            </a:r>
          </a:p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special directories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root directory 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~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home directory 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..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level up directory 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current directory</a:t>
            </a:r>
          </a:p>
        </p:txBody>
      </p:sp>
      <p:sp>
        <p:nvSpPr>
          <p:cNvPr id="83" name="Shape 83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title"/>
          </p:nvPr>
        </p:nvSpPr>
        <p:spPr>
          <a:xfrm>
            <a:off x="1705675" y="0"/>
            <a:ext cx="8121299" cy="1275599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Navigating the Filesystem II.</a:t>
            </a:r>
          </a:p>
        </p:txBody>
      </p:sp>
      <p:sp>
        <p:nvSpPr>
          <p:cNvPr id="89" name="Shape 89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pwd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locates the current working directory </a:t>
            </a:r>
          </a:p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cd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change directory command 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cd [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DIR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] 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if no directory is specified, changes directory to home directory 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possible to use special directory names for relative path construction </a:t>
            </a:r>
          </a:p>
          <a:p>
            <a:endParaRPr lang="en-US" sz="3333" b="0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Shape 90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>
            <a:spLocks noGrp="1"/>
          </p:cNvSpPr>
          <p:nvPr>
            <p:ph type="title"/>
          </p:nvPr>
        </p:nvSpPr>
        <p:spPr>
          <a:xfrm>
            <a:off x="1705675" y="0"/>
            <a:ext cx="8121299" cy="1275599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Displaying Directory Contents I.</a:t>
            </a:r>
          </a:p>
        </p:txBody>
      </p:sp>
      <p:sp>
        <p:nvSpPr>
          <p:cNvPr id="96" name="Shape 96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ls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lists the content of directory 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ls [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OPS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] [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DIR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if no directory is specified, lists the content of current directory 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options: </a:t>
            </a:r>
          </a:p>
          <a:p>
            <a:pPr marL="1143000" marR="0" lvl="2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Wingdings"/>
              <a:buChar char="§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-a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list all files (also hidden ones starting with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1143000" marR="0" lvl="2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Wingdings"/>
              <a:buChar char="§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-l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list long, detailed info </a:t>
            </a:r>
          </a:p>
          <a:p>
            <a:pPr marL="1143000" marR="0" lvl="2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Wingdings"/>
              <a:buChar char="§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-h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human readable format (K,M)</a:t>
            </a:r>
            <a:endParaRPr lang="sk-SK" sz="3333" b="0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0" marR="0" lvl="2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Wingdings"/>
              <a:buChar char="§"/>
            </a:pPr>
            <a:r>
              <a:rPr lang="sk-SK" sz="3333" dirty="0">
                <a:solidFill>
                  <a:srgbClr val="666666"/>
                </a:solidFill>
              </a:rPr>
              <a:t>-R – list </a:t>
            </a:r>
            <a:r>
              <a:rPr lang="sk-SK" sz="3333" dirty="0" err="1">
                <a:solidFill>
                  <a:srgbClr val="666666"/>
                </a:solidFill>
              </a:rPr>
              <a:t>subdir</a:t>
            </a:r>
            <a:r>
              <a:rPr lang="sk-SK" sz="3333" dirty="0">
                <a:solidFill>
                  <a:srgbClr val="666666"/>
                </a:solidFill>
              </a:rPr>
              <a:t> </a:t>
            </a:r>
            <a:r>
              <a:rPr lang="sk-SK" sz="3333" dirty="0" err="1">
                <a:solidFill>
                  <a:srgbClr val="666666"/>
                </a:solidFill>
              </a:rPr>
              <a:t>recursively</a:t>
            </a:r>
            <a:endParaRPr lang="en-US" sz="3333" b="0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Shape 97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Displaying Directory Contents II.</a:t>
            </a:r>
          </a:p>
        </p:txBody>
      </p:sp>
      <p:sp>
        <p:nvSpPr>
          <p:cNvPr id="103" name="Shape 103"/>
          <p:cNvSpPr txBox="1"/>
          <p:nvPr/>
        </p:nvSpPr>
        <p:spPr>
          <a:xfrm>
            <a:off x="1705675" y="1549049"/>
            <a:ext cx="8185250" cy="5728776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21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ls -la /home/</a:t>
            </a:r>
            <a:r>
              <a:rPr lang="en-US" sz="21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mirek</a:t>
            </a:r>
            <a:b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total 158</a:t>
            </a:r>
            <a:b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1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drwxrwxrwx</a:t>
            </a: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2 </a:t>
            </a:r>
            <a:r>
              <a:rPr lang="en-US" sz="21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mirek</a:t>
            </a: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users 4096   May 12 13:55 .</a:t>
            </a:r>
            <a:b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1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drwxr</a:t>
            </a: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21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xr</a:t>
            </a: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-x 3 root  </a:t>
            </a:r>
            <a:r>
              <a:rPr lang="en-US" sz="21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root</a:t>
            </a: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  4096   May 10 01:49 ..</a:t>
            </a:r>
            <a:b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21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rw</a:t>
            </a: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-r--r-- 1 </a:t>
            </a:r>
            <a:r>
              <a:rPr lang="en-US" sz="21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mirek</a:t>
            </a: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users 24     May 10 01:50 1.txt</a:t>
            </a:r>
            <a:b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21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rw</a:t>
            </a: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-r--r-- 1 </a:t>
            </a:r>
            <a:r>
              <a:rPr lang="en-US" sz="21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mirek</a:t>
            </a: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users 230    May 10 01:50 2.txt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21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rw</a:t>
            </a: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-r--r-- 1 </a:t>
            </a:r>
            <a:r>
              <a:rPr lang="en-US" sz="21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mirek</a:t>
            </a: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users 124    May 10 01:50 text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21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drw</a:t>
            </a: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-r--r-- 1 </a:t>
            </a:r>
            <a:r>
              <a:rPr lang="en-US" sz="21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mirek</a:t>
            </a: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users 4096   May 10 01:50 .</a:t>
            </a:r>
            <a:r>
              <a:rPr lang="en-US" sz="21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kde</a:t>
            </a:r>
            <a:b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21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rw</a:t>
            </a: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21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rw</a:t>
            </a: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-r-- 1 </a:t>
            </a:r>
            <a:r>
              <a:rPr lang="en-US" sz="21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mirek</a:t>
            </a: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users 149872 May 11 22:49 test</a:t>
            </a:r>
            <a:b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^          ^ ^     ^     ^      ^            ^</a:t>
            </a:r>
            <a:b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1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col 1  col 2 col 3 col 4 col 5  col 6        col 7</a:t>
            </a:r>
          </a:p>
        </p:txBody>
      </p:sp>
      <p:sp>
        <p:nvSpPr>
          <p:cNvPr id="104" name="Shape 104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 txBox="1">
            <a:spLocks noGrp="1"/>
          </p:cNvSpPr>
          <p:nvPr>
            <p:ph type="title"/>
          </p:nvPr>
        </p:nvSpPr>
        <p:spPr>
          <a:xfrm>
            <a:off x="1683650" y="304800"/>
            <a:ext cx="8265350" cy="952525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Displaying Directory Contents III.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total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total amount of disk space used by the files (block size stat –f .)</a:t>
            </a:r>
          </a:p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col 1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permissions and file type (first character): </a:t>
            </a:r>
          </a:p>
          <a:p>
            <a:pPr marL="956734" marR="0" lvl="1" indent="-457200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Arial" panose="020B0604020202020204" pitchFamily="34" charset="0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normal file</a:t>
            </a:r>
          </a:p>
          <a:p>
            <a:pPr marL="956734" marR="0" lvl="1" indent="-457200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Arial" panose="020B0604020202020204" pitchFamily="34" charset="0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directory</a:t>
            </a:r>
          </a:p>
          <a:p>
            <a:pPr marL="956734" marR="0" lvl="1" indent="-457200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Arial" panose="020B0604020202020204" pitchFamily="34" charset="0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link</a:t>
            </a:r>
          </a:p>
          <a:p>
            <a:pPr marL="956734" marR="0" lvl="1" indent="-457200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Arial" panose="020B0604020202020204" pitchFamily="34" charset="0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block device</a:t>
            </a:r>
          </a:p>
          <a:p>
            <a:pPr marL="956734" marR="0" lvl="1" indent="-457200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Arial" panose="020B0604020202020204" pitchFamily="34" charset="0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character device</a:t>
            </a:r>
          </a:p>
        </p:txBody>
      </p:sp>
      <p:sp>
        <p:nvSpPr>
          <p:cNvPr id="111" name="Shape 111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title"/>
          </p:nvPr>
        </p:nvSpPr>
        <p:spPr>
          <a:xfrm>
            <a:off x="1683650" y="304800"/>
            <a:ext cx="8265350" cy="952525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Displaying Directory Contents IV.</a:t>
            </a:r>
          </a:p>
        </p:txBody>
      </p:sp>
      <p:sp>
        <p:nvSpPr>
          <p:cNvPr id="117" name="Shape 117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col 2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number of links to item </a:t>
            </a:r>
          </a:p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col 3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file or directory owner </a:t>
            </a:r>
          </a:p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col 4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file or directory group </a:t>
            </a:r>
          </a:p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col 5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size of each file in bytes 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directory size – reflects the file with info about the directory </a:t>
            </a:r>
          </a:p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col 6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date and time of last modification </a:t>
            </a:r>
          </a:p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col 7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file and directory names</a:t>
            </a:r>
          </a:p>
        </p:txBody>
      </p:sp>
      <p:sp>
        <p:nvSpPr>
          <p:cNvPr id="118" name="Shape 118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Determining Disk Usage I.</a:t>
            </a:r>
          </a:p>
        </p:txBody>
      </p:sp>
      <p:sp>
        <p:nvSpPr>
          <p:cNvPr id="124" name="Shape 124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du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finds out, how much space is being consumed by particular </a:t>
            </a:r>
            <a:r>
              <a:rPr lang="en-US" sz="3333" b="0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dir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(and its subdirs) </a:t>
            </a:r>
          </a:p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du [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OPS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] [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DIR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] </a:t>
            </a:r>
          </a:p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if no </a:t>
            </a:r>
            <a:r>
              <a:rPr lang="en-US" sz="3333" b="0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dir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is specified, current </a:t>
            </a:r>
            <a:r>
              <a:rPr lang="en-US" sz="3333" b="0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dir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is used 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at the end,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du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calculates total disk space used in specific </a:t>
            </a:r>
            <a:r>
              <a:rPr lang="en-US" sz="3333" b="0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dir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(with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-s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option only this number is showed) 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option 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-h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provides human readable format</a:t>
            </a:r>
          </a:p>
        </p:txBody>
      </p:sp>
      <p:sp>
        <p:nvSpPr>
          <p:cNvPr id="125" name="Shape 125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Determining Disk Usage II.</a:t>
            </a:r>
          </a:p>
        </p:txBody>
      </p:sp>
      <p:sp>
        <p:nvSpPr>
          <p:cNvPr id="131" name="Shape 131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– report file system disk space usage </a:t>
            </a:r>
          </a:p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df [OPS] [FILE] 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option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-h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provides human readable format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list 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inode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info instead of block usage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-T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print file system type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endParaRPr lang="sk-SK" sz="3333" dirty="0">
              <a:solidFill>
                <a:srgbClr val="666666"/>
              </a:solidFill>
            </a:endParaRP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sk-SK" sz="3333" dirty="0" err="1">
                <a:solidFill>
                  <a:srgbClr val="666666"/>
                </a:solidFill>
              </a:rPr>
              <a:t>df</a:t>
            </a:r>
            <a:r>
              <a:rPr lang="sk-SK" sz="3333" dirty="0">
                <a:solidFill>
                  <a:srgbClr val="666666"/>
                </a:solidFill>
              </a:rPr>
              <a:t> –T (napr. /</a:t>
            </a:r>
            <a:r>
              <a:rPr lang="sk-SK" sz="3333" dirty="0" err="1">
                <a:solidFill>
                  <a:srgbClr val="666666"/>
                </a:solidFill>
              </a:rPr>
              <a:t>dev</a:t>
            </a:r>
            <a:r>
              <a:rPr lang="sk-SK" sz="3333" dirty="0">
                <a:solidFill>
                  <a:srgbClr val="666666"/>
                </a:solidFill>
              </a:rPr>
              <a:t>/</a:t>
            </a:r>
            <a:r>
              <a:rPr lang="sk-SK" sz="3333" dirty="0" err="1">
                <a:solidFill>
                  <a:srgbClr val="666666"/>
                </a:solidFill>
              </a:rPr>
              <a:t>sd</a:t>
            </a:r>
            <a:r>
              <a:rPr lang="en-US" sz="3333" dirty="0">
                <a:solidFill>
                  <a:srgbClr val="666666"/>
                </a:solidFill>
              </a:rPr>
              <a:t>c</a:t>
            </a:r>
            <a:r>
              <a:rPr lang="sk-SK" sz="3333" dirty="0">
                <a:solidFill>
                  <a:srgbClr val="666666"/>
                </a:solidFill>
              </a:rPr>
              <a:t>      ext4)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Shape 132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Disk Usage with Quotas I.</a:t>
            </a:r>
          </a:p>
        </p:txBody>
      </p:sp>
      <p:sp>
        <p:nvSpPr>
          <p:cNvPr id="138" name="Shape 138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quota provides restrictions for the amount of disk space used on partition by user or group</a:t>
            </a:r>
          </a:p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two types of quota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usage/block quota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limits amount of disk space that can be used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file/</a:t>
            </a:r>
            <a:r>
              <a:rPr lang="en-US" sz="3333" b="1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inode</a:t>
            </a: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quota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limits the number of files and directories, that can be created</a:t>
            </a:r>
          </a:p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check your quota with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quota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command</a:t>
            </a:r>
          </a:p>
        </p:txBody>
      </p:sp>
      <p:sp>
        <p:nvSpPr>
          <p:cNvPr id="139" name="Shape 139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13EFE986-7501-D123-8525-6433933773F5}"/>
              </a:ext>
            </a:extLst>
          </p:cNvPr>
          <p:cNvSpPr txBox="1"/>
          <p:nvPr/>
        </p:nvSpPr>
        <p:spPr>
          <a:xfrm>
            <a:off x="1705675" y="967848"/>
            <a:ext cx="2284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Quota </a:t>
            </a:r>
            <a:r>
              <a:rPr lang="en-US" dirty="0" err="1"/>
              <a:t>nefunguje</a:t>
            </a:r>
            <a:r>
              <a:rPr lang="en-US" dirty="0"/>
              <a:t> </a:t>
            </a:r>
            <a:r>
              <a:rPr lang="en-US" dirty="0" err="1"/>
              <a:t>vo</a:t>
            </a:r>
            <a:r>
              <a:rPr lang="en-US" dirty="0"/>
              <a:t> WSL2</a:t>
            </a:r>
            <a:endParaRPr lang="sk-SK" dirty="0"/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Disk Usage with Quotas II.</a:t>
            </a:r>
          </a:p>
        </p:txBody>
      </p:sp>
      <p:sp>
        <p:nvSpPr>
          <p:cNvPr id="145" name="Shape 145"/>
          <p:cNvSpPr txBox="1"/>
          <p:nvPr/>
        </p:nvSpPr>
        <p:spPr>
          <a:xfrm>
            <a:off x="1717550" y="1376375"/>
            <a:ext cx="8195599" cy="58020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16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quota</a:t>
            </a:r>
            <a:endParaRPr lang="sk-SK" sz="1600" b="1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rt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Disk quotas for user </a:t>
            </a:r>
            <a:r>
              <a:rPr lang="en-US" sz="16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mirek</a:t>
            </a:r>
            <a:r>
              <a:rPr lang="en-US" sz="16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-US" sz="16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uid</a:t>
            </a:r>
            <a:r>
              <a:rPr lang="en-US" sz="16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1036):  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 Filesystem blocks  quota   limit    grace files  quota limit grace   /dev/md3 4436900 7680000 10240000       49514      0     0</a:t>
            </a:r>
          </a:p>
          <a:p>
            <a:endParaRPr lang="en-US" sz="1600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filesystem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limited filesystem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blocks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amount of used blocks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quota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soft quota (users are informed)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limit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hard quota 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files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nr. of created files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endParaRPr lang="sk-SK" sz="3333" dirty="0">
              <a:solidFill>
                <a:srgbClr val="666666"/>
              </a:solidFill>
            </a:endParaRP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sk-SK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Inštalácia </a:t>
            </a:r>
            <a:r>
              <a:rPr lang="sk-SK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quota</a:t>
            </a:r>
            <a:r>
              <a:rPr lang="sk-SK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na </a:t>
            </a:r>
            <a:r>
              <a:rPr lang="sk-SK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linux</a:t>
            </a:r>
            <a:r>
              <a:rPr lang="sk-SK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sk-SK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mint</a:t>
            </a:r>
            <a:r>
              <a:rPr lang="sk-SK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sk-SK" sz="3200" dirty="0"/>
              <a:t>https://linuxhint.com/disk_quota_ubuntu/</a:t>
            </a:r>
            <a:endParaRPr lang="en-US" sz="2400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Shape 146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File Ownership I.</a:t>
            </a:r>
          </a:p>
        </p:txBody>
      </p:sp>
      <p:sp>
        <p:nvSpPr>
          <p:cNvPr id="152" name="Shape 152"/>
          <p:cNvSpPr txBox="1"/>
          <p:nvPr/>
        </p:nvSpPr>
        <p:spPr>
          <a:xfrm>
            <a:off x="1864425" y="1625600"/>
            <a:ext cx="8121299" cy="555359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0350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/>
              <a:buChar char="•"/>
            </a:pP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each file is owned by specific UID and GID</a:t>
            </a:r>
          </a:p>
          <a:p>
            <a:pPr marL="381000" marR="0" lvl="0" indent="-260350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/>
              <a:buChar char="•"/>
            </a:pP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chown</a:t>
            </a: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change file owner and group  </a:t>
            </a:r>
          </a:p>
          <a:p>
            <a:pPr marL="762000" marR="0" lvl="1" indent="-260350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/>
              <a:buChar char="o"/>
            </a:pP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user must be member of changing group </a:t>
            </a:r>
          </a:p>
          <a:p>
            <a:pPr marL="762000" marR="0" lvl="1" indent="-260350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/>
              <a:buChar char="o"/>
            </a:pP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chown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[OPS] [OWN][:GRP] FILE </a:t>
            </a:r>
          </a:p>
          <a:p>
            <a:pPr marL="762000" marR="0" lvl="1" indent="-260350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/>
              <a:buChar char="o"/>
            </a:pP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options </a:t>
            </a:r>
          </a:p>
          <a:p>
            <a:pPr marL="1143000" marR="0" lvl="2" indent="-260350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Wingdings"/>
              <a:buChar char="§"/>
            </a:pP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-R</a:t>
            </a: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recursive change </a:t>
            </a:r>
          </a:p>
          <a:p>
            <a:pPr marL="762000" marR="0" lvl="1" indent="-260350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/>
              <a:buChar char="o"/>
            </a:pPr>
            <a:r>
              <a:rPr lang="en-US" sz="330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lang="sk-SK" sz="3300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01650" marR="0" lvl="1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0000"/>
            </a:pP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sudo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chown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3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root:root</a:t>
            </a:r>
            <a:r>
              <a:rPr lang="en-US" sz="33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xx.txt </a:t>
            </a:r>
          </a:p>
        </p:txBody>
      </p:sp>
      <p:sp>
        <p:nvSpPr>
          <p:cNvPr id="153" name="Shape 153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5" name="BlokTextu 4"/>
          <p:cNvSpPr txBox="1"/>
          <p:nvPr/>
        </p:nvSpPr>
        <p:spPr>
          <a:xfrm>
            <a:off x="2736549" y="808900"/>
            <a:ext cx="6811087" cy="954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Only the root user can change the owner of a file.</a:t>
            </a:r>
            <a:endParaRPr lang="sk-SK" dirty="0"/>
          </a:p>
          <a:p>
            <a:r>
              <a:rPr lang="en-US" dirty="0"/>
              <a:t>You can change the group of a file only if you are a root user or if</a:t>
            </a:r>
            <a:r>
              <a:rPr lang="sk-SK" dirty="0"/>
              <a:t> </a:t>
            </a:r>
            <a:r>
              <a:rPr lang="en-US" dirty="0"/>
              <a:t>you own the file.</a:t>
            </a:r>
            <a:endParaRPr lang="sk-SK" dirty="0"/>
          </a:p>
          <a:p>
            <a:r>
              <a:rPr lang="en-US" dirty="0"/>
              <a:t>If you own the file but are not a root user, you can change the group only to a group of which you are</a:t>
            </a:r>
            <a:r>
              <a:rPr lang="sk-SK" dirty="0"/>
              <a:t> </a:t>
            </a:r>
            <a:r>
              <a:rPr lang="en-US" dirty="0"/>
              <a:t>a member</a:t>
            </a:r>
            <a:r>
              <a:rPr lang="sk-SK" dirty="0"/>
              <a:t>.</a:t>
            </a:r>
          </a:p>
        </p:txBody>
      </p:sp>
    </p:spTree>
  </p:cSld>
  <p:clrMapOvr>
    <a:masterClrMapping/>
  </p:clrMapOvr>
  <p:transition spd="slow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File Ownership II.</a:t>
            </a:r>
          </a:p>
        </p:txBody>
      </p:sp>
      <p:sp>
        <p:nvSpPr>
          <p:cNvPr id="159" name="Shape 159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chgrp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change group ownership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user must be member of changing group 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options </a:t>
            </a:r>
          </a:p>
          <a:p>
            <a:pPr marL="1143000" marR="0" lvl="2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Wingdings"/>
              <a:buChar char="§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-R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recursive change 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9534" marR="0" lvl="1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chgrp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-R users doc/ </a:t>
            </a:r>
          </a:p>
        </p:txBody>
      </p:sp>
      <p:sp>
        <p:nvSpPr>
          <p:cNvPr id="160" name="Shape 160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Default Group Ownership</a:t>
            </a:r>
          </a:p>
        </p:txBody>
      </p:sp>
      <p:sp>
        <p:nvSpPr>
          <p:cNvPr id="166" name="Shape 166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each user has default group </a:t>
            </a:r>
          </a:p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default group is used as group ownership for every newly created file or directory </a:t>
            </a:r>
          </a:p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newgrp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log in to a new group</a:t>
            </a:r>
            <a:r>
              <a:rPr lang="sk-SK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sk-SK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lang="sk-SK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gpasswd</a:t>
            </a:r>
            <a:r>
              <a:rPr lang="sk-SK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</a:rPr>
              <a:t>)</a:t>
            </a:r>
            <a:endParaRPr lang="en-US" sz="3333" dirty="0">
              <a:solidFill>
                <a:srgbClr val="666666"/>
              </a:solidFill>
              <a:latin typeface="Courier New"/>
              <a:ea typeface="Courier New"/>
              <a:cs typeface="Courier New"/>
            </a:endParaRP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newly created files will be owned by this group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user must be member of such group or must be root</a:t>
            </a:r>
          </a:p>
          <a:p>
            <a:pPr marL="762000" marR="0" lvl="1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exit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to switch back</a:t>
            </a:r>
          </a:p>
        </p:txBody>
      </p:sp>
      <p:sp>
        <p:nvSpPr>
          <p:cNvPr id="167" name="Shape 167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File and Dir Permissions I.</a:t>
            </a:r>
          </a:p>
        </p:txBody>
      </p:sp>
      <p:sp>
        <p:nvSpPr>
          <p:cNvPr id="173" name="Shape 173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permissions are attributes of file, which define access to file or directory by </a:t>
            </a: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owner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group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others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permissions can be set for </a:t>
            </a: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reading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writing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executing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marL="381000" marR="0" lvl="0" indent="-262466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 see file or directory permissions, type 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20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20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ls</a:t>
            </a:r>
            <a:r>
              <a:rPr lang="en-US" sz="20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</a:t>
            </a:r>
            <a:r>
              <a:rPr lang="en-US" sz="20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ld</a:t>
            </a:r>
            <a:r>
              <a:rPr lang="en-US" sz="20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ch3 test</a:t>
            </a:r>
            <a:endParaRPr lang="sk-SK" sz="2000" b="1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8534" marR="0" lvl="0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20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20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rw</a:t>
            </a:r>
            <a:r>
              <a:rPr lang="en-US" sz="20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20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rw</a:t>
            </a:r>
            <a:r>
              <a:rPr lang="en-US" sz="20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-r-- 1 </a:t>
            </a:r>
            <a:r>
              <a:rPr lang="en-US" sz="20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chris</a:t>
            </a:r>
            <a:r>
              <a:rPr lang="en-US" sz="20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sales 4983 Jan 18 22:13 ch3</a:t>
            </a:r>
            <a:br>
              <a:rPr lang="en-US" sz="20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0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drwxr</a:t>
            </a:r>
            <a:r>
              <a:rPr lang="en-US" sz="20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20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xr</a:t>
            </a:r>
            <a:r>
              <a:rPr lang="en-US" sz="20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-x 2 </a:t>
            </a:r>
            <a:r>
              <a:rPr lang="en-US" sz="200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chris</a:t>
            </a:r>
            <a:r>
              <a:rPr lang="en-US" sz="20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sales 1024 Jan 24 13:47 test </a:t>
            </a:r>
          </a:p>
        </p:txBody>
      </p:sp>
      <p:sp>
        <p:nvSpPr>
          <p:cNvPr id="174" name="Shape 174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File and Dir Permissions II.</a:t>
            </a:r>
          </a:p>
        </p:txBody>
      </p:sp>
      <p:sp>
        <p:nvSpPr>
          <p:cNvPr id="180" name="Shape 180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54000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/>
              <a:buChar char="•"/>
            </a:pP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permissions for files and directories have different meaning  </a:t>
            </a:r>
          </a:p>
        </p:txBody>
      </p:sp>
      <p:sp>
        <p:nvSpPr>
          <p:cNvPr id="181" name="Shape 181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graphicFrame>
        <p:nvGraphicFramePr>
          <p:cNvPr id="182" name="Shape 182"/>
          <p:cNvGraphicFramePr/>
          <p:nvPr/>
        </p:nvGraphicFramePr>
        <p:xfrm>
          <a:off x="2438400" y="2844775"/>
          <a:ext cx="6705600" cy="4108925"/>
        </p:xfrm>
        <a:graphic>
          <a:graphicData uri="http://schemas.openxmlformats.org/drawingml/2006/table">
            <a:tbl>
              <a:tblPr>
                <a:noFill/>
                <a:tableStyleId>{1BE6E7EB-CF90-419B-88AA-14FC79CEE34F}</a:tableStyleId>
              </a:tblPr>
              <a:tblGrid>
                <a:gridCol w="22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3625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buNone/>
                      </a:pPr>
                      <a:r>
                        <a:rPr lang="en-US" sz="2933" b="1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Permission</a:t>
                      </a:r>
                    </a:p>
                  </a:txBody>
                  <a:tcPr marL="28575" marR="28575" marT="28575" marB="28575" anchor="ctr">
                    <a:lnL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buNone/>
                      </a:pPr>
                      <a:r>
                        <a:rPr lang="en-US" sz="2933" b="1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</a:t>
                      </a:r>
                    </a:p>
                  </a:txBody>
                  <a:tcPr marL="28575" marR="28575" marT="28575" marB="28575" anchor="ctr">
                    <a:lnL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buNone/>
                      </a:pPr>
                      <a:r>
                        <a:rPr lang="en-US" sz="2933" b="1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Directory</a:t>
                      </a:r>
                    </a:p>
                  </a:txBody>
                  <a:tcPr marL="28575" marR="28575" marT="28575" marB="28575" anchor="ctr">
                    <a:lnL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725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buNone/>
                      </a:pPr>
                      <a:r>
                        <a:rPr lang="en-US" sz="1866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Read</a:t>
                      </a:r>
                    </a:p>
                  </a:txBody>
                  <a:tcPr marL="28575" marR="28575" marT="28575" marB="28575" anchor="ctr">
                    <a:lnL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buNone/>
                      </a:pPr>
                      <a:r>
                        <a:rPr lang="en-US" sz="1866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view file content</a:t>
                      </a:r>
                    </a:p>
                  </a:txBody>
                  <a:tcPr marL="28575" marR="28575" marT="28575" marB="28575" anchor="ctr">
                    <a:lnL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buNone/>
                      </a:pPr>
                      <a:r>
                        <a:rPr lang="en-US" sz="1866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show list of files and dirs in directory</a:t>
                      </a:r>
                    </a:p>
                  </a:txBody>
                  <a:tcPr marL="28575" marR="28575" marT="28575" marB="28575" anchor="ctr">
                    <a:lnL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725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buNone/>
                      </a:pPr>
                      <a:r>
                        <a:rPr lang="en-US" sz="1866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Write</a:t>
                      </a:r>
                    </a:p>
                  </a:txBody>
                  <a:tcPr marL="28575" marR="28575" marT="28575" marB="28575" anchor="ctr">
                    <a:lnL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buNone/>
                      </a:pPr>
                      <a:r>
                        <a:rPr lang="en-US" sz="1866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change file content, rename it, delete it</a:t>
                      </a:r>
                    </a:p>
                  </a:txBody>
                  <a:tcPr marL="28575" marR="28575" marT="28575" marB="28575" anchor="ctr">
                    <a:lnL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buNone/>
                      </a:pPr>
                      <a:r>
                        <a:rPr lang="en-US" sz="1866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 and delete files or subdirs</a:t>
                      </a:r>
                    </a:p>
                  </a:txBody>
                  <a:tcPr marL="28575" marR="28575" marT="28575" marB="28575" anchor="ctr">
                    <a:lnL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785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buNone/>
                      </a:pPr>
                      <a:r>
                        <a:rPr lang="en-US" sz="1866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Execute</a:t>
                      </a:r>
                    </a:p>
                  </a:txBody>
                  <a:tcPr marL="28575" marR="28575" marT="28575" marB="28575" anchor="ctr">
                    <a:lnL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buNone/>
                      </a:pPr>
                      <a:r>
                        <a:rPr lang="en-US" sz="1866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run file as program</a:t>
                      </a:r>
                    </a:p>
                  </a:txBody>
                  <a:tcPr marL="28575" marR="28575" marT="28575" marB="28575" anchor="ctr">
                    <a:lnL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lnSpc>
                          <a:spcPct val="100000"/>
                        </a:lnSpc>
                        <a:buNone/>
                      </a:pPr>
                      <a:r>
                        <a:rPr lang="en-US" sz="1866">
                          <a:solidFill>
                            <a:srgbClr val="6666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cd to dir, search or execute programs, show file info</a:t>
                      </a:r>
                    </a:p>
                  </a:txBody>
                  <a:tcPr marL="28575" marR="28575" marT="28575" marB="28575" anchor="ctr">
                    <a:lnL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File and Dir Permissions III.</a:t>
            </a:r>
          </a:p>
        </p:txBody>
      </p:sp>
      <p:sp>
        <p:nvSpPr>
          <p:cNvPr id="188" name="Shape 188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two notation systems for summarizing permissions in UNIX/Linux systems: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symbolic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textual 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representation, ex. 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rwx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--x--x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absolute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octal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33" b="0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representation,ex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0711</a:t>
            </a:r>
            <a:endParaRPr lang="sk-SK" sz="3333" b="0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sk-SK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R-</a:t>
            </a:r>
            <a:r>
              <a:rPr lang="sk-SK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xr</a:t>
            </a:r>
            <a:r>
              <a:rPr lang="sk-SK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-x--- 550</a:t>
            </a:r>
            <a:endParaRPr lang="en-US" sz="3333" b="0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9" name="Shape 189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>
            <a:spLocks noGrp="1"/>
          </p:cNvSpPr>
          <p:nvPr>
            <p:ph type="title"/>
          </p:nvPr>
        </p:nvSpPr>
        <p:spPr>
          <a:xfrm>
            <a:off x="1705675" y="-17625"/>
            <a:ext cx="8121274" cy="147978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File and Dir Permissions IV.</a:t>
            </a:r>
            <a:b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Symbolic Mode</a:t>
            </a:r>
          </a:p>
        </p:txBody>
      </p:sp>
      <p:sp>
        <p:nvSpPr>
          <p:cNvPr id="195" name="Shape 195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54000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66666"/>
              <a:buFont typeface="Arial"/>
              <a:buChar char="•"/>
            </a:pP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 symbolic mode permissions are written as a series of 10 chars, eg. </a:t>
            </a:r>
            <a:r>
              <a:rPr lang="en-US" sz="320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-rwxrwxrwx</a:t>
            </a: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marL="762000" marR="0" lvl="1" indent="-254000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/>
              <a:buChar char="o"/>
            </a:pP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first char - file type (see Displaying Directory Contents) </a:t>
            </a:r>
          </a:p>
          <a:p>
            <a:pPr marL="762000" marR="0" lvl="1" indent="-254000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/>
              <a:buChar char="o"/>
            </a:pP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next three - owner perms </a:t>
            </a:r>
          </a:p>
          <a:p>
            <a:pPr marL="762000" marR="0" lvl="1" indent="-254000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/>
              <a:buChar char="o"/>
            </a:pP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next three - group perms </a:t>
            </a:r>
          </a:p>
          <a:p>
            <a:pPr marL="762000" marR="0" lvl="1" indent="-254000" algn="l" rtl="0">
              <a:lnSpc>
                <a:spcPct val="100000"/>
              </a:lnSpc>
              <a:spcBef>
                <a:spcPts val="604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Courier New"/>
              <a:buChar char="o"/>
            </a:pPr>
            <a:r>
              <a:rPr lang="en-US" sz="3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next three - others perms</a:t>
            </a:r>
          </a:p>
        </p:txBody>
      </p:sp>
      <p:sp>
        <p:nvSpPr>
          <p:cNvPr id="196" name="Shape 196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title"/>
          </p:nvPr>
        </p:nvSpPr>
        <p:spPr>
          <a:xfrm>
            <a:off x="1705675" y="-17625"/>
            <a:ext cx="8121274" cy="147978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File and Dir Permissions V.</a:t>
            </a:r>
            <a:b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Symbolic Mode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 each group of three: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permission to </a:t>
            </a: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permission to </a:t>
            </a: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write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permission to </a:t>
            </a: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execute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permission is </a:t>
            </a: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not set</a:t>
            </a:r>
          </a:p>
        </p:txBody>
      </p:sp>
      <p:sp>
        <p:nvSpPr>
          <p:cNvPr id="203" name="Shape 203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 txBox="1">
            <a:spLocks noGrp="1"/>
          </p:cNvSpPr>
          <p:nvPr>
            <p:ph type="title"/>
          </p:nvPr>
        </p:nvSpPr>
        <p:spPr>
          <a:xfrm>
            <a:off x="1705675" y="-17625"/>
            <a:ext cx="8121274" cy="147978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File and Dir Permissions VI.</a:t>
            </a:r>
            <a:b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Absolute Mode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used more often than symbolic mode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 each access group are 3 bits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each bit represents one specific permission (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rwx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3 bits together represents group permission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final value of perms is counted as sum of values of needed perms</a:t>
            </a:r>
          </a:p>
        </p:txBody>
      </p:sp>
      <p:sp>
        <p:nvSpPr>
          <p:cNvPr id="210" name="Shape 210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grpSp>
        <p:nvGrpSpPr>
          <p:cNvPr id="211" name="Shape 211"/>
          <p:cNvGrpSpPr/>
          <p:nvPr/>
        </p:nvGrpSpPr>
        <p:grpSpPr>
          <a:xfrm>
            <a:off x="2654300" y="5702299"/>
            <a:ext cx="6400800" cy="1422375"/>
            <a:chOff x="1371600" y="990600"/>
            <a:chExt cx="4800599" cy="1066799"/>
          </a:xfrm>
        </p:grpSpPr>
        <p:sp>
          <p:nvSpPr>
            <p:cNvPr id="212" name="Shape 212"/>
            <p:cNvSpPr/>
            <p:nvPr/>
          </p:nvSpPr>
          <p:spPr>
            <a:xfrm>
              <a:off x="1371600" y="990600"/>
              <a:ext cx="1600199" cy="457200"/>
            </a:xfrm>
            <a:prstGeom prst="rect">
              <a:avLst/>
            </a:prstGeom>
            <a:solidFill>
              <a:srgbClr val="EEEEEE"/>
            </a:solidFill>
            <a:ln w="38100" cap="flat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buNone/>
              </a:pPr>
              <a:r>
                <a:rPr lang="en-US" sz="1866">
                  <a:solidFill>
                    <a:srgbClr val="666666"/>
                  </a:solidFill>
                </a:rPr>
                <a:t>user</a:t>
              </a:r>
            </a:p>
          </p:txBody>
        </p:sp>
        <p:sp>
          <p:nvSpPr>
            <p:cNvPr id="213" name="Shape 213"/>
            <p:cNvSpPr/>
            <p:nvPr/>
          </p:nvSpPr>
          <p:spPr>
            <a:xfrm>
              <a:off x="2971800" y="990600"/>
              <a:ext cx="1600199" cy="457200"/>
            </a:xfrm>
            <a:prstGeom prst="rect">
              <a:avLst/>
            </a:prstGeom>
            <a:solidFill>
              <a:srgbClr val="999999"/>
            </a:solidFill>
            <a:ln w="38100" cap="flat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buNone/>
              </a:pPr>
              <a:r>
                <a:rPr lang="en-US" sz="1866">
                  <a:solidFill>
                    <a:srgbClr val="666666"/>
                  </a:solidFill>
                </a:rPr>
                <a:t>group</a:t>
              </a:r>
            </a:p>
          </p:txBody>
        </p:sp>
        <p:sp>
          <p:nvSpPr>
            <p:cNvPr id="214" name="Shape 214"/>
            <p:cNvSpPr/>
            <p:nvPr/>
          </p:nvSpPr>
          <p:spPr>
            <a:xfrm>
              <a:off x="4572000" y="990600"/>
              <a:ext cx="1600199" cy="457200"/>
            </a:xfrm>
            <a:prstGeom prst="rect">
              <a:avLst/>
            </a:prstGeom>
            <a:solidFill>
              <a:srgbClr val="EEEEEE"/>
            </a:solidFill>
            <a:ln w="38100" cap="flat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buNone/>
              </a:pPr>
              <a:r>
                <a:rPr lang="en-US" sz="1866">
                  <a:solidFill>
                    <a:srgbClr val="666666"/>
                  </a:solidFill>
                </a:rPr>
                <a:t>others</a:t>
              </a:r>
            </a:p>
          </p:txBody>
        </p:sp>
        <p:sp>
          <p:nvSpPr>
            <p:cNvPr id="215" name="Shape 215"/>
            <p:cNvSpPr/>
            <p:nvPr/>
          </p:nvSpPr>
          <p:spPr>
            <a:xfrm>
              <a:off x="1371600" y="1447800"/>
              <a:ext cx="533399" cy="304799"/>
            </a:xfrm>
            <a:prstGeom prst="rect">
              <a:avLst/>
            </a:prstGeom>
            <a:solidFill>
              <a:srgbClr val="EEEEEE"/>
            </a:solidFill>
            <a:ln w="38100" cap="flat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buNone/>
              </a:pPr>
              <a:r>
                <a:rPr lang="en-US" sz="1866">
                  <a:solidFill>
                    <a:srgbClr val="666666"/>
                  </a:solidFill>
                </a:rPr>
                <a:t>r</a:t>
              </a:r>
            </a:p>
          </p:txBody>
        </p:sp>
        <p:sp>
          <p:nvSpPr>
            <p:cNvPr id="216" name="Shape 216"/>
            <p:cNvSpPr txBox="1"/>
            <p:nvPr/>
          </p:nvSpPr>
          <p:spPr>
            <a:xfrm>
              <a:off x="1371600" y="1752600"/>
              <a:ext cx="533399" cy="304799"/>
            </a:xfrm>
            <a:prstGeom prst="rect">
              <a:avLst/>
            </a:prstGeom>
            <a:ln w="9525" cap="flat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buNone/>
              </a:pPr>
              <a:r>
                <a:rPr lang="en-US" sz="1866">
                  <a:solidFill>
                    <a:srgbClr val="666666"/>
                  </a:solidFill>
                </a:rPr>
                <a:t>400</a:t>
              </a:r>
            </a:p>
          </p:txBody>
        </p:sp>
        <p:sp>
          <p:nvSpPr>
            <p:cNvPr id="217" name="Shape 217"/>
            <p:cNvSpPr/>
            <p:nvPr/>
          </p:nvSpPr>
          <p:spPr>
            <a:xfrm>
              <a:off x="1905000" y="1447800"/>
              <a:ext cx="533399" cy="304799"/>
            </a:xfrm>
            <a:prstGeom prst="rect">
              <a:avLst/>
            </a:prstGeom>
            <a:solidFill>
              <a:srgbClr val="EEEEEE"/>
            </a:solidFill>
            <a:ln w="38100" cap="flat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buNone/>
              </a:pPr>
              <a:r>
                <a:rPr lang="en-US" sz="1866">
                  <a:solidFill>
                    <a:srgbClr val="666666"/>
                  </a:solidFill>
                </a:rPr>
                <a:t>w</a:t>
              </a:r>
            </a:p>
          </p:txBody>
        </p:sp>
        <p:sp>
          <p:nvSpPr>
            <p:cNvPr id="218" name="Shape 218"/>
            <p:cNvSpPr/>
            <p:nvPr/>
          </p:nvSpPr>
          <p:spPr>
            <a:xfrm>
              <a:off x="2438400" y="1447800"/>
              <a:ext cx="533399" cy="304799"/>
            </a:xfrm>
            <a:prstGeom prst="rect">
              <a:avLst/>
            </a:prstGeom>
            <a:solidFill>
              <a:srgbClr val="EEEEEE"/>
            </a:solidFill>
            <a:ln w="38100" cap="flat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buNone/>
              </a:pPr>
              <a:r>
                <a:rPr lang="en-US" sz="1866">
                  <a:solidFill>
                    <a:srgbClr val="666666"/>
                  </a:solidFill>
                </a:rPr>
                <a:t>x</a:t>
              </a:r>
            </a:p>
          </p:txBody>
        </p:sp>
        <p:sp>
          <p:nvSpPr>
            <p:cNvPr id="219" name="Shape 219"/>
            <p:cNvSpPr txBox="1"/>
            <p:nvPr/>
          </p:nvSpPr>
          <p:spPr>
            <a:xfrm>
              <a:off x="1905000" y="1752600"/>
              <a:ext cx="533399" cy="304799"/>
            </a:xfrm>
            <a:prstGeom prst="rect">
              <a:avLst/>
            </a:prstGeom>
            <a:ln w="9525" cap="flat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buNone/>
              </a:pPr>
              <a:r>
                <a:rPr lang="en-US" sz="1866" dirty="0">
                  <a:solidFill>
                    <a:srgbClr val="666666"/>
                  </a:solidFill>
                </a:rPr>
                <a:t>200</a:t>
              </a:r>
            </a:p>
          </p:txBody>
        </p:sp>
        <p:sp>
          <p:nvSpPr>
            <p:cNvPr id="220" name="Shape 220"/>
            <p:cNvSpPr txBox="1"/>
            <p:nvPr/>
          </p:nvSpPr>
          <p:spPr>
            <a:xfrm>
              <a:off x="2438400" y="1752600"/>
              <a:ext cx="533399" cy="304799"/>
            </a:xfrm>
            <a:prstGeom prst="rect">
              <a:avLst/>
            </a:prstGeom>
            <a:ln w="9525" cap="flat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buNone/>
              </a:pPr>
              <a:r>
                <a:rPr lang="en-US" sz="1866">
                  <a:solidFill>
                    <a:srgbClr val="666666"/>
                  </a:solidFill>
                </a:rPr>
                <a:t>100</a:t>
              </a:r>
            </a:p>
          </p:txBody>
        </p:sp>
        <p:sp>
          <p:nvSpPr>
            <p:cNvPr id="221" name="Shape 221"/>
            <p:cNvSpPr/>
            <p:nvPr/>
          </p:nvSpPr>
          <p:spPr>
            <a:xfrm>
              <a:off x="2971800" y="1447800"/>
              <a:ext cx="533399" cy="304799"/>
            </a:xfrm>
            <a:prstGeom prst="rect">
              <a:avLst/>
            </a:prstGeom>
            <a:solidFill>
              <a:srgbClr val="999999"/>
            </a:solidFill>
            <a:ln w="38100" cap="flat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buNone/>
              </a:pPr>
              <a:r>
                <a:rPr lang="en-US" sz="1866">
                  <a:solidFill>
                    <a:srgbClr val="666666"/>
                  </a:solidFill>
                </a:rPr>
                <a:t>r</a:t>
              </a:r>
            </a:p>
          </p:txBody>
        </p:sp>
        <p:sp>
          <p:nvSpPr>
            <p:cNvPr id="222" name="Shape 222"/>
            <p:cNvSpPr txBox="1"/>
            <p:nvPr/>
          </p:nvSpPr>
          <p:spPr>
            <a:xfrm>
              <a:off x="2971800" y="1752600"/>
              <a:ext cx="533399" cy="304799"/>
            </a:xfrm>
            <a:prstGeom prst="rect">
              <a:avLst/>
            </a:prstGeom>
            <a:ln w="9525" cap="flat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buNone/>
              </a:pPr>
              <a:r>
                <a:rPr lang="en-US" sz="1866">
                  <a:solidFill>
                    <a:srgbClr val="666666"/>
                  </a:solidFill>
                </a:rPr>
                <a:t>40</a:t>
              </a:r>
            </a:p>
          </p:txBody>
        </p:sp>
        <p:sp>
          <p:nvSpPr>
            <p:cNvPr id="223" name="Shape 223"/>
            <p:cNvSpPr/>
            <p:nvPr/>
          </p:nvSpPr>
          <p:spPr>
            <a:xfrm>
              <a:off x="3505200" y="1447800"/>
              <a:ext cx="533399" cy="304799"/>
            </a:xfrm>
            <a:prstGeom prst="rect">
              <a:avLst/>
            </a:prstGeom>
            <a:solidFill>
              <a:srgbClr val="999999"/>
            </a:solidFill>
            <a:ln w="38100" cap="flat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buNone/>
              </a:pPr>
              <a:r>
                <a:rPr lang="en-US" sz="1866">
                  <a:solidFill>
                    <a:srgbClr val="666666"/>
                  </a:solidFill>
                </a:rPr>
                <a:t>w</a:t>
              </a:r>
            </a:p>
          </p:txBody>
        </p:sp>
        <p:sp>
          <p:nvSpPr>
            <p:cNvPr id="224" name="Shape 224"/>
            <p:cNvSpPr/>
            <p:nvPr/>
          </p:nvSpPr>
          <p:spPr>
            <a:xfrm>
              <a:off x="4038600" y="1447800"/>
              <a:ext cx="533399" cy="304799"/>
            </a:xfrm>
            <a:prstGeom prst="rect">
              <a:avLst/>
            </a:prstGeom>
            <a:solidFill>
              <a:srgbClr val="999999"/>
            </a:solidFill>
            <a:ln w="38100" cap="flat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buNone/>
              </a:pPr>
              <a:r>
                <a:rPr lang="en-US" sz="1866">
                  <a:solidFill>
                    <a:srgbClr val="666666"/>
                  </a:solidFill>
                </a:rPr>
                <a:t>x</a:t>
              </a:r>
            </a:p>
          </p:txBody>
        </p:sp>
        <p:sp>
          <p:nvSpPr>
            <p:cNvPr id="225" name="Shape 225"/>
            <p:cNvSpPr txBox="1"/>
            <p:nvPr/>
          </p:nvSpPr>
          <p:spPr>
            <a:xfrm>
              <a:off x="3505200" y="1752600"/>
              <a:ext cx="533399" cy="304799"/>
            </a:xfrm>
            <a:prstGeom prst="rect">
              <a:avLst/>
            </a:prstGeom>
            <a:ln w="9525" cap="flat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buNone/>
              </a:pPr>
              <a:r>
                <a:rPr lang="en-US" sz="1866">
                  <a:solidFill>
                    <a:srgbClr val="666666"/>
                  </a:solidFill>
                </a:rPr>
                <a:t>20</a:t>
              </a:r>
            </a:p>
          </p:txBody>
        </p:sp>
        <p:sp>
          <p:nvSpPr>
            <p:cNvPr id="226" name="Shape 226"/>
            <p:cNvSpPr txBox="1"/>
            <p:nvPr/>
          </p:nvSpPr>
          <p:spPr>
            <a:xfrm>
              <a:off x="4038600" y="1752600"/>
              <a:ext cx="533399" cy="304799"/>
            </a:xfrm>
            <a:prstGeom prst="rect">
              <a:avLst/>
            </a:prstGeom>
            <a:ln w="9525" cap="flat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buNone/>
              </a:pPr>
              <a:r>
                <a:rPr lang="en-US" sz="1866">
                  <a:solidFill>
                    <a:srgbClr val="666666"/>
                  </a:solidFill>
                </a:rPr>
                <a:t>10</a:t>
              </a:r>
            </a:p>
          </p:txBody>
        </p:sp>
        <p:sp>
          <p:nvSpPr>
            <p:cNvPr id="227" name="Shape 227"/>
            <p:cNvSpPr/>
            <p:nvPr/>
          </p:nvSpPr>
          <p:spPr>
            <a:xfrm>
              <a:off x="4572000" y="1447800"/>
              <a:ext cx="533399" cy="304799"/>
            </a:xfrm>
            <a:prstGeom prst="rect">
              <a:avLst/>
            </a:prstGeom>
            <a:solidFill>
              <a:srgbClr val="EEEEEE"/>
            </a:solidFill>
            <a:ln w="38100" cap="flat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buNone/>
              </a:pPr>
              <a:r>
                <a:rPr lang="en-US" sz="1866">
                  <a:solidFill>
                    <a:srgbClr val="666666"/>
                  </a:solidFill>
                </a:rPr>
                <a:t>r</a:t>
              </a:r>
            </a:p>
          </p:txBody>
        </p:sp>
        <p:sp>
          <p:nvSpPr>
            <p:cNvPr id="228" name="Shape 228"/>
            <p:cNvSpPr txBox="1"/>
            <p:nvPr/>
          </p:nvSpPr>
          <p:spPr>
            <a:xfrm>
              <a:off x="4572000" y="1752600"/>
              <a:ext cx="533399" cy="304799"/>
            </a:xfrm>
            <a:prstGeom prst="rect">
              <a:avLst/>
            </a:prstGeom>
            <a:ln w="9525" cap="flat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buNone/>
              </a:pPr>
              <a:r>
                <a:rPr lang="en-US" sz="1866">
                  <a:solidFill>
                    <a:srgbClr val="666666"/>
                  </a:solidFill>
                </a:rPr>
                <a:t>4</a:t>
              </a:r>
            </a:p>
          </p:txBody>
        </p:sp>
        <p:sp>
          <p:nvSpPr>
            <p:cNvPr id="229" name="Shape 229"/>
            <p:cNvSpPr/>
            <p:nvPr/>
          </p:nvSpPr>
          <p:spPr>
            <a:xfrm>
              <a:off x="5105400" y="1447800"/>
              <a:ext cx="533399" cy="304799"/>
            </a:xfrm>
            <a:prstGeom prst="rect">
              <a:avLst/>
            </a:prstGeom>
            <a:solidFill>
              <a:srgbClr val="EEEEEE"/>
            </a:solidFill>
            <a:ln w="38100" cap="flat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buNone/>
              </a:pPr>
              <a:r>
                <a:rPr lang="en-US" sz="1866">
                  <a:solidFill>
                    <a:srgbClr val="666666"/>
                  </a:solidFill>
                </a:rPr>
                <a:t>w</a:t>
              </a:r>
            </a:p>
          </p:txBody>
        </p:sp>
        <p:sp>
          <p:nvSpPr>
            <p:cNvPr id="230" name="Shape 230"/>
            <p:cNvSpPr/>
            <p:nvPr/>
          </p:nvSpPr>
          <p:spPr>
            <a:xfrm>
              <a:off x="5638800" y="1447800"/>
              <a:ext cx="533399" cy="304799"/>
            </a:xfrm>
            <a:prstGeom prst="rect">
              <a:avLst/>
            </a:prstGeom>
            <a:solidFill>
              <a:srgbClr val="EEEEEE"/>
            </a:solidFill>
            <a:ln w="38100" cap="flat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buNone/>
              </a:pPr>
              <a:r>
                <a:rPr lang="en-US" sz="1866">
                  <a:solidFill>
                    <a:srgbClr val="666666"/>
                  </a:solidFill>
                </a:rPr>
                <a:t>x</a:t>
              </a:r>
            </a:p>
          </p:txBody>
        </p:sp>
        <p:sp>
          <p:nvSpPr>
            <p:cNvPr id="231" name="Shape 231"/>
            <p:cNvSpPr txBox="1"/>
            <p:nvPr/>
          </p:nvSpPr>
          <p:spPr>
            <a:xfrm>
              <a:off x="5105400" y="1752600"/>
              <a:ext cx="533399" cy="304799"/>
            </a:xfrm>
            <a:prstGeom prst="rect">
              <a:avLst/>
            </a:prstGeom>
            <a:ln w="9525" cap="flat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buNone/>
              </a:pPr>
              <a:r>
                <a:rPr lang="en-US" sz="1866">
                  <a:solidFill>
                    <a:srgbClr val="666666"/>
                  </a:solidFill>
                </a:rPr>
                <a:t>2</a:t>
              </a:r>
            </a:p>
          </p:txBody>
        </p:sp>
        <p:sp>
          <p:nvSpPr>
            <p:cNvPr id="232" name="Shape 232"/>
            <p:cNvSpPr txBox="1"/>
            <p:nvPr/>
          </p:nvSpPr>
          <p:spPr>
            <a:xfrm>
              <a:off x="5638800" y="1752600"/>
              <a:ext cx="533399" cy="304799"/>
            </a:xfrm>
            <a:prstGeom prst="rect">
              <a:avLst/>
            </a:prstGeom>
            <a:ln w="9525" cap="flat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algn="ctr">
                <a:buNone/>
              </a:pPr>
              <a:r>
                <a:rPr lang="en-US" sz="1866">
                  <a:solidFill>
                    <a:srgbClr val="666666"/>
                  </a:solidFill>
                </a:rPr>
                <a:t>1</a:t>
              </a:r>
            </a:p>
          </p:txBody>
        </p:sp>
      </p:grpSp>
    </p:spTree>
  </p:cSld>
  <p:clrMapOvr>
    <a:masterClrMapping/>
  </p:clrMapOvr>
  <p:transition spd="slow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 txBox="1">
            <a:spLocks noGrp="1"/>
          </p:cNvSpPr>
          <p:nvPr>
            <p:ph type="title"/>
          </p:nvPr>
        </p:nvSpPr>
        <p:spPr>
          <a:xfrm>
            <a:off x="1705675" y="-17625"/>
            <a:ext cx="8121274" cy="147978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File and Dir Permissions VII.</a:t>
            </a:r>
            <a:b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Absolute Mode</a:t>
            </a:r>
          </a:p>
        </p:txBody>
      </p:sp>
      <p:sp>
        <p:nvSpPr>
          <p:cNvPr id="238" name="Shape 238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graphicFrame>
        <p:nvGraphicFramePr>
          <p:cNvPr id="239" name="Shape 239"/>
          <p:cNvGraphicFramePr/>
          <p:nvPr>
            <p:extLst>
              <p:ext uri="{D42A27DB-BD31-4B8C-83A1-F6EECF244321}">
                <p14:modId xmlns:p14="http://schemas.microsoft.com/office/powerpoint/2010/main" val="2501427844"/>
              </p:ext>
            </p:extLst>
          </p:nvPr>
        </p:nvGraphicFramePr>
        <p:xfrm>
          <a:off x="2438400" y="2031975"/>
          <a:ext cx="6705600" cy="2549400"/>
        </p:xfrm>
        <a:graphic>
          <a:graphicData uri="http://schemas.openxmlformats.org/drawingml/2006/table">
            <a:tbl>
              <a:tblPr>
                <a:noFill/>
                <a:tableStyleId>{6EF152AD-34B9-447D-825A-957DBCF3A84C}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2175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buNone/>
                      </a:pPr>
                      <a:r>
                        <a:rPr lang="en-US" sz="3333" b="1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permissions</a:t>
                      </a:r>
                    </a:p>
                  </a:txBody>
                  <a:tcPr marL="28575" marR="28575" marT="28575" marB="28575" anchor="ctr">
                    <a:lnL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buNone/>
                      </a:pPr>
                      <a:r>
                        <a:rPr lang="en-US" sz="3333" b="1">
                          <a:solidFill>
                            <a:srgbClr val="44444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absolute mode</a:t>
                      </a:r>
                    </a:p>
                  </a:txBody>
                  <a:tcPr marL="28575" marR="28575" marT="28575" marB="28575" anchor="ctr">
                    <a:lnL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35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buNone/>
                      </a:pPr>
                      <a:r>
                        <a:rPr lang="en-US" sz="3333">
                          <a:solidFill>
                            <a:srgbClr val="66666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-rw-r--r--</a:t>
                      </a:r>
                    </a:p>
                  </a:txBody>
                  <a:tcPr marL="28575" marR="28575" marT="28575" marB="28575" anchor="ctr">
                    <a:lnL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buClr>
                          <a:srgbClr val="666666"/>
                        </a:buClr>
                        <a:buNone/>
                      </a:pPr>
                      <a:r>
                        <a:rPr lang="en-US" sz="3333">
                          <a:solidFill>
                            <a:srgbClr val="66666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644</a:t>
                      </a:r>
                    </a:p>
                  </a:txBody>
                  <a:tcPr marL="28575" marR="28575" marT="28575" marB="28575" anchor="ctr">
                    <a:lnL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350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buNone/>
                      </a:pPr>
                      <a:r>
                        <a:rPr lang="en-US" sz="3333" dirty="0">
                          <a:solidFill>
                            <a:srgbClr val="66666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-r</a:t>
                      </a:r>
                      <a:r>
                        <a:rPr lang="sk-SK" sz="3333" dirty="0">
                          <a:solidFill>
                            <a:srgbClr val="66666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</a:t>
                      </a:r>
                      <a:r>
                        <a:rPr lang="en-US" sz="3333" dirty="0">
                          <a:solidFill>
                            <a:srgbClr val="66666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</a:t>
                      </a:r>
                      <a:r>
                        <a:rPr lang="sk-SK" sz="3333" dirty="0">
                          <a:solidFill>
                            <a:srgbClr val="66666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</a:t>
                      </a:r>
                      <a:r>
                        <a:rPr lang="en-US" sz="3333" dirty="0">
                          <a:solidFill>
                            <a:srgbClr val="66666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-----</a:t>
                      </a:r>
                    </a:p>
                  </a:txBody>
                  <a:tcPr marL="28575" marR="28575" marT="28575" marB="28575" anchor="ctr">
                    <a:lnL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buNone/>
                      </a:pPr>
                      <a:r>
                        <a:rPr lang="sk-SK" sz="3333" dirty="0">
                          <a:solidFill>
                            <a:srgbClr val="66666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r>
                        <a:rPr lang="en-US" sz="3333" dirty="0">
                          <a:solidFill>
                            <a:srgbClr val="66666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40</a:t>
                      </a:r>
                    </a:p>
                  </a:txBody>
                  <a:tcPr marL="28575" marR="28575" marT="28575" marB="28575" anchor="ctr">
                    <a:lnL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525"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buNone/>
                      </a:pPr>
                      <a:r>
                        <a:rPr lang="en-US" sz="3333">
                          <a:solidFill>
                            <a:srgbClr val="66666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-rwxrwxrwx</a:t>
                      </a:r>
                    </a:p>
                  </a:txBody>
                  <a:tcPr marL="28575" marR="28575" marT="28575" marB="28575" anchor="ctr">
                    <a:lnL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lnSpc>
                          <a:spcPct val="100000"/>
                        </a:lnSpc>
                        <a:buNone/>
                      </a:pPr>
                      <a:r>
                        <a:rPr lang="en-US" sz="3333" dirty="0">
                          <a:solidFill>
                            <a:srgbClr val="666666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777</a:t>
                      </a:r>
                    </a:p>
                  </a:txBody>
                  <a:tcPr marL="28575" marR="28575" marT="28575" marB="28575" anchor="ctr">
                    <a:lnL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5" cap="flat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0" name="Shape 240"/>
          <p:cNvSpPr txBox="1"/>
          <p:nvPr/>
        </p:nvSpPr>
        <p:spPr>
          <a:xfrm>
            <a:off x="1930400" y="4978400"/>
            <a:ext cx="7843550" cy="2230974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if you want to add to </a:t>
            </a: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r-x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permissions in absolute mode, you can count it as follows: 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400+0+100=500</a:t>
            </a:r>
          </a:p>
        </p:txBody>
      </p:sp>
    </p:spTree>
  </p:cSld>
  <p:clrMapOvr>
    <a:masterClrMapping/>
  </p:clrMapOvr>
  <p:transition spd="slow"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File Creation Permissions I.</a:t>
            </a:r>
          </a:p>
        </p:txBody>
      </p:sp>
      <p:sp>
        <p:nvSpPr>
          <p:cNvPr id="246" name="Shape 246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the default permissions after file creation -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rw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-r--r--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the default permissions after directory creation -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rwxr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xr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-x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default permissions can be changed with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umask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command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with no argument shows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umask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value: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endParaRPr lang="sk-SK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umask</a:t>
            </a:r>
            <a:endParaRPr lang="sk-SK" sz="3333" b="1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0022</a:t>
            </a:r>
          </a:p>
        </p:txBody>
      </p:sp>
      <p:sp>
        <p:nvSpPr>
          <p:cNvPr id="247" name="Shape 247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File Creation Permissions II.</a:t>
            </a:r>
          </a:p>
        </p:txBody>
      </p:sp>
      <p:sp>
        <p:nvSpPr>
          <p:cNvPr id="253" name="Shape 253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umask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- set file mode creation mask; masks the permissions value of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666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for file (exec permission is off for regular files)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777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for directory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with default value </a:t>
            </a: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0022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is result for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file: 666–022=644 (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rw-r--r--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dir: 777–022=755 (</a:t>
            </a: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rwxr-xr-x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</p:txBody>
      </p:sp>
      <p:sp>
        <p:nvSpPr>
          <p:cNvPr id="254" name="Shape 254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Changing File Permissions I.</a:t>
            </a:r>
          </a:p>
        </p:txBody>
      </p:sp>
      <p:sp>
        <p:nvSpPr>
          <p:cNvPr id="260" name="Shape 260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if user owns a file, he can change it's permissions with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chmod</a:t>
            </a:r>
            <a:endParaRPr lang="en-US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syntax:</a:t>
            </a:r>
            <a:endParaRPr lang="sk-SK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8534" marR="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chmod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[OPT] [PERM] [FILES]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general options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-R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recursive change 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-v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output for every single processed file 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-c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like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-v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but outputs only changed files</a:t>
            </a:r>
          </a:p>
        </p:txBody>
      </p:sp>
      <p:sp>
        <p:nvSpPr>
          <p:cNvPr id="261" name="Shape 261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Changing File Permissions II.</a:t>
            </a:r>
          </a:p>
        </p:txBody>
      </p:sp>
      <p:sp>
        <p:nvSpPr>
          <p:cNvPr id="267" name="Shape 267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two methods of changing permissions: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by the </a:t>
            </a: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total value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of permission (absolute mode)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by the </a:t>
            </a: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special signs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(symbolic mode)</a:t>
            </a:r>
          </a:p>
        </p:txBody>
      </p:sp>
      <p:sp>
        <p:nvSpPr>
          <p:cNvPr id="268" name="Shape 268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 txBox="1">
            <a:spLocks noGrp="1"/>
          </p:cNvSpPr>
          <p:nvPr>
            <p:ph type="title"/>
          </p:nvPr>
        </p:nvSpPr>
        <p:spPr>
          <a:xfrm>
            <a:off x="1705675" y="-17625"/>
            <a:ext cx="8121274" cy="147978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Changing File Permissions III.</a:t>
            </a:r>
            <a:b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By Total Value</a:t>
            </a:r>
          </a:p>
        </p:txBody>
      </p:sp>
      <p:sp>
        <p:nvSpPr>
          <p:cNvPr id="274" name="Shape 274"/>
          <p:cNvSpPr txBox="1"/>
          <p:nvPr/>
        </p:nvSpPr>
        <p:spPr>
          <a:xfrm>
            <a:off x="1954375" y="1621000"/>
            <a:ext cx="7872575" cy="5592749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permissions are written in octal code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each permission has a weight: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- 4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- 2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- 1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- 0 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final permission is evaluated as sum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rwx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= 4+2+1 = 7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r-x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= 4+1 =5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--x</a:t>
            </a:r>
            <a:r>
              <a:rPr lang="en-US" sz="3333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= 1 = 1 </a:t>
            </a:r>
          </a:p>
        </p:txBody>
      </p:sp>
      <p:sp>
        <p:nvSpPr>
          <p:cNvPr id="275" name="Shape 275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280"/>
          <p:cNvSpPr txBox="1">
            <a:spLocks noGrp="1"/>
          </p:cNvSpPr>
          <p:nvPr>
            <p:ph type="title"/>
          </p:nvPr>
        </p:nvSpPr>
        <p:spPr>
          <a:xfrm>
            <a:off x="1705675" y="-17625"/>
            <a:ext cx="8121274" cy="147978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Changing File Permissions IV.</a:t>
            </a:r>
            <a:b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By Total Value - Examples</a:t>
            </a:r>
          </a:p>
        </p:txBody>
      </p:sp>
      <p:sp>
        <p:nvSpPr>
          <p:cNvPr id="281" name="Shape 281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ls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lh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picture.jpg</a:t>
            </a:r>
            <a:endParaRPr lang="sk-SK" sz="3333" b="1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rtl="0">
              <a:lnSpc>
                <a:spcPct val="100000"/>
              </a:lnSpc>
              <a:buNone/>
            </a:pP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rw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-r--r--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.. picture.jpg</a:t>
            </a:r>
            <a:endParaRPr lang="sk-SK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rtl="0">
              <a:lnSpc>
                <a:spcPct val="100000"/>
              </a:lnSpc>
              <a:buNone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chmod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755 picture.jpg</a:t>
            </a:r>
            <a:endParaRPr lang="sk-SK" sz="3333" b="1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rtl="0">
              <a:lnSpc>
                <a:spcPct val="100000"/>
              </a:lnSpc>
              <a:buNone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ls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lh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picture.jpg</a:t>
            </a:r>
            <a:endParaRPr lang="sk-SK" sz="3333" b="1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rtl="0">
              <a:lnSpc>
                <a:spcPct val="100000"/>
              </a:lnSpc>
              <a:buNone/>
            </a:pP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rwxr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xr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-x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.. picture.jpg</a:t>
            </a:r>
          </a:p>
        </p:txBody>
      </p:sp>
      <p:sp>
        <p:nvSpPr>
          <p:cNvPr id="282" name="Shape 282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 txBox="1">
            <a:spLocks noGrp="1"/>
          </p:cNvSpPr>
          <p:nvPr>
            <p:ph type="title"/>
          </p:nvPr>
        </p:nvSpPr>
        <p:spPr>
          <a:xfrm>
            <a:off x="1705675" y="-17625"/>
            <a:ext cx="8121274" cy="147978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Changing File Permissions V.</a:t>
            </a:r>
            <a:b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By Special Signs</a:t>
            </a:r>
          </a:p>
        </p:txBody>
      </p:sp>
      <p:sp>
        <p:nvSpPr>
          <p:cNvPr id="288" name="Shape 288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used for symbolic mode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permissions are composed from three groups of special signs: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[CATEGORY][ACTION][PERM]</a:t>
            </a:r>
            <a:b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edited category settings (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agou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action settings (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+-=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permission settings (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3333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gorstuwx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</p:txBody>
      </p:sp>
      <p:sp>
        <p:nvSpPr>
          <p:cNvPr id="289" name="Shape 289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29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Changing File Permissions VI.</a:t>
            </a:r>
            <a:b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By Special Signs</a:t>
            </a:r>
          </a:p>
        </p:txBody>
      </p:sp>
      <p:sp>
        <p:nvSpPr>
          <p:cNvPr id="2" name="Zástupný text 1">
            <a:extLst>
              <a:ext uri="{FF2B5EF4-FFF2-40B4-BE49-F238E27FC236}">
                <a16:creationId xmlns:a16="http://schemas.microsoft.com/office/drawing/2014/main" id="{E81DB839-56AA-286E-98B0-4A52682E6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action settings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add permission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remove permission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set exact permission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edited category settings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all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group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others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user (owner)</a:t>
            </a:r>
          </a:p>
          <a:p>
            <a:endParaRPr lang="sk-SK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87A4B12-84D3-2C32-8C76-DA01FB57175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 fontScale="92500"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permission settings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no permission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read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write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- execute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SUID and SGID bit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sticky bit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same as owner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same as others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same as group</a:t>
            </a:r>
          </a:p>
          <a:p>
            <a:endParaRPr lang="sk-SK" dirty="0"/>
          </a:p>
        </p:txBody>
      </p:sp>
      <p:sp>
        <p:nvSpPr>
          <p:cNvPr id="295" name="Shape 295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endParaRPr lang="en-US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Shape 296"/>
          <p:cNvSpPr/>
          <p:nvPr/>
        </p:nvSpPr>
        <p:spPr>
          <a:xfrm>
            <a:off x="4154324" y="4571999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4" name="BlokTextu 3">
            <a:extLst>
              <a:ext uri="{FF2B5EF4-FFF2-40B4-BE49-F238E27FC236}">
                <a16:creationId xmlns:a16="http://schemas.microsoft.com/office/drawing/2014/main" id="{B2D5B6E7-FEFD-C60C-A99E-47438AD8972A}"/>
              </a:ext>
            </a:extLst>
          </p:cNvPr>
          <p:cNvSpPr txBox="1"/>
          <p:nvPr/>
        </p:nvSpPr>
        <p:spPr>
          <a:xfrm>
            <a:off x="801666" y="7195225"/>
            <a:ext cx="19896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chmod</a:t>
            </a:r>
            <a:r>
              <a:rPr lang="en-US" dirty="0"/>
              <a:t> </a:t>
            </a:r>
            <a:r>
              <a:rPr lang="en-US" dirty="0" err="1"/>
              <a:t>a+rwx</a:t>
            </a:r>
            <a:r>
              <a:rPr lang="en-US" dirty="0"/>
              <a:t> subor.txt</a:t>
            </a:r>
            <a:endParaRPr lang="sk-SK" dirty="0"/>
          </a:p>
        </p:txBody>
      </p:sp>
    </p:spTree>
  </p:cSld>
  <p:clrMapOvr>
    <a:masterClrMapping/>
  </p:clrMapOvr>
  <p:transition spd="slow"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08"/>
          <p:cNvSpPr txBox="1">
            <a:spLocks noGrp="1"/>
          </p:cNvSpPr>
          <p:nvPr>
            <p:ph type="title"/>
          </p:nvPr>
        </p:nvSpPr>
        <p:spPr>
          <a:xfrm>
            <a:off x="1705675" y="-17625"/>
            <a:ext cx="8121274" cy="1479784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Changing File Permissions VIII.</a:t>
            </a:r>
            <a:b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By Special Signs</a:t>
            </a:r>
          </a:p>
        </p:txBody>
      </p:sp>
      <p:sp>
        <p:nvSpPr>
          <p:cNvPr id="309" name="Shape 309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rt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2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ls</a:t>
            </a:r>
            <a:r>
              <a:rPr lang="en-US" sz="32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</a:t>
            </a:r>
            <a:r>
              <a:rPr lang="en-US" sz="32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lh</a:t>
            </a:r>
            <a:r>
              <a:rPr lang="en-US" sz="32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picture.jpg</a:t>
            </a:r>
            <a:endParaRPr lang="sk-SK" sz="3200" b="1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rt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2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32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rwxr</a:t>
            </a:r>
            <a:r>
              <a:rPr lang="en-US" sz="32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32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xr</a:t>
            </a:r>
            <a:r>
              <a:rPr lang="en-US" sz="32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-x</a:t>
            </a:r>
            <a:r>
              <a:rPr lang="en-US" sz="32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.. picture.jpg</a:t>
            </a:r>
          </a:p>
          <a:p>
            <a:pPr rt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2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chmod</a:t>
            </a:r>
            <a:r>
              <a:rPr lang="en-US" sz="32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2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u+rw,g-x,o-x</a:t>
            </a:r>
            <a:r>
              <a:rPr lang="en-US" sz="32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picture.jpg</a:t>
            </a:r>
            <a:endParaRPr lang="sk-SK" sz="3200" b="1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rt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2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ls</a:t>
            </a:r>
            <a:r>
              <a:rPr lang="en-US" sz="32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</a:t>
            </a:r>
            <a:r>
              <a:rPr lang="en-US" sz="32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lh</a:t>
            </a:r>
            <a:r>
              <a:rPr lang="en-US" sz="32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picture.jpg</a:t>
            </a:r>
            <a:endParaRPr lang="sk-SK" sz="3200" b="1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rt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-</a:t>
            </a:r>
            <a:r>
              <a:rPr lang="en-US" sz="3200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rwxr</a:t>
            </a:r>
            <a:r>
              <a:rPr lang="en-US" sz="3200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--r--</a:t>
            </a:r>
            <a:r>
              <a:rPr lang="en-US" sz="320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.. picture.jpg</a:t>
            </a:r>
          </a:p>
        </p:txBody>
      </p:sp>
      <p:sp>
        <p:nvSpPr>
          <p:cNvPr id="310" name="Shape 310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315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SUID Bit on Files I.</a:t>
            </a:r>
          </a:p>
        </p:txBody>
      </p:sp>
      <p:sp>
        <p:nvSpPr>
          <p:cNvPr id="316" name="Shape 316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SUID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Set User ID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file is run with the permissions of file owner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useful for special tasks, which requires higher privileges, e.g. changing of user's password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possible security risks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example of perms with SUID:</a:t>
            </a:r>
            <a:endParaRPr lang="sk-SK" sz="3333" b="0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ls -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lh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/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usr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/bin/passwd</a:t>
            </a: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r>
              <a:rPr lang="en-US" sz="29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29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rw</a:t>
            </a:r>
            <a:r>
              <a:rPr lang="en-US" sz="29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9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-US" sz="29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29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xr</a:t>
            </a:r>
            <a:r>
              <a:rPr lang="en-US" sz="29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-x .. /</a:t>
            </a:r>
            <a:r>
              <a:rPr lang="en-US" sz="29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usr</a:t>
            </a:r>
            <a:r>
              <a:rPr lang="en-US" sz="29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/bin/</a:t>
            </a:r>
            <a:r>
              <a:rPr lang="en-US" sz="29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passwd</a:t>
            </a:r>
            <a:endParaRPr lang="en-US" sz="2933" b="0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7" name="Shape 317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SUID Bit on Files II.</a:t>
            </a:r>
          </a:p>
        </p:txBody>
      </p:sp>
      <p:sp>
        <p:nvSpPr>
          <p:cNvPr id="323" name="Shape 323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SUID</a:t>
            </a: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can be set with </a:t>
            </a:r>
            <a:r>
              <a:rPr lang="en-US" sz="3333" b="1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chmod</a:t>
            </a: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set SUID in absolute mode 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setting of high-order octet to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4$ 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chmod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4711 file.txt 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set SUID in symbolic mode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special permission setting character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's‚</a:t>
            </a:r>
            <a:endParaRPr lang="sk-SK" sz="3333" b="0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chmod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u+s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file.txt</a:t>
            </a:r>
          </a:p>
        </p:txBody>
      </p:sp>
      <p:sp>
        <p:nvSpPr>
          <p:cNvPr id="324" name="Shape 324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329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SGID Bit I.</a:t>
            </a:r>
          </a:p>
        </p:txBody>
      </p:sp>
      <p:sp>
        <p:nvSpPr>
          <p:cNvPr id="330" name="Shape 330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SGID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– Set Group ID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file is run with the permissions of file group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if set for directory, newly created files and directories </a:t>
            </a:r>
            <a:r>
              <a:rPr lang="en-US" sz="3333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inherit it's group ID</a:t>
            </a:r>
            <a:r>
              <a:rPr lang="en-US" sz="3333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instead of creator's primary group ID</a:t>
            </a:r>
          </a:p>
        </p:txBody>
      </p:sp>
      <p:sp>
        <p:nvSpPr>
          <p:cNvPr id="331" name="Shape 331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336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SGID Bit II.</a:t>
            </a:r>
          </a:p>
        </p:txBody>
      </p:sp>
      <p:sp>
        <p:nvSpPr>
          <p:cNvPr id="337" name="Shape 337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SGID can be set with </a:t>
            </a:r>
            <a:r>
              <a:rPr lang="en-US" sz="3333" dirty="0" err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chmod</a:t>
            </a:r>
            <a:endParaRPr lang="en-US" sz="3333" dirty="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set SGID in absolute mode 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setting of high-order octet to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lang="sk-SK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chmod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2711 file.txt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set SGID in symbolic mode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special permission setting character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's‚</a:t>
            </a:r>
            <a:endParaRPr lang="sk-SK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chmod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ug+s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file.txt</a:t>
            </a:r>
          </a:p>
        </p:txBody>
      </p:sp>
      <p:sp>
        <p:nvSpPr>
          <p:cNvPr id="338" name="Shape 338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Sticky Bit on Directories I.</a:t>
            </a:r>
          </a:p>
        </p:txBody>
      </p:sp>
      <p:sp>
        <p:nvSpPr>
          <p:cNvPr id="344" name="Shape 344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b="1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Sticky Bit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can be set to directories only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if set, only owner or superuser can rename or delete files inside “sticky” directory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b="0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US" sz="3333" b="0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-US" sz="3333" b="0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tmp</a:t>
            </a:r>
            <a:endParaRPr lang="sk-SK" sz="3333" b="0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endParaRPr lang="sk-SK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endParaRPr lang="sk-SK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5" name="Shape 345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A8B32869-1DB6-4511-852E-A310BAB9F8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7858" y="4844914"/>
            <a:ext cx="7084797" cy="1154085"/>
          </a:xfrm>
          <a:prstGeom prst="rect">
            <a:avLst/>
          </a:prstGeom>
        </p:spPr>
      </p:pic>
    </p:spTree>
  </p:cSld>
  <p:clrMapOvr>
    <a:masterClrMapping/>
  </p:clrMapOvr>
  <p:transition spd="slow"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350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Sticky Bit on Directories II.</a:t>
            </a:r>
          </a:p>
        </p:txBody>
      </p:sp>
      <p:sp>
        <p:nvSpPr>
          <p:cNvPr id="351" name="Shape 351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set Sticky Bit in absolute mode 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setting of high-order octet to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lang="sk-SK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chmod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1711 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dir</a:t>
            </a:r>
            <a:endParaRPr lang="en-US" sz="3333" b="1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set Sticky Bit in symbolic mode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special perm setting character </a:t>
            </a: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't‚</a:t>
            </a:r>
            <a:endParaRPr lang="sk-SK" sz="3333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99534" marR="0"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</a:pPr>
            <a:r>
              <a:rPr lang="en-US" sz="3333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chmod</a:t>
            </a:r>
            <a:r>
              <a:rPr lang="en-US" sz="3333" b="1" dirty="0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 +t </a:t>
            </a:r>
            <a:r>
              <a:rPr lang="en-US" sz="3333" b="1" dirty="0" err="1">
                <a:solidFill>
                  <a:srgbClr val="666666"/>
                </a:solidFill>
                <a:latin typeface="Courier New"/>
                <a:ea typeface="Courier New"/>
                <a:cs typeface="Courier New"/>
                <a:sym typeface="courier new"/>
              </a:rPr>
              <a:t>dir</a:t>
            </a:r>
            <a:endParaRPr lang="en-US" sz="3333" b="1" dirty="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2" name="Shape 352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357"/>
          <p:cNvSpPr txBox="1">
            <a:spLocks noGrp="1"/>
          </p:cNvSpPr>
          <p:nvPr>
            <p:ph type="title"/>
          </p:nvPr>
        </p:nvSpPr>
        <p:spPr>
          <a:xfrm>
            <a:off x="1705675" y="342175"/>
            <a:ext cx="8121274" cy="933450"/>
          </a:xfrm>
          <a:prstGeom prst="rect">
            <a:avLst/>
          </a:prstGeom>
        </p:spPr>
        <p:txBody>
          <a:bodyPr lIns="38100" tIns="38100" rIns="38100" bIns="38100" anchor="ctr" anchorCtr="0">
            <a:noAutofit/>
          </a:bodyPr>
          <a:lstStyle/>
          <a:p>
            <a:pPr marL="0" marR="0" indent="0" algn="l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User Private Group Scheme</a:t>
            </a:r>
          </a:p>
        </p:txBody>
      </p:sp>
      <p:sp>
        <p:nvSpPr>
          <p:cNvPr id="358" name="Shape 358"/>
          <p:cNvSpPr txBox="1"/>
          <p:nvPr/>
        </p:nvSpPr>
        <p:spPr>
          <a:xfrm>
            <a:off x="1954375" y="1621000"/>
            <a:ext cx="7872575" cy="5574225"/>
          </a:xfrm>
          <a:prstGeom prst="rect">
            <a:avLst/>
          </a:prstGeom>
        </p:spPr>
        <p:txBody>
          <a:bodyPr lIns="38100" tIns="38100" rIns="38100" bIns="38100" anchor="t" anchorCtr="0">
            <a:noAutofit/>
          </a:bodyPr>
          <a:lstStyle/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each user has a "user private group" (UPG)</a:t>
            </a:r>
          </a:p>
          <a:p>
            <a:pPr marL="762000" marR="0" lvl="1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1010"/>
              <a:buFont typeface="Courier New"/>
              <a:buChar char="o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special group for each user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has same name as user </a:t>
            </a:r>
          </a:p>
          <a:p>
            <a:pPr marL="381000" marR="0" lvl="0" indent="-26246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68350"/>
              <a:buFont typeface="Arial"/>
              <a:buChar char="•"/>
            </a:pPr>
            <a:r>
              <a:rPr lang="en-US" sz="3333" dirty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no other user is member of "user's private group"</a:t>
            </a:r>
          </a:p>
        </p:txBody>
      </p:sp>
      <p:sp>
        <p:nvSpPr>
          <p:cNvPr id="359" name="Shape 359"/>
          <p:cNvSpPr/>
          <p:nvPr/>
        </p:nvSpPr>
        <p:spPr>
          <a:xfrm>
            <a:off x="0" y="60960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>
            <a:extLst>
              <a:ext uri="{FF2B5EF4-FFF2-40B4-BE49-F238E27FC236}">
                <a16:creationId xmlns:a16="http://schemas.microsoft.com/office/drawing/2014/main" id="{29EDF575-1381-A82A-4D33-6B63DE9F6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UNIX ACL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6555F588-E22C-2C19-00A9-F53267574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219200"/>
            <a:ext cx="9550400" cy="5486399"/>
          </a:xfrm>
        </p:spPr>
        <p:txBody>
          <a:bodyPr/>
          <a:lstStyle/>
          <a:p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ACLs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allow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us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to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apply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a more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specific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set of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permissions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to a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file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or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directory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without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(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necessarily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)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changing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the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base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ownership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and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permissions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. </a:t>
            </a:r>
          </a:p>
          <a:p>
            <a:pPr marL="457200" indent="-457200">
              <a:buFontTx/>
              <a:buChar char="-"/>
            </a:pPr>
            <a:r>
              <a:rPr lang="sk-SK" sz="265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sudo</a:t>
            </a:r>
            <a:r>
              <a:rPr lang="sk-SK" sz="265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sk-SK" sz="265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apt</a:t>
            </a:r>
            <a:r>
              <a:rPr lang="sk-SK" sz="265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-get </a:t>
            </a:r>
            <a:r>
              <a:rPr lang="sk-SK" sz="265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install</a:t>
            </a:r>
            <a:r>
              <a:rPr lang="sk-SK" sz="2650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sk-SK" sz="2650" b="1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acl</a:t>
            </a:r>
            <a:endParaRPr lang="sk-SK" sz="2650" b="1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sk-SK" dirty="0">
              <a:latin typeface="Menlo" panose="020B0609030804020204" pitchFamily="49" charset="0"/>
            </a:endParaRPr>
          </a:p>
          <a:p>
            <a:endParaRPr lang="sk-SK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sk-SK" dirty="0"/>
          </a:p>
        </p:txBody>
      </p:sp>
      <p:pic>
        <p:nvPicPr>
          <p:cNvPr id="7" name="Obrázok 6" descr="Obrázok, na ktorom je text, písmo, snímka obrazovky, algebra&#10;&#10;Automaticky generovaný popis">
            <a:extLst>
              <a:ext uri="{FF2B5EF4-FFF2-40B4-BE49-F238E27FC236}">
                <a16:creationId xmlns:a16="http://schemas.microsoft.com/office/drawing/2014/main" id="{405C0CB1-0441-31BA-42A9-B51FC3713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13" y="3438912"/>
            <a:ext cx="5626100" cy="1879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BlokTextu 1">
            <a:extLst>
              <a:ext uri="{FF2B5EF4-FFF2-40B4-BE49-F238E27FC236}">
                <a16:creationId xmlns:a16="http://schemas.microsoft.com/office/drawing/2014/main" id="{BAD9AA20-FACB-9CD6-35B3-42350701E86D}"/>
              </a:ext>
            </a:extLst>
          </p:cNvPr>
          <p:cNvSpPr txBox="1"/>
          <p:nvPr/>
        </p:nvSpPr>
        <p:spPr>
          <a:xfrm>
            <a:off x="685800" y="6232912"/>
            <a:ext cx="80201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2400" dirty="0" err="1"/>
              <a:t>dpkg</a:t>
            </a:r>
            <a:r>
              <a:rPr lang="sk-SK" sz="2400" dirty="0"/>
              <a:t> -s </a:t>
            </a:r>
            <a:r>
              <a:rPr lang="sk-SK" sz="2400" dirty="0" err="1"/>
              <a:t>acl</a:t>
            </a:r>
            <a:r>
              <a:rPr lang="sk-SK" sz="2400" dirty="0"/>
              <a:t>		zistí, či je balík ACL už nainštalovaný</a:t>
            </a:r>
          </a:p>
        </p:txBody>
      </p:sp>
    </p:spTree>
    <p:extLst>
      <p:ext uri="{BB962C8B-B14F-4D97-AF65-F5344CB8AC3E}">
        <p14:creationId xmlns:p14="http://schemas.microsoft.com/office/powerpoint/2010/main" val="18673647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E8DB0B-B3DE-DB2A-C76F-E21E3EEB0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ACL 2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CD89320-5E9C-3DDE-E698-14861E67B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251569"/>
            <a:ext cx="9385610" cy="2796323"/>
          </a:xfrm>
        </p:spPr>
        <p:txBody>
          <a:bodyPr>
            <a:normAutofit fontScale="92500" lnSpcReduction="20000"/>
          </a:bodyPr>
          <a:lstStyle/>
          <a:p>
            <a:r>
              <a:rPr lang="sk-SK" b="0" dirty="0" err="1">
                <a:solidFill>
                  <a:srgbClr val="000080"/>
                </a:solidFill>
                <a:effectLst/>
              </a:rPr>
              <a:t>setfacl</a:t>
            </a:r>
            <a:r>
              <a:rPr lang="sk-SK" dirty="0"/>
              <a:t> </a:t>
            </a:r>
            <a:r>
              <a:rPr lang="sk-SK" dirty="0">
                <a:effectLst/>
              </a:rPr>
              <a:t>[</a:t>
            </a:r>
            <a:r>
              <a:rPr lang="sk-SK" dirty="0" err="1">
                <a:effectLst/>
              </a:rPr>
              <a:t>option</a:t>
            </a:r>
            <a:r>
              <a:rPr lang="sk-SK" dirty="0">
                <a:effectLst/>
              </a:rPr>
              <a:t>]</a:t>
            </a:r>
            <a:r>
              <a:rPr lang="sk-SK" dirty="0"/>
              <a:t> </a:t>
            </a:r>
            <a:r>
              <a:rPr lang="sk-SK" dirty="0">
                <a:effectLst/>
              </a:rPr>
              <a:t>[</a:t>
            </a:r>
            <a:r>
              <a:rPr lang="sk-SK" dirty="0" err="1">
                <a:effectLst/>
              </a:rPr>
              <a:t>action</a:t>
            </a:r>
            <a:r>
              <a:rPr lang="sk-SK" dirty="0">
                <a:effectLst/>
              </a:rPr>
              <a:t>/</a:t>
            </a:r>
            <a:r>
              <a:rPr lang="sk-SK" dirty="0" err="1">
                <a:effectLst/>
              </a:rPr>
              <a:t>specification</a:t>
            </a:r>
            <a:r>
              <a:rPr lang="sk-SK" dirty="0">
                <a:effectLst/>
              </a:rPr>
              <a:t>]</a:t>
            </a:r>
            <a:r>
              <a:rPr lang="sk-SK" dirty="0"/>
              <a:t> </a:t>
            </a:r>
            <a:r>
              <a:rPr lang="sk-SK" b="0" dirty="0" err="1">
                <a:solidFill>
                  <a:srgbClr val="000080"/>
                </a:solidFill>
                <a:effectLst/>
              </a:rPr>
              <a:t>file</a:t>
            </a:r>
            <a:r>
              <a:rPr lang="sk-SK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The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'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action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'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would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be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 </a:t>
            </a:r>
            <a:r>
              <a:rPr lang="sk-SK" b="1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-m 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(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modify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) or -x (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remove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),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the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specification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would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be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the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user or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group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followed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by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the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permissions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we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want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to set.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In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this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case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,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we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would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use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the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option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 -d (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defaults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). So, to set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the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default ACL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for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this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directory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,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we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would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 </a:t>
            </a:r>
            <a:r>
              <a:rPr lang="sk-SK" b="0" i="0" dirty="0" err="1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execute</a:t>
            </a:r>
            <a:r>
              <a:rPr lang="sk-SK" b="0" i="0" dirty="0">
                <a:solidFill>
                  <a:srgbClr val="141414"/>
                </a:solidFill>
                <a:effectLst/>
                <a:highlight>
                  <a:srgbClr val="FFFFFF"/>
                </a:highlight>
                <a:latin typeface="Red Hat Text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sk-SK" dirty="0">
              <a:solidFill>
                <a:srgbClr val="141414"/>
              </a:solidFill>
              <a:highlight>
                <a:srgbClr val="FFFFFF"/>
              </a:highlight>
              <a:latin typeface="Red Hat Tex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sk-SK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setfacl</a:t>
            </a:r>
            <a:r>
              <a:rPr lang="sk-SK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-m u:student1:rwx /</a:t>
            </a:r>
            <a:r>
              <a:rPr lang="sk-SK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home</a:t>
            </a:r>
            <a:r>
              <a:rPr lang="sk-SK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sk-SK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julius</a:t>
            </a:r>
            <a:endParaRPr lang="sk-SK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sk-SK" b="0" i="0" dirty="0">
              <a:solidFill>
                <a:srgbClr val="141414"/>
              </a:solidFill>
              <a:effectLst/>
              <a:highlight>
                <a:srgbClr val="FFFFFF"/>
              </a:highlight>
              <a:latin typeface="Red Hat Text"/>
            </a:endParaRPr>
          </a:p>
          <a:p>
            <a:endParaRPr lang="sk-SK" dirty="0"/>
          </a:p>
        </p:txBody>
      </p:sp>
      <p:pic>
        <p:nvPicPr>
          <p:cNvPr id="7" name="Obrázok 6" descr="Obrázok, na ktorom je text, snímka obrazovky, písmo&#10;&#10;Automaticky generovaný popis">
            <a:extLst>
              <a:ext uri="{FF2B5EF4-FFF2-40B4-BE49-F238E27FC236}">
                <a16:creationId xmlns:a16="http://schemas.microsoft.com/office/drawing/2014/main" id="{6B80355C-6235-3EE1-D7B2-1950D2FC0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822700"/>
            <a:ext cx="5778500" cy="34925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Obrázok 8" descr="Obrázok, na ktorom je text, písmo, snímka obrazovky&#10;&#10;Automaticky generovaný popis">
            <a:extLst>
              <a:ext uri="{FF2B5EF4-FFF2-40B4-BE49-F238E27FC236}">
                <a16:creationId xmlns:a16="http://schemas.microsoft.com/office/drawing/2014/main" id="{AA29DE97-0C67-2AB8-184A-348A907E1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500" y="4899722"/>
            <a:ext cx="6362700" cy="18796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BlokTextu 9">
            <a:extLst>
              <a:ext uri="{FF2B5EF4-FFF2-40B4-BE49-F238E27FC236}">
                <a16:creationId xmlns:a16="http://schemas.microsoft.com/office/drawing/2014/main" id="{98E2C7EB-A9C0-D990-4F11-42576EA8C302}"/>
              </a:ext>
            </a:extLst>
          </p:cNvPr>
          <p:cNvSpPr txBox="1"/>
          <p:nvPr/>
        </p:nvSpPr>
        <p:spPr>
          <a:xfrm>
            <a:off x="2263698" y="7303610"/>
            <a:ext cx="5198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dirty="0" err="1"/>
              <a:t>https</a:t>
            </a:r>
            <a:r>
              <a:rPr lang="sk-SK" dirty="0"/>
              <a:t>://</a:t>
            </a:r>
            <a:r>
              <a:rPr lang="sk-SK" dirty="0" err="1"/>
              <a:t>www.server-world.info</a:t>
            </a:r>
            <a:r>
              <a:rPr lang="sk-SK" dirty="0"/>
              <a:t>/</a:t>
            </a:r>
            <a:r>
              <a:rPr lang="sk-SK" dirty="0" err="1"/>
              <a:t>en</a:t>
            </a:r>
            <a:r>
              <a:rPr lang="sk-SK" dirty="0"/>
              <a:t>/</a:t>
            </a:r>
            <a:r>
              <a:rPr lang="sk-SK" dirty="0" err="1"/>
              <a:t>note?os</a:t>
            </a:r>
            <a:r>
              <a:rPr lang="sk-SK" dirty="0"/>
              <a:t>=Ubuntu_22.04&amp;p=</a:t>
            </a:r>
            <a:r>
              <a:rPr lang="sk-SK" dirty="0" err="1"/>
              <a:t>acl</a:t>
            </a:r>
            <a:endParaRPr lang="sk-SK" dirty="0"/>
          </a:p>
        </p:txBody>
      </p:sp>
      <p:cxnSp>
        <p:nvCxnSpPr>
          <p:cNvPr id="12" name="Rovná spojovacia šípka 11">
            <a:extLst>
              <a:ext uri="{FF2B5EF4-FFF2-40B4-BE49-F238E27FC236}">
                <a16:creationId xmlns:a16="http://schemas.microsoft.com/office/drawing/2014/main" id="{F0ABAF58-D567-A31C-E1D2-4F99E9FEE587}"/>
              </a:ext>
            </a:extLst>
          </p:cNvPr>
          <p:cNvCxnSpPr>
            <a:cxnSpLocks/>
          </p:cNvCxnSpPr>
          <p:nvPr/>
        </p:nvCxnSpPr>
        <p:spPr>
          <a:xfrm flipH="1">
            <a:off x="546410" y="3657600"/>
            <a:ext cx="2397512" cy="178419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ravouholník 12">
            <a:extLst>
              <a:ext uri="{FF2B5EF4-FFF2-40B4-BE49-F238E27FC236}">
                <a16:creationId xmlns:a16="http://schemas.microsoft.com/office/drawing/2014/main" id="{F65F70D8-26D9-2D26-B3A9-556253DD7689}"/>
              </a:ext>
            </a:extLst>
          </p:cNvPr>
          <p:cNvSpPr/>
          <p:nvPr/>
        </p:nvSpPr>
        <p:spPr>
          <a:xfrm>
            <a:off x="304800" y="5386039"/>
            <a:ext cx="164790" cy="84749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5788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2476AC-72B6-EA04-21BD-BB3663D96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15310"/>
            <a:ext cx="9550400" cy="914400"/>
          </a:xfrm>
        </p:spPr>
        <p:txBody>
          <a:bodyPr/>
          <a:lstStyle/>
          <a:p>
            <a:r>
              <a:rPr lang="sk-SK" dirty="0"/>
              <a:t>ACL 3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45CBE76-5C0F-985D-5FDF-F95C7CCA7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 - </a:t>
            </a:r>
            <a:r>
              <a:rPr lang="sk-SK" dirty="0" err="1"/>
              <a:t>setfacl</a:t>
            </a:r>
            <a:r>
              <a:rPr lang="sk-SK" dirty="0"/>
              <a:t> -b /</a:t>
            </a:r>
            <a:r>
              <a:rPr lang="sk-SK" dirty="0" err="1"/>
              <a:t>home</a:t>
            </a:r>
            <a:r>
              <a:rPr lang="sk-SK" dirty="0"/>
              <a:t>/</a:t>
            </a:r>
            <a:r>
              <a:rPr lang="sk-SK" dirty="0" err="1"/>
              <a:t>julius</a:t>
            </a:r>
            <a:endParaRPr lang="sk-SK" dirty="0"/>
          </a:p>
          <a:p>
            <a:endParaRPr lang="sk-SK" dirty="0"/>
          </a:p>
          <a:p>
            <a:r>
              <a:rPr lang="sk-SK" b="1" dirty="0"/>
              <a:t>-b </a:t>
            </a:r>
            <a:r>
              <a:rPr lang="sk-SK" dirty="0" err="1"/>
              <a:t>Remove</a:t>
            </a:r>
            <a:r>
              <a:rPr lang="sk-SK" dirty="0"/>
              <a:t> </a:t>
            </a:r>
            <a:r>
              <a:rPr lang="sk-SK" dirty="0" err="1"/>
              <a:t>all</a:t>
            </a:r>
            <a:r>
              <a:rPr lang="sk-SK" dirty="0"/>
              <a:t> </a:t>
            </a:r>
            <a:r>
              <a:rPr lang="sk-SK" dirty="0" err="1"/>
              <a:t>extended</a:t>
            </a:r>
            <a:r>
              <a:rPr lang="sk-SK" dirty="0"/>
              <a:t> ACL </a:t>
            </a:r>
            <a:r>
              <a:rPr lang="sk-SK" dirty="0" err="1"/>
              <a:t>entries</a:t>
            </a:r>
            <a:r>
              <a:rPr lang="sk-SK" dirty="0"/>
              <a:t>. </a:t>
            </a:r>
            <a:r>
              <a:rPr lang="sk-SK" dirty="0" err="1"/>
              <a:t>The</a:t>
            </a:r>
            <a:r>
              <a:rPr lang="sk-SK" dirty="0"/>
              <a:t> base ACL </a:t>
            </a:r>
            <a:r>
              <a:rPr lang="sk-SK" dirty="0" err="1"/>
              <a:t>entries</a:t>
            </a:r>
            <a:r>
              <a:rPr lang="sk-SK" dirty="0"/>
              <a:t> of </a:t>
            </a:r>
            <a:r>
              <a:rPr lang="sk-SK" dirty="0" err="1"/>
              <a:t>the</a:t>
            </a:r>
            <a:r>
              <a:rPr lang="sk-SK" dirty="0"/>
              <a:t> </a:t>
            </a:r>
            <a:r>
              <a:rPr lang="sk-SK" dirty="0" err="1"/>
              <a:t>owner</a:t>
            </a:r>
            <a:r>
              <a:rPr lang="sk-SK" dirty="0"/>
              <a:t>, </a:t>
            </a:r>
            <a:r>
              <a:rPr lang="sk-SK" dirty="0" err="1"/>
              <a:t>group</a:t>
            </a:r>
            <a:r>
              <a:rPr lang="sk-SK" dirty="0"/>
              <a:t> and </a:t>
            </a:r>
            <a:r>
              <a:rPr lang="sk-SK" dirty="0" err="1"/>
              <a:t>others</a:t>
            </a:r>
            <a:r>
              <a:rPr lang="sk-SK" dirty="0"/>
              <a:t> are </a:t>
            </a:r>
            <a:r>
              <a:rPr lang="sk-SK" dirty="0" err="1"/>
              <a:t>retained</a:t>
            </a:r>
            <a:r>
              <a:rPr lang="sk-SK" dirty="0"/>
              <a:t>.</a:t>
            </a:r>
          </a:p>
          <a:p>
            <a:r>
              <a:rPr lang="sk-SK" b="1" dirty="0"/>
              <a:t>-R </a:t>
            </a:r>
            <a:r>
              <a:rPr lang="sk-SK" dirty="0" err="1"/>
              <a:t>Apply</a:t>
            </a:r>
            <a:r>
              <a:rPr lang="sk-SK" dirty="0"/>
              <a:t> </a:t>
            </a:r>
            <a:r>
              <a:rPr lang="sk-SK" dirty="0" err="1"/>
              <a:t>operations</a:t>
            </a:r>
            <a:r>
              <a:rPr lang="sk-SK" dirty="0"/>
              <a:t> to </a:t>
            </a:r>
            <a:r>
              <a:rPr lang="sk-SK" dirty="0" err="1"/>
              <a:t>all</a:t>
            </a:r>
            <a:r>
              <a:rPr lang="sk-SK" dirty="0"/>
              <a:t> </a:t>
            </a:r>
            <a:r>
              <a:rPr lang="sk-SK" dirty="0" err="1"/>
              <a:t>files</a:t>
            </a:r>
            <a:r>
              <a:rPr lang="sk-SK" dirty="0"/>
              <a:t> and </a:t>
            </a:r>
            <a:r>
              <a:rPr lang="sk-SK" dirty="0" err="1"/>
              <a:t>directories</a:t>
            </a:r>
            <a:r>
              <a:rPr lang="sk-SK" dirty="0"/>
              <a:t> </a:t>
            </a:r>
            <a:r>
              <a:rPr lang="sk-SK" dirty="0" err="1"/>
              <a:t>recursively</a:t>
            </a:r>
            <a:r>
              <a:rPr lang="sk-SK" dirty="0"/>
              <a:t>.</a:t>
            </a:r>
          </a:p>
          <a:p>
            <a:endParaRPr lang="sk-SK" dirty="0"/>
          </a:p>
          <a:p>
            <a:endParaRPr lang="sk-SK" dirty="0"/>
          </a:p>
        </p:txBody>
      </p:sp>
      <p:pic>
        <p:nvPicPr>
          <p:cNvPr id="5" name="Obrázok 4" descr="Obrázok, na ktorom je text, písmo, snímka obrazovky, algebra&#10;&#10;Automaticky generovaný popis">
            <a:extLst>
              <a:ext uri="{FF2B5EF4-FFF2-40B4-BE49-F238E27FC236}">
                <a16:creationId xmlns:a16="http://schemas.microsoft.com/office/drawing/2014/main" id="{8C54C965-F1DB-4B59-299A-69D46CEB7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726" y="4331009"/>
            <a:ext cx="56261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0404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364"/>
          <p:cNvSpPr txBox="1">
            <a:spLocks noGrp="1"/>
          </p:cNvSpPr>
          <p:nvPr>
            <p:ph type="title"/>
          </p:nvPr>
        </p:nvSpPr>
        <p:spPr>
          <a:xfrm>
            <a:off x="1727200" y="3657600"/>
            <a:ext cx="8121274" cy="933450"/>
          </a:xfrm>
          <a:prstGeom prst="rect">
            <a:avLst/>
          </a:prstGeom>
        </p:spPr>
        <p:txBody>
          <a:bodyPr lIns="38100" tIns="38100" rIns="38100" bIns="38100" anchor="b" anchorCtr="0">
            <a:noAutofit/>
          </a:bodyPr>
          <a:lstStyle/>
          <a:p>
            <a:pPr marL="0" marR="0" indent="0" algn="ctr" rtl="0">
              <a:lnSpc>
                <a:spcPct val="1201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</a:p>
        </p:txBody>
      </p:sp>
      <p:sp>
        <p:nvSpPr>
          <p:cNvPr id="365" name="Shape 365"/>
          <p:cNvSpPr/>
          <p:nvPr/>
        </p:nvSpPr>
        <p:spPr>
          <a:xfrm>
            <a:off x="0" y="6085400"/>
            <a:ext cx="1270000" cy="1524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Custom Theme">
  <a:themeElements>
    <a:clrScheme name="blank">
      <a:dk1>
        <a:srgbClr val="000000"/>
      </a:dk1>
      <a:lt1>
        <a:srgbClr val="FFFFFF"/>
      </a:lt1>
      <a:dk2>
        <a:srgbClr val="073763"/>
      </a:dk2>
      <a:lt2>
        <a:srgbClr val="CFE2F3"/>
      </a:lt2>
      <a:accent1>
        <a:srgbClr val="404040"/>
      </a:accent1>
      <a:accent2>
        <a:srgbClr val="808080"/>
      </a:accent2>
      <a:accent3>
        <a:srgbClr val="C0C0C0"/>
      </a:accent3>
      <a:accent4>
        <a:srgbClr val="396187"/>
      </a:accent4>
      <a:accent5>
        <a:srgbClr val="6B8CAB"/>
      </a:accent5>
      <a:accent6>
        <a:srgbClr val="9DB7CF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1363</TotalTime>
  <Words>2721</Words>
  <Application>Microsoft Macintosh PowerPoint</Application>
  <PresentationFormat>Vlastná</PresentationFormat>
  <Paragraphs>389</Paragraphs>
  <Slides>49</Slides>
  <Notes>46</Notes>
  <HiddenSlides>3</HiddenSlides>
  <MMClips>0</MMClips>
  <ScaleCrop>false</ScaleCrop>
  <HeadingPairs>
    <vt:vector size="6" baseType="variant">
      <vt:variant>
        <vt:lpstr>Použité písma</vt:lpstr>
      </vt:variant>
      <vt:variant>
        <vt:i4>6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49</vt:i4>
      </vt:variant>
    </vt:vector>
  </HeadingPairs>
  <TitlesOfParts>
    <vt:vector size="56" baseType="lpstr">
      <vt:lpstr>Arial</vt:lpstr>
      <vt:lpstr>Arial</vt:lpstr>
      <vt:lpstr>Courier New</vt:lpstr>
      <vt:lpstr>Menlo</vt:lpstr>
      <vt:lpstr>Red Hat Text</vt:lpstr>
      <vt:lpstr>Wingdings</vt:lpstr>
      <vt:lpstr>Custom Theme</vt:lpstr>
      <vt:lpstr>The Linux Filesystem</vt:lpstr>
      <vt:lpstr>Filesystem Support</vt:lpstr>
      <vt:lpstr>UNIX/Linux Filesystem Features</vt:lpstr>
      <vt:lpstr>Different File Types</vt:lpstr>
      <vt:lpstr>Filesystem Hierarchy Standard I.</vt:lpstr>
      <vt:lpstr>Filesystem Hierarchy Standard II.</vt:lpstr>
      <vt:lpstr>Filesystem Hierarchy Standard III.</vt:lpstr>
      <vt:lpstr>Filesystem Hierarchy Standard IV.</vt:lpstr>
      <vt:lpstr>Filesystem Overview</vt:lpstr>
      <vt:lpstr>Navigating the Filesystem I.</vt:lpstr>
      <vt:lpstr>Navigating the Filesystem II.</vt:lpstr>
      <vt:lpstr>Displaying Directory Contents I.</vt:lpstr>
      <vt:lpstr>Displaying Directory Contents II.</vt:lpstr>
      <vt:lpstr>Displaying Directory Contents III.</vt:lpstr>
      <vt:lpstr>Displaying Directory Contents IV.</vt:lpstr>
      <vt:lpstr>Determining Disk Usage I.</vt:lpstr>
      <vt:lpstr>Determining Disk Usage II.</vt:lpstr>
      <vt:lpstr>Disk Usage with Quotas I.</vt:lpstr>
      <vt:lpstr>Disk Usage with Quotas II.</vt:lpstr>
      <vt:lpstr>File Ownership I.</vt:lpstr>
      <vt:lpstr>File Ownership II.</vt:lpstr>
      <vt:lpstr>Default Group Ownership</vt:lpstr>
      <vt:lpstr>File and Dir Permissions I.</vt:lpstr>
      <vt:lpstr>File and Dir Permissions II.</vt:lpstr>
      <vt:lpstr>File and Dir Permissions III.</vt:lpstr>
      <vt:lpstr>File and Dir Permissions IV. Symbolic Mode</vt:lpstr>
      <vt:lpstr>File and Dir Permissions V. Symbolic Mode</vt:lpstr>
      <vt:lpstr>File and Dir Permissions VI. Absolute Mode</vt:lpstr>
      <vt:lpstr>File and Dir Permissions VII. Absolute Mode</vt:lpstr>
      <vt:lpstr>File Creation Permissions I.</vt:lpstr>
      <vt:lpstr>File Creation Permissions II.</vt:lpstr>
      <vt:lpstr>Changing File Permissions I.</vt:lpstr>
      <vt:lpstr>Changing File Permissions II.</vt:lpstr>
      <vt:lpstr>Changing File Permissions III. By Total Value</vt:lpstr>
      <vt:lpstr>Changing File Permissions IV. By Total Value - Examples</vt:lpstr>
      <vt:lpstr>Changing File Permissions V. By Special Signs</vt:lpstr>
      <vt:lpstr>Changing File Permissions VI. By Special Signs</vt:lpstr>
      <vt:lpstr>Changing File Permissions VIII. By Special Signs</vt:lpstr>
      <vt:lpstr>SUID Bit on Files I.</vt:lpstr>
      <vt:lpstr>SUID Bit on Files II.</vt:lpstr>
      <vt:lpstr>SGID Bit I.</vt:lpstr>
      <vt:lpstr>SGID Bit II.</vt:lpstr>
      <vt:lpstr>Sticky Bit on Directories I.</vt:lpstr>
      <vt:lpstr>Sticky Bit on Directories II.</vt:lpstr>
      <vt:lpstr>User Private Group Scheme</vt:lpstr>
      <vt:lpstr>UNIX ACL</vt:lpstr>
      <vt:lpstr>ACL 2</vt:lpstr>
      <vt:lpstr>ACL 3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Linux Filesystem</dc:title>
  <cp:lastModifiedBy>Baráth, Július</cp:lastModifiedBy>
  <cp:revision>13</cp:revision>
  <dcterms:modified xsi:type="dcterms:W3CDTF">2026-02-26T12:09:01Z</dcterms:modified>
</cp:coreProperties>
</file>